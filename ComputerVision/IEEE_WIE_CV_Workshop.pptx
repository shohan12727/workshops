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2" r:id="rId12"/>
    <p:sldId id="263" r:id="rId13"/>
    <p:sldId id="264" r:id="rId14"/>
    <p:sldId id="269" r:id="rId15"/>
    <p:sldId id="337" r:id="rId16"/>
    <p:sldId id="338" r:id="rId17"/>
    <p:sldId id="339" r:id="rId18"/>
    <p:sldId id="340" r:id="rId19"/>
    <p:sldId id="342" r:id="rId20"/>
    <p:sldId id="343" r:id="rId21"/>
    <p:sldId id="344" r:id="rId22"/>
    <p:sldId id="345" r:id="rId23"/>
    <p:sldId id="346" r:id="rId24"/>
    <p:sldId id="347" r:id="rId25"/>
    <p:sldId id="349" r:id="rId26"/>
    <p:sldId id="333" r:id="rId27"/>
    <p:sldId id="334" r:id="rId28"/>
    <p:sldId id="335" r:id="rId29"/>
    <p:sldId id="288" r:id="rId30"/>
    <p:sldId id="289" r:id="rId31"/>
    <p:sldId id="290" r:id="rId32"/>
    <p:sldId id="291" r:id="rId33"/>
    <p:sldId id="376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84" r:id="rId57"/>
    <p:sldId id="300" r:id="rId58"/>
    <p:sldId id="301" r:id="rId59"/>
    <p:sldId id="302" r:id="rId60"/>
    <p:sldId id="278" r:id="rId61"/>
    <p:sldId id="279" r:id="rId62"/>
    <p:sldId id="281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03" r:id="rId72"/>
    <p:sldId id="304" r:id="rId73"/>
    <p:sldId id="305" r:id="rId74"/>
    <p:sldId id="306" r:id="rId75"/>
    <p:sldId id="307" r:id="rId76"/>
    <p:sldId id="308" r:id="rId77"/>
    <p:sldId id="309" r:id="rId78"/>
    <p:sldId id="310" r:id="rId79"/>
    <p:sldId id="311" r:id="rId80"/>
    <p:sldId id="312" r:id="rId81"/>
    <p:sldId id="317" r:id="rId82"/>
    <p:sldId id="318" r:id="rId83"/>
    <p:sldId id="319" r:id="rId84"/>
    <p:sldId id="386" r:id="rId85"/>
    <p:sldId id="378" r:id="rId86"/>
    <p:sldId id="387" r:id="rId87"/>
    <p:sldId id="382" r:id="rId88"/>
    <p:sldId id="383" r:id="rId89"/>
    <p:sldId id="320" r:id="rId90"/>
    <p:sldId id="322" r:id="rId91"/>
    <p:sldId id="323" r:id="rId92"/>
    <p:sldId id="350" r:id="rId93"/>
    <p:sldId id="388" r:id="rId94"/>
    <p:sldId id="292" r:id="rId95"/>
    <p:sldId id="351" r:id="rId96"/>
    <p:sldId id="389" r:id="rId97"/>
    <p:sldId id="385" r:id="rId98"/>
    <p:sldId id="293" r:id="rId99"/>
    <p:sldId id="294" r:id="rId100"/>
    <p:sldId id="390" r:id="rId101"/>
    <p:sldId id="391" r:id="rId102"/>
    <p:sldId id="392" r:id="rId103"/>
    <p:sldId id="393" r:id="rId104"/>
    <p:sldId id="394" r:id="rId105"/>
    <p:sldId id="395" r:id="rId106"/>
    <p:sldId id="396" r:id="rId107"/>
    <p:sldId id="397" r:id="rId108"/>
    <p:sldId id="398" r:id="rId109"/>
    <p:sldId id="399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3"/>
    <p:restoredTop sz="94545"/>
  </p:normalViewPr>
  <p:slideViewPr>
    <p:cSldViewPr snapToGrid="0">
      <p:cViewPr varScale="1">
        <p:scale>
          <a:sx n="137" d="100"/>
          <a:sy n="137" d="100"/>
        </p:scale>
        <p:origin x="1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FDC3F7-F816-4C60-8956-2A5715981ED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291E01-C38D-4F1B-8924-ECBAF599A8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do we know that the objects that we see are for real?</a:t>
          </a:r>
        </a:p>
      </dgm:t>
    </dgm:pt>
    <dgm:pt modelId="{34E0CBF6-87CA-496D-A254-50F54999BA99}" type="parTrans" cxnId="{B640EE59-B315-4F16-824B-5EEEEAD711B2}">
      <dgm:prSet/>
      <dgm:spPr/>
      <dgm:t>
        <a:bodyPr/>
        <a:lstStyle/>
        <a:p>
          <a:endParaRPr lang="en-US"/>
        </a:p>
      </dgm:t>
    </dgm:pt>
    <dgm:pt modelId="{EF12AF97-C11C-40BD-B0EB-40918CF319CF}" type="sibTrans" cxnId="{B640EE59-B315-4F16-824B-5EEEEAD711B2}">
      <dgm:prSet/>
      <dgm:spPr/>
      <dgm:t>
        <a:bodyPr/>
        <a:lstStyle/>
        <a:p>
          <a:endParaRPr lang="en-US"/>
        </a:p>
      </dgm:t>
    </dgm:pt>
    <dgm:pt modelId="{919C32D4-3AFF-4191-81E4-226134D0E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people “see” without being </a:t>
          </a:r>
          <a:r>
            <a:rPr lang="en-US" i="1"/>
            <a:t>aware </a:t>
          </a:r>
          <a:r>
            <a:rPr lang="en-US"/>
            <a:t>of what they see?</a:t>
          </a:r>
        </a:p>
      </dgm:t>
    </dgm:pt>
    <dgm:pt modelId="{C2976C91-D789-4F0A-8DB4-039E54438DE2}" type="parTrans" cxnId="{0AF8B3B8-34CA-4162-A8F7-91E95090CAC9}">
      <dgm:prSet/>
      <dgm:spPr/>
      <dgm:t>
        <a:bodyPr/>
        <a:lstStyle/>
        <a:p>
          <a:endParaRPr lang="en-US"/>
        </a:p>
      </dgm:t>
    </dgm:pt>
    <dgm:pt modelId="{9E90E049-C513-4695-AF79-076A6E889188}" type="sibTrans" cxnId="{0AF8B3B8-34CA-4162-A8F7-91E95090CAC9}">
      <dgm:prSet/>
      <dgm:spPr/>
      <dgm:t>
        <a:bodyPr/>
        <a:lstStyle/>
        <a:p>
          <a:endParaRPr lang="en-US"/>
        </a:p>
      </dgm:t>
    </dgm:pt>
    <dgm:pt modelId="{6EE24E17-CF2A-4973-B3A1-86BF15430A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do objects appear colored?</a:t>
          </a:r>
        </a:p>
      </dgm:t>
    </dgm:pt>
    <dgm:pt modelId="{257BE193-7E77-48C9-996F-DB15EC4FD965}" type="parTrans" cxnId="{86A150A5-327E-453C-BEDE-7ADE6C2A9D79}">
      <dgm:prSet/>
      <dgm:spPr/>
      <dgm:t>
        <a:bodyPr/>
        <a:lstStyle/>
        <a:p>
          <a:endParaRPr lang="en-US"/>
        </a:p>
      </dgm:t>
    </dgm:pt>
    <dgm:pt modelId="{FA45FB73-4904-430C-AC8C-0750E944D9A2}" type="sibTrans" cxnId="{86A150A5-327E-453C-BEDE-7ADE6C2A9D79}">
      <dgm:prSet/>
      <dgm:spPr/>
      <dgm:t>
        <a:bodyPr/>
        <a:lstStyle/>
        <a:p>
          <a:endParaRPr lang="en-US"/>
        </a:p>
      </dgm:t>
    </dgm:pt>
    <dgm:pt modelId="{EE606180-36F0-495B-99C3-6999F32DB8F3}" type="pres">
      <dgm:prSet presAssocID="{DBFDC3F7-F816-4C60-8956-2A5715981ED1}" presName="root" presStyleCnt="0">
        <dgm:presLayoutVars>
          <dgm:dir/>
          <dgm:resizeHandles val="exact"/>
        </dgm:presLayoutVars>
      </dgm:prSet>
      <dgm:spPr/>
    </dgm:pt>
    <dgm:pt modelId="{485C40E7-5604-4187-A4D5-4E426D1E1F49}" type="pres">
      <dgm:prSet presAssocID="{8C291E01-C38D-4F1B-8924-ECBAF599A8F0}" presName="compNode" presStyleCnt="0"/>
      <dgm:spPr/>
    </dgm:pt>
    <dgm:pt modelId="{F2A19722-D91B-4798-A22B-5F797E7F0290}" type="pres">
      <dgm:prSet presAssocID="{8C291E01-C38D-4F1B-8924-ECBAF599A8F0}" presName="bgRect" presStyleLbl="bgShp" presStyleIdx="0" presStyleCnt="3"/>
      <dgm:spPr/>
    </dgm:pt>
    <dgm:pt modelId="{22FF5BE0-38E1-4CB5-AB62-B4037EF0D377}" type="pres">
      <dgm:prSet presAssocID="{8C291E01-C38D-4F1B-8924-ECBAF599A8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1DDC764-C521-44A5-A2A9-269EDD725F43}" type="pres">
      <dgm:prSet presAssocID="{8C291E01-C38D-4F1B-8924-ECBAF599A8F0}" presName="spaceRect" presStyleCnt="0"/>
      <dgm:spPr/>
    </dgm:pt>
    <dgm:pt modelId="{0F3649D9-220B-4997-8D4A-599686EB96B0}" type="pres">
      <dgm:prSet presAssocID="{8C291E01-C38D-4F1B-8924-ECBAF599A8F0}" presName="parTx" presStyleLbl="revTx" presStyleIdx="0" presStyleCnt="3">
        <dgm:presLayoutVars>
          <dgm:chMax val="0"/>
          <dgm:chPref val="0"/>
        </dgm:presLayoutVars>
      </dgm:prSet>
      <dgm:spPr/>
    </dgm:pt>
    <dgm:pt modelId="{26364B7D-F3AE-4B4D-81B6-B61F9285454E}" type="pres">
      <dgm:prSet presAssocID="{EF12AF97-C11C-40BD-B0EB-40918CF319CF}" presName="sibTrans" presStyleCnt="0"/>
      <dgm:spPr/>
    </dgm:pt>
    <dgm:pt modelId="{F040C77D-416E-4BDF-9DFD-F5788473862C}" type="pres">
      <dgm:prSet presAssocID="{919C32D4-3AFF-4191-81E4-226134D0E32F}" presName="compNode" presStyleCnt="0"/>
      <dgm:spPr/>
    </dgm:pt>
    <dgm:pt modelId="{8B4905BB-683B-4DDD-ABAD-E2D4711E255F}" type="pres">
      <dgm:prSet presAssocID="{919C32D4-3AFF-4191-81E4-226134D0E32F}" presName="bgRect" presStyleLbl="bgShp" presStyleIdx="1" presStyleCnt="3"/>
      <dgm:spPr/>
    </dgm:pt>
    <dgm:pt modelId="{9151BAB5-618C-4910-A99C-E7746DDD005C}" type="pres">
      <dgm:prSet presAssocID="{919C32D4-3AFF-4191-81E4-226134D0E3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7C318CE8-B0D2-45AE-9875-9F99EDEC5955}" type="pres">
      <dgm:prSet presAssocID="{919C32D4-3AFF-4191-81E4-226134D0E32F}" presName="spaceRect" presStyleCnt="0"/>
      <dgm:spPr/>
    </dgm:pt>
    <dgm:pt modelId="{8FB077DE-4D1C-4D3C-A8DD-B799EA21F14A}" type="pres">
      <dgm:prSet presAssocID="{919C32D4-3AFF-4191-81E4-226134D0E32F}" presName="parTx" presStyleLbl="revTx" presStyleIdx="1" presStyleCnt="3">
        <dgm:presLayoutVars>
          <dgm:chMax val="0"/>
          <dgm:chPref val="0"/>
        </dgm:presLayoutVars>
      </dgm:prSet>
      <dgm:spPr/>
    </dgm:pt>
    <dgm:pt modelId="{D95C987E-918F-4723-9E5B-CBCDC6597D8D}" type="pres">
      <dgm:prSet presAssocID="{9E90E049-C513-4695-AF79-076A6E889188}" presName="sibTrans" presStyleCnt="0"/>
      <dgm:spPr/>
    </dgm:pt>
    <dgm:pt modelId="{BDEF4C79-49C9-4027-8BF7-0903D13A79E4}" type="pres">
      <dgm:prSet presAssocID="{6EE24E17-CF2A-4973-B3A1-86BF15430A96}" presName="compNode" presStyleCnt="0"/>
      <dgm:spPr/>
    </dgm:pt>
    <dgm:pt modelId="{02C0A091-C102-4365-80A0-3AA2AB1A1B78}" type="pres">
      <dgm:prSet presAssocID="{6EE24E17-CF2A-4973-B3A1-86BF15430A96}" presName="bgRect" presStyleLbl="bgShp" presStyleIdx="2" presStyleCnt="3"/>
      <dgm:spPr/>
    </dgm:pt>
    <dgm:pt modelId="{390973A6-7ABA-4E2D-92ED-744B8347A137}" type="pres">
      <dgm:prSet presAssocID="{6EE24E17-CF2A-4973-B3A1-86BF15430A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A9B116AA-CCEB-4CD6-8096-0505820D40A2}" type="pres">
      <dgm:prSet presAssocID="{6EE24E17-CF2A-4973-B3A1-86BF15430A96}" presName="spaceRect" presStyleCnt="0"/>
      <dgm:spPr/>
    </dgm:pt>
    <dgm:pt modelId="{F1316820-308C-4FD8-910B-8DF7A0E095BA}" type="pres">
      <dgm:prSet presAssocID="{6EE24E17-CF2A-4973-B3A1-86BF15430A9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F73ED08-5459-4D6A-AFBF-06AE740FB9DD}" type="presOf" srcId="{8C291E01-C38D-4F1B-8924-ECBAF599A8F0}" destId="{0F3649D9-220B-4997-8D4A-599686EB96B0}" srcOrd="0" destOrd="0" presId="urn:microsoft.com/office/officeart/2018/2/layout/IconVerticalSolidList"/>
    <dgm:cxn modelId="{05782819-7A8A-4F7A-9B5F-87D2BDF97BEE}" type="presOf" srcId="{919C32D4-3AFF-4191-81E4-226134D0E32F}" destId="{8FB077DE-4D1C-4D3C-A8DD-B799EA21F14A}" srcOrd="0" destOrd="0" presId="urn:microsoft.com/office/officeart/2018/2/layout/IconVerticalSolidList"/>
    <dgm:cxn modelId="{B640EE59-B315-4F16-824B-5EEEEAD711B2}" srcId="{DBFDC3F7-F816-4C60-8956-2A5715981ED1}" destId="{8C291E01-C38D-4F1B-8924-ECBAF599A8F0}" srcOrd="0" destOrd="0" parTransId="{34E0CBF6-87CA-496D-A254-50F54999BA99}" sibTransId="{EF12AF97-C11C-40BD-B0EB-40918CF319CF}"/>
    <dgm:cxn modelId="{98F00680-9D3C-4601-A0C8-5280B3A51106}" type="presOf" srcId="{DBFDC3F7-F816-4C60-8956-2A5715981ED1}" destId="{EE606180-36F0-495B-99C3-6999F32DB8F3}" srcOrd="0" destOrd="0" presId="urn:microsoft.com/office/officeart/2018/2/layout/IconVerticalSolidList"/>
    <dgm:cxn modelId="{86A150A5-327E-453C-BEDE-7ADE6C2A9D79}" srcId="{DBFDC3F7-F816-4C60-8956-2A5715981ED1}" destId="{6EE24E17-CF2A-4973-B3A1-86BF15430A96}" srcOrd="2" destOrd="0" parTransId="{257BE193-7E77-48C9-996F-DB15EC4FD965}" sibTransId="{FA45FB73-4904-430C-AC8C-0750E944D9A2}"/>
    <dgm:cxn modelId="{B5F205AC-FC82-485F-8B1A-C2B7250EEC95}" type="presOf" srcId="{6EE24E17-CF2A-4973-B3A1-86BF15430A96}" destId="{F1316820-308C-4FD8-910B-8DF7A0E095BA}" srcOrd="0" destOrd="0" presId="urn:microsoft.com/office/officeart/2018/2/layout/IconVerticalSolidList"/>
    <dgm:cxn modelId="{0AF8B3B8-34CA-4162-A8F7-91E95090CAC9}" srcId="{DBFDC3F7-F816-4C60-8956-2A5715981ED1}" destId="{919C32D4-3AFF-4191-81E4-226134D0E32F}" srcOrd="1" destOrd="0" parTransId="{C2976C91-D789-4F0A-8DB4-039E54438DE2}" sibTransId="{9E90E049-C513-4695-AF79-076A6E889188}"/>
    <dgm:cxn modelId="{28FD1CD9-787E-4C0D-926E-62EB3462D694}" type="presParOf" srcId="{EE606180-36F0-495B-99C3-6999F32DB8F3}" destId="{485C40E7-5604-4187-A4D5-4E426D1E1F49}" srcOrd="0" destOrd="0" presId="urn:microsoft.com/office/officeart/2018/2/layout/IconVerticalSolidList"/>
    <dgm:cxn modelId="{A6BA4E8D-5E43-41B0-BCD0-A0E0F695549F}" type="presParOf" srcId="{485C40E7-5604-4187-A4D5-4E426D1E1F49}" destId="{F2A19722-D91B-4798-A22B-5F797E7F0290}" srcOrd="0" destOrd="0" presId="urn:microsoft.com/office/officeart/2018/2/layout/IconVerticalSolidList"/>
    <dgm:cxn modelId="{F886ED1B-2923-4CDC-8D10-10A3DD61E81D}" type="presParOf" srcId="{485C40E7-5604-4187-A4D5-4E426D1E1F49}" destId="{22FF5BE0-38E1-4CB5-AB62-B4037EF0D377}" srcOrd="1" destOrd="0" presId="urn:microsoft.com/office/officeart/2018/2/layout/IconVerticalSolidList"/>
    <dgm:cxn modelId="{2043CC43-6D63-412B-8D3B-DBF452983A50}" type="presParOf" srcId="{485C40E7-5604-4187-A4D5-4E426D1E1F49}" destId="{61DDC764-C521-44A5-A2A9-269EDD725F43}" srcOrd="2" destOrd="0" presId="urn:microsoft.com/office/officeart/2018/2/layout/IconVerticalSolidList"/>
    <dgm:cxn modelId="{715D1013-EE27-4AF0-8659-A40B7DCE8550}" type="presParOf" srcId="{485C40E7-5604-4187-A4D5-4E426D1E1F49}" destId="{0F3649D9-220B-4997-8D4A-599686EB96B0}" srcOrd="3" destOrd="0" presId="urn:microsoft.com/office/officeart/2018/2/layout/IconVerticalSolidList"/>
    <dgm:cxn modelId="{AF53B310-4AD9-4AA1-853A-9F2F05261C6B}" type="presParOf" srcId="{EE606180-36F0-495B-99C3-6999F32DB8F3}" destId="{26364B7D-F3AE-4B4D-81B6-B61F9285454E}" srcOrd="1" destOrd="0" presId="urn:microsoft.com/office/officeart/2018/2/layout/IconVerticalSolidList"/>
    <dgm:cxn modelId="{7B02384F-161C-4E0E-A960-59D871E82F6D}" type="presParOf" srcId="{EE606180-36F0-495B-99C3-6999F32DB8F3}" destId="{F040C77D-416E-4BDF-9DFD-F5788473862C}" srcOrd="2" destOrd="0" presId="urn:microsoft.com/office/officeart/2018/2/layout/IconVerticalSolidList"/>
    <dgm:cxn modelId="{4D307D69-FF41-4520-84BC-05931A8C1DC4}" type="presParOf" srcId="{F040C77D-416E-4BDF-9DFD-F5788473862C}" destId="{8B4905BB-683B-4DDD-ABAD-E2D4711E255F}" srcOrd="0" destOrd="0" presId="urn:microsoft.com/office/officeart/2018/2/layout/IconVerticalSolidList"/>
    <dgm:cxn modelId="{0E316E49-B418-452C-B84D-81283F0FDFD0}" type="presParOf" srcId="{F040C77D-416E-4BDF-9DFD-F5788473862C}" destId="{9151BAB5-618C-4910-A99C-E7746DDD005C}" srcOrd="1" destOrd="0" presId="urn:microsoft.com/office/officeart/2018/2/layout/IconVerticalSolidList"/>
    <dgm:cxn modelId="{0A2961AC-313F-48F3-A84C-62B694200C3C}" type="presParOf" srcId="{F040C77D-416E-4BDF-9DFD-F5788473862C}" destId="{7C318CE8-B0D2-45AE-9875-9F99EDEC5955}" srcOrd="2" destOrd="0" presId="urn:microsoft.com/office/officeart/2018/2/layout/IconVerticalSolidList"/>
    <dgm:cxn modelId="{576A65D8-B9B7-45F1-9520-A92D834832D5}" type="presParOf" srcId="{F040C77D-416E-4BDF-9DFD-F5788473862C}" destId="{8FB077DE-4D1C-4D3C-A8DD-B799EA21F14A}" srcOrd="3" destOrd="0" presId="urn:microsoft.com/office/officeart/2018/2/layout/IconVerticalSolidList"/>
    <dgm:cxn modelId="{73B5BE74-B68F-42B9-964E-E5147F80307C}" type="presParOf" srcId="{EE606180-36F0-495B-99C3-6999F32DB8F3}" destId="{D95C987E-918F-4723-9E5B-CBCDC6597D8D}" srcOrd="3" destOrd="0" presId="urn:microsoft.com/office/officeart/2018/2/layout/IconVerticalSolidList"/>
    <dgm:cxn modelId="{ED218545-745B-47A7-A05E-875324723DCC}" type="presParOf" srcId="{EE606180-36F0-495B-99C3-6999F32DB8F3}" destId="{BDEF4C79-49C9-4027-8BF7-0903D13A79E4}" srcOrd="4" destOrd="0" presId="urn:microsoft.com/office/officeart/2018/2/layout/IconVerticalSolidList"/>
    <dgm:cxn modelId="{7BDB2C90-E5A6-4AAA-B2D6-D2DBDC99C9DA}" type="presParOf" srcId="{BDEF4C79-49C9-4027-8BF7-0903D13A79E4}" destId="{02C0A091-C102-4365-80A0-3AA2AB1A1B78}" srcOrd="0" destOrd="0" presId="urn:microsoft.com/office/officeart/2018/2/layout/IconVerticalSolidList"/>
    <dgm:cxn modelId="{200C319C-375A-423B-A9A8-1CCD1A36005B}" type="presParOf" srcId="{BDEF4C79-49C9-4027-8BF7-0903D13A79E4}" destId="{390973A6-7ABA-4E2D-92ED-744B8347A137}" srcOrd="1" destOrd="0" presId="urn:microsoft.com/office/officeart/2018/2/layout/IconVerticalSolidList"/>
    <dgm:cxn modelId="{33671E46-60E0-4667-9C5C-571902B7078C}" type="presParOf" srcId="{BDEF4C79-49C9-4027-8BF7-0903D13A79E4}" destId="{A9B116AA-CCEB-4CD6-8096-0505820D40A2}" srcOrd="2" destOrd="0" presId="urn:microsoft.com/office/officeart/2018/2/layout/IconVerticalSolidList"/>
    <dgm:cxn modelId="{476A6FD3-C4D2-4DF5-8D02-2364B3E9F1F9}" type="presParOf" srcId="{BDEF4C79-49C9-4027-8BF7-0903D13A79E4}" destId="{F1316820-308C-4FD8-910B-8DF7A0E095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AF6F89-75CE-4311-B7E0-8CBA9879785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94B91E-6895-4F2A-8035-F93F25CD6F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 it interesting!</a:t>
          </a:r>
        </a:p>
      </dgm:t>
    </dgm:pt>
    <dgm:pt modelId="{6D5450C0-CB54-4A0F-985B-99D6E7493278}" type="parTrans" cxnId="{D3F535DE-DF00-4066-A815-67B890D0427D}">
      <dgm:prSet/>
      <dgm:spPr/>
      <dgm:t>
        <a:bodyPr/>
        <a:lstStyle/>
        <a:p>
          <a:endParaRPr lang="en-US"/>
        </a:p>
      </dgm:t>
    </dgm:pt>
    <dgm:pt modelId="{0B73DBC3-0020-4676-8C27-91AD6FEA9596}" type="sibTrans" cxnId="{D3F535DE-DF00-4066-A815-67B890D0427D}">
      <dgm:prSet/>
      <dgm:spPr/>
      <dgm:t>
        <a:bodyPr/>
        <a:lstStyle/>
        <a:p>
          <a:endParaRPr lang="en-US"/>
        </a:p>
      </dgm:t>
    </dgm:pt>
    <dgm:pt modelId="{4914727E-4D29-4D90-BE92-6704D02DA5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 of curiosity!</a:t>
          </a:r>
        </a:p>
      </dgm:t>
    </dgm:pt>
    <dgm:pt modelId="{3D5A9F1E-E9F8-483B-9D29-987FB450BFF6}" type="parTrans" cxnId="{14D31FC3-6B3A-4D1E-835B-10362B91B035}">
      <dgm:prSet/>
      <dgm:spPr/>
      <dgm:t>
        <a:bodyPr/>
        <a:lstStyle/>
        <a:p>
          <a:endParaRPr lang="en-US"/>
        </a:p>
      </dgm:t>
    </dgm:pt>
    <dgm:pt modelId="{C53C0C31-D69D-4E0B-BE4E-D5A1181708D3}" type="sibTrans" cxnId="{14D31FC3-6B3A-4D1E-835B-10362B91B035}">
      <dgm:prSet/>
      <dgm:spPr/>
      <dgm:t>
        <a:bodyPr/>
        <a:lstStyle/>
        <a:p>
          <a:endParaRPr lang="en-US"/>
        </a:p>
      </dgm:t>
    </dgm:pt>
    <dgm:pt modelId="{BAD6E2A8-48AD-44BD-8D7E-16EFBDB687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Good job market!</a:t>
          </a:r>
        </a:p>
      </dgm:t>
    </dgm:pt>
    <dgm:pt modelId="{59902C4C-1BD7-4155-9770-3BFA88DDAA01}" type="parTrans" cxnId="{22E9B479-E7BB-45D9-B754-6CE7D072CC50}">
      <dgm:prSet/>
      <dgm:spPr/>
      <dgm:t>
        <a:bodyPr/>
        <a:lstStyle/>
        <a:p>
          <a:endParaRPr lang="en-US"/>
        </a:p>
      </dgm:t>
    </dgm:pt>
    <dgm:pt modelId="{DD019B2F-9334-44C2-92A9-1D258AE535EA}" type="sibTrans" cxnId="{22E9B479-E7BB-45D9-B754-6CE7D072CC50}">
      <dgm:prSet/>
      <dgm:spPr/>
      <dgm:t>
        <a:bodyPr/>
        <a:lstStyle/>
        <a:p>
          <a:endParaRPr lang="en-US"/>
        </a:p>
      </dgm:t>
    </dgm:pt>
    <dgm:pt modelId="{945AFFD6-18D9-41EE-B8C2-B7B0AD0A1CB1}" type="pres">
      <dgm:prSet presAssocID="{FAAF6F89-75CE-4311-B7E0-8CBA9879785C}" presName="root" presStyleCnt="0">
        <dgm:presLayoutVars>
          <dgm:dir/>
          <dgm:resizeHandles val="exact"/>
        </dgm:presLayoutVars>
      </dgm:prSet>
      <dgm:spPr/>
    </dgm:pt>
    <dgm:pt modelId="{E6B85CCE-5BFF-421B-A197-41911E32DC2A}" type="pres">
      <dgm:prSet presAssocID="{5E94B91E-6895-4F2A-8035-F93F25CD6F1A}" presName="compNode" presStyleCnt="0"/>
      <dgm:spPr/>
    </dgm:pt>
    <dgm:pt modelId="{E8BF9479-77CD-4AAB-BE6C-4F22EFC6239D}" type="pres">
      <dgm:prSet presAssocID="{5E94B91E-6895-4F2A-8035-F93F25CD6F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12F08E3-DED8-4358-92FF-DA7BF5F7C1F6}" type="pres">
      <dgm:prSet presAssocID="{5E94B91E-6895-4F2A-8035-F93F25CD6F1A}" presName="spaceRect" presStyleCnt="0"/>
      <dgm:spPr/>
    </dgm:pt>
    <dgm:pt modelId="{FF191C8B-EF1A-415D-B2E0-4448B8E677A6}" type="pres">
      <dgm:prSet presAssocID="{5E94B91E-6895-4F2A-8035-F93F25CD6F1A}" presName="textRect" presStyleLbl="revTx" presStyleIdx="0" presStyleCnt="3">
        <dgm:presLayoutVars>
          <dgm:chMax val="1"/>
          <dgm:chPref val="1"/>
        </dgm:presLayoutVars>
      </dgm:prSet>
      <dgm:spPr/>
    </dgm:pt>
    <dgm:pt modelId="{5824DF9C-19BD-46E1-B17E-4E09CB74C3F7}" type="pres">
      <dgm:prSet presAssocID="{0B73DBC3-0020-4676-8C27-91AD6FEA9596}" presName="sibTrans" presStyleCnt="0"/>
      <dgm:spPr/>
    </dgm:pt>
    <dgm:pt modelId="{8B580520-2B42-4E9C-B881-C20B1B22EC19}" type="pres">
      <dgm:prSet presAssocID="{4914727E-4D29-4D90-BE92-6704D02DA59D}" presName="compNode" presStyleCnt="0"/>
      <dgm:spPr/>
    </dgm:pt>
    <dgm:pt modelId="{25B2A652-F930-46DB-A6AB-DE8E434A7A47}" type="pres">
      <dgm:prSet presAssocID="{4914727E-4D29-4D90-BE92-6704D02DA5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4D2F3B6-D072-451B-8F99-45DC6CFE5552}" type="pres">
      <dgm:prSet presAssocID="{4914727E-4D29-4D90-BE92-6704D02DA59D}" presName="spaceRect" presStyleCnt="0"/>
      <dgm:spPr/>
    </dgm:pt>
    <dgm:pt modelId="{447887E5-A5B6-49FE-8B4C-846549AF9CBB}" type="pres">
      <dgm:prSet presAssocID="{4914727E-4D29-4D90-BE92-6704D02DA59D}" presName="textRect" presStyleLbl="revTx" presStyleIdx="1" presStyleCnt="3">
        <dgm:presLayoutVars>
          <dgm:chMax val="1"/>
          <dgm:chPref val="1"/>
        </dgm:presLayoutVars>
      </dgm:prSet>
      <dgm:spPr/>
    </dgm:pt>
    <dgm:pt modelId="{39ACED3C-1B46-461B-982C-72E438D0B3CE}" type="pres">
      <dgm:prSet presAssocID="{C53C0C31-D69D-4E0B-BE4E-D5A1181708D3}" presName="sibTrans" presStyleCnt="0"/>
      <dgm:spPr/>
    </dgm:pt>
    <dgm:pt modelId="{DB0B463D-A950-4C49-9776-6311914E35D8}" type="pres">
      <dgm:prSet presAssocID="{BAD6E2A8-48AD-44BD-8D7E-16EFBDB6873E}" presName="compNode" presStyleCnt="0"/>
      <dgm:spPr/>
    </dgm:pt>
    <dgm:pt modelId="{8DA1CF24-3E15-4971-834F-B9C6535A5EA9}" type="pres">
      <dgm:prSet presAssocID="{BAD6E2A8-48AD-44BD-8D7E-16EFBDB687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DC0ADB74-CE15-409B-B181-45CBEA97FCEB}" type="pres">
      <dgm:prSet presAssocID="{BAD6E2A8-48AD-44BD-8D7E-16EFBDB6873E}" presName="spaceRect" presStyleCnt="0"/>
      <dgm:spPr/>
    </dgm:pt>
    <dgm:pt modelId="{AB3FE921-F4EF-4E54-9801-B77057C58831}" type="pres">
      <dgm:prSet presAssocID="{BAD6E2A8-48AD-44BD-8D7E-16EFBDB6873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F5DC21-5392-4896-B6FD-6B0128B2D3C5}" type="presOf" srcId="{BAD6E2A8-48AD-44BD-8D7E-16EFBDB6873E}" destId="{AB3FE921-F4EF-4E54-9801-B77057C58831}" srcOrd="0" destOrd="0" presId="urn:microsoft.com/office/officeart/2018/2/layout/IconLabelList"/>
    <dgm:cxn modelId="{BA58C031-2FF2-4750-A5C7-2C967513C5C5}" type="presOf" srcId="{5E94B91E-6895-4F2A-8035-F93F25CD6F1A}" destId="{FF191C8B-EF1A-415D-B2E0-4448B8E677A6}" srcOrd="0" destOrd="0" presId="urn:microsoft.com/office/officeart/2018/2/layout/IconLabelList"/>
    <dgm:cxn modelId="{22E9B479-E7BB-45D9-B754-6CE7D072CC50}" srcId="{FAAF6F89-75CE-4311-B7E0-8CBA9879785C}" destId="{BAD6E2A8-48AD-44BD-8D7E-16EFBDB6873E}" srcOrd="2" destOrd="0" parTransId="{59902C4C-1BD7-4155-9770-3BFA88DDAA01}" sibTransId="{DD019B2F-9334-44C2-92A9-1D258AE535EA}"/>
    <dgm:cxn modelId="{C26841A1-70C9-468B-AC4E-27055A6F8AED}" type="presOf" srcId="{FAAF6F89-75CE-4311-B7E0-8CBA9879785C}" destId="{945AFFD6-18D9-41EE-B8C2-B7B0AD0A1CB1}" srcOrd="0" destOrd="0" presId="urn:microsoft.com/office/officeart/2018/2/layout/IconLabelList"/>
    <dgm:cxn modelId="{14D31FC3-6B3A-4D1E-835B-10362B91B035}" srcId="{FAAF6F89-75CE-4311-B7E0-8CBA9879785C}" destId="{4914727E-4D29-4D90-BE92-6704D02DA59D}" srcOrd="1" destOrd="0" parTransId="{3D5A9F1E-E9F8-483B-9D29-987FB450BFF6}" sibTransId="{C53C0C31-D69D-4E0B-BE4E-D5A1181708D3}"/>
    <dgm:cxn modelId="{D3F535DE-DF00-4066-A815-67B890D0427D}" srcId="{FAAF6F89-75CE-4311-B7E0-8CBA9879785C}" destId="{5E94B91E-6895-4F2A-8035-F93F25CD6F1A}" srcOrd="0" destOrd="0" parTransId="{6D5450C0-CB54-4A0F-985B-99D6E7493278}" sibTransId="{0B73DBC3-0020-4676-8C27-91AD6FEA9596}"/>
    <dgm:cxn modelId="{0430F2DF-0557-4F54-8A0F-63777C08F0D9}" type="presOf" srcId="{4914727E-4D29-4D90-BE92-6704D02DA59D}" destId="{447887E5-A5B6-49FE-8B4C-846549AF9CBB}" srcOrd="0" destOrd="0" presId="urn:microsoft.com/office/officeart/2018/2/layout/IconLabelList"/>
    <dgm:cxn modelId="{11834E89-7C28-4B8A-A7C4-A1CB0FCC40EE}" type="presParOf" srcId="{945AFFD6-18D9-41EE-B8C2-B7B0AD0A1CB1}" destId="{E6B85CCE-5BFF-421B-A197-41911E32DC2A}" srcOrd="0" destOrd="0" presId="urn:microsoft.com/office/officeart/2018/2/layout/IconLabelList"/>
    <dgm:cxn modelId="{4AEFDA9A-1EF1-4673-9145-342E24404AB1}" type="presParOf" srcId="{E6B85CCE-5BFF-421B-A197-41911E32DC2A}" destId="{E8BF9479-77CD-4AAB-BE6C-4F22EFC6239D}" srcOrd="0" destOrd="0" presId="urn:microsoft.com/office/officeart/2018/2/layout/IconLabelList"/>
    <dgm:cxn modelId="{2F895259-5A1B-40CC-934A-A14E1603B958}" type="presParOf" srcId="{E6B85CCE-5BFF-421B-A197-41911E32DC2A}" destId="{212F08E3-DED8-4358-92FF-DA7BF5F7C1F6}" srcOrd="1" destOrd="0" presId="urn:microsoft.com/office/officeart/2018/2/layout/IconLabelList"/>
    <dgm:cxn modelId="{D077C3E3-20D6-4C64-9423-FE9DD2AC66B8}" type="presParOf" srcId="{E6B85CCE-5BFF-421B-A197-41911E32DC2A}" destId="{FF191C8B-EF1A-415D-B2E0-4448B8E677A6}" srcOrd="2" destOrd="0" presId="urn:microsoft.com/office/officeart/2018/2/layout/IconLabelList"/>
    <dgm:cxn modelId="{E234F7D0-7C92-4038-BBEF-6D453B6B32FF}" type="presParOf" srcId="{945AFFD6-18D9-41EE-B8C2-B7B0AD0A1CB1}" destId="{5824DF9C-19BD-46E1-B17E-4E09CB74C3F7}" srcOrd="1" destOrd="0" presId="urn:microsoft.com/office/officeart/2018/2/layout/IconLabelList"/>
    <dgm:cxn modelId="{D95A9A0A-0DBB-427A-B3CC-4DE43D51DEBA}" type="presParOf" srcId="{945AFFD6-18D9-41EE-B8C2-B7B0AD0A1CB1}" destId="{8B580520-2B42-4E9C-B881-C20B1B22EC19}" srcOrd="2" destOrd="0" presId="urn:microsoft.com/office/officeart/2018/2/layout/IconLabelList"/>
    <dgm:cxn modelId="{93A0CB50-EC84-4639-91A4-ACE4CB8D1C88}" type="presParOf" srcId="{8B580520-2B42-4E9C-B881-C20B1B22EC19}" destId="{25B2A652-F930-46DB-A6AB-DE8E434A7A47}" srcOrd="0" destOrd="0" presId="urn:microsoft.com/office/officeart/2018/2/layout/IconLabelList"/>
    <dgm:cxn modelId="{E5675BF9-21B9-401B-8DA0-67DF60CD1A9E}" type="presParOf" srcId="{8B580520-2B42-4E9C-B881-C20B1B22EC19}" destId="{54D2F3B6-D072-451B-8F99-45DC6CFE5552}" srcOrd="1" destOrd="0" presId="urn:microsoft.com/office/officeart/2018/2/layout/IconLabelList"/>
    <dgm:cxn modelId="{31A4C370-9EB3-4444-8CD2-9D74225D9CDC}" type="presParOf" srcId="{8B580520-2B42-4E9C-B881-C20B1B22EC19}" destId="{447887E5-A5B6-49FE-8B4C-846549AF9CBB}" srcOrd="2" destOrd="0" presId="urn:microsoft.com/office/officeart/2018/2/layout/IconLabelList"/>
    <dgm:cxn modelId="{5A006EB3-71D3-4CA5-B5F0-D99A2D814B82}" type="presParOf" srcId="{945AFFD6-18D9-41EE-B8C2-B7B0AD0A1CB1}" destId="{39ACED3C-1B46-461B-982C-72E438D0B3CE}" srcOrd="3" destOrd="0" presId="urn:microsoft.com/office/officeart/2018/2/layout/IconLabelList"/>
    <dgm:cxn modelId="{D6FF1AE6-E1EC-4A79-BE28-33A37CEFC57C}" type="presParOf" srcId="{945AFFD6-18D9-41EE-B8C2-B7B0AD0A1CB1}" destId="{DB0B463D-A950-4C49-9776-6311914E35D8}" srcOrd="4" destOrd="0" presId="urn:microsoft.com/office/officeart/2018/2/layout/IconLabelList"/>
    <dgm:cxn modelId="{8534028A-488C-498B-89D5-3FDFB82DBA16}" type="presParOf" srcId="{DB0B463D-A950-4C49-9776-6311914E35D8}" destId="{8DA1CF24-3E15-4971-834F-B9C6535A5EA9}" srcOrd="0" destOrd="0" presId="urn:microsoft.com/office/officeart/2018/2/layout/IconLabelList"/>
    <dgm:cxn modelId="{56147A0D-C19A-4B3C-85CD-6EA9016D2961}" type="presParOf" srcId="{DB0B463D-A950-4C49-9776-6311914E35D8}" destId="{DC0ADB74-CE15-409B-B181-45CBEA97FCEB}" srcOrd="1" destOrd="0" presId="urn:microsoft.com/office/officeart/2018/2/layout/IconLabelList"/>
    <dgm:cxn modelId="{2FF37F02-F6C3-4D97-BD2E-F0EB2FB0BA06}" type="presParOf" srcId="{DB0B463D-A950-4C49-9776-6311914E35D8}" destId="{AB3FE921-F4EF-4E54-9801-B77057C588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19722-D91B-4798-A22B-5F797E7F0290}">
      <dsp:nvSpPr>
        <dsp:cNvPr id="0" name=""/>
        <dsp:cNvSpPr/>
      </dsp:nvSpPr>
      <dsp:spPr>
        <a:xfrm>
          <a:off x="0" y="459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F5BE0-38E1-4CB5-AB62-B4037EF0D377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649D9-220B-4997-8D4A-599686EB96B0}">
      <dsp:nvSpPr>
        <dsp:cNvPr id="0" name=""/>
        <dsp:cNvSpPr/>
      </dsp:nvSpPr>
      <dsp:spPr>
        <a:xfrm>
          <a:off x="1242914" y="459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do we know that the objects that we see are for real?</a:t>
          </a:r>
        </a:p>
      </dsp:txBody>
      <dsp:txXfrm>
        <a:off x="1242914" y="459"/>
        <a:ext cx="9912765" cy="1076116"/>
      </dsp:txXfrm>
    </dsp:sp>
    <dsp:sp modelId="{8B4905BB-683B-4DDD-ABAD-E2D4711E255F}">
      <dsp:nvSpPr>
        <dsp:cNvPr id="0" name=""/>
        <dsp:cNvSpPr/>
      </dsp:nvSpPr>
      <dsp:spPr>
        <a:xfrm>
          <a:off x="0" y="1345605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1BAB5-618C-4910-A99C-E7746DDD005C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077DE-4D1C-4D3C-A8DD-B799EA21F14A}">
      <dsp:nvSpPr>
        <dsp:cNvPr id="0" name=""/>
        <dsp:cNvSpPr/>
      </dsp:nvSpPr>
      <dsp:spPr>
        <a:xfrm>
          <a:off x="1242914" y="1345605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people “see” without being </a:t>
          </a:r>
          <a:r>
            <a:rPr lang="en-US" sz="2500" i="1" kern="1200"/>
            <a:t>aware </a:t>
          </a:r>
          <a:r>
            <a:rPr lang="en-US" sz="2500" kern="1200"/>
            <a:t>of what they see?</a:t>
          </a:r>
        </a:p>
      </dsp:txBody>
      <dsp:txXfrm>
        <a:off x="1242914" y="1345605"/>
        <a:ext cx="9912765" cy="1076116"/>
      </dsp:txXfrm>
    </dsp:sp>
    <dsp:sp modelId="{02C0A091-C102-4365-80A0-3AA2AB1A1B78}">
      <dsp:nvSpPr>
        <dsp:cNvPr id="0" name=""/>
        <dsp:cNvSpPr/>
      </dsp:nvSpPr>
      <dsp:spPr>
        <a:xfrm>
          <a:off x="0" y="2690751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973A6-7ABA-4E2D-92ED-744B8347A137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16820-308C-4FD8-910B-8DF7A0E095BA}">
      <dsp:nvSpPr>
        <dsp:cNvPr id="0" name=""/>
        <dsp:cNvSpPr/>
      </dsp:nvSpPr>
      <dsp:spPr>
        <a:xfrm>
          <a:off x="1242914" y="2690751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Why do objects appear colored?</a:t>
          </a:r>
        </a:p>
      </dsp:txBody>
      <dsp:txXfrm>
        <a:off x="1242914" y="2690751"/>
        <a:ext cx="9912765" cy="1076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F9479-77CD-4AAB-BE6C-4F22EFC6239D}">
      <dsp:nvSpPr>
        <dsp:cNvPr id="0" name=""/>
        <dsp:cNvSpPr/>
      </dsp:nvSpPr>
      <dsp:spPr>
        <a:xfrm>
          <a:off x="1011285" y="596604"/>
          <a:ext cx="1467821" cy="14678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91C8B-EF1A-415D-B2E0-4448B8E677A6}">
      <dsp:nvSpPr>
        <dsp:cNvPr id="0" name=""/>
        <dsp:cNvSpPr/>
      </dsp:nvSpPr>
      <dsp:spPr>
        <a:xfrm>
          <a:off x="114283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Find it interesting!</a:t>
          </a:r>
        </a:p>
      </dsp:txBody>
      <dsp:txXfrm>
        <a:off x="114283" y="2450723"/>
        <a:ext cx="3261824" cy="720000"/>
      </dsp:txXfrm>
    </dsp:sp>
    <dsp:sp modelId="{25B2A652-F930-46DB-A6AB-DE8E434A7A47}">
      <dsp:nvSpPr>
        <dsp:cNvPr id="0" name=""/>
        <dsp:cNvSpPr/>
      </dsp:nvSpPr>
      <dsp:spPr>
        <a:xfrm>
          <a:off x="4843929" y="596604"/>
          <a:ext cx="1467821" cy="14678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887E5-A5B6-49FE-8B4C-846549AF9CBB}">
      <dsp:nvSpPr>
        <dsp:cNvPr id="0" name=""/>
        <dsp:cNvSpPr/>
      </dsp:nvSpPr>
      <dsp:spPr>
        <a:xfrm>
          <a:off x="3946927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Out of curiosity!</a:t>
          </a:r>
        </a:p>
      </dsp:txBody>
      <dsp:txXfrm>
        <a:off x="3946927" y="2450723"/>
        <a:ext cx="3261824" cy="720000"/>
      </dsp:txXfrm>
    </dsp:sp>
    <dsp:sp modelId="{8DA1CF24-3E15-4971-834F-B9C6535A5EA9}">
      <dsp:nvSpPr>
        <dsp:cNvPr id="0" name=""/>
        <dsp:cNvSpPr/>
      </dsp:nvSpPr>
      <dsp:spPr>
        <a:xfrm>
          <a:off x="8676573" y="596604"/>
          <a:ext cx="1467821" cy="14678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FE921-F4EF-4E54-9801-B77057C58831}">
      <dsp:nvSpPr>
        <dsp:cNvPr id="0" name=""/>
        <dsp:cNvSpPr/>
      </dsp:nvSpPr>
      <dsp:spPr>
        <a:xfrm>
          <a:off x="7779571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Good job market!</a:t>
          </a:r>
        </a:p>
      </dsp:txBody>
      <dsp:txXfrm>
        <a:off x="7779571" y="2450723"/>
        <a:ext cx="326182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22A31-D35C-FF43-A6D3-8818805B199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9F76D-AEE3-8F47-8D54-26FEA698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6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289A-986A-144C-B84F-EEBA014B6257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D2DB-D5ED-B04E-8235-CE88279F9989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BA41-2591-7D4F-A475-27C96D63B40D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1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2F1F4-2E87-E746-8FF1-5094C4F3A7C5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215F-3BF8-C647-B120-91487CBA2CB4}" type="datetime1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6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00A0-ACAE-F64F-A705-66AD97F9F863}" type="datetime1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ADF4-55D2-7649-BD46-03B1B247E80E}" type="datetime1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4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3B666-400C-6749-9B19-D26D82A960A9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F724-E080-DE4E-9A87-03BF8BA9B2AA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7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81DB-17F2-1E4E-922F-988128B0FA4E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5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AB25-37C4-FD46-BE13-780EC7C7AE0D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8729" y="1287714"/>
            <a:ext cx="4706620" cy="367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7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97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97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6913">
              <a:spcBef>
                <a:spcPts val="100"/>
              </a:spcBef>
            </a:pPr>
            <a:r>
              <a:rPr lang="en-US" spc="-33"/>
              <a:t>April</a:t>
            </a:r>
            <a:r>
              <a:rPr lang="en-US" spc="-173"/>
              <a:t> </a:t>
            </a:r>
            <a:r>
              <a:rPr lang="en-US" spc="-146"/>
              <a:t>14,</a:t>
            </a:r>
            <a:r>
              <a:rPr lang="en-US" spc="-253"/>
              <a:t> </a:t>
            </a:r>
            <a:r>
              <a:rPr lang="en-US" spc="-107"/>
              <a:t>2025</a:t>
            </a:r>
            <a:endParaRPr lang="en-US" spc="-107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97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6913">
              <a:spcBef>
                <a:spcPts val="100"/>
              </a:spcBef>
            </a:pPr>
            <a:r>
              <a:rPr lang="en-US" spc="-73"/>
              <a:t>Fei-Fei Li &amp; Ehsan Adeli &amp; Durante &amp; Johnson &amp; Xiang</a:t>
            </a:r>
            <a:endParaRPr lang="en-US" spc="-13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97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2724">
              <a:spcBef>
                <a:spcPts val="100"/>
              </a:spcBef>
            </a:pPr>
            <a:fld id="{81D60167-4931-47E6-BA6A-407CBD079E47}" type="slidenum">
              <a:rPr lang="en-US" spc="-33" smtClean="0"/>
              <a:pPr marL="72724">
                <a:spcBef>
                  <a:spcPts val="100"/>
                </a:spcBef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399274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4927729-2159-224A-A935-BE7DC557DFF7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2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21" Type="http://schemas.openxmlformats.org/officeDocument/2006/relationships/image" Target="../media/image65.jp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.jp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13" Type="http://schemas.openxmlformats.org/officeDocument/2006/relationships/image" Target="../media/image78.png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12" Type="http://schemas.openxmlformats.org/officeDocument/2006/relationships/image" Target="../media/image77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g"/><Relationship Id="rId11" Type="http://schemas.openxmlformats.org/officeDocument/2006/relationships/image" Target="../media/image76.png"/><Relationship Id="rId5" Type="http://schemas.openxmlformats.org/officeDocument/2006/relationships/image" Target="../media/image70.jpg"/><Relationship Id="rId10" Type="http://schemas.openxmlformats.org/officeDocument/2006/relationships/image" Target="../media/image75.jpg"/><Relationship Id="rId4" Type="http://schemas.openxmlformats.org/officeDocument/2006/relationships/image" Target="../media/image69.jpg"/><Relationship Id="rId9" Type="http://schemas.openxmlformats.org/officeDocument/2006/relationships/image" Target="../media/image7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m/news/technology-35785875" TargetMode="External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712.01815" TargetMode="External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luggage-antique-cat-1643010/" TargetMode="External"/><Relationship Id="rId13" Type="http://schemas.openxmlformats.org/officeDocument/2006/relationships/hyperlink" Target="https://pixabay.com/en/baseball-player-shortstop-infield-1045263/" TargetMode="External"/><Relationship Id="rId3" Type="http://schemas.openxmlformats.org/officeDocument/2006/relationships/image" Target="../media/image89.jpg"/><Relationship Id="rId7" Type="http://schemas.openxmlformats.org/officeDocument/2006/relationships/image" Target="../media/image93.jpg"/><Relationship Id="rId12" Type="http://schemas.openxmlformats.org/officeDocument/2006/relationships/hyperlink" Target="https://pixabay.com/en/handstand-lake-meditation-496008/" TargetMode="External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jpg"/><Relationship Id="rId11" Type="http://schemas.openxmlformats.org/officeDocument/2006/relationships/hyperlink" Target="https://pixabay.com/en/woman-female-model-portrait-adult-983967/" TargetMode="External"/><Relationship Id="rId5" Type="http://schemas.openxmlformats.org/officeDocument/2006/relationships/image" Target="../media/image91.jpg"/><Relationship Id="rId10" Type="http://schemas.openxmlformats.org/officeDocument/2006/relationships/hyperlink" Target="https://pixabay.com/en/surf-wave-summer-sport-litoral-1668716/" TargetMode="External"/><Relationship Id="rId4" Type="http://schemas.openxmlformats.org/officeDocument/2006/relationships/image" Target="../media/image90.jpg"/><Relationship Id="rId9" Type="http://schemas.openxmlformats.org/officeDocument/2006/relationships/hyperlink" Target="https://pixabay.com/en/teddy-plush-bears-cute-teddy-bear-1623436/" TargetMode="External"/><Relationship Id="rId14" Type="http://schemas.openxmlformats.org/officeDocument/2006/relationships/hyperlink" Target="https://github.com/karpathy/neuraltalk2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luggage-antique-cat-1643010/" TargetMode="External"/><Relationship Id="rId13" Type="http://schemas.openxmlformats.org/officeDocument/2006/relationships/hyperlink" Target="https://pixabay.com/en/baseball-player-shortstop-infield-1045263/" TargetMode="External"/><Relationship Id="rId3" Type="http://schemas.openxmlformats.org/officeDocument/2006/relationships/image" Target="../media/image88.jpg"/><Relationship Id="rId7" Type="http://schemas.openxmlformats.org/officeDocument/2006/relationships/image" Target="../media/image93.jpg"/><Relationship Id="rId12" Type="http://schemas.openxmlformats.org/officeDocument/2006/relationships/hyperlink" Target="https://pixabay.com/en/handstand-lake-meditation-496008/" TargetMode="External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jpg"/><Relationship Id="rId11" Type="http://schemas.openxmlformats.org/officeDocument/2006/relationships/hyperlink" Target="https://pixabay.com/en/woman-female-model-portrait-adult-983967/" TargetMode="External"/><Relationship Id="rId5" Type="http://schemas.openxmlformats.org/officeDocument/2006/relationships/image" Target="../media/image91.jpg"/><Relationship Id="rId10" Type="http://schemas.openxmlformats.org/officeDocument/2006/relationships/hyperlink" Target="https://pixabay.com/en/surf-wave-summer-sport-litoral-1668716/" TargetMode="External"/><Relationship Id="rId4" Type="http://schemas.openxmlformats.org/officeDocument/2006/relationships/image" Target="../media/image90.jpg"/><Relationship Id="rId9" Type="http://schemas.openxmlformats.org/officeDocument/2006/relationships/hyperlink" Target="https://pixabay.com/en/teddy-plush-bears-cute-teddy-bear-1623436/" TargetMode="External"/><Relationship Id="rId14" Type="http://schemas.openxmlformats.org/officeDocument/2006/relationships/hyperlink" Target="https://github.com/karpathy/neuraltalk2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hyperlink" Target="https://pixabay.com/en/galaxies-overlapping-galaxies-601015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luggage-antique-cat-1643010/" TargetMode="External"/><Relationship Id="rId13" Type="http://schemas.openxmlformats.org/officeDocument/2006/relationships/hyperlink" Target="https://pixabay.com/en/baseball-player-shortstop-infield-1045263/" TargetMode="External"/><Relationship Id="rId3" Type="http://schemas.openxmlformats.org/officeDocument/2006/relationships/image" Target="../media/image108.jpg"/><Relationship Id="rId7" Type="http://schemas.openxmlformats.org/officeDocument/2006/relationships/image" Target="../media/image112.jpg"/><Relationship Id="rId12" Type="http://schemas.openxmlformats.org/officeDocument/2006/relationships/hyperlink" Target="https://pixabay.com/en/handstand-lake-meditation-496008/" TargetMode="External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jpg"/><Relationship Id="rId11" Type="http://schemas.openxmlformats.org/officeDocument/2006/relationships/hyperlink" Target="https://pixabay.com/en/woman-female-model-portrait-adult-983967/" TargetMode="External"/><Relationship Id="rId5" Type="http://schemas.openxmlformats.org/officeDocument/2006/relationships/image" Target="../media/image110.jpg"/><Relationship Id="rId10" Type="http://schemas.openxmlformats.org/officeDocument/2006/relationships/hyperlink" Target="https://pixabay.com/en/surf-wave-summer-sport-litoral-1668716/" TargetMode="External"/><Relationship Id="rId4" Type="http://schemas.openxmlformats.org/officeDocument/2006/relationships/image" Target="../media/image109.jpg"/><Relationship Id="rId9" Type="http://schemas.openxmlformats.org/officeDocument/2006/relationships/hyperlink" Target="https://pixabay.com/en/teddy-plush-bears-cute-teddy-bear-1623436/" TargetMode="External"/><Relationship Id="rId14" Type="http://schemas.openxmlformats.org/officeDocument/2006/relationships/hyperlink" Target="https://github.com/karpathy/neuraltalk2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malfet/" TargetMode="External"/><Relationship Id="rId2" Type="http://schemas.openxmlformats.org/officeDocument/2006/relationships/hyperlink" Target="https://www.flickr.com/photos/malfet/142819805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jpg"/><Relationship Id="rId4" Type="http://schemas.openxmlformats.org/officeDocument/2006/relationships/hyperlink" Target="https://creativecommons.org/licenses/by/2.0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malfet/" TargetMode="External"/><Relationship Id="rId2" Type="http://schemas.openxmlformats.org/officeDocument/2006/relationships/hyperlink" Target="https://www.flickr.com/photos/malfet/142819805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jpg"/><Relationship Id="rId5" Type="http://schemas.openxmlformats.org/officeDocument/2006/relationships/image" Target="../media/image114.jpg"/><Relationship Id="rId4" Type="http://schemas.openxmlformats.org/officeDocument/2006/relationships/hyperlink" Target="https://creativecommons.org/licenses/by/2.0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2.0/" TargetMode="External"/><Relationship Id="rId5" Type="http://schemas.openxmlformats.org/officeDocument/2006/relationships/hyperlink" Target="https://www.flickr.com/photos/malfet/" TargetMode="External"/><Relationship Id="rId4" Type="http://schemas.openxmlformats.org/officeDocument/2006/relationships/hyperlink" Target="https://www.flickr.com/photos/malfet/1428198050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red-cat-animals-cat-face-cat-red-1451799/" TargetMode="External"/><Relationship Id="rId3" Type="http://schemas.openxmlformats.org/officeDocument/2006/relationships/hyperlink" Target="https://pixabay.com/en/cat-cat-in-the-dark-eyes-staring-987528/" TargetMode="External"/><Relationship Id="rId7" Type="http://schemas.openxmlformats.org/officeDocument/2006/relationships/image" Target="../media/image120.jp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xpixel.freegreatpicture.com/Cats-Silhouette-Cats-Eyes-Silhouette-Cat-694730" TargetMode="External"/><Relationship Id="rId5" Type="http://schemas.openxmlformats.org/officeDocument/2006/relationships/image" Target="../media/image119.jpg"/><Relationship Id="rId10" Type="http://schemas.openxmlformats.org/officeDocument/2006/relationships/hyperlink" Target="http://maxpixel.freegreatpicture.com/Animals-Tree-Sun-Cat-In-Tree-Cat-Feline-Titus-63683" TargetMode="External"/><Relationship Id="rId4" Type="http://schemas.openxmlformats.org/officeDocument/2006/relationships/hyperlink" Target="https://creativecommons.org/publicdomain/zero/1.0/deed.en" TargetMode="External"/><Relationship Id="rId9" Type="http://schemas.openxmlformats.org/officeDocument/2006/relationships/image" Target="../media/image12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publicdomain/zero/1.0/deed.en" TargetMode="External"/><Relationship Id="rId2" Type="http://schemas.openxmlformats.org/officeDocument/2006/relationships/hyperlink" Target="https://pixabay.com/en/cat-camouflage-autumn-fur-animals-408728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jpg"/><Relationship Id="rId5" Type="http://schemas.openxmlformats.org/officeDocument/2006/relationships/image" Target="../media/image122.jpg"/><Relationship Id="rId4" Type="http://schemas.openxmlformats.org/officeDocument/2006/relationships/hyperlink" Target="https://www.pexels.com/photo/view-of-cat-in-snow-248276/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cat-hidden-meadow-green-summer-1009957/" TargetMode="External"/><Relationship Id="rId3" Type="http://schemas.openxmlformats.org/officeDocument/2006/relationships/hyperlink" Target="https://creativecommons.org/publicdomain/zero/1.0/deed.en" TargetMode="External"/><Relationship Id="rId7" Type="http://schemas.openxmlformats.org/officeDocument/2006/relationships/image" Target="../media/image125.jpg"/><Relationship Id="rId2" Type="http://schemas.openxmlformats.org/officeDocument/2006/relationships/hyperlink" Target="https://pixabay.com/p-393294/?no_redir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jpg"/><Relationship Id="rId5" Type="http://schemas.openxmlformats.org/officeDocument/2006/relationships/hyperlink" Target="https://creativecommons.org/licenses/by/2.0/" TargetMode="External"/><Relationship Id="rId4" Type="http://schemas.openxmlformats.org/officeDocument/2006/relationships/hyperlink" Target="https://www.flickr.com/people/81571077%40N00?rb=1" TargetMode="External"/><Relationship Id="rId9" Type="http://schemas.openxmlformats.org/officeDocument/2006/relationships/image" Target="../media/image126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ickr.com/photos/sarahcord/" TargetMode="External"/><Relationship Id="rId13" Type="http://schemas.openxmlformats.org/officeDocument/2006/relationships/image" Target="../media/image130.jpg"/><Relationship Id="rId3" Type="http://schemas.openxmlformats.org/officeDocument/2006/relationships/hyperlink" Target="https://www.flickr.com/photos/kaibara/" TargetMode="External"/><Relationship Id="rId7" Type="http://schemas.openxmlformats.org/officeDocument/2006/relationships/hyperlink" Target="https://www.flickr.com/photos/sarahcord/364252525" TargetMode="External"/><Relationship Id="rId12" Type="http://schemas.openxmlformats.org/officeDocument/2006/relationships/hyperlink" Target="https://www.flickr.com/photos/34745138%40N00/4068996309" TargetMode="External"/><Relationship Id="rId2" Type="http://schemas.openxmlformats.org/officeDocument/2006/relationships/hyperlink" Target="https://www.flickr.com/photos/kaibara/3625964429/in/photostrea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eviltomthai/" TargetMode="External"/><Relationship Id="rId11" Type="http://schemas.openxmlformats.org/officeDocument/2006/relationships/image" Target="../media/image129.jpg"/><Relationship Id="rId5" Type="http://schemas.openxmlformats.org/officeDocument/2006/relationships/hyperlink" Target="https://c1.staticflickr.com/5/4101/4877610923_52c9a5fedf_b.jpg" TargetMode="External"/><Relationship Id="rId10" Type="http://schemas.openxmlformats.org/officeDocument/2006/relationships/image" Target="../media/image128.jpg"/><Relationship Id="rId4" Type="http://schemas.openxmlformats.org/officeDocument/2006/relationships/hyperlink" Target="https://creativecommons.org/licenses/by/2.0/" TargetMode="External"/><Relationship Id="rId9" Type="http://schemas.openxmlformats.org/officeDocument/2006/relationships/image" Target="../media/image127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maxpixel.freegreatpicture.com/Cat-Kittens-Free-Float-Kitten-Rush-Cat-Puppy-555822" TargetMode="External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publicdomain/zero/1.0/deed.en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osts/ralph-aboujaoude-diaz-40838313_technology-artificialintelligence-computervision-activity-6912446088364875776-h-Iq?utm_source=linkedin_share&amp;utm_medium=member_desktop_web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jp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4.jp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jpg"/><Relationship Id="rId3" Type="http://schemas.openxmlformats.org/officeDocument/2006/relationships/hyperlink" Target="https://www.flickr.com/photos/malfet/1428198050" TargetMode="External"/><Relationship Id="rId7" Type="http://schemas.openxmlformats.org/officeDocument/2006/relationships/image" Target="../media/image147.jpg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jpg"/><Relationship Id="rId11" Type="http://schemas.openxmlformats.org/officeDocument/2006/relationships/hyperlink" Target="https://sandbox.open.wolframcloud.com/app/objects/26bc9cd9-50a8-42a9-8dbf-7a265d9e79c8" TargetMode="External"/><Relationship Id="rId5" Type="http://schemas.openxmlformats.org/officeDocument/2006/relationships/hyperlink" Target="https://creativecommons.org/licenses/by/2.0/" TargetMode="External"/><Relationship Id="rId10" Type="http://schemas.openxmlformats.org/officeDocument/2006/relationships/image" Target="../media/image150.jpg"/><Relationship Id="rId4" Type="http://schemas.openxmlformats.org/officeDocument/2006/relationships/hyperlink" Target="https://www.flickr.com/photos/malfet/" TargetMode="External"/><Relationship Id="rId9" Type="http://schemas.openxmlformats.org/officeDocument/2006/relationships/image" Target="../media/image149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g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jp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jpg"/><Relationship Id="rId5" Type="http://schemas.openxmlformats.org/officeDocument/2006/relationships/image" Target="../media/image173.jpg"/><Relationship Id="rId4" Type="http://schemas.openxmlformats.org/officeDocument/2006/relationships/image" Target="../media/image17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g"/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jpg"/><Relationship Id="rId5" Type="http://schemas.openxmlformats.org/officeDocument/2006/relationships/hyperlink" Target="https://www.hirevue.com/platform/online-video-interviewing-software" TargetMode="External"/><Relationship Id="rId4" Type="http://schemas.openxmlformats.org/officeDocument/2006/relationships/hyperlink" Target="https://www.washingtonpost.com/technology/2019/10/22/ai-hiring-face-scanning-algorithm-increasingly-decides-whether-you-deserve-job/" TargetMode="Externa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jpg"/><Relationship Id="rId4" Type="http://schemas.openxmlformats.org/officeDocument/2006/relationships/image" Target="../media/image19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jpg"/><Relationship Id="rId2" Type="http://schemas.openxmlformats.org/officeDocument/2006/relationships/image" Target="../media/image19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6.jp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jpg"/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9.jp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g"/><Relationship Id="rId2" Type="http://schemas.openxmlformats.org/officeDocument/2006/relationships/image" Target="../media/image20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jpg"/><Relationship Id="rId4" Type="http://schemas.openxmlformats.org/officeDocument/2006/relationships/image" Target="../media/image202.jp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obamawhitehouse/5307108415" TargetMode="External"/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andfit.com/wp-" TargetMode="External"/><Relationship Id="rId5" Type="http://schemas.openxmlformats.org/officeDocument/2006/relationships/image" Target="../media/image206.jpg"/><Relationship Id="rId4" Type="http://schemas.openxmlformats.org/officeDocument/2006/relationships/hyperlink" Target="http://www.usa.gov/copyright.shtml" TargetMode="Externa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BD19F-8780-2C69-A5AF-AA047E42E2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17" b="5733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991282-F984-33F8-1BA9-C57FE7C74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274586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Workshop on Computer Vision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AB952-428B-7EB3-7090-6BCDD7118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Reeshoon Sayera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61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E30069-00CF-716D-A8C8-6C02EB5E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05" y="657369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 dirty="0"/>
              <a:t>What is Computer Vision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2CD5D-B01F-4AB3-D795-6F7BD72D5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177" y="3238952"/>
            <a:ext cx="3833432" cy="2816352"/>
          </a:xfrm>
        </p:spPr>
        <p:txBody>
          <a:bodyPr>
            <a:normAutofit/>
          </a:bodyPr>
          <a:lstStyle/>
          <a:p>
            <a:r>
              <a:rPr lang="en-US" sz="2000" dirty="0"/>
              <a:t>Ability of Computers </a:t>
            </a:r>
          </a:p>
          <a:p>
            <a:pPr lvl="1"/>
            <a:r>
              <a:rPr lang="en-US" sz="2000" dirty="0"/>
              <a:t>To understand visual data</a:t>
            </a:r>
          </a:p>
          <a:p>
            <a:pPr lvl="2"/>
            <a:r>
              <a:rPr lang="en-US" sz="2000" dirty="0"/>
              <a:t>For example: images, videos</a:t>
            </a:r>
          </a:p>
          <a:p>
            <a:pPr lvl="1"/>
            <a:r>
              <a:rPr lang="en-US" sz="2000" dirty="0"/>
              <a:t>Automate tasks</a:t>
            </a:r>
          </a:p>
          <a:p>
            <a:pPr lvl="2"/>
            <a:r>
              <a:rPr lang="en-US" sz="2000" dirty="0"/>
              <a:t>Which human visual system can perform</a:t>
            </a: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4" name="object 4" descr="Object detection - Wikipedia">
            <a:extLst>
              <a:ext uri="{FF2B5EF4-FFF2-40B4-BE49-F238E27FC236}">
                <a16:creationId xmlns:a16="http://schemas.microsoft.com/office/drawing/2014/main" id="{2513B82A-B571-64C8-0019-CC87A01A6889}"/>
              </a:ext>
            </a:extLst>
          </p:cNvPr>
          <p:cNvPicPr/>
          <p:nvPr/>
        </p:nvPicPr>
        <p:blipFill>
          <a:blip r:embed="rId2" cstate="print"/>
          <a:srcRect l="9934" r="-5" b="-5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9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FFE9-B080-D224-54DF-3269178B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Perception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125730-E6CF-8D69-A236-7D4B04604F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112264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423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55B83-CB18-E1E8-CB81-2AC29E8DC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What can you see in this picture?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ject 3" descr="Screen Shot 2015-08-24 at 11.23.47 AM.png">
            <a:extLst>
              <a:ext uri="{FF2B5EF4-FFF2-40B4-BE49-F238E27FC236}">
                <a16:creationId xmlns:a16="http://schemas.microsoft.com/office/drawing/2014/main" id="{1BE77B4B-1698-6582-1FBA-74E2F0F8CA9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8655" y="965741"/>
            <a:ext cx="6432929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0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53A04-A080-0549-06EE-0C936B02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C8639-388F-C2D2-4076-53989D3D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Now what can you see in this picture?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object 3" descr="Screen Shot 2015-08-24 at 11.24.44 AM.png">
            <a:extLst>
              <a:ext uri="{FF2B5EF4-FFF2-40B4-BE49-F238E27FC236}">
                <a16:creationId xmlns:a16="http://schemas.microsoft.com/office/drawing/2014/main" id="{2DBBF260-871D-34C8-9F7F-674C75FFED5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69891" y="965741"/>
            <a:ext cx="6450457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7663-922A-0FDB-3DEE-01E03E6F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827026"/>
            <a:ext cx="11155680" cy="1463040"/>
          </a:xfrm>
        </p:spPr>
        <p:txBody>
          <a:bodyPr/>
          <a:lstStyle/>
          <a:p>
            <a:r>
              <a:rPr lang="en-US" dirty="0"/>
              <a:t>Goal of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E601-05D0-17B4-7CB0-23E55CCF8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01135"/>
            <a:ext cx="11155680" cy="3767328"/>
          </a:xfrm>
        </p:spPr>
        <p:txBody>
          <a:bodyPr/>
          <a:lstStyle/>
          <a:p>
            <a:pPr marL="240029" indent="-227329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0029" algn="l"/>
              </a:tabLst>
            </a:pPr>
            <a:r>
              <a:rPr lang="en-US" sz="2800" spc="-114" dirty="0">
                <a:latin typeface="Calibri"/>
                <a:cs typeface="Calibri"/>
              </a:rPr>
              <a:t>To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bridge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gap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between</a:t>
            </a:r>
            <a:endParaRPr lang="en-US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en-US" sz="2400" dirty="0">
                <a:latin typeface="Calibri"/>
                <a:cs typeface="Calibri"/>
              </a:rPr>
              <a:t>image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pixels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“meaning”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(semantic)!</a:t>
            </a:r>
            <a:endParaRPr lang="en-US" sz="2400" dirty="0">
              <a:latin typeface="Calibri"/>
              <a:cs typeface="Calibri"/>
            </a:endParaRPr>
          </a:p>
          <a:p>
            <a:endParaRPr lang="en-US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A0C8956-F8E0-80CB-35CA-E1C797DE4665}"/>
              </a:ext>
            </a:extLst>
          </p:cNvPr>
          <p:cNvGrpSpPr/>
          <p:nvPr/>
        </p:nvGrpSpPr>
        <p:grpSpPr>
          <a:xfrm>
            <a:off x="1461023" y="2855279"/>
            <a:ext cx="8486267" cy="3200400"/>
            <a:chOff x="621269" y="2799079"/>
            <a:chExt cx="8486267" cy="32004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FF733B0-F3EF-C152-B3EA-F3565FC02C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269" y="2799079"/>
              <a:ext cx="5961888" cy="320040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59E389E-36E0-F923-AE93-74E379E82A29}"/>
                </a:ext>
              </a:extLst>
            </p:cNvPr>
            <p:cNvSpPr/>
            <p:nvPr/>
          </p:nvSpPr>
          <p:spPr>
            <a:xfrm>
              <a:off x="4586478" y="4624577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254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28A6609-0C55-CF2B-89E4-A60891FDCB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1064" y="2991611"/>
              <a:ext cx="914400" cy="914400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C81A7A-F35B-CED5-D2AE-7284A83F3C18}"/>
                </a:ext>
              </a:extLst>
            </p:cNvPr>
            <p:cNvSpPr/>
            <p:nvPr/>
          </p:nvSpPr>
          <p:spPr>
            <a:xfrm>
              <a:off x="4769104" y="3407790"/>
              <a:ext cx="2983230" cy="1322070"/>
            </a:xfrm>
            <a:custGeom>
              <a:avLst/>
              <a:gdLst/>
              <a:ahLst/>
              <a:cxnLst/>
              <a:rect l="l" t="t" r="r" b="b"/>
              <a:pathLst>
                <a:path w="2983229" h="1322070">
                  <a:moveTo>
                    <a:pt x="2915848" y="28321"/>
                  </a:moveTo>
                  <a:lnTo>
                    <a:pt x="2912237" y="28321"/>
                  </a:lnTo>
                  <a:lnTo>
                    <a:pt x="2842132" y="31114"/>
                  </a:lnTo>
                  <a:lnTo>
                    <a:pt x="2772410" y="35687"/>
                  </a:lnTo>
                  <a:lnTo>
                    <a:pt x="2702941" y="41783"/>
                  </a:lnTo>
                  <a:lnTo>
                    <a:pt x="2634234" y="49657"/>
                  </a:lnTo>
                  <a:lnTo>
                    <a:pt x="2566035" y="58928"/>
                  </a:lnTo>
                  <a:lnTo>
                    <a:pt x="2498598" y="69850"/>
                  </a:lnTo>
                  <a:lnTo>
                    <a:pt x="2432304" y="82169"/>
                  </a:lnTo>
                  <a:lnTo>
                    <a:pt x="2367026" y="96012"/>
                  </a:lnTo>
                  <a:lnTo>
                    <a:pt x="2302891" y="110998"/>
                  </a:lnTo>
                  <a:lnTo>
                    <a:pt x="2240153" y="127381"/>
                  </a:lnTo>
                  <a:lnTo>
                    <a:pt x="2179066" y="145034"/>
                  </a:lnTo>
                  <a:lnTo>
                    <a:pt x="2119376" y="163703"/>
                  </a:lnTo>
                  <a:lnTo>
                    <a:pt x="2061591" y="183642"/>
                  </a:lnTo>
                  <a:lnTo>
                    <a:pt x="2005711" y="204597"/>
                  </a:lnTo>
                  <a:lnTo>
                    <a:pt x="1951863" y="226568"/>
                  </a:lnTo>
                  <a:lnTo>
                    <a:pt x="1900174" y="249301"/>
                  </a:lnTo>
                  <a:lnTo>
                    <a:pt x="1850771" y="273177"/>
                  </a:lnTo>
                  <a:lnTo>
                    <a:pt x="1803780" y="297815"/>
                  </a:lnTo>
                  <a:lnTo>
                    <a:pt x="1759330" y="323215"/>
                  </a:lnTo>
                  <a:lnTo>
                    <a:pt x="1717675" y="349377"/>
                  </a:lnTo>
                  <a:lnTo>
                    <a:pt x="1678686" y="376301"/>
                  </a:lnTo>
                  <a:lnTo>
                    <a:pt x="1642745" y="403860"/>
                  </a:lnTo>
                  <a:lnTo>
                    <a:pt x="1609979" y="431927"/>
                  </a:lnTo>
                  <a:lnTo>
                    <a:pt x="1580388" y="460629"/>
                  </a:lnTo>
                  <a:lnTo>
                    <a:pt x="1554099" y="489966"/>
                  </a:lnTo>
                  <a:lnTo>
                    <a:pt x="1521460" y="534797"/>
                  </a:lnTo>
                  <a:lnTo>
                    <a:pt x="1497330" y="580898"/>
                  </a:lnTo>
                  <a:lnTo>
                    <a:pt x="1482344" y="627761"/>
                  </a:lnTo>
                  <a:lnTo>
                    <a:pt x="1477264" y="674243"/>
                  </a:lnTo>
                  <a:lnTo>
                    <a:pt x="1476756" y="688086"/>
                  </a:lnTo>
                  <a:lnTo>
                    <a:pt x="1475359" y="701929"/>
                  </a:lnTo>
                  <a:lnTo>
                    <a:pt x="1464945" y="743585"/>
                  </a:lnTo>
                  <a:lnTo>
                    <a:pt x="1445768" y="785495"/>
                  </a:lnTo>
                  <a:lnTo>
                    <a:pt x="1418082" y="827532"/>
                  </a:lnTo>
                  <a:lnTo>
                    <a:pt x="1382268" y="869061"/>
                  </a:lnTo>
                  <a:lnTo>
                    <a:pt x="1353947" y="896493"/>
                  </a:lnTo>
                  <a:lnTo>
                    <a:pt x="1322324" y="923544"/>
                  </a:lnTo>
                  <a:lnTo>
                    <a:pt x="1287653" y="950214"/>
                  </a:lnTo>
                  <a:lnTo>
                    <a:pt x="1249807" y="976249"/>
                  </a:lnTo>
                  <a:lnTo>
                    <a:pt x="1209040" y="1001903"/>
                  </a:lnTo>
                  <a:lnTo>
                    <a:pt x="1165606" y="1026795"/>
                  </a:lnTo>
                  <a:lnTo>
                    <a:pt x="1119505" y="1050925"/>
                  </a:lnTo>
                  <a:lnTo>
                    <a:pt x="1070991" y="1074293"/>
                  </a:lnTo>
                  <a:lnTo>
                    <a:pt x="1020191" y="1096772"/>
                  </a:lnTo>
                  <a:lnTo>
                    <a:pt x="967105" y="1118362"/>
                  </a:lnTo>
                  <a:lnTo>
                    <a:pt x="911987" y="1139063"/>
                  </a:lnTo>
                  <a:lnTo>
                    <a:pt x="854710" y="1158621"/>
                  </a:lnTo>
                  <a:lnTo>
                    <a:pt x="795909" y="1177290"/>
                  </a:lnTo>
                  <a:lnTo>
                    <a:pt x="735330" y="1194562"/>
                  </a:lnTo>
                  <a:lnTo>
                    <a:pt x="673354" y="1210818"/>
                  </a:lnTo>
                  <a:lnTo>
                    <a:pt x="609854" y="1225804"/>
                  </a:lnTo>
                  <a:lnTo>
                    <a:pt x="545211" y="1239266"/>
                  </a:lnTo>
                  <a:lnTo>
                    <a:pt x="479551" y="1251585"/>
                  </a:lnTo>
                  <a:lnTo>
                    <a:pt x="412876" y="1262380"/>
                  </a:lnTo>
                  <a:lnTo>
                    <a:pt x="345313" y="1271524"/>
                  </a:lnTo>
                  <a:lnTo>
                    <a:pt x="277241" y="1279271"/>
                  </a:lnTo>
                  <a:lnTo>
                    <a:pt x="208407" y="1285367"/>
                  </a:lnTo>
                  <a:lnTo>
                    <a:pt x="139319" y="1289812"/>
                  </a:lnTo>
                  <a:lnTo>
                    <a:pt x="69976" y="1292479"/>
                  </a:lnTo>
                  <a:lnTo>
                    <a:pt x="0" y="1293495"/>
                  </a:lnTo>
                  <a:lnTo>
                    <a:pt x="255" y="1307846"/>
                  </a:lnTo>
                  <a:lnTo>
                    <a:pt x="363" y="1313942"/>
                  </a:lnTo>
                  <a:lnTo>
                    <a:pt x="442" y="1318387"/>
                  </a:lnTo>
                  <a:lnTo>
                    <a:pt x="508" y="1322070"/>
                  </a:lnTo>
                  <a:lnTo>
                    <a:pt x="70358" y="1321054"/>
                  </a:lnTo>
                  <a:lnTo>
                    <a:pt x="140462" y="1318387"/>
                  </a:lnTo>
                  <a:lnTo>
                    <a:pt x="210185" y="1313942"/>
                  </a:lnTo>
                  <a:lnTo>
                    <a:pt x="279781" y="1307846"/>
                  </a:lnTo>
                  <a:lnTo>
                    <a:pt x="348615" y="1299972"/>
                  </a:lnTo>
                  <a:lnTo>
                    <a:pt x="416687" y="1290701"/>
                  </a:lnTo>
                  <a:lnTo>
                    <a:pt x="484124" y="1279779"/>
                  </a:lnTo>
                  <a:lnTo>
                    <a:pt x="550418" y="1267460"/>
                  </a:lnTo>
                  <a:lnTo>
                    <a:pt x="615696" y="1253744"/>
                  </a:lnTo>
                  <a:lnTo>
                    <a:pt x="679958" y="1238631"/>
                  </a:lnTo>
                  <a:lnTo>
                    <a:pt x="742569" y="1222248"/>
                  </a:lnTo>
                  <a:lnTo>
                    <a:pt x="803656" y="1204722"/>
                  </a:lnTo>
                  <a:lnTo>
                    <a:pt x="863346" y="1185926"/>
                  </a:lnTo>
                  <a:lnTo>
                    <a:pt x="921131" y="1166114"/>
                  </a:lnTo>
                  <a:lnTo>
                    <a:pt x="977138" y="1145159"/>
                  </a:lnTo>
                  <a:lnTo>
                    <a:pt x="1030859" y="1123188"/>
                  </a:lnTo>
                  <a:lnTo>
                    <a:pt x="1082802" y="1100201"/>
                  </a:lnTo>
                  <a:lnTo>
                    <a:pt x="1132078" y="1076579"/>
                  </a:lnTo>
                  <a:lnTo>
                    <a:pt x="1179195" y="1051941"/>
                  </a:lnTo>
                  <a:lnTo>
                    <a:pt x="1223518" y="1026541"/>
                  </a:lnTo>
                  <a:lnTo>
                    <a:pt x="1265301" y="1000252"/>
                  </a:lnTo>
                  <a:lnTo>
                    <a:pt x="1304036" y="973582"/>
                  </a:lnTo>
                  <a:lnTo>
                    <a:pt x="1339977" y="946150"/>
                  </a:lnTo>
                  <a:lnTo>
                    <a:pt x="1372870" y="917956"/>
                  </a:lnTo>
                  <a:lnTo>
                    <a:pt x="1402461" y="889381"/>
                  </a:lnTo>
                  <a:lnTo>
                    <a:pt x="1428623" y="860044"/>
                  </a:lnTo>
                  <a:lnTo>
                    <a:pt x="1461262" y="815213"/>
                  </a:lnTo>
                  <a:lnTo>
                    <a:pt x="1485519" y="769493"/>
                  </a:lnTo>
                  <a:lnTo>
                    <a:pt x="1500632" y="722630"/>
                  </a:lnTo>
                  <a:lnTo>
                    <a:pt x="1505712" y="675132"/>
                  </a:lnTo>
                  <a:lnTo>
                    <a:pt x="1506474" y="660654"/>
                  </a:lnTo>
                  <a:lnTo>
                    <a:pt x="1513967" y="618998"/>
                  </a:lnTo>
                  <a:lnTo>
                    <a:pt x="1530350" y="577342"/>
                  </a:lnTo>
                  <a:lnTo>
                    <a:pt x="1555242" y="535559"/>
                  </a:lnTo>
                  <a:lnTo>
                    <a:pt x="1588389" y="493903"/>
                  </a:lnTo>
                  <a:lnTo>
                    <a:pt x="1614932" y="466344"/>
                  </a:lnTo>
                  <a:lnTo>
                    <a:pt x="1644904" y="439166"/>
                  </a:lnTo>
                  <a:lnTo>
                    <a:pt x="1678051" y="412369"/>
                  </a:lnTo>
                  <a:lnTo>
                    <a:pt x="1714373" y="386080"/>
                  </a:lnTo>
                  <a:lnTo>
                    <a:pt x="1753616" y="360299"/>
                  </a:lnTo>
                  <a:lnTo>
                    <a:pt x="1795652" y="335153"/>
                  </a:lnTo>
                  <a:lnTo>
                    <a:pt x="1840484" y="310642"/>
                  </a:lnTo>
                  <a:lnTo>
                    <a:pt x="1887727" y="286766"/>
                  </a:lnTo>
                  <a:lnTo>
                    <a:pt x="1937512" y="263906"/>
                  </a:lnTo>
                  <a:lnTo>
                    <a:pt x="2016505" y="231013"/>
                  </a:lnTo>
                  <a:lnTo>
                    <a:pt x="2071624" y="210439"/>
                  </a:lnTo>
                  <a:lnTo>
                    <a:pt x="2128647" y="190754"/>
                  </a:lnTo>
                  <a:lnTo>
                    <a:pt x="2187575" y="172338"/>
                  </a:lnTo>
                  <a:lnTo>
                    <a:pt x="2248154" y="154812"/>
                  </a:lnTo>
                  <a:lnTo>
                    <a:pt x="2310129" y="138684"/>
                  </a:lnTo>
                  <a:lnTo>
                    <a:pt x="2373503" y="123825"/>
                  </a:lnTo>
                  <a:lnTo>
                    <a:pt x="2438146" y="110109"/>
                  </a:lnTo>
                  <a:lnTo>
                    <a:pt x="2503804" y="97917"/>
                  </a:lnTo>
                  <a:lnTo>
                    <a:pt x="2570606" y="87122"/>
                  </a:lnTo>
                  <a:lnTo>
                    <a:pt x="2638044" y="77978"/>
                  </a:lnTo>
                  <a:lnTo>
                    <a:pt x="2706243" y="70231"/>
                  </a:lnTo>
                  <a:lnTo>
                    <a:pt x="2774950" y="64135"/>
                  </a:lnTo>
                  <a:lnTo>
                    <a:pt x="2844038" y="59689"/>
                  </a:lnTo>
                  <a:lnTo>
                    <a:pt x="2913379" y="56896"/>
                  </a:lnTo>
                  <a:lnTo>
                    <a:pt x="2916243" y="56896"/>
                  </a:lnTo>
                  <a:lnTo>
                    <a:pt x="2925572" y="42545"/>
                  </a:lnTo>
                  <a:lnTo>
                    <a:pt x="2915848" y="28321"/>
                  </a:lnTo>
                  <a:close/>
                </a:path>
                <a:path w="2983229" h="1322070">
                  <a:moveTo>
                    <a:pt x="2925572" y="42545"/>
                  </a:moveTo>
                  <a:lnTo>
                    <a:pt x="2897504" y="85725"/>
                  </a:lnTo>
                  <a:lnTo>
                    <a:pt x="2953413" y="56896"/>
                  </a:lnTo>
                  <a:lnTo>
                    <a:pt x="2925700" y="56896"/>
                  </a:lnTo>
                  <a:lnTo>
                    <a:pt x="2925635" y="49657"/>
                  </a:lnTo>
                  <a:lnTo>
                    <a:pt x="2925572" y="42545"/>
                  </a:lnTo>
                  <a:close/>
                </a:path>
                <a:path w="2983229" h="1322070">
                  <a:moveTo>
                    <a:pt x="2954938" y="28321"/>
                  </a:moveTo>
                  <a:lnTo>
                    <a:pt x="2925446" y="28321"/>
                  </a:lnTo>
                  <a:lnTo>
                    <a:pt x="2925511" y="35687"/>
                  </a:lnTo>
                  <a:lnTo>
                    <a:pt x="2925635" y="49657"/>
                  </a:lnTo>
                  <a:lnTo>
                    <a:pt x="2925700" y="56896"/>
                  </a:lnTo>
                  <a:lnTo>
                    <a:pt x="2953413" y="56896"/>
                  </a:lnTo>
                  <a:lnTo>
                    <a:pt x="2982722" y="41783"/>
                  </a:lnTo>
                  <a:lnTo>
                    <a:pt x="2954938" y="28321"/>
                  </a:lnTo>
                  <a:close/>
                </a:path>
                <a:path w="2983229" h="1322070">
                  <a:moveTo>
                    <a:pt x="2896489" y="0"/>
                  </a:moveTo>
                  <a:lnTo>
                    <a:pt x="2925572" y="42545"/>
                  </a:lnTo>
                  <a:lnTo>
                    <a:pt x="2925446" y="28321"/>
                  </a:lnTo>
                  <a:lnTo>
                    <a:pt x="2954938" y="28321"/>
                  </a:lnTo>
                  <a:lnTo>
                    <a:pt x="289648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 descr="Screen Shot 2015-08-24 at 12.47.46 PM.png">
              <a:extLst>
                <a:ext uri="{FF2B5EF4-FFF2-40B4-BE49-F238E27FC236}">
                  <a16:creationId xmlns:a16="http://schemas.microsoft.com/office/drawing/2014/main" id="{4A511560-1045-DFC5-F7A6-3ABDC82CEA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5896" y="4292599"/>
              <a:ext cx="1691640" cy="1706880"/>
            </a:xfrm>
            <a:prstGeom prst="rect">
              <a:avLst/>
            </a:prstGeom>
          </p:spPr>
        </p:pic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979803B8-3CD5-8F7C-C747-BF5F34D4AFDC}"/>
              </a:ext>
            </a:extLst>
          </p:cNvPr>
          <p:cNvSpPr txBox="1"/>
          <p:nvPr/>
        </p:nvSpPr>
        <p:spPr>
          <a:xfrm>
            <a:off x="3414576" y="6348252"/>
            <a:ext cx="1306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What</a:t>
            </a:r>
            <a:r>
              <a:rPr sz="1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sz="1800" spc="-20" dirty="0">
                <a:solidFill>
                  <a:srgbClr val="0000FF"/>
                </a:solidFill>
                <a:latin typeface="Calibri"/>
                <a:cs typeface="Calibri"/>
              </a:rPr>
              <a:t> see!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E947249-2A28-36CC-10B8-8300C37B107E}"/>
              </a:ext>
            </a:extLst>
          </p:cNvPr>
          <p:cNvSpPr txBox="1"/>
          <p:nvPr/>
        </p:nvSpPr>
        <p:spPr>
          <a:xfrm>
            <a:off x="8004046" y="6314060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What</a:t>
            </a:r>
            <a:r>
              <a:rPr sz="1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computer</a:t>
            </a:r>
            <a:r>
              <a:rPr sz="1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sees!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610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90FC-7808-D7E2-EC59-6DAD438C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B7DFE-C7D4-822E-2CE6-301DD487B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500" dirty="0"/>
              <a:t>Why learn computer vision?</a:t>
            </a:r>
          </a:p>
        </p:txBody>
      </p:sp>
    </p:spTree>
    <p:extLst>
      <p:ext uri="{BB962C8B-B14F-4D97-AF65-F5344CB8AC3E}">
        <p14:creationId xmlns:p14="http://schemas.microsoft.com/office/powerpoint/2010/main" val="2684603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405F-92C4-571A-E81F-12373BD8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1E6B-009C-BB58-5723-9034CD72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Because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EF2786-9A8F-7D35-4A4E-0A09D3D613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313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FF92-101C-4098-7154-2CB792B6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FB9A-0E44-E703-7C97-9BFD919A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Recent advancement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AAE0B-C5F9-2F4F-20C9-752CB9E6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800" dirty="0">
                <a:latin typeface="Calibri"/>
                <a:cs typeface="Calibri"/>
              </a:rPr>
              <a:t>Used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done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mostly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academics</a:t>
            </a:r>
            <a:endParaRPr lang="en-US"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lang="en-US" sz="2800" spc="-25" dirty="0">
                <a:latin typeface="Calibri"/>
                <a:cs typeface="Calibri"/>
              </a:rPr>
              <a:t>Now</a:t>
            </a:r>
            <a:endParaRPr lang="en-US" sz="28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10" dirty="0">
                <a:latin typeface="Calibri"/>
                <a:cs typeface="Calibri"/>
              </a:rPr>
              <a:t>Google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10" dirty="0">
                <a:latin typeface="Calibri"/>
                <a:cs typeface="Calibri"/>
              </a:rPr>
              <a:t>Facebook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10" dirty="0">
                <a:latin typeface="Calibri"/>
                <a:cs typeface="Calibri"/>
              </a:rPr>
              <a:t>Apple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25" dirty="0">
                <a:latin typeface="Calibri"/>
                <a:cs typeface="Calibri"/>
              </a:rPr>
              <a:t>IBM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10" dirty="0">
                <a:latin typeface="Calibri"/>
                <a:cs typeface="Calibri"/>
              </a:rPr>
              <a:t>Microsoft</a:t>
            </a:r>
            <a:endParaRPr lang="en-US"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lang="en-US" sz="2400" spc="-50" dirty="0">
                <a:latin typeface="Calibri"/>
                <a:cs typeface="Calibri"/>
              </a:rPr>
              <a:t>…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1323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47AF-C2E7-8432-06BF-3ED1E673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3A5A-54F6-B21B-99C0-132B27DA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changed?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A63104-3D0C-9ED6-E92A-E5A2F00F96A1}"/>
              </a:ext>
            </a:extLst>
          </p:cNvPr>
          <p:cNvSpPr txBox="1"/>
          <p:nvPr/>
        </p:nvSpPr>
        <p:spPr>
          <a:xfrm>
            <a:off x="1178196" y="1978505"/>
            <a:ext cx="4531360" cy="43135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Emergence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deep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learning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Advancement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Availability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large-</a:t>
            </a:r>
            <a:r>
              <a:rPr sz="2800" dirty="0">
                <a:latin typeface="Calibri"/>
                <a:cs typeface="Calibri"/>
              </a:rPr>
              <a:t>scale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ImageNet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OpenImages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YFCC100M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45" dirty="0">
                <a:latin typeface="Calibri"/>
                <a:cs typeface="Calibri"/>
              </a:rPr>
              <a:t>Youtube-</a:t>
            </a:r>
            <a:r>
              <a:rPr sz="2400" spc="-25" dirty="0">
                <a:latin typeface="Calibri"/>
                <a:cs typeface="Calibri"/>
              </a:rPr>
              <a:t>8M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Kinetics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25" dirty="0">
                <a:latin typeface="Calibri"/>
                <a:cs typeface="Calibri"/>
              </a:rPr>
              <a:t>AVA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297C1660-A695-B053-4BFE-A8FA18912DF6}"/>
              </a:ext>
            </a:extLst>
          </p:cNvPr>
          <p:cNvGrpSpPr/>
          <p:nvPr/>
        </p:nvGrpSpPr>
        <p:grpSpPr>
          <a:xfrm>
            <a:off x="6262214" y="2720917"/>
            <a:ext cx="4389755" cy="3170555"/>
            <a:chOff x="6000957" y="2450330"/>
            <a:chExt cx="4389755" cy="3170555"/>
          </a:xfrm>
        </p:grpSpPr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4AF6F7A-E781-6C92-3F75-D4E5B7EB1D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957" y="3668159"/>
              <a:ext cx="1986326" cy="1431144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AADFE3E6-2103-A797-BB28-C079B53032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9747" y="3188207"/>
              <a:ext cx="2500883" cy="1348739"/>
            </a:xfrm>
            <a:prstGeom prst="rect">
              <a:avLst/>
            </a:prstGeom>
          </p:spPr>
        </p:pic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E90F82CF-9D34-EFD8-64C6-D55B38BEB7E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9457" y="2450330"/>
              <a:ext cx="1382132" cy="875908"/>
            </a:xfrm>
            <a:prstGeom prst="rect">
              <a:avLst/>
            </a:prstGeom>
          </p:spPr>
        </p:pic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A05702A7-6E90-2B03-A913-461B7EF2C67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1043" y="4846319"/>
              <a:ext cx="1548383" cy="774192"/>
            </a:xfrm>
            <a:prstGeom prst="rect">
              <a:avLst/>
            </a:prstGeom>
          </p:spPr>
        </p:pic>
      </p:grpSp>
      <p:pic>
        <p:nvPicPr>
          <p:cNvPr id="12" name="object 10">
            <a:extLst>
              <a:ext uri="{FF2B5EF4-FFF2-40B4-BE49-F238E27FC236}">
                <a16:creationId xmlns:a16="http://schemas.microsoft.com/office/drawing/2014/main" id="{042E4D82-FC60-E502-8AE2-51C4B75823E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96398" y="2616684"/>
            <a:ext cx="947511" cy="98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3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46D6-71BF-61E6-CE1C-3AC09798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digital image?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3A013DD-AC9E-AF93-8A81-C015FA844412}"/>
              </a:ext>
            </a:extLst>
          </p:cNvPr>
          <p:cNvSpPr txBox="1"/>
          <p:nvPr/>
        </p:nvSpPr>
        <p:spPr>
          <a:xfrm>
            <a:off x="916938" y="1850643"/>
            <a:ext cx="9586595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  <a:tabLst>
                <a:tab pos="240665" algn="l"/>
              </a:tabLst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Definition: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integrating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sampling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continuous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(analog)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spatial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[Klette,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2014]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4" descr="Screen Shot 2015-08-24 at 5.37.08 PM.png">
            <a:extLst>
              <a:ext uri="{FF2B5EF4-FFF2-40B4-BE49-F238E27FC236}">
                <a16:creationId xmlns:a16="http://schemas.microsoft.com/office/drawing/2014/main" id="{FCBA5D55-A307-D181-1BEB-700AF4C296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103" y="3256533"/>
            <a:ext cx="7132266" cy="306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1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8EE8-F962-6B2E-437C-76241E53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</a:t>
            </a:r>
            <a:r>
              <a:rPr lang="en-US" spc="-125" dirty="0"/>
              <a:t> </a:t>
            </a:r>
            <a:r>
              <a:rPr lang="en-US" spc="-10" dirty="0"/>
              <a:t>Types:</a:t>
            </a:r>
            <a:r>
              <a:rPr lang="en-US" spc="-140" dirty="0"/>
              <a:t> </a:t>
            </a:r>
            <a:r>
              <a:rPr lang="en-US" spc="-10" dirty="0"/>
              <a:t>(Gray)Scalar</a:t>
            </a:r>
            <a:r>
              <a:rPr lang="en-US" spc="-150" dirty="0"/>
              <a:t> </a:t>
            </a:r>
            <a:r>
              <a:rPr lang="en-US" dirty="0"/>
              <a:t>and</a:t>
            </a:r>
            <a:r>
              <a:rPr lang="en-US" spc="-120" dirty="0"/>
              <a:t> </a:t>
            </a:r>
            <a:r>
              <a:rPr lang="en-US" spc="-10" dirty="0"/>
              <a:t>Binary</a:t>
            </a:r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150DE2C-F826-DDC4-518A-C172A0738B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498" y="2441448"/>
            <a:ext cx="5688755" cy="2592473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4E284B3-0C1F-FFF0-32C5-D1FA3A0B8F49}"/>
              </a:ext>
            </a:extLst>
          </p:cNvPr>
          <p:cNvSpPr txBox="1"/>
          <p:nvPr/>
        </p:nvSpPr>
        <p:spPr>
          <a:xfrm>
            <a:off x="515112" y="2471450"/>
            <a:ext cx="4998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20808AF-38DE-3358-00E1-084816957695}"/>
              </a:ext>
            </a:extLst>
          </p:cNvPr>
          <p:cNvSpPr txBox="1"/>
          <p:nvPr/>
        </p:nvSpPr>
        <p:spPr>
          <a:xfrm>
            <a:off x="515112" y="3409053"/>
            <a:ext cx="3983354" cy="31337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a: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(bit)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Ex.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(a=8)</a:t>
            </a:r>
            <a:endParaRPr sz="28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image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255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black</a:t>
            </a:r>
            <a:r>
              <a:rPr sz="24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255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white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Ex.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(a=1)</a:t>
            </a:r>
            <a:endParaRPr sz="28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only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21E7817C-8930-E308-ABFD-2C7A9EF0ED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226" y="3219704"/>
            <a:ext cx="188086" cy="167037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AFF39E33-E255-A970-8A76-7201DFA9D1D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2868" y="3183350"/>
            <a:ext cx="183473" cy="214217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F4BF8DFF-84A4-0999-1971-B0C93CC387C9}"/>
              </a:ext>
            </a:extLst>
          </p:cNvPr>
          <p:cNvSpPr/>
          <p:nvPr/>
        </p:nvSpPr>
        <p:spPr>
          <a:xfrm>
            <a:off x="2095246" y="3105256"/>
            <a:ext cx="326390" cy="370205"/>
          </a:xfrm>
          <a:custGeom>
            <a:avLst/>
            <a:gdLst/>
            <a:ahLst/>
            <a:cxnLst/>
            <a:rect l="l" t="t" r="r" b="b"/>
            <a:pathLst>
              <a:path w="326389" h="370205">
                <a:moveTo>
                  <a:pt x="130505" y="0"/>
                </a:moveTo>
                <a:lnTo>
                  <a:pt x="123596" y="0"/>
                </a:lnTo>
                <a:lnTo>
                  <a:pt x="97116" y="3441"/>
                </a:lnTo>
                <a:lnTo>
                  <a:pt x="74752" y="13042"/>
                </a:lnTo>
                <a:lnTo>
                  <a:pt x="59143" y="27724"/>
                </a:lnTo>
                <a:lnTo>
                  <a:pt x="52971" y="46393"/>
                </a:lnTo>
                <a:lnTo>
                  <a:pt x="52971" y="130695"/>
                </a:lnTo>
                <a:lnTo>
                  <a:pt x="52743" y="141198"/>
                </a:lnTo>
                <a:lnTo>
                  <a:pt x="28562" y="175729"/>
                </a:lnTo>
                <a:lnTo>
                  <a:pt x="3848" y="180949"/>
                </a:lnTo>
                <a:lnTo>
                  <a:pt x="1524" y="181737"/>
                </a:lnTo>
                <a:lnTo>
                  <a:pt x="0" y="182511"/>
                </a:lnTo>
                <a:lnTo>
                  <a:pt x="0" y="188683"/>
                </a:lnTo>
                <a:lnTo>
                  <a:pt x="2311" y="188683"/>
                </a:lnTo>
                <a:lnTo>
                  <a:pt x="6146" y="189471"/>
                </a:lnTo>
                <a:lnTo>
                  <a:pt x="46837" y="209473"/>
                </a:lnTo>
                <a:lnTo>
                  <a:pt x="52971" y="225818"/>
                </a:lnTo>
                <a:lnTo>
                  <a:pt x="52971" y="313194"/>
                </a:lnTo>
                <a:lnTo>
                  <a:pt x="53251" y="324294"/>
                </a:lnTo>
                <a:lnTo>
                  <a:pt x="83007" y="361823"/>
                </a:lnTo>
                <a:lnTo>
                  <a:pt x="123596" y="369658"/>
                </a:lnTo>
                <a:lnTo>
                  <a:pt x="130505" y="369658"/>
                </a:lnTo>
                <a:lnTo>
                  <a:pt x="130505" y="361924"/>
                </a:lnTo>
                <a:lnTo>
                  <a:pt x="125133" y="361924"/>
                </a:lnTo>
                <a:lnTo>
                  <a:pt x="108546" y="358914"/>
                </a:lnTo>
                <a:lnTo>
                  <a:pt x="94907" y="352348"/>
                </a:lnTo>
                <a:lnTo>
                  <a:pt x="84861" y="342455"/>
                </a:lnTo>
                <a:lnTo>
                  <a:pt x="79070" y="329438"/>
                </a:lnTo>
                <a:lnTo>
                  <a:pt x="77533" y="326351"/>
                </a:lnTo>
                <a:lnTo>
                  <a:pt x="77533" y="234315"/>
                </a:lnTo>
                <a:lnTo>
                  <a:pt x="76987" y="223342"/>
                </a:lnTo>
                <a:lnTo>
                  <a:pt x="49606" y="190436"/>
                </a:lnTo>
                <a:lnTo>
                  <a:pt x="34544" y="184823"/>
                </a:lnTo>
                <a:lnTo>
                  <a:pt x="53886" y="176923"/>
                </a:lnTo>
                <a:lnTo>
                  <a:pt x="67271" y="166268"/>
                </a:lnTo>
                <a:lnTo>
                  <a:pt x="75031" y="153289"/>
                </a:lnTo>
                <a:lnTo>
                  <a:pt x="77533" y="138417"/>
                </a:lnTo>
                <a:lnTo>
                  <a:pt x="77533" y="49491"/>
                </a:lnTo>
                <a:lnTo>
                  <a:pt x="79717" y="37211"/>
                </a:lnTo>
                <a:lnTo>
                  <a:pt x="87515" y="24358"/>
                </a:lnTo>
                <a:lnTo>
                  <a:pt x="102793" y="13817"/>
                </a:lnTo>
                <a:lnTo>
                  <a:pt x="127431" y="8509"/>
                </a:lnTo>
                <a:lnTo>
                  <a:pt x="128968" y="7734"/>
                </a:lnTo>
                <a:lnTo>
                  <a:pt x="130505" y="6184"/>
                </a:lnTo>
                <a:lnTo>
                  <a:pt x="130505" y="0"/>
                </a:lnTo>
                <a:close/>
              </a:path>
              <a:path w="326389" h="370205">
                <a:moveTo>
                  <a:pt x="326263" y="159308"/>
                </a:moveTo>
                <a:lnTo>
                  <a:pt x="325716" y="137325"/>
                </a:lnTo>
                <a:lnTo>
                  <a:pt x="323634" y="115709"/>
                </a:lnTo>
                <a:lnTo>
                  <a:pt x="323583" y="115125"/>
                </a:lnTo>
                <a:lnTo>
                  <a:pt x="319138" y="93510"/>
                </a:lnTo>
                <a:lnTo>
                  <a:pt x="311670" y="72694"/>
                </a:lnTo>
                <a:lnTo>
                  <a:pt x="296989" y="51155"/>
                </a:lnTo>
                <a:lnTo>
                  <a:pt x="295503" y="50050"/>
                </a:lnTo>
                <a:lnTo>
                  <a:pt x="295503" y="136575"/>
                </a:lnTo>
                <a:lnTo>
                  <a:pt x="295503" y="175006"/>
                </a:lnTo>
                <a:lnTo>
                  <a:pt x="291719" y="231216"/>
                </a:lnTo>
                <a:lnTo>
                  <a:pt x="274548" y="267474"/>
                </a:lnTo>
                <a:lnTo>
                  <a:pt x="248729" y="277622"/>
                </a:lnTo>
                <a:lnTo>
                  <a:pt x="236842" y="275615"/>
                </a:lnTo>
                <a:lnTo>
                  <a:pt x="206502" y="232778"/>
                </a:lnTo>
                <a:lnTo>
                  <a:pt x="202539" y="194398"/>
                </a:lnTo>
                <a:lnTo>
                  <a:pt x="202476" y="193433"/>
                </a:lnTo>
                <a:lnTo>
                  <a:pt x="202018" y="175006"/>
                </a:lnTo>
                <a:lnTo>
                  <a:pt x="201955" y="136575"/>
                </a:lnTo>
                <a:lnTo>
                  <a:pt x="202285" y="119481"/>
                </a:lnTo>
                <a:lnTo>
                  <a:pt x="213423" y="60642"/>
                </a:lnTo>
                <a:lnTo>
                  <a:pt x="248729" y="39446"/>
                </a:lnTo>
                <a:lnTo>
                  <a:pt x="259664" y="41097"/>
                </a:lnTo>
                <a:lnTo>
                  <a:pt x="291719" y="82740"/>
                </a:lnTo>
                <a:lnTo>
                  <a:pt x="295503" y="136575"/>
                </a:lnTo>
                <a:lnTo>
                  <a:pt x="295503" y="50050"/>
                </a:lnTo>
                <a:lnTo>
                  <a:pt x="281305" y="39446"/>
                </a:lnTo>
                <a:lnTo>
                  <a:pt x="280009" y="38468"/>
                </a:lnTo>
                <a:lnTo>
                  <a:pt x="263321" y="32461"/>
                </a:lnTo>
                <a:lnTo>
                  <a:pt x="214668" y="40208"/>
                </a:lnTo>
                <a:lnTo>
                  <a:pt x="185013" y="75006"/>
                </a:lnTo>
                <a:lnTo>
                  <a:pt x="174269" y="115125"/>
                </a:lnTo>
                <a:lnTo>
                  <a:pt x="172440" y="136575"/>
                </a:lnTo>
                <a:lnTo>
                  <a:pt x="172377" y="137325"/>
                </a:lnTo>
                <a:lnTo>
                  <a:pt x="171958" y="159308"/>
                </a:lnTo>
                <a:lnTo>
                  <a:pt x="172427" y="181025"/>
                </a:lnTo>
                <a:lnTo>
                  <a:pt x="174434" y="202514"/>
                </a:lnTo>
                <a:lnTo>
                  <a:pt x="174548" y="203771"/>
                </a:lnTo>
                <a:lnTo>
                  <a:pt x="188087" y="248234"/>
                </a:lnTo>
                <a:lnTo>
                  <a:pt x="217830" y="278104"/>
                </a:lnTo>
                <a:lnTo>
                  <a:pt x="248729" y="285356"/>
                </a:lnTo>
                <a:lnTo>
                  <a:pt x="264833" y="283603"/>
                </a:lnTo>
                <a:lnTo>
                  <a:pt x="298488" y="264147"/>
                </a:lnTo>
                <a:lnTo>
                  <a:pt x="319468" y="223139"/>
                </a:lnTo>
                <a:lnTo>
                  <a:pt x="325729" y="181165"/>
                </a:lnTo>
                <a:lnTo>
                  <a:pt x="326263" y="159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2182C6B-9099-36FA-DF20-EDC84CFC5CBD}"/>
              </a:ext>
            </a:extLst>
          </p:cNvPr>
          <p:cNvSpPr/>
          <p:nvPr/>
        </p:nvSpPr>
        <p:spPr>
          <a:xfrm>
            <a:off x="2467627" y="3343432"/>
            <a:ext cx="43180" cy="111125"/>
          </a:xfrm>
          <a:custGeom>
            <a:avLst/>
            <a:gdLst/>
            <a:ahLst/>
            <a:cxnLst/>
            <a:rect l="l" t="t" r="r" b="b"/>
            <a:pathLst>
              <a:path w="43180" h="111125">
                <a:moveTo>
                  <a:pt x="42423" y="33257"/>
                </a:moveTo>
                <a:lnTo>
                  <a:pt x="34484" y="33257"/>
                </a:lnTo>
                <a:lnTo>
                  <a:pt x="35303" y="34029"/>
                </a:lnTo>
                <a:lnTo>
                  <a:pt x="35215" y="39443"/>
                </a:lnTo>
                <a:lnTo>
                  <a:pt x="19071" y="89565"/>
                </a:lnTo>
                <a:lnTo>
                  <a:pt x="6139" y="104403"/>
                </a:lnTo>
                <a:lnTo>
                  <a:pt x="6139" y="109044"/>
                </a:lnTo>
                <a:lnTo>
                  <a:pt x="7674" y="110591"/>
                </a:lnTo>
                <a:lnTo>
                  <a:pt x="9925" y="110591"/>
                </a:lnTo>
                <a:lnTo>
                  <a:pt x="38360" y="68178"/>
                </a:lnTo>
                <a:lnTo>
                  <a:pt x="42879" y="37715"/>
                </a:lnTo>
                <a:lnTo>
                  <a:pt x="42581" y="34803"/>
                </a:lnTo>
                <a:lnTo>
                  <a:pt x="42502" y="34029"/>
                </a:lnTo>
                <a:lnTo>
                  <a:pt x="42423" y="33257"/>
                </a:lnTo>
                <a:close/>
              </a:path>
              <a:path w="43180" h="111125">
                <a:moveTo>
                  <a:pt x="19953" y="0"/>
                </a:moveTo>
                <a:lnTo>
                  <a:pt x="11655" y="1607"/>
                </a:lnTo>
                <a:lnTo>
                  <a:pt x="5372" y="5897"/>
                </a:lnTo>
                <a:lnTo>
                  <a:pt x="1391" y="12073"/>
                </a:lnTo>
                <a:lnTo>
                  <a:pt x="0" y="19340"/>
                </a:lnTo>
                <a:lnTo>
                  <a:pt x="1391" y="26722"/>
                </a:lnTo>
                <a:lnTo>
                  <a:pt x="5504" y="33257"/>
                </a:lnTo>
                <a:lnTo>
                  <a:pt x="11655" y="37715"/>
                </a:lnTo>
                <a:lnTo>
                  <a:pt x="19953" y="39443"/>
                </a:lnTo>
                <a:lnTo>
                  <a:pt x="23740" y="39443"/>
                </a:lnTo>
                <a:lnTo>
                  <a:pt x="29163" y="37896"/>
                </a:lnTo>
                <a:lnTo>
                  <a:pt x="32233" y="34803"/>
                </a:lnTo>
                <a:lnTo>
                  <a:pt x="33768" y="34029"/>
                </a:lnTo>
                <a:lnTo>
                  <a:pt x="33768" y="33257"/>
                </a:lnTo>
                <a:lnTo>
                  <a:pt x="42423" y="33257"/>
                </a:lnTo>
                <a:lnTo>
                  <a:pt x="41322" y="22513"/>
                </a:lnTo>
                <a:lnTo>
                  <a:pt x="36646" y="10344"/>
                </a:lnTo>
                <a:lnTo>
                  <a:pt x="29379" y="2670"/>
                </a:lnTo>
                <a:lnTo>
                  <a:pt x="19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0">
            <a:extLst>
              <a:ext uri="{FF2B5EF4-FFF2-40B4-BE49-F238E27FC236}">
                <a16:creationId xmlns:a16="http://schemas.microsoft.com/office/drawing/2014/main" id="{EA64106F-A764-6B90-B1A9-2B835A1D717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1863" y="3136183"/>
            <a:ext cx="121258" cy="246692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4D4AC305-712F-4624-4DDF-A13A8BE5EE22}"/>
              </a:ext>
            </a:extLst>
          </p:cNvPr>
          <p:cNvSpPr/>
          <p:nvPr/>
        </p:nvSpPr>
        <p:spPr>
          <a:xfrm>
            <a:off x="2814620" y="3343432"/>
            <a:ext cx="43180" cy="111125"/>
          </a:xfrm>
          <a:custGeom>
            <a:avLst/>
            <a:gdLst/>
            <a:ahLst/>
            <a:cxnLst/>
            <a:rect l="l" t="t" r="r" b="b"/>
            <a:pathLst>
              <a:path w="43180" h="111125">
                <a:moveTo>
                  <a:pt x="42418" y="33257"/>
                </a:moveTo>
                <a:lnTo>
                  <a:pt x="34484" y="33257"/>
                </a:lnTo>
                <a:lnTo>
                  <a:pt x="34401" y="39443"/>
                </a:lnTo>
                <a:lnTo>
                  <a:pt x="32373" y="58341"/>
                </a:lnTo>
                <a:lnTo>
                  <a:pt x="26809" y="75403"/>
                </a:lnTo>
                <a:lnTo>
                  <a:pt x="18943" y="89565"/>
                </a:lnTo>
                <a:lnTo>
                  <a:pt x="9925" y="100537"/>
                </a:lnTo>
                <a:lnTo>
                  <a:pt x="6139" y="104403"/>
                </a:lnTo>
                <a:lnTo>
                  <a:pt x="6139" y="109044"/>
                </a:lnTo>
                <a:lnTo>
                  <a:pt x="7674" y="110591"/>
                </a:lnTo>
                <a:lnTo>
                  <a:pt x="9209" y="110591"/>
                </a:lnTo>
                <a:lnTo>
                  <a:pt x="38348" y="68178"/>
                </a:lnTo>
                <a:lnTo>
                  <a:pt x="42879" y="37715"/>
                </a:lnTo>
                <a:lnTo>
                  <a:pt x="42578" y="34803"/>
                </a:lnTo>
                <a:lnTo>
                  <a:pt x="42498" y="34029"/>
                </a:lnTo>
                <a:lnTo>
                  <a:pt x="42418" y="33257"/>
                </a:lnTo>
                <a:close/>
              </a:path>
              <a:path w="43180" h="111125">
                <a:moveTo>
                  <a:pt x="19135" y="0"/>
                </a:moveTo>
                <a:lnTo>
                  <a:pt x="10965" y="1607"/>
                </a:lnTo>
                <a:lnTo>
                  <a:pt x="4962" y="5897"/>
                </a:lnTo>
                <a:lnTo>
                  <a:pt x="1263" y="12073"/>
                </a:lnTo>
                <a:lnTo>
                  <a:pt x="0" y="19340"/>
                </a:lnTo>
                <a:lnTo>
                  <a:pt x="1263" y="26722"/>
                </a:lnTo>
                <a:lnTo>
                  <a:pt x="5089" y="33257"/>
                </a:lnTo>
                <a:lnTo>
                  <a:pt x="10965" y="37715"/>
                </a:lnTo>
                <a:lnTo>
                  <a:pt x="19135" y="39443"/>
                </a:lnTo>
                <a:lnTo>
                  <a:pt x="23740" y="39443"/>
                </a:lnTo>
                <a:lnTo>
                  <a:pt x="28344" y="37896"/>
                </a:lnTo>
                <a:lnTo>
                  <a:pt x="32233" y="34803"/>
                </a:lnTo>
                <a:lnTo>
                  <a:pt x="32949" y="34029"/>
                </a:lnTo>
                <a:lnTo>
                  <a:pt x="33768" y="33257"/>
                </a:lnTo>
                <a:lnTo>
                  <a:pt x="42418" y="33257"/>
                </a:lnTo>
                <a:lnTo>
                  <a:pt x="41310" y="22513"/>
                </a:lnTo>
                <a:lnTo>
                  <a:pt x="36543" y="10344"/>
                </a:lnTo>
                <a:lnTo>
                  <a:pt x="29033" y="2670"/>
                </a:lnTo>
                <a:lnTo>
                  <a:pt x="19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104028BA-7F53-B004-27C5-F55CEA0DD45C}"/>
              </a:ext>
            </a:extLst>
          </p:cNvPr>
          <p:cNvSpPr/>
          <p:nvPr/>
        </p:nvSpPr>
        <p:spPr>
          <a:xfrm>
            <a:off x="2978037" y="3343432"/>
            <a:ext cx="38735" cy="40005"/>
          </a:xfrm>
          <a:custGeom>
            <a:avLst/>
            <a:gdLst/>
            <a:ahLst/>
            <a:cxnLst/>
            <a:rect l="l" t="t" r="r" b="b"/>
            <a:pathLst>
              <a:path w="38735" h="40005">
                <a:moveTo>
                  <a:pt x="19237" y="0"/>
                </a:moveTo>
                <a:lnTo>
                  <a:pt x="11698" y="1607"/>
                </a:lnTo>
                <a:lnTo>
                  <a:pt x="5589" y="5897"/>
                </a:lnTo>
                <a:lnTo>
                  <a:pt x="1494" y="12073"/>
                </a:lnTo>
                <a:lnTo>
                  <a:pt x="0" y="19340"/>
                </a:lnTo>
                <a:lnTo>
                  <a:pt x="1494" y="27048"/>
                </a:lnTo>
                <a:lnTo>
                  <a:pt x="5589" y="33451"/>
                </a:lnTo>
                <a:lnTo>
                  <a:pt x="11698" y="37824"/>
                </a:lnTo>
                <a:lnTo>
                  <a:pt x="19237" y="39443"/>
                </a:lnTo>
                <a:lnTo>
                  <a:pt x="26776" y="37824"/>
                </a:lnTo>
                <a:lnTo>
                  <a:pt x="32885" y="33451"/>
                </a:lnTo>
                <a:lnTo>
                  <a:pt x="36980" y="27048"/>
                </a:lnTo>
                <a:lnTo>
                  <a:pt x="38475" y="19340"/>
                </a:lnTo>
                <a:lnTo>
                  <a:pt x="36980" y="12073"/>
                </a:lnTo>
                <a:lnTo>
                  <a:pt x="32885" y="5897"/>
                </a:lnTo>
                <a:lnTo>
                  <a:pt x="26776" y="1607"/>
                </a:lnTo>
                <a:lnTo>
                  <a:pt x="192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F03625B-D6CF-EC35-004B-721D876A0DAA}"/>
              </a:ext>
            </a:extLst>
          </p:cNvPr>
          <p:cNvSpPr/>
          <p:nvPr/>
        </p:nvSpPr>
        <p:spPr>
          <a:xfrm>
            <a:off x="3079444" y="3343432"/>
            <a:ext cx="39370" cy="40005"/>
          </a:xfrm>
          <a:custGeom>
            <a:avLst/>
            <a:gdLst/>
            <a:ahLst/>
            <a:cxnLst/>
            <a:rect l="l" t="t" r="r" b="b"/>
            <a:pathLst>
              <a:path w="39370" h="40005">
                <a:moveTo>
                  <a:pt x="19953" y="0"/>
                </a:moveTo>
                <a:lnTo>
                  <a:pt x="12303" y="1607"/>
                </a:lnTo>
                <a:lnTo>
                  <a:pt x="5947" y="5897"/>
                </a:lnTo>
                <a:lnTo>
                  <a:pt x="1606" y="12073"/>
                </a:lnTo>
                <a:lnTo>
                  <a:pt x="0" y="19340"/>
                </a:lnTo>
                <a:lnTo>
                  <a:pt x="1606" y="27048"/>
                </a:lnTo>
                <a:lnTo>
                  <a:pt x="5947" y="33451"/>
                </a:lnTo>
                <a:lnTo>
                  <a:pt x="12303" y="37824"/>
                </a:lnTo>
                <a:lnTo>
                  <a:pt x="19953" y="39443"/>
                </a:lnTo>
                <a:lnTo>
                  <a:pt x="27476" y="37824"/>
                </a:lnTo>
                <a:lnTo>
                  <a:pt x="33550" y="33451"/>
                </a:lnTo>
                <a:lnTo>
                  <a:pt x="37610" y="27048"/>
                </a:lnTo>
                <a:lnTo>
                  <a:pt x="39089" y="19340"/>
                </a:lnTo>
                <a:lnTo>
                  <a:pt x="37610" y="12073"/>
                </a:lnTo>
                <a:lnTo>
                  <a:pt x="33550" y="5897"/>
                </a:lnTo>
                <a:lnTo>
                  <a:pt x="27476" y="1607"/>
                </a:lnTo>
                <a:lnTo>
                  <a:pt x="19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CAEEE304-944E-6CB2-055B-52C3D34A17A6}"/>
              </a:ext>
            </a:extLst>
          </p:cNvPr>
          <p:cNvSpPr/>
          <p:nvPr/>
        </p:nvSpPr>
        <p:spPr>
          <a:xfrm>
            <a:off x="3181567" y="3343432"/>
            <a:ext cx="39370" cy="40005"/>
          </a:xfrm>
          <a:custGeom>
            <a:avLst/>
            <a:gdLst/>
            <a:ahLst/>
            <a:cxnLst/>
            <a:rect l="l" t="t" r="r" b="b"/>
            <a:pathLst>
              <a:path w="39370" h="40005">
                <a:moveTo>
                  <a:pt x="19953" y="0"/>
                </a:moveTo>
                <a:lnTo>
                  <a:pt x="12303" y="1607"/>
                </a:lnTo>
                <a:lnTo>
                  <a:pt x="5947" y="5897"/>
                </a:lnTo>
                <a:lnTo>
                  <a:pt x="1606" y="12073"/>
                </a:lnTo>
                <a:lnTo>
                  <a:pt x="0" y="19340"/>
                </a:lnTo>
                <a:lnTo>
                  <a:pt x="1606" y="27048"/>
                </a:lnTo>
                <a:lnTo>
                  <a:pt x="5947" y="33451"/>
                </a:lnTo>
                <a:lnTo>
                  <a:pt x="12303" y="37824"/>
                </a:lnTo>
                <a:lnTo>
                  <a:pt x="19953" y="39443"/>
                </a:lnTo>
                <a:lnTo>
                  <a:pt x="27131" y="37824"/>
                </a:lnTo>
                <a:lnTo>
                  <a:pt x="33243" y="33451"/>
                </a:lnTo>
                <a:lnTo>
                  <a:pt x="37495" y="27048"/>
                </a:lnTo>
                <a:lnTo>
                  <a:pt x="39089" y="19340"/>
                </a:lnTo>
                <a:lnTo>
                  <a:pt x="37495" y="12073"/>
                </a:lnTo>
                <a:lnTo>
                  <a:pt x="33243" y="5897"/>
                </a:lnTo>
                <a:lnTo>
                  <a:pt x="27131" y="1607"/>
                </a:lnTo>
                <a:lnTo>
                  <a:pt x="19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81E5AD65-891F-D3C7-F5DD-7CC1FA3654D0}"/>
              </a:ext>
            </a:extLst>
          </p:cNvPr>
          <p:cNvSpPr/>
          <p:nvPr/>
        </p:nvSpPr>
        <p:spPr>
          <a:xfrm>
            <a:off x="3283588" y="3343432"/>
            <a:ext cx="43180" cy="111125"/>
          </a:xfrm>
          <a:custGeom>
            <a:avLst/>
            <a:gdLst/>
            <a:ahLst/>
            <a:cxnLst/>
            <a:rect l="l" t="t" r="r" b="b"/>
            <a:pathLst>
              <a:path w="43179" h="111125">
                <a:moveTo>
                  <a:pt x="42419" y="33257"/>
                </a:moveTo>
                <a:lnTo>
                  <a:pt x="34586" y="33257"/>
                </a:lnTo>
                <a:lnTo>
                  <a:pt x="35303" y="34029"/>
                </a:lnTo>
                <a:lnTo>
                  <a:pt x="35215" y="39443"/>
                </a:lnTo>
                <a:lnTo>
                  <a:pt x="19157" y="89565"/>
                </a:lnTo>
                <a:lnTo>
                  <a:pt x="6139" y="104403"/>
                </a:lnTo>
                <a:lnTo>
                  <a:pt x="6139" y="109044"/>
                </a:lnTo>
                <a:lnTo>
                  <a:pt x="7674" y="110591"/>
                </a:lnTo>
                <a:lnTo>
                  <a:pt x="10028" y="110591"/>
                </a:lnTo>
                <a:lnTo>
                  <a:pt x="38361" y="68178"/>
                </a:lnTo>
                <a:lnTo>
                  <a:pt x="42879" y="37715"/>
                </a:lnTo>
                <a:lnTo>
                  <a:pt x="42578" y="34803"/>
                </a:lnTo>
                <a:lnTo>
                  <a:pt x="42499" y="34029"/>
                </a:lnTo>
                <a:lnTo>
                  <a:pt x="42419" y="33257"/>
                </a:lnTo>
                <a:close/>
              </a:path>
              <a:path w="43179" h="111125">
                <a:moveTo>
                  <a:pt x="19237" y="0"/>
                </a:moveTo>
                <a:lnTo>
                  <a:pt x="11353" y="1607"/>
                </a:lnTo>
                <a:lnTo>
                  <a:pt x="5282" y="5897"/>
                </a:lnTo>
                <a:lnTo>
                  <a:pt x="1379" y="12073"/>
                </a:lnTo>
                <a:lnTo>
                  <a:pt x="0" y="19340"/>
                </a:lnTo>
                <a:lnTo>
                  <a:pt x="1379" y="26722"/>
                </a:lnTo>
                <a:lnTo>
                  <a:pt x="5410" y="33257"/>
                </a:lnTo>
                <a:lnTo>
                  <a:pt x="11353" y="37715"/>
                </a:lnTo>
                <a:lnTo>
                  <a:pt x="19237" y="39443"/>
                </a:lnTo>
                <a:lnTo>
                  <a:pt x="23842" y="39443"/>
                </a:lnTo>
                <a:lnTo>
                  <a:pt x="28447" y="37896"/>
                </a:lnTo>
                <a:lnTo>
                  <a:pt x="32233" y="34803"/>
                </a:lnTo>
                <a:lnTo>
                  <a:pt x="33768" y="34029"/>
                </a:lnTo>
                <a:lnTo>
                  <a:pt x="33768" y="33257"/>
                </a:lnTo>
                <a:lnTo>
                  <a:pt x="42419" y="33257"/>
                </a:lnTo>
                <a:lnTo>
                  <a:pt x="41311" y="22513"/>
                </a:lnTo>
                <a:lnTo>
                  <a:pt x="36556" y="10344"/>
                </a:lnTo>
                <a:lnTo>
                  <a:pt x="29077" y="2670"/>
                </a:lnTo>
                <a:lnTo>
                  <a:pt x="192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6">
            <a:extLst>
              <a:ext uri="{FF2B5EF4-FFF2-40B4-BE49-F238E27FC236}">
                <a16:creationId xmlns:a16="http://schemas.microsoft.com/office/drawing/2014/main" id="{E39A3E65-1304-DC60-D424-AC467796B599}"/>
              </a:ext>
            </a:extLst>
          </p:cNvPr>
          <p:cNvGrpSpPr/>
          <p:nvPr/>
        </p:nvGrpSpPr>
        <p:grpSpPr>
          <a:xfrm>
            <a:off x="3433293" y="3116070"/>
            <a:ext cx="311785" cy="267335"/>
            <a:chOff x="3680892" y="2617692"/>
            <a:chExt cx="311785" cy="267335"/>
          </a:xfrm>
        </p:grpSpPr>
        <p:pic>
          <p:nvPicPr>
            <p:cNvPr id="18" name="object 17">
              <a:extLst>
                <a:ext uri="{FF2B5EF4-FFF2-40B4-BE49-F238E27FC236}">
                  <a16:creationId xmlns:a16="http://schemas.microsoft.com/office/drawing/2014/main" id="{30CC7B95-A207-DF07-789E-6BECAD72DCF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0892" y="2637805"/>
              <a:ext cx="146635" cy="246692"/>
            </a:xfrm>
            <a:prstGeom prst="rect">
              <a:avLst/>
            </a:prstGeom>
          </p:spPr>
        </p:pic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42344C18-7CF4-40AE-B687-F505A001869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62115" y="2617692"/>
              <a:ext cx="130467" cy="116775"/>
            </a:xfrm>
            <a:prstGeom prst="rect">
              <a:avLst/>
            </a:prstGeom>
          </p:spPr>
        </p:pic>
      </p:grpSp>
      <p:sp>
        <p:nvSpPr>
          <p:cNvPr id="20" name="object 19">
            <a:extLst>
              <a:ext uri="{FF2B5EF4-FFF2-40B4-BE49-F238E27FC236}">
                <a16:creationId xmlns:a16="http://schemas.microsoft.com/office/drawing/2014/main" id="{C84FB9DB-0F08-808B-395D-001906305E51}"/>
              </a:ext>
            </a:extLst>
          </p:cNvPr>
          <p:cNvSpPr/>
          <p:nvPr/>
        </p:nvSpPr>
        <p:spPr>
          <a:xfrm>
            <a:off x="3888549" y="3283113"/>
            <a:ext cx="224790" cy="15240"/>
          </a:xfrm>
          <a:custGeom>
            <a:avLst/>
            <a:gdLst/>
            <a:ahLst/>
            <a:cxnLst/>
            <a:rect l="l" t="t" r="r" b="b"/>
            <a:pathLst>
              <a:path w="224789" h="15239">
                <a:moveTo>
                  <a:pt x="224199" y="0"/>
                </a:moveTo>
                <a:lnTo>
                  <a:pt x="0" y="0"/>
                </a:lnTo>
                <a:lnTo>
                  <a:pt x="0" y="14696"/>
                </a:lnTo>
                <a:lnTo>
                  <a:pt x="211102" y="14696"/>
                </a:lnTo>
                <a:lnTo>
                  <a:pt x="224199" y="14696"/>
                </a:lnTo>
                <a:lnTo>
                  <a:pt x="2241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0">
            <a:extLst>
              <a:ext uri="{FF2B5EF4-FFF2-40B4-BE49-F238E27FC236}">
                <a16:creationId xmlns:a16="http://schemas.microsoft.com/office/drawing/2014/main" id="{4C71A159-A3D8-928F-8A04-A435F1AFEE2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57850" y="3136183"/>
            <a:ext cx="121258" cy="246692"/>
          </a:xfrm>
          <a:prstGeom prst="rect">
            <a:avLst/>
          </a:prstGeom>
        </p:spPr>
      </p:pic>
      <p:sp>
        <p:nvSpPr>
          <p:cNvPr id="22" name="object 21">
            <a:extLst>
              <a:ext uri="{FF2B5EF4-FFF2-40B4-BE49-F238E27FC236}">
                <a16:creationId xmlns:a16="http://schemas.microsoft.com/office/drawing/2014/main" id="{93A90669-4FA3-EE41-7F60-7F8A1A116D3C}"/>
              </a:ext>
            </a:extLst>
          </p:cNvPr>
          <p:cNvSpPr/>
          <p:nvPr/>
        </p:nvSpPr>
        <p:spPr>
          <a:xfrm>
            <a:off x="4435183" y="3105246"/>
            <a:ext cx="130175" cy="370205"/>
          </a:xfrm>
          <a:custGeom>
            <a:avLst/>
            <a:gdLst/>
            <a:ahLst/>
            <a:cxnLst/>
            <a:rect l="l" t="t" r="r" b="b"/>
            <a:pathLst>
              <a:path w="130175" h="370205">
                <a:moveTo>
                  <a:pt x="6855" y="0"/>
                </a:moveTo>
                <a:lnTo>
                  <a:pt x="0" y="0"/>
                </a:lnTo>
                <a:lnTo>
                  <a:pt x="0" y="7734"/>
                </a:lnTo>
                <a:lnTo>
                  <a:pt x="2251" y="7734"/>
                </a:lnTo>
                <a:lnTo>
                  <a:pt x="5321" y="8506"/>
                </a:lnTo>
                <a:lnTo>
                  <a:pt x="45583" y="27649"/>
                </a:lnTo>
                <a:lnTo>
                  <a:pt x="52903" y="135333"/>
                </a:lnTo>
                <a:lnTo>
                  <a:pt x="53463" y="146329"/>
                </a:lnTo>
                <a:lnTo>
                  <a:pt x="80864" y="179608"/>
                </a:lnTo>
                <a:lnTo>
                  <a:pt x="95881" y="184828"/>
                </a:lnTo>
                <a:lnTo>
                  <a:pt x="76560" y="192743"/>
                </a:lnTo>
                <a:lnTo>
                  <a:pt x="63187" y="203485"/>
                </a:lnTo>
                <a:lnTo>
                  <a:pt x="55416" y="216694"/>
                </a:lnTo>
                <a:lnTo>
                  <a:pt x="52903" y="232006"/>
                </a:lnTo>
                <a:lnTo>
                  <a:pt x="52903" y="320935"/>
                </a:lnTo>
                <a:lnTo>
                  <a:pt x="50729" y="333104"/>
                </a:lnTo>
                <a:lnTo>
                  <a:pt x="42952" y="345779"/>
                </a:lnTo>
                <a:lnTo>
                  <a:pt x="27692" y="356280"/>
                </a:lnTo>
                <a:lnTo>
                  <a:pt x="3069" y="361923"/>
                </a:lnTo>
                <a:lnTo>
                  <a:pt x="1535" y="361923"/>
                </a:lnTo>
                <a:lnTo>
                  <a:pt x="0" y="363469"/>
                </a:lnTo>
                <a:lnTo>
                  <a:pt x="0" y="369656"/>
                </a:lnTo>
                <a:lnTo>
                  <a:pt x="6856" y="369656"/>
                </a:lnTo>
                <a:lnTo>
                  <a:pt x="33026" y="366442"/>
                </a:lnTo>
                <a:lnTo>
                  <a:pt x="55436" y="357283"/>
                </a:lnTo>
                <a:lnTo>
                  <a:pt x="71207" y="342903"/>
                </a:lnTo>
                <a:lnTo>
                  <a:pt x="77462" y="324029"/>
                </a:lnTo>
                <a:lnTo>
                  <a:pt x="77462" y="239730"/>
                </a:lnTo>
                <a:lnTo>
                  <a:pt x="77690" y="229233"/>
                </a:lnTo>
                <a:lnTo>
                  <a:pt x="101584" y="194691"/>
                </a:lnTo>
                <a:lnTo>
                  <a:pt x="126579" y="189473"/>
                </a:lnTo>
                <a:lnTo>
                  <a:pt x="128932" y="188690"/>
                </a:lnTo>
                <a:lnTo>
                  <a:pt x="129751" y="187145"/>
                </a:lnTo>
                <a:lnTo>
                  <a:pt x="129751" y="181739"/>
                </a:lnTo>
                <a:lnTo>
                  <a:pt x="128216" y="181739"/>
                </a:lnTo>
                <a:lnTo>
                  <a:pt x="107305" y="177732"/>
                </a:lnTo>
                <a:lnTo>
                  <a:pt x="78280" y="148484"/>
                </a:lnTo>
                <a:lnTo>
                  <a:pt x="77462" y="56456"/>
                </a:lnTo>
                <a:lnTo>
                  <a:pt x="77187" y="45483"/>
                </a:lnTo>
                <a:lnTo>
                  <a:pt x="47248" y="8155"/>
                </a:lnTo>
                <a:lnTo>
                  <a:pt x="18606" y="784"/>
                </a:lnTo>
                <a:lnTo>
                  <a:pt x="6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17A4D7D9-EB13-15C9-B63D-2E35E0E4D175}"/>
              </a:ext>
            </a:extLst>
          </p:cNvPr>
          <p:cNvSpPr txBox="1"/>
          <p:nvPr/>
        </p:nvSpPr>
        <p:spPr>
          <a:xfrm>
            <a:off x="6547662" y="2867943"/>
            <a:ext cx="365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a=8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F8C30896-6F27-DE8D-D635-F59071BCDCEF}"/>
              </a:ext>
            </a:extLst>
          </p:cNvPr>
          <p:cNvSpPr txBox="1"/>
          <p:nvPr/>
        </p:nvSpPr>
        <p:spPr>
          <a:xfrm>
            <a:off x="8540546" y="2867943"/>
            <a:ext cx="365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a=3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1BF9AFAA-E585-3C68-C293-AFB4ECE964C3}"/>
              </a:ext>
            </a:extLst>
          </p:cNvPr>
          <p:cNvSpPr txBox="1"/>
          <p:nvPr/>
        </p:nvSpPr>
        <p:spPr>
          <a:xfrm>
            <a:off x="10458246" y="2867943"/>
            <a:ext cx="365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a=2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61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BC38-72C2-F46C-3CA3-C7165B00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48627"/>
            <a:ext cx="11155680" cy="1463040"/>
          </a:xfrm>
        </p:spPr>
        <p:txBody>
          <a:bodyPr/>
          <a:lstStyle/>
          <a:p>
            <a:r>
              <a:rPr lang="en-US" dirty="0"/>
              <a:t>Image</a:t>
            </a:r>
            <a:r>
              <a:rPr lang="en-US" spc="-110" dirty="0"/>
              <a:t> </a:t>
            </a:r>
            <a:r>
              <a:rPr lang="en-US" dirty="0"/>
              <a:t>Type:</a:t>
            </a:r>
            <a:r>
              <a:rPr lang="en-US" spc="-100" dirty="0"/>
              <a:t> </a:t>
            </a:r>
            <a:r>
              <a:rPr lang="en-US" dirty="0"/>
              <a:t>RGB</a:t>
            </a:r>
            <a:r>
              <a:rPr lang="en-US" spc="-100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,</a:t>
            </a:r>
            <a:r>
              <a:rPr lang="en-US" spc="-120" dirty="0"/>
              <a:t> </a:t>
            </a:r>
            <a:r>
              <a:rPr lang="en-US" dirty="0">
                <a:solidFill>
                  <a:srgbClr val="008000"/>
                </a:solidFill>
              </a:rPr>
              <a:t>green</a:t>
            </a:r>
            <a:r>
              <a:rPr lang="en-US" dirty="0"/>
              <a:t>,</a:t>
            </a:r>
            <a:r>
              <a:rPr lang="en-US" spc="-105" dirty="0"/>
              <a:t> </a:t>
            </a:r>
            <a:r>
              <a:rPr lang="en-US" spc="-10" dirty="0">
                <a:solidFill>
                  <a:srgbClr val="0000FF"/>
                </a:solidFill>
              </a:rPr>
              <a:t>blue</a:t>
            </a:r>
            <a:r>
              <a:rPr lang="en-US" spc="-10" dirty="0"/>
              <a:t>)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45CD4CD-3FCE-2C03-BB59-EC1AD15BA87B}"/>
              </a:ext>
            </a:extLst>
          </p:cNvPr>
          <p:cNvSpPr txBox="1"/>
          <p:nvPr/>
        </p:nvSpPr>
        <p:spPr>
          <a:xfrm>
            <a:off x="706745" y="1669373"/>
            <a:ext cx="440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Image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channels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(bands)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1667413-B366-0070-0DA0-266A3E9C1B37}"/>
              </a:ext>
            </a:extLst>
          </p:cNvPr>
          <p:cNvSpPr txBox="1"/>
          <p:nvPr/>
        </p:nvSpPr>
        <p:spPr>
          <a:xfrm>
            <a:off x="706745" y="2051898"/>
            <a:ext cx="4217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channel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a-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E50135AE-A418-4F6E-8ABC-0B471E2DD264}"/>
              </a:ext>
            </a:extLst>
          </p:cNvPr>
          <p:cNvGrpSpPr/>
          <p:nvPr/>
        </p:nvGrpSpPr>
        <p:grpSpPr>
          <a:xfrm>
            <a:off x="301564" y="2522687"/>
            <a:ext cx="6052185" cy="4121785"/>
            <a:chOff x="310895" y="2270760"/>
            <a:chExt cx="6052185" cy="4121785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2CAE4E3-7167-BF12-F1C1-35D9172EA9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5" y="4273749"/>
              <a:ext cx="6051804" cy="2118615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808B9695-684E-BFC1-DAC7-D5165355A3A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4956" y="2270760"/>
              <a:ext cx="2043683" cy="2045208"/>
            </a:xfrm>
            <a:prstGeom prst="rect">
              <a:avLst/>
            </a:prstGeom>
          </p:spPr>
        </p:pic>
      </p:grpSp>
      <p:pic>
        <p:nvPicPr>
          <p:cNvPr id="9" name="object 8">
            <a:extLst>
              <a:ext uri="{FF2B5EF4-FFF2-40B4-BE49-F238E27FC236}">
                <a16:creationId xmlns:a16="http://schemas.microsoft.com/office/drawing/2014/main" id="{D22E7375-4FE6-A333-EAF4-A956DB5D441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7930" y="4192176"/>
            <a:ext cx="2819521" cy="2127608"/>
          </a:xfrm>
          <a:prstGeom prst="rect">
            <a:avLst/>
          </a:prstGeom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E826C385-1CC6-0387-050B-DE78E9853AB6}"/>
              </a:ext>
            </a:extLst>
          </p:cNvPr>
          <p:cNvSpPr txBox="1"/>
          <p:nvPr/>
        </p:nvSpPr>
        <p:spPr>
          <a:xfrm>
            <a:off x="6604321" y="1920834"/>
            <a:ext cx="3899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Cone-</a:t>
            </a:r>
            <a:r>
              <a:rPr sz="2400" dirty="0">
                <a:latin typeface="Calibri"/>
                <a:cs typeface="Calibri"/>
              </a:rPr>
              <a:t>cells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(normalized) responsivity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89BFE02-2170-326A-2406-C1034E5AF845}"/>
              </a:ext>
            </a:extLst>
          </p:cNvPr>
          <p:cNvSpPr txBox="1"/>
          <p:nvPr/>
        </p:nvSpPr>
        <p:spPr>
          <a:xfrm>
            <a:off x="6433633" y="2874857"/>
            <a:ext cx="51263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cone-</a:t>
            </a:r>
            <a:r>
              <a:rPr sz="2400" spc="-10" dirty="0">
                <a:latin typeface="Calibri"/>
                <a:cs typeface="Calibri"/>
              </a:rPr>
              <a:t>types!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2!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9942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6630-11A2-DDB7-5DC8-5F7653AB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A4C9D-0751-B3A1-A55F-86A0D775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117661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/>
              <a:t>Evolution of Computer Vision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6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99280" y="5816125"/>
            <a:ext cx="11924126" cy="283284"/>
            <a:chOff x="81216" y="4117390"/>
            <a:chExt cx="8954135" cy="212725"/>
          </a:xfrm>
        </p:grpSpPr>
        <p:sp>
          <p:nvSpPr>
            <p:cNvPr id="5" name="object 5"/>
            <p:cNvSpPr/>
            <p:nvPr/>
          </p:nvSpPr>
          <p:spPr>
            <a:xfrm>
              <a:off x="100583" y="4310652"/>
              <a:ext cx="8915400" cy="0"/>
            </a:xfrm>
            <a:custGeom>
              <a:avLst/>
              <a:gdLst/>
              <a:ahLst/>
              <a:cxnLst/>
              <a:rect l="l" t="t" r="r" b="b"/>
              <a:pathLst>
                <a:path w="8915400">
                  <a:moveTo>
                    <a:pt x="5216652" y="0"/>
                  </a:moveTo>
                  <a:lnTo>
                    <a:pt x="8915400" y="0"/>
                  </a:lnTo>
                </a:path>
                <a:path w="8915400">
                  <a:moveTo>
                    <a:pt x="0" y="0"/>
                  </a:moveTo>
                  <a:lnTo>
                    <a:pt x="4393692" y="0"/>
                  </a:lnTo>
                </a:path>
              </a:pathLst>
            </a:custGeom>
            <a:ln w="38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649223" y="413675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88173" y="542112"/>
            <a:ext cx="9673187" cy="697602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16913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Explosion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0310" y="5482391"/>
            <a:ext cx="1175416" cy="35597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15221" rIns="0" bIns="0" rtlCol="0">
            <a:spAutoFit/>
          </a:bodyPr>
          <a:lstStyle/>
          <a:p>
            <a:pPr marL="8456" algn="ctr">
              <a:spcBef>
                <a:spcPts val="120"/>
              </a:spcBef>
            </a:pPr>
            <a:r>
              <a:rPr sz="1065" spc="-27" dirty="0">
                <a:latin typeface="Calibri"/>
                <a:cs typeface="Calibri"/>
              </a:rPr>
              <a:t>1959</a:t>
            </a:r>
            <a:endParaRPr sz="1065">
              <a:latin typeface="Calibri"/>
              <a:cs typeface="Calibri"/>
            </a:endParaRPr>
          </a:p>
          <a:p>
            <a:pPr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Hubel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Wiesel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86306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0" name="object 10"/>
          <p:cNvSpPr txBox="1"/>
          <p:nvPr/>
        </p:nvSpPr>
        <p:spPr>
          <a:xfrm>
            <a:off x="1781405" y="5482391"/>
            <a:ext cx="887904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R="13530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1963</a:t>
            </a:r>
            <a:endParaRPr sz="1199" dirty="0">
              <a:latin typeface="Calibri"/>
              <a:cs typeface="Calibri"/>
            </a:endParaRPr>
          </a:p>
          <a:p>
            <a:pPr marR="11839" algn="ctr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Roberts</a:t>
            </a:r>
            <a:endParaRPr sz="1199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78160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2" name="object 12"/>
          <p:cNvSpPr txBox="1"/>
          <p:nvPr/>
        </p:nvSpPr>
        <p:spPr>
          <a:xfrm>
            <a:off x="2891367" y="5482391"/>
            <a:ext cx="1178798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" algn="ctr">
              <a:spcBef>
                <a:spcPts val="20"/>
              </a:spcBef>
            </a:pPr>
            <a:r>
              <a:rPr sz="1199" spc="-13" dirty="0">
                <a:latin typeface="Calibri"/>
                <a:cs typeface="Calibri"/>
              </a:rPr>
              <a:t>1970s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David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Marr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08778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4" name="object 14"/>
          <p:cNvSpPr txBox="1"/>
          <p:nvPr/>
        </p:nvSpPr>
        <p:spPr>
          <a:xfrm>
            <a:off x="4154728" y="5482391"/>
            <a:ext cx="138851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7611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1979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Gen.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Cylinders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87361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6" name="object 16"/>
          <p:cNvSpPr txBox="1"/>
          <p:nvPr/>
        </p:nvSpPr>
        <p:spPr>
          <a:xfrm>
            <a:off x="5689024" y="5482391"/>
            <a:ext cx="75514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224092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1986</a:t>
            </a:r>
            <a:endParaRPr sz="1199">
              <a:latin typeface="Calibri"/>
              <a:cs typeface="Calibri"/>
            </a:endParaRPr>
          </a:p>
          <a:p>
            <a:pPr marL="185193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Canny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47852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8" name="object 18"/>
          <p:cNvSpPr txBox="1"/>
          <p:nvPr/>
        </p:nvSpPr>
        <p:spPr>
          <a:xfrm>
            <a:off x="6943252" y="5482391"/>
            <a:ext cx="100967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3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1997</a:t>
            </a:r>
            <a:endParaRPr sz="1199">
              <a:latin typeface="Calibri"/>
              <a:cs typeface="Calibri"/>
            </a:endParaRPr>
          </a:p>
          <a:p>
            <a:pPr marL="8456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Norm.</a:t>
            </a:r>
            <a:r>
              <a:rPr sz="1199" spc="-20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Cuts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55046" y="5465056"/>
            <a:ext cx="607157" cy="631680"/>
            <a:chOff x="6355778" y="3853763"/>
            <a:chExt cx="455930" cy="474345"/>
          </a:xfrm>
        </p:grpSpPr>
        <p:sp>
          <p:nvSpPr>
            <p:cNvPr id="20" name="object 20"/>
            <p:cNvSpPr/>
            <p:nvPr/>
          </p:nvSpPr>
          <p:spPr>
            <a:xfrm>
              <a:off x="6455663" y="413675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1" name="object 21"/>
            <p:cNvSpPr/>
            <p:nvPr/>
          </p:nvSpPr>
          <p:spPr>
            <a:xfrm>
              <a:off x="6368795" y="3866781"/>
              <a:ext cx="429895" cy="274955"/>
            </a:xfrm>
            <a:custGeom>
              <a:avLst/>
              <a:gdLst/>
              <a:ahLst/>
              <a:cxnLst/>
              <a:rect l="l" t="t" r="r" b="b"/>
              <a:pathLst>
                <a:path w="429895" h="274954">
                  <a:moveTo>
                    <a:pt x="0" y="274561"/>
                  </a:moveTo>
                  <a:lnTo>
                    <a:pt x="429768" y="274561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89310" y="5461947"/>
            <a:ext cx="563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16697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2001</a:t>
            </a:r>
            <a:endParaRPr sz="1199">
              <a:latin typeface="Calibri"/>
              <a:cs typeface="Calibri"/>
            </a:endParaRPr>
          </a:p>
          <a:p>
            <a:pPr marL="149676">
              <a:spcBef>
                <a:spcPts val="7"/>
              </a:spcBef>
            </a:pPr>
            <a:r>
              <a:rPr sz="1199" spc="-33" dirty="0">
                <a:latin typeface="Calibri"/>
                <a:cs typeface="Calibri"/>
              </a:rPr>
              <a:t>V&amp;J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1868" y="584191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4" name="object 24"/>
          <p:cNvSpPr txBox="1"/>
          <p:nvPr/>
        </p:nvSpPr>
        <p:spPr>
          <a:xfrm>
            <a:off x="8027003" y="5482391"/>
            <a:ext cx="54204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31918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1999</a:t>
            </a:r>
            <a:endParaRPr sz="1199">
              <a:latin typeface="Calibri"/>
              <a:cs typeface="Calibri"/>
            </a:endParaRPr>
          </a:p>
          <a:p>
            <a:pPr marL="158133">
              <a:lnSpc>
                <a:spcPts val="1412"/>
              </a:lnSpc>
              <a:spcBef>
                <a:spcPts val="7"/>
              </a:spcBef>
            </a:pPr>
            <a:r>
              <a:rPr sz="1199" spc="-27" dirty="0">
                <a:latin typeface="Calibri"/>
                <a:cs typeface="Calibri"/>
              </a:rPr>
              <a:t>SIFT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97313" y="5465056"/>
            <a:ext cx="1315789" cy="631680"/>
            <a:chOff x="7213536" y="3853763"/>
            <a:chExt cx="988060" cy="474345"/>
          </a:xfrm>
        </p:grpSpPr>
        <p:sp>
          <p:nvSpPr>
            <p:cNvPr id="26" name="object 26"/>
            <p:cNvSpPr/>
            <p:nvPr/>
          </p:nvSpPr>
          <p:spPr>
            <a:xfrm>
              <a:off x="7232903" y="4136758"/>
              <a:ext cx="274320" cy="172085"/>
            </a:xfrm>
            <a:custGeom>
              <a:avLst/>
              <a:gdLst/>
              <a:ahLst/>
              <a:cxnLst/>
              <a:rect l="l" t="t" r="r" b="b"/>
              <a:pathLst>
                <a:path w="274320" h="172085">
                  <a:moveTo>
                    <a:pt x="0" y="171602"/>
                  </a:moveTo>
                  <a:lnTo>
                    <a:pt x="0" y="0"/>
                  </a:lnTo>
                </a:path>
                <a:path w="274320" h="172085">
                  <a:moveTo>
                    <a:pt x="274320" y="171602"/>
                  </a:moveTo>
                  <a:lnTo>
                    <a:pt x="27432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7502651" y="3866781"/>
              <a:ext cx="685800" cy="274955"/>
            </a:xfrm>
            <a:custGeom>
              <a:avLst/>
              <a:gdLst/>
              <a:ahLst/>
              <a:cxnLst/>
              <a:rect l="l" t="t" r="r" b="b"/>
              <a:pathLst>
                <a:path w="685800" h="274954">
                  <a:moveTo>
                    <a:pt x="0" y="274561"/>
                  </a:moveTo>
                  <a:lnTo>
                    <a:pt x="685800" y="274561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260138" y="5461947"/>
            <a:ext cx="803342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26215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2009</a:t>
            </a:r>
            <a:endParaRPr sz="1199">
              <a:latin typeface="Calibri"/>
              <a:cs typeface="Calibri"/>
            </a:endParaRPr>
          </a:p>
          <a:p>
            <a:pPr marR="3720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ImageNet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116283" y="6047691"/>
            <a:ext cx="936104" cy="646901"/>
            <a:chOff x="7453058" y="4291279"/>
            <a:chExt cx="702945" cy="485775"/>
          </a:xfrm>
        </p:grpSpPr>
        <p:sp>
          <p:nvSpPr>
            <p:cNvPr id="30" name="object 30"/>
            <p:cNvSpPr/>
            <p:nvPr/>
          </p:nvSpPr>
          <p:spPr>
            <a:xfrm>
              <a:off x="791870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object 31"/>
            <p:cNvSpPr/>
            <p:nvPr/>
          </p:nvSpPr>
          <p:spPr>
            <a:xfrm>
              <a:off x="7466075" y="4489119"/>
              <a:ext cx="676910" cy="274955"/>
            </a:xfrm>
            <a:custGeom>
              <a:avLst/>
              <a:gdLst/>
              <a:ahLst/>
              <a:cxnLst/>
              <a:rect l="l" t="t" r="r" b="b"/>
              <a:pathLst>
                <a:path w="676909" h="274954">
                  <a:moveTo>
                    <a:pt x="676655" y="0"/>
                  </a:moveTo>
                  <a:lnTo>
                    <a:pt x="0" y="0"/>
                  </a:lnTo>
                  <a:lnTo>
                    <a:pt x="0" y="274561"/>
                  </a:lnTo>
                  <a:lnTo>
                    <a:pt x="676655" y="274561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object 32"/>
            <p:cNvSpPr/>
            <p:nvPr/>
          </p:nvSpPr>
          <p:spPr>
            <a:xfrm>
              <a:off x="7466075" y="4489119"/>
              <a:ext cx="676910" cy="274955"/>
            </a:xfrm>
            <a:custGeom>
              <a:avLst/>
              <a:gdLst/>
              <a:ahLst/>
              <a:cxnLst/>
              <a:rect l="l" t="t" r="r" b="b"/>
              <a:pathLst>
                <a:path w="676909" h="274954">
                  <a:moveTo>
                    <a:pt x="0" y="274561"/>
                  </a:moveTo>
                  <a:lnTo>
                    <a:pt x="676655" y="274561"/>
                  </a:lnTo>
                  <a:lnTo>
                    <a:pt x="676655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150545" y="6295866"/>
            <a:ext cx="91327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21141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2012</a:t>
            </a:r>
            <a:endParaRPr sz="1199">
              <a:latin typeface="Calibri"/>
              <a:cs typeface="Calibri"/>
            </a:endParaRPr>
          </a:p>
          <a:p>
            <a:pPr marR="25369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AlexNet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293407" y="5482391"/>
            <a:ext cx="950480" cy="366155"/>
          </a:xfrm>
          <a:custGeom>
            <a:avLst/>
            <a:gdLst/>
            <a:ahLst/>
            <a:cxnLst/>
            <a:rect l="l" t="t" r="r" b="b"/>
            <a:pathLst>
              <a:path w="713740" h="274954">
                <a:moveTo>
                  <a:pt x="0" y="274561"/>
                </a:moveTo>
                <a:lnTo>
                  <a:pt x="713231" y="274561"/>
                </a:lnTo>
                <a:lnTo>
                  <a:pt x="713231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5" name="object 35"/>
          <p:cNvSpPr txBox="1"/>
          <p:nvPr/>
        </p:nvSpPr>
        <p:spPr>
          <a:xfrm>
            <a:off x="9285981" y="5473701"/>
            <a:ext cx="877756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92174" algn="ctr">
              <a:spcBef>
                <a:spcPts val="166"/>
              </a:spcBef>
            </a:pPr>
            <a:r>
              <a:rPr sz="732" dirty="0">
                <a:latin typeface="Calibri"/>
                <a:cs typeface="Calibri"/>
              </a:rPr>
              <a:t>2004</a:t>
            </a:r>
            <a:r>
              <a:rPr sz="732" spc="-67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,</a:t>
            </a:r>
            <a:r>
              <a:rPr sz="732" spc="60" dirty="0">
                <a:latin typeface="Calibri"/>
                <a:cs typeface="Calibri"/>
              </a:rPr>
              <a:t> </a:t>
            </a:r>
            <a:r>
              <a:rPr sz="732" spc="-27" dirty="0">
                <a:latin typeface="Calibri"/>
                <a:cs typeface="Calibri"/>
              </a:rPr>
              <a:t>2007</a:t>
            </a:r>
            <a:endParaRPr sz="732">
              <a:latin typeface="Calibri"/>
              <a:cs typeface="Calibri"/>
            </a:endParaRPr>
          </a:p>
          <a:p>
            <a:pPr marL="97247" algn="ctr">
              <a:spcBef>
                <a:spcPts val="87"/>
              </a:spcBef>
            </a:pPr>
            <a:r>
              <a:rPr sz="732" spc="-13" dirty="0">
                <a:latin typeface="Calibri"/>
                <a:cs typeface="Calibri"/>
              </a:rPr>
              <a:t>Caltech101;</a:t>
            </a:r>
            <a:endParaRPr sz="732">
              <a:latin typeface="Calibri"/>
              <a:cs typeface="Calibri"/>
            </a:endParaRPr>
          </a:p>
          <a:p>
            <a:pPr marL="90482" algn="ctr">
              <a:spcBef>
                <a:spcPts val="80"/>
              </a:spcBef>
            </a:pPr>
            <a:r>
              <a:rPr sz="732" spc="-13" dirty="0">
                <a:latin typeface="Calibri"/>
                <a:cs typeface="Calibri"/>
              </a:rPr>
              <a:t>PASCAL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819993" y="6311152"/>
            <a:ext cx="730618" cy="366155"/>
          </a:xfrm>
          <a:custGeom>
            <a:avLst/>
            <a:gdLst/>
            <a:ahLst/>
            <a:cxnLst/>
            <a:rect l="l" t="t" r="r" b="b"/>
            <a:pathLst>
              <a:path w="548639" h="274954">
                <a:moveTo>
                  <a:pt x="0" y="274561"/>
                </a:moveTo>
                <a:lnTo>
                  <a:pt x="548639" y="274561"/>
                </a:lnTo>
                <a:lnTo>
                  <a:pt x="548639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7" name="object 37"/>
          <p:cNvSpPr txBox="1"/>
          <p:nvPr/>
        </p:nvSpPr>
        <p:spPr>
          <a:xfrm>
            <a:off x="7836921" y="6295866"/>
            <a:ext cx="71539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94495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1998</a:t>
            </a:r>
            <a:endParaRPr sz="1199">
              <a:latin typeface="Calibri"/>
              <a:cs typeface="Calibri"/>
            </a:endParaRPr>
          </a:p>
          <a:p>
            <a:pPr marL="165743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LeNet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86886" y="6047690"/>
            <a:ext cx="7818627" cy="635061"/>
            <a:chOff x="147002" y="4291279"/>
            <a:chExt cx="5871210" cy="476884"/>
          </a:xfrm>
        </p:grpSpPr>
        <p:sp>
          <p:nvSpPr>
            <p:cNvPr id="39" name="object 39"/>
            <p:cNvSpPr/>
            <p:nvPr/>
          </p:nvSpPr>
          <p:spPr>
            <a:xfrm>
              <a:off x="512064" y="4310646"/>
              <a:ext cx="5486400" cy="172085"/>
            </a:xfrm>
            <a:custGeom>
              <a:avLst/>
              <a:gdLst/>
              <a:ahLst/>
              <a:cxnLst/>
              <a:rect l="l" t="t" r="r" b="b"/>
              <a:pathLst>
                <a:path w="5486400" h="172085">
                  <a:moveTo>
                    <a:pt x="5486400" y="171602"/>
                  </a:moveTo>
                  <a:lnTo>
                    <a:pt x="5486400" y="0"/>
                  </a:lnTo>
                </a:path>
                <a:path w="5486400"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0" name="object 40"/>
            <p:cNvSpPr/>
            <p:nvPr/>
          </p:nvSpPr>
          <p:spPr>
            <a:xfrm>
              <a:off x="160019" y="4479975"/>
              <a:ext cx="822960" cy="274955"/>
            </a:xfrm>
            <a:custGeom>
              <a:avLst/>
              <a:gdLst/>
              <a:ahLst/>
              <a:cxnLst/>
              <a:rect l="l" t="t" r="r" b="b"/>
              <a:pathLst>
                <a:path w="822960" h="274954">
                  <a:moveTo>
                    <a:pt x="0" y="274561"/>
                  </a:moveTo>
                  <a:lnTo>
                    <a:pt x="822960" y="274561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27238" y="6284518"/>
            <a:ext cx="1056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1958</a:t>
            </a:r>
            <a:endParaRPr sz="1199">
              <a:latin typeface="Calibri"/>
              <a:cs typeface="Calibri"/>
            </a:endParaRPr>
          </a:p>
          <a:p>
            <a:pPr marR="16913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Perceptron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677645" y="6047691"/>
            <a:ext cx="1678561" cy="646901"/>
            <a:chOff x="1116266" y="4291279"/>
            <a:chExt cx="1260475" cy="485775"/>
          </a:xfrm>
        </p:grpSpPr>
        <p:sp>
          <p:nvSpPr>
            <p:cNvPr id="43" name="object 43"/>
            <p:cNvSpPr/>
            <p:nvPr/>
          </p:nvSpPr>
          <p:spPr>
            <a:xfrm>
              <a:off x="202082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1129283" y="4489119"/>
              <a:ext cx="1234440" cy="274955"/>
            </a:xfrm>
            <a:custGeom>
              <a:avLst/>
              <a:gdLst/>
              <a:ahLst/>
              <a:cxnLst/>
              <a:rect l="l" t="t" r="r" b="b"/>
              <a:pathLst>
                <a:path w="1234439" h="274954">
                  <a:moveTo>
                    <a:pt x="0" y="274561"/>
                  </a:moveTo>
                  <a:lnTo>
                    <a:pt x="1234440" y="274561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711907" y="6295866"/>
            <a:ext cx="1610066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1969</a:t>
            </a:r>
            <a:endParaRPr sz="1199">
              <a:latin typeface="Calibri"/>
              <a:cs typeface="Calibri"/>
            </a:endParaRPr>
          </a:p>
          <a:p>
            <a:pPr marL="1014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Minsky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&amp;</a:t>
            </a:r>
            <a:r>
              <a:rPr sz="1199" spc="6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Papert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0313" y="6047690"/>
            <a:ext cx="1350458" cy="635061"/>
            <a:chOff x="2597594" y="4291279"/>
            <a:chExt cx="1014094" cy="476884"/>
          </a:xfrm>
        </p:grpSpPr>
        <p:sp>
          <p:nvSpPr>
            <p:cNvPr id="47" name="object 47"/>
            <p:cNvSpPr/>
            <p:nvPr/>
          </p:nvSpPr>
          <p:spPr>
            <a:xfrm>
              <a:off x="3529584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object 48"/>
            <p:cNvSpPr/>
            <p:nvPr/>
          </p:nvSpPr>
          <p:spPr>
            <a:xfrm>
              <a:off x="2610612" y="4479975"/>
              <a:ext cx="988060" cy="274955"/>
            </a:xfrm>
            <a:custGeom>
              <a:avLst/>
              <a:gdLst/>
              <a:ahLst/>
              <a:cxnLst/>
              <a:rect l="l" t="t" r="r" b="b"/>
              <a:pathLst>
                <a:path w="988060" h="274954">
                  <a:moveTo>
                    <a:pt x="0" y="274561"/>
                  </a:moveTo>
                  <a:lnTo>
                    <a:pt x="987551" y="274561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84576" y="6284518"/>
            <a:ext cx="1281964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422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1980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Neocognitron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075018" y="6047691"/>
            <a:ext cx="1021512" cy="646901"/>
            <a:chOff x="3667442" y="4291279"/>
            <a:chExt cx="767080" cy="485775"/>
          </a:xfrm>
        </p:grpSpPr>
        <p:sp>
          <p:nvSpPr>
            <p:cNvPr id="51" name="object 51"/>
            <p:cNvSpPr/>
            <p:nvPr/>
          </p:nvSpPr>
          <p:spPr>
            <a:xfrm>
              <a:off x="421538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0459" y="4489119"/>
              <a:ext cx="741045" cy="274955"/>
            </a:xfrm>
            <a:custGeom>
              <a:avLst/>
              <a:gdLst/>
              <a:ahLst/>
              <a:cxnLst/>
              <a:rect l="l" t="t" r="r" b="b"/>
              <a:pathLst>
                <a:path w="741045" h="274954">
                  <a:moveTo>
                    <a:pt x="0" y="274561"/>
                  </a:moveTo>
                  <a:lnTo>
                    <a:pt x="740663" y="274561"/>
                  </a:lnTo>
                  <a:lnTo>
                    <a:pt x="740663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109281" y="6295866"/>
            <a:ext cx="95301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3383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1985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Backprop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903744" y="6311152"/>
            <a:ext cx="1120450" cy="366155"/>
          </a:xfrm>
          <a:custGeom>
            <a:avLst/>
            <a:gdLst/>
            <a:ahLst/>
            <a:cxnLst/>
            <a:rect l="l" t="t" r="r" b="b"/>
            <a:pathLst>
              <a:path w="841375" h="274954">
                <a:moveTo>
                  <a:pt x="0" y="274561"/>
                </a:moveTo>
                <a:lnTo>
                  <a:pt x="841248" y="274561"/>
                </a:lnTo>
                <a:lnTo>
                  <a:pt x="841248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5" name="object 55"/>
          <p:cNvSpPr txBox="1"/>
          <p:nvPr/>
        </p:nvSpPr>
        <p:spPr>
          <a:xfrm>
            <a:off x="8920672" y="6306348"/>
            <a:ext cx="1086625" cy="366223"/>
          </a:xfrm>
          <a:prstGeom prst="rect">
            <a:avLst/>
          </a:prstGeom>
        </p:spPr>
        <p:txBody>
          <a:bodyPr vert="horz" wrap="square" lIns="0" tIns="25369" rIns="0" bIns="0" rtlCol="0">
            <a:spAutoFit/>
          </a:bodyPr>
          <a:lstStyle/>
          <a:p>
            <a:pPr marL="16067" algn="ctr">
              <a:spcBef>
                <a:spcPts val="200"/>
              </a:spcBef>
            </a:pPr>
            <a:r>
              <a:rPr sz="1065" spc="-27" dirty="0">
                <a:latin typeface="Calibri"/>
                <a:cs typeface="Calibri"/>
              </a:rPr>
              <a:t>2006</a:t>
            </a:r>
            <a:endParaRPr sz="1065">
              <a:latin typeface="Calibri"/>
              <a:cs typeface="Calibri"/>
            </a:endParaRPr>
          </a:p>
          <a:p>
            <a:pPr marL="9302"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Deep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Learning</a:t>
            </a:r>
            <a:endParaRPr sz="1065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159176" y="5916400"/>
            <a:ext cx="3506797" cy="385604"/>
            <a:chOff x="4481564" y="4192690"/>
            <a:chExt cx="2633345" cy="289560"/>
          </a:xfrm>
        </p:grpSpPr>
        <p:sp>
          <p:nvSpPr>
            <p:cNvPr id="57" name="object 57"/>
            <p:cNvSpPr/>
            <p:nvPr/>
          </p:nvSpPr>
          <p:spPr>
            <a:xfrm>
              <a:off x="709574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object 58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822960" y="0"/>
                  </a:moveTo>
                  <a:lnTo>
                    <a:pt x="0" y="0"/>
                  </a:lnTo>
                  <a:lnTo>
                    <a:pt x="0" y="210502"/>
                  </a:lnTo>
                  <a:lnTo>
                    <a:pt x="822960" y="210502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9" name="object 59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0" y="210502"/>
                  </a:moveTo>
                  <a:lnTo>
                    <a:pt x="822960" y="210502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10502"/>
                  </a:lnTo>
                  <a:close/>
                </a:path>
              </a:pathLst>
            </a:custGeom>
            <a:ln w="2542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367721" y="5948600"/>
            <a:ext cx="7314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39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3" dirty="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726854" y="1307029"/>
            <a:ext cx="7050802" cy="0"/>
          </a:xfrm>
          <a:custGeom>
            <a:avLst/>
            <a:gdLst/>
            <a:ahLst/>
            <a:cxnLst/>
            <a:rect l="l" t="t" r="r" b="b"/>
            <a:pathLst>
              <a:path w="5294630">
                <a:moveTo>
                  <a:pt x="0" y="0"/>
                </a:moveTo>
                <a:lnTo>
                  <a:pt x="5294376" y="0"/>
                </a:lnTo>
              </a:path>
            </a:pathLst>
          </a:custGeom>
          <a:ln w="953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68" name="object 68"/>
          <p:cNvGrpSpPr/>
          <p:nvPr/>
        </p:nvGrpSpPr>
        <p:grpSpPr>
          <a:xfrm>
            <a:off x="2515112" y="3994925"/>
            <a:ext cx="3741880" cy="363618"/>
            <a:chOff x="1976120" y="2764281"/>
            <a:chExt cx="2809875" cy="273050"/>
          </a:xfrm>
        </p:grpSpPr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120" y="2771266"/>
              <a:ext cx="247015" cy="26288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2378" y="2773806"/>
              <a:ext cx="251079" cy="2603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8763" y="2776346"/>
              <a:ext cx="534288" cy="25781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21406" y="2768726"/>
              <a:ext cx="249428" cy="26543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7664" y="2773806"/>
              <a:ext cx="251333" cy="26035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686556" y="2764281"/>
              <a:ext cx="1099185" cy="273050"/>
            </a:xfrm>
            <a:custGeom>
              <a:avLst/>
              <a:gdLst/>
              <a:ahLst/>
              <a:cxnLst/>
              <a:rect l="l" t="t" r="r" b="b"/>
              <a:pathLst>
                <a:path w="1099185" h="273050">
                  <a:moveTo>
                    <a:pt x="103505" y="231140"/>
                  </a:moveTo>
                  <a:lnTo>
                    <a:pt x="103251" y="229870"/>
                  </a:lnTo>
                  <a:lnTo>
                    <a:pt x="102743" y="229870"/>
                  </a:lnTo>
                  <a:lnTo>
                    <a:pt x="102362" y="228600"/>
                  </a:lnTo>
                  <a:lnTo>
                    <a:pt x="101854" y="228600"/>
                  </a:lnTo>
                  <a:lnTo>
                    <a:pt x="101219" y="227342"/>
                  </a:lnTo>
                  <a:lnTo>
                    <a:pt x="100584" y="227342"/>
                  </a:lnTo>
                  <a:lnTo>
                    <a:pt x="99441" y="226072"/>
                  </a:lnTo>
                  <a:lnTo>
                    <a:pt x="95250" y="226072"/>
                  </a:lnTo>
                  <a:lnTo>
                    <a:pt x="65024" y="256540"/>
                  </a:lnTo>
                  <a:lnTo>
                    <a:pt x="64541" y="234950"/>
                  </a:lnTo>
                  <a:lnTo>
                    <a:pt x="59055" y="195592"/>
                  </a:lnTo>
                  <a:lnTo>
                    <a:pt x="54737" y="187972"/>
                  </a:lnTo>
                  <a:lnTo>
                    <a:pt x="53848" y="186690"/>
                  </a:lnTo>
                  <a:lnTo>
                    <a:pt x="51816" y="184150"/>
                  </a:lnTo>
                  <a:lnTo>
                    <a:pt x="49657" y="182892"/>
                  </a:lnTo>
                  <a:lnTo>
                    <a:pt x="47117" y="180340"/>
                  </a:lnTo>
                  <a:lnTo>
                    <a:pt x="44450" y="177800"/>
                  </a:lnTo>
                  <a:lnTo>
                    <a:pt x="35306" y="173990"/>
                  </a:lnTo>
                  <a:lnTo>
                    <a:pt x="28702" y="175272"/>
                  </a:lnTo>
                  <a:lnTo>
                    <a:pt x="25273" y="175272"/>
                  </a:lnTo>
                  <a:lnTo>
                    <a:pt x="7620" y="189242"/>
                  </a:lnTo>
                  <a:lnTo>
                    <a:pt x="6096" y="190500"/>
                  </a:lnTo>
                  <a:lnTo>
                    <a:pt x="4699" y="193040"/>
                  </a:lnTo>
                  <a:lnTo>
                    <a:pt x="3429" y="195592"/>
                  </a:lnTo>
                  <a:lnTo>
                    <a:pt x="2413" y="198120"/>
                  </a:lnTo>
                  <a:lnTo>
                    <a:pt x="762" y="201942"/>
                  </a:lnTo>
                  <a:lnTo>
                    <a:pt x="381" y="204470"/>
                  </a:lnTo>
                  <a:lnTo>
                    <a:pt x="0" y="205740"/>
                  </a:lnTo>
                  <a:lnTo>
                    <a:pt x="0" y="210820"/>
                  </a:lnTo>
                  <a:lnTo>
                    <a:pt x="762" y="210820"/>
                  </a:lnTo>
                  <a:lnTo>
                    <a:pt x="1016" y="212090"/>
                  </a:lnTo>
                  <a:lnTo>
                    <a:pt x="1905" y="212090"/>
                  </a:lnTo>
                  <a:lnTo>
                    <a:pt x="2413" y="213372"/>
                  </a:lnTo>
                  <a:lnTo>
                    <a:pt x="3175" y="213372"/>
                  </a:lnTo>
                  <a:lnTo>
                    <a:pt x="3810" y="214642"/>
                  </a:lnTo>
                  <a:lnTo>
                    <a:pt x="5080" y="215900"/>
                  </a:lnTo>
                  <a:lnTo>
                    <a:pt x="8636" y="215900"/>
                  </a:lnTo>
                  <a:lnTo>
                    <a:pt x="9271" y="213372"/>
                  </a:lnTo>
                  <a:lnTo>
                    <a:pt x="9398" y="212090"/>
                  </a:lnTo>
                  <a:lnTo>
                    <a:pt x="9525" y="210820"/>
                  </a:lnTo>
                  <a:lnTo>
                    <a:pt x="10033" y="209550"/>
                  </a:lnTo>
                  <a:lnTo>
                    <a:pt x="11303" y="205740"/>
                  </a:lnTo>
                  <a:lnTo>
                    <a:pt x="12192" y="203200"/>
                  </a:lnTo>
                  <a:lnTo>
                    <a:pt x="26543" y="189242"/>
                  </a:lnTo>
                  <a:lnTo>
                    <a:pt x="28702" y="187972"/>
                  </a:lnTo>
                  <a:lnTo>
                    <a:pt x="32639" y="187972"/>
                  </a:lnTo>
                  <a:lnTo>
                    <a:pt x="34671" y="189242"/>
                  </a:lnTo>
                  <a:lnTo>
                    <a:pt x="36576" y="189242"/>
                  </a:lnTo>
                  <a:lnTo>
                    <a:pt x="46101" y="199390"/>
                  </a:lnTo>
                  <a:lnTo>
                    <a:pt x="47498" y="200672"/>
                  </a:lnTo>
                  <a:lnTo>
                    <a:pt x="48768" y="203200"/>
                  </a:lnTo>
                  <a:lnTo>
                    <a:pt x="49911" y="207022"/>
                  </a:lnTo>
                  <a:lnTo>
                    <a:pt x="50927" y="209550"/>
                  </a:lnTo>
                  <a:lnTo>
                    <a:pt x="53492" y="227342"/>
                  </a:lnTo>
                  <a:lnTo>
                    <a:pt x="53594" y="228600"/>
                  </a:lnTo>
                  <a:lnTo>
                    <a:pt x="53721" y="234950"/>
                  </a:lnTo>
                  <a:lnTo>
                    <a:pt x="54013" y="256540"/>
                  </a:lnTo>
                  <a:lnTo>
                    <a:pt x="54102" y="262890"/>
                  </a:lnTo>
                  <a:lnTo>
                    <a:pt x="54229" y="265442"/>
                  </a:lnTo>
                  <a:lnTo>
                    <a:pt x="54356" y="266700"/>
                  </a:lnTo>
                  <a:lnTo>
                    <a:pt x="54610" y="266700"/>
                  </a:lnTo>
                  <a:lnTo>
                    <a:pt x="54864" y="267970"/>
                  </a:lnTo>
                  <a:lnTo>
                    <a:pt x="55372" y="269240"/>
                  </a:lnTo>
                  <a:lnTo>
                    <a:pt x="55880" y="269240"/>
                  </a:lnTo>
                  <a:lnTo>
                    <a:pt x="57023" y="270522"/>
                  </a:lnTo>
                  <a:lnTo>
                    <a:pt x="57658" y="271792"/>
                  </a:lnTo>
                  <a:lnTo>
                    <a:pt x="58420" y="271792"/>
                  </a:lnTo>
                  <a:lnTo>
                    <a:pt x="59182" y="273050"/>
                  </a:lnTo>
                  <a:lnTo>
                    <a:pt x="64262" y="273050"/>
                  </a:lnTo>
                  <a:lnTo>
                    <a:pt x="80708" y="256540"/>
                  </a:lnTo>
                  <a:lnTo>
                    <a:pt x="103505" y="233692"/>
                  </a:lnTo>
                  <a:lnTo>
                    <a:pt x="103505" y="231140"/>
                  </a:lnTo>
                  <a:close/>
                </a:path>
                <a:path w="1099185" h="273050">
                  <a:moveTo>
                    <a:pt x="146050" y="179070"/>
                  </a:moveTo>
                  <a:lnTo>
                    <a:pt x="144780" y="173990"/>
                  </a:lnTo>
                  <a:lnTo>
                    <a:pt x="143637" y="168922"/>
                  </a:lnTo>
                  <a:lnTo>
                    <a:pt x="141224" y="163842"/>
                  </a:lnTo>
                  <a:lnTo>
                    <a:pt x="134112" y="153670"/>
                  </a:lnTo>
                  <a:lnTo>
                    <a:pt x="133985" y="153530"/>
                  </a:lnTo>
                  <a:lnTo>
                    <a:pt x="133985" y="184150"/>
                  </a:lnTo>
                  <a:lnTo>
                    <a:pt x="133604" y="186690"/>
                  </a:lnTo>
                  <a:lnTo>
                    <a:pt x="132842" y="189242"/>
                  </a:lnTo>
                  <a:lnTo>
                    <a:pt x="131953" y="191770"/>
                  </a:lnTo>
                  <a:lnTo>
                    <a:pt x="130429" y="193040"/>
                  </a:lnTo>
                  <a:lnTo>
                    <a:pt x="128524" y="195592"/>
                  </a:lnTo>
                  <a:lnTo>
                    <a:pt x="125857" y="198120"/>
                  </a:lnTo>
                  <a:lnTo>
                    <a:pt x="123190" y="199390"/>
                  </a:lnTo>
                  <a:lnTo>
                    <a:pt x="120396" y="200672"/>
                  </a:lnTo>
                  <a:lnTo>
                    <a:pt x="114300" y="200672"/>
                  </a:lnTo>
                  <a:lnTo>
                    <a:pt x="107442" y="198120"/>
                  </a:lnTo>
                  <a:lnTo>
                    <a:pt x="103632" y="196850"/>
                  </a:lnTo>
                  <a:lnTo>
                    <a:pt x="99441" y="193040"/>
                  </a:lnTo>
                  <a:lnTo>
                    <a:pt x="95250" y="190500"/>
                  </a:lnTo>
                  <a:lnTo>
                    <a:pt x="90678" y="186690"/>
                  </a:lnTo>
                  <a:lnTo>
                    <a:pt x="85471" y="180340"/>
                  </a:lnTo>
                  <a:lnTo>
                    <a:pt x="81534" y="176542"/>
                  </a:lnTo>
                  <a:lnTo>
                    <a:pt x="78232" y="172720"/>
                  </a:lnTo>
                  <a:lnTo>
                    <a:pt x="67056" y="153670"/>
                  </a:lnTo>
                  <a:lnTo>
                    <a:pt x="66929" y="152400"/>
                  </a:lnTo>
                  <a:lnTo>
                    <a:pt x="66802" y="151142"/>
                  </a:lnTo>
                  <a:lnTo>
                    <a:pt x="67183" y="148590"/>
                  </a:lnTo>
                  <a:lnTo>
                    <a:pt x="67691" y="144792"/>
                  </a:lnTo>
                  <a:lnTo>
                    <a:pt x="69469" y="140970"/>
                  </a:lnTo>
                  <a:lnTo>
                    <a:pt x="74168" y="137172"/>
                  </a:lnTo>
                  <a:lnTo>
                    <a:pt x="75946" y="135890"/>
                  </a:lnTo>
                  <a:lnTo>
                    <a:pt x="77851" y="134620"/>
                  </a:lnTo>
                  <a:lnTo>
                    <a:pt x="79629" y="133350"/>
                  </a:lnTo>
                  <a:lnTo>
                    <a:pt x="87884" y="133350"/>
                  </a:lnTo>
                  <a:lnTo>
                    <a:pt x="92456" y="134620"/>
                  </a:lnTo>
                  <a:lnTo>
                    <a:pt x="94869" y="135890"/>
                  </a:lnTo>
                  <a:lnTo>
                    <a:pt x="97409" y="137172"/>
                  </a:lnTo>
                  <a:lnTo>
                    <a:pt x="100076" y="139700"/>
                  </a:lnTo>
                  <a:lnTo>
                    <a:pt x="102870" y="140970"/>
                  </a:lnTo>
                  <a:lnTo>
                    <a:pt x="105791" y="143522"/>
                  </a:lnTo>
                  <a:lnTo>
                    <a:pt x="108839" y="146050"/>
                  </a:lnTo>
                  <a:lnTo>
                    <a:pt x="112141" y="149872"/>
                  </a:lnTo>
                  <a:lnTo>
                    <a:pt x="115570" y="152400"/>
                  </a:lnTo>
                  <a:lnTo>
                    <a:pt x="120523" y="157492"/>
                  </a:lnTo>
                  <a:lnTo>
                    <a:pt x="122682" y="160020"/>
                  </a:lnTo>
                  <a:lnTo>
                    <a:pt x="124968" y="162572"/>
                  </a:lnTo>
                  <a:lnTo>
                    <a:pt x="133985" y="184150"/>
                  </a:lnTo>
                  <a:lnTo>
                    <a:pt x="133985" y="153530"/>
                  </a:lnTo>
                  <a:lnTo>
                    <a:pt x="129667" y="148590"/>
                  </a:lnTo>
                  <a:lnTo>
                    <a:pt x="124333" y="142240"/>
                  </a:lnTo>
                  <a:lnTo>
                    <a:pt x="118618" y="137172"/>
                  </a:lnTo>
                  <a:lnTo>
                    <a:pt x="114515" y="133350"/>
                  </a:lnTo>
                  <a:lnTo>
                    <a:pt x="113157" y="132092"/>
                  </a:lnTo>
                  <a:lnTo>
                    <a:pt x="107950" y="128270"/>
                  </a:lnTo>
                  <a:lnTo>
                    <a:pt x="102870" y="124472"/>
                  </a:lnTo>
                  <a:lnTo>
                    <a:pt x="97790" y="121920"/>
                  </a:lnTo>
                  <a:lnTo>
                    <a:pt x="92964" y="121920"/>
                  </a:lnTo>
                  <a:lnTo>
                    <a:pt x="88138" y="120650"/>
                  </a:lnTo>
                  <a:lnTo>
                    <a:pt x="83439" y="120650"/>
                  </a:lnTo>
                  <a:lnTo>
                    <a:pt x="74295" y="123190"/>
                  </a:lnTo>
                  <a:lnTo>
                    <a:pt x="69850" y="125742"/>
                  </a:lnTo>
                  <a:lnTo>
                    <a:pt x="65405" y="130822"/>
                  </a:lnTo>
                  <a:lnTo>
                    <a:pt x="60833" y="134620"/>
                  </a:lnTo>
                  <a:lnTo>
                    <a:pt x="57912" y="139700"/>
                  </a:lnTo>
                  <a:lnTo>
                    <a:pt x="56515" y="144792"/>
                  </a:lnTo>
                  <a:lnTo>
                    <a:pt x="54991" y="149872"/>
                  </a:lnTo>
                  <a:lnTo>
                    <a:pt x="54991" y="154940"/>
                  </a:lnTo>
                  <a:lnTo>
                    <a:pt x="56134" y="160020"/>
                  </a:lnTo>
                  <a:lnTo>
                    <a:pt x="76581" y="190500"/>
                  </a:lnTo>
                  <a:lnTo>
                    <a:pt x="82423" y="196850"/>
                  </a:lnTo>
                  <a:lnTo>
                    <a:pt x="87757" y="201942"/>
                  </a:lnTo>
                  <a:lnTo>
                    <a:pt x="98171" y="208292"/>
                  </a:lnTo>
                  <a:lnTo>
                    <a:pt x="103251" y="210820"/>
                  </a:lnTo>
                  <a:lnTo>
                    <a:pt x="112903" y="213372"/>
                  </a:lnTo>
                  <a:lnTo>
                    <a:pt x="117602" y="213372"/>
                  </a:lnTo>
                  <a:lnTo>
                    <a:pt x="126619" y="210820"/>
                  </a:lnTo>
                  <a:lnTo>
                    <a:pt x="131064" y="208292"/>
                  </a:lnTo>
                  <a:lnTo>
                    <a:pt x="135509" y="203200"/>
                  </a:lnTo>
                  <a:lnTo>
                    <a:pt x="137795" y="200672"/>
                  </a:lnTo>
                  <a:lnTo>
                    <a:pt x="140081" y="198120"/>
                  </a:lnTo>
                  <a:lnTo>
                    <a:pt x="143129" y="194322"/>
                  </a:lnTo>
                  <a:lnTo>
                    <a:pt x="145923" y="184150"/>
                  </a:lnTo>
                  <a:lnTo>
                    <a:pt x="146050" y="179070"/>
                  </a:lnTo>
                  <a:close/>
                </a:path>
                <a:path w="1099185" h="273050">
                  <a:moveTo>
                    <a:pt x="204216" y="120650"/>
                  </a:moveTo>
                  <a:lnTo>
                    <a:pt x="203073" y="115570"/>
                  </a:lnTo>
                  <a:lnTo>
                    <a:pt x="201803" y="110490"/>
                  </a:lnTo>
                  <a:lnTo>
                    <a:pt x="199390" y="105422"/>
                  </a:lnTo>
                  <a:lnTo>
                    <a:pt x="192278" y="95250"/>
                  </a:lnTo>
                  <a:lnTo>
                    <a:pt x="192278" y="125742"/>
                  </a:lnTo>
                  <a:lnTo>
                    <a:pt x="191897" y="128270"/>
                  </a:lnTo>
                  <a:lnTo>
                    <a:pt x="190119" y="133350"/>
                  </a:lnTo>
                  <a:lnTo>
                    <a:pt x="188722" y="134620"/>
                  </a:lnTo>
                  <a:lnTo>
                    <a:pt x="186690" y="137172"/>
                  </a:lnTo>
                  <a:lnTo>
                    <a:pt x="184023" y="139700"/>
                  </a:lnTo>
                  <a:lnTo>
                    <a:pt x="181356" y="140970"/>
                  </a:lnTo>
                  <a:lnTo>
                    <a:pt x="178562" y="142240"/>
                  </a:lnTo>
                  <a:lnTo>
                    <a:pt x="172593" y="142240"/>
                  </a:lnTo>
                  <a:lnTo>
                    <a:pt x="169037" y="140970"/>
                  </a:lnTo>
                  <a:lnTo>
                    <a:pt x="165608" y="139700"/>
                  </a:lnTo>
                  <a:lnTo>
                    <a:pt x="161798" y="138442"/>
                  </a:lnTo>
                  <a:lnTo>
                    <a:pt x="130429" y="107950"/>
                  </a:lnTo>
                  <a:lnTo>
                    <a:pt x="124968" y="92722"/>
                  </a:lnTo>
                  <a:lnTo>
                    <a:pt x="125349" y="90170"/>
                  </a:lnTo>
                  <a:lnTo>
                    <a:pt x="125857" y="86372"/>
                  </a:lnTo>
                  <a:lnTo>
                    <a:pt x="127635" y="83820"/>
                  </a:lnTo>
                  <a:lnTo>
                    <a:pt x="132334" y="78740"/>
                  </a:lnTo>
                  <a:lnTo>
                    <a:pt x="134112" y="77470"/>
                  </a:lnTo>
                  <a:lnTo>
                    <a:pt x="136017" y="76200"/>
                  </a:lnTo>
                  <a:lnTo>
                    <a:pt x="137795" y="74942"/>
                  </a:lnTo>
                  <a:lnTo>
                    <a:pt x="146050" y="74942"/>
                  </a:lnTo>
                  <a:lnTo>
                    <a:pt x="148336" y="76200"/>
                  </a:lnTo>
                  <a:lnTo>
                    <a:pt x="150622" y="76200"/>
                  </a:lnTo>
                  <a:lnTo>
                    <a:pt x="153035" y="77470"/>
                  </a:lnTo>
                  <a:lnTo>
                    <a:pt x="155702" y="78740"/>
                  </a:lnTo>
                  <a:lnTo>
                    <a:pt x="158242" y="81292"/>
                  </a:lnTo>
                  <a:lnTo>
                    <a:pt x="161036" y="82550"/>
                  </a:lnTo>
                  <a:lnTo>
                    <a:pt x="167005" y="87642"/>
                  </a:lnTo>
                  <a:lnTo>
                    <a:pt x="170307" y="91440"/>
                  </a:lnTo>
                  <a:lnTo>
                    <a:pt x="173736" y="93992"/>
                  </a:lnTo>
                  <a:lnTo>
                    <a:pt x="190500" y="116840"/>
                  </a:lnTo>
                  <a:lnTo>
                    <a:pt x="191516" y="119392"/>
                  </a:lnTo>
                  <a:lnTo>
                    <a:pt x="192024" y="121920"/>
                  </a:lnTo>
                  <a:lnTo>
                    <a:pt x="192100" y="123190"/>
                  </a:lnTo>
                  <a:lnTo>
                    <a:pt x="192189" y="124472"/>
                  </a:lnTo>
                  <a:lnTo>
                    <a:pt x="192278" y="125742"/>
                  </a:lnTo>
                  <a:lnTo>
                    <a:pt x="192278" y="95250"/>
                  </a:lnTo>
                  <a:lnTo>
                    <a:pt x="187833" y="90170"/>
                  </a:lnTo>
                  <a:lnTo>
                    <a:pt x="182499" y="83820"/>
                  </a:lnTo>
                  <a:lnTo>
                    <a:pt x="176784" y="78740"/>
                  </a:lnTo>
                  <a:lnTo>
                    <a:pt x="172681" y="74942"/>
                  </a:lnTo>
                  <a:lnTo>
                    <a:pt x="171323" y="73672"/>
                  </a:lnTo>
                  <a:lnTo>
                    <a:pt x="166243" y="69850"/>
                  </a:lnTo>
                  <a:lnTo>
                    <a:pt x="161036" y="66040"/>
                  </a:lnTo>
                  <a:lnTo>
                    <a:pt x="155956" y="64770"/>
                  </a:lnTo>
                  <a:lnTo>
                    <a:pt x="146304" y="62242"/>
                  </a:lnTo>
                  <a:lnTo>
                    <a:pt x="141605" y="62242"/>
                  </a:lnTo>
                  <a:lnTo>
                    <a:pt x="132461" y="64770"/>
                  </a:lnTo>
                  <a:lnTo>
                    <a:pt x="113157" y="96520"/>
                  </a:lnTo>
                  <a:lnTo>
                    <a:pt x="114427" y="101600"/>
                  </a:lnTo>
                  <a:lnTo>
                    <a:pt x="115570" y="106692"/>
                  </a:lnTo>
                  <a:lnTo>
                    <a:pt x="140589" y="138442"/>
                  </a:lnTo>
                  <a:lnTo>
                    <a:pt x="161417" y="152400"/>
                  </a:lnTo>
                  <a:lnTo>
                    <a:pt x="171069" y="154940"/>
                  </a:lnTo>
                  <a:lnTo>
                    <a:pt x="175768" y="154940"/>
                  </a:lnTo>
                  <a:lnTo>
                    <a:pt x="184912" y="152400"/>
                  </a:lnTo>
                  <a:lnTo>
                    <a:pt x="189357" y="149872"/>
                  </a:lnTo>
                  <a:lnTo>
                    <a:pt x="193675" y="144792"/>
                  </a:lnTo>
                  <a:lnTo>
                    <a:pt x="196723" y="142240"/>
                  </a:lnTo>
                  <a:lnTo>
                    <a:pt x="198247" y="140970"/>
                  </a:lnTo>
                  <a:lnTo>
                    <a:pt x="201295" y="135890"/>
                  </a:lnTo>
                  <a:lnTo>
                    <a:pt x="204089" y="125742"/>
                  </a:lnTo>
                  <a:lnTo>
                    <a:pt x="204216" y="120650"/>
                  </a:lnTo>
                  <a:close/>
                </a:path>
                <a:path w="1099185" h="273050">
                  <a:moveTo>
                    <a:pt x="255905" y="68592"/>
                  </a:moveTo>
                  <a:lnTo>
                    <a:pt x="243967" y="43053"/>
                  </a:lnTo>
                  <a:lnTo>
                    <a:pt x="243967" y="74942"/>
                  </a:lnTo>
                  <a:lnTo>
                    <a:pt x="243586" y="76200"/>
                  </a:lnTo>
                  <a:lnTo>
                    <a:pt x="241808" y="81292"/>
                  </a:lnTo>
                  <a:lnTo>
                    <a:pt x="240411" y="82550"/>
                  </a:lnTo>
                  <a:lnTo>
                    <a:pt x="235839" y="87642"/>
                  </a:lnTo>
                  <a:lnTo>
                    <a:pt x="227457" y="91440"/>
                  </a:lnTo>
                  <a:lnTo>
                    <a:pt x="224282" y="90170"/>
                  </a:lnTo>
                  <a:lnTo>
                    <a:pt x="220853" y="90170"/>
                  </a:lnTo>
                  <a:lnTo>
                    <a:pt x="217297" y="88900"/>
                  </a:lnTo>
                  <a:lnTo>
                    <a:pt x="213614" y="86372"/>
                  </a:lnTo>
                  <a:lnTo>
                    <a:pt x="209423" y="83820"/>
                  </a:lnTo>
                  <a:lnTo>
                    <a:pt x="205232" y="80022"/>
                  </a:lnTo>
                  <a:lnTo>
                    <a:pt x="200533" y="76200"/>
                  </a:lnTo>
                  <a:lnTo>
                    <a:pt x="191516" y="67322"/>
                  </a:lnTo>
                  <a:lnTo>
                    <a:pt x="188087" y="63500"/>
                  </a:lnTo>
                  <a:lnTo>
                    <a:pt x="185166" y="59690"/>
                  </a:lnTo>
                  <a:lnTo>
                    <a:pt x="182118" y="55892"/>
                  </a:lnTo>
                  <a:lnTo>
                    <a:pt x="179959" y="52070"/>
                  </a:lnTo>
                  <a:lnTo>
                    <a:pt x="177165" y="44450"/>
                  </a:lnTo>
                  <a:lnTo>
                    <a:pt x="176657" y="41922"/>
                  </a:lnTo>
                  <a:lnTo>
                    <a:pt x="177165" y="38100"/>
                  </a:lnTo>
                  <a:lnTo>
                    <a:pt x="177419" y="35572"/>
                  </a:lnTo>
                  <a:lnTo>
                    <a:pt x="177546" y="34290"/>
                  </a:lnTo>
                  <a:lnTo>
                    <a:pt x="179324" y="31750"/>
                  </a:lnTo>
                  <a:lnTo>
                    <a:pt x="182372" y="27940"/>
                  </a:lnTo>
                  <a:lnTo>
                    <a:pt x="189484" y="22872"/>
                  </a:lnTo>
                  <a:lnTo>
                    <a:pt x="197739" y="22872"/>
                  </a:lnTo>
                  <a:lnTo>
                    <a:pt x="200025" y="24142"/>
                  </a:lnTo>
                  <a:lnTo>
                    <a:pt x="202311" y="24142"/>
                  </a:lnTo>
                  <a:lnTo>
                    <a:pt x="204724" y="25400"/>
                  </a:lnTo>
                  <a:lnTo>
                    <a:pt x="207391" y="27940"/>
                  </a:lnTo>
                  <a:lnTo>
                    <a:pt x="209931" y="29222"/>
                  </a:lnTo>
                  <a:lnTo>
                    <a:pt x="212725" y="31750"/>
                  </a:lnTo>
                  <a:lnTo>
                    <a:pt x="215773" y="34290"/>
                  </a:lnTo>
                  <a:lnTo>
                    <a:pt x="218821" y="35572"/>
                  </a:lnTo>
                  <a:lnTo>
                    <a:pt x="221996" y="39370"/>
                  </a:lnTo>
                  <a:lnTo>
                    <a:pt x="225425" y="43192"/>
                  </a:lnTo>
                  <a:lnTo>
                    <a:pt x="228092" y="45720"/>
                  </a:lnTo>
                  <a:lnTo>
                    <a:pt x="232664" y="50800"/>
                  </a:lnTo>
                  <a:lnTo>
                    <a:pt x="234823" y="53340"/>
                  </a:lnTo>
                  <a:lnTo>
                    <a:pt x="236728" y="55892"/>
                  </a:lnTo>
                  <a:lnTo>
                    <a:pt x="238379" y="58420"/>
                  </a:lnTo>
                  <a:lnTo>
                    <a:pt x="240030" y="59690"/>
                  </a:lnTo>
                  <a:lnTo>
                    <a:pt x="243967" y="74942"/>
                  </a:lnTo>
                  <a:lnTo>
                    <a:pt x="243967" y="43053"/>
                  </a:lnTo>
                  <a:lnTo>
                    <a:pt x="239649" y="38100"/>
                  </a:lnTo>
                  <a:lnTo>
                    <a:pt x="234315" y="33020"/>
                  </a:lnTo>
                  <a:lnTo>
                    <a:pt x="228600" y="26670"/>
                  </a:lnTo>
                  <a:lnTo>
                    <a:pt x="224497" y="22872"/>
                  </a:lnTo>
                  <a:lnTo>
                    <a:pt x="223139" y="21590"/>
                  </a:lnTo>
                  <a:lnTo>
                    <a:pt x="212725" y="15240"/>
                  </a:lnTo>
                  <a:lnTo>
                    <a:pt x="207772" y="12700"/>
                  </a:lnTo>
                  <a:lnTo>
                    <a:pt x="197993" y="10172"/>
                  </a:lnTo>
                  <a:lnTo>
                    <a:pt x="193294" y="10172"/>
                  </a:lnTo>
                  <a:lnTo>
                    <a:pt x="164973" y="39370"/>
                  </a:lnTo>
                  <a:lnTo>
                    <a:pt x="164846" y="44450"/>
                  </a:lnTo>
                  <a:lnTo>
                    <a:pt x="167386" y="54622"/>
                  </a:lnTo>
                  <a:lnTo>
                    <a:pt x="169672" y="59690"/>
                  </a:lnTo>
                  <a:lnTo>
                    <a:pt x="181229" y="76200"/>
                  </a:lnTo>
                  <a:lnTo>
                    <a:pt x="192278" y="86372"/>
                  </a:lnTo>
                  <a:lnTo>
                    <a:pt x="197739" y="91440"/>
                  </a:lnTo>
                  <a:lnTo>
                    <a:pt x="208153" y="99072"/>
                  </a:lnTo>
                  <a:lnTo>
                    <a:pt x="213106" y="101600"/>
                  </a:lnTo>
                  <a:lnTo>
                    <a:pt x="222758" y="104140"/>
                  </a:lnTo>
                  <a:lnTo>
                    <a:pt x="236601" y="100342"/>
                  </a:lnTo>
                  <a:lnTo>
                    <a:pt x="241046" y="97790"/>
                  </a:lnTo>
                  <a:lnTo>
                    <a:pt x="247484" y="91440"/>
                  </a:lnTo>
                  <a:lnTo>
                    <a:pt x="250063" y="88900"/>
                  </a:lnTo>
                  <a:lnTo>
                    <a:pt x="252984" y="83820"/>
                  </a:lnTo>
                  <a:lnTo>
                    <a:pt x="254508" y="78740"/>
                  </a:lnTo>
                  <a:lnTo>
                    <a:pt x="255905" y="73672"/>
                  </a:lnTo>
                  <a:lnTo>
                    <a:pt x="255905" y="68592"/>
                  </a:lnTo>
                  <a:close/>
                </a:path>
                <a:path w="1099185" h="273050">
                  <a:moveTo>
                    <a:pt x="390017" y="231140"/>
                  </a:moveTo>
                  <a:lnTo>
                    <a:pt x="389509" y="229870"/>
                  </a:lnTo>
                  <a:lnTo>
                    <a:pt x="388747" y="228600"/>
                  </a:lnTo>
                  <a:lnTo>
                    <a:pt x="387477" y="227342"/>
                  </a:lnTo>
                  <a:lnTo>
                    <a:pt x="386334" y="226072"/>
                  </a:lnTo>
                  <a:lnTo>
                    <a:pt x="381635" y="226072"/>
                  </a:lnTo>
                  <a:lnTo>
                    <a:pt x="351409" y="256540"/>
                  </a:lnTo>
                  <a:lnTo>
                    <a:pt x="350926" y="234950"/>
                  </a:lnTo>
                  <a:lnTo>
                    <a:pt x="350812" y="228600"/>
                  </a:lnTo>
                  <a:lnTo>
                    <a:pt x="350774" y="226072"/>
                  </a:lnTo>
                  <a:lnTo>
                    <a:pt x="350393" y="218440"/>
                  </a:lnTo>
                  <a:lnTo>
                    <a:pt x="341122" y="187972"/>
                  </a:lnTo>
                  <a:lnTo>
                    <a:pt x="340233" y="186690"/>
                  </a:lnTo>
                  <a:lnTo>
                    <a:pt x="338201" y="184150"/>
                  </a:lnTo>
                  <a:lnTo>
                    <a:pt x="333502" y="180340"/>
                  </a:lnTo>
                  <a:lnTo>
                    <a:pt x="330708" y="177800"/>
                  </a:lnTo>
                  <a:lnTo>
                    <a:pt x="327787" y="176542"/>
                  </a:lnTo>
                  <a:lnTo>
                    <a:pt x="324739" y="175272"/>
                  </a:lnTo>
                  <a:lnTo>
                    <a:pt x="321564" y="173990"/>
                  </a:lnTo>
                  <a:lnTo>
                    <a:pt x="314960" y="175272"/>
                  </a:lnTo>
                  <a:lnTo>
                    <a:pt x="311531" y="175272"/>
                  </a:lnTo>
                  <a:lnTo>
                    <a:pt x="308102" y="176542"/>
                  </a:lnTo>
                  <a:lnTo>
                    <a:pt x="301244" y="181622"/>
                  </a:lnTo>
                  <a:lnTo>
                    <a:pt x="295783" y="186690"/>
                  </a:lnTo>
                  <a:lnTo>
                    <a:pt x="294005" y="189242"/>
                  </a:lnTo>
                  <a:lnTo>
                    <a:pt x="292481" y="190500"/>
                  </a:lnTo>
                  <a:lnTo>
                    <a:pt x="290957" y="193040"/>
                  </a:lnTo>
                  <a:lnTo>
                    <a:pt x="289814" y="195592"/>
                  </a:lnTo>
                  <a:lnTo>
                    <a:pt x="287782" y="200672"/>
                  </a:lnTo>
                  <a:lnTo>
                    <a:pt x="287147" y="201942"/>
                  </a:lnTo>
                  <a:lnTo>
                    <a:pt x="286766" y="204470"/>
                  </a:lnTo>
                  <a:lnTo>
                    <a:pt x="286258" y="205740"/>
                  </a:lnTo>
                  <a:lnTo>
                    <a:pt x="286385" y="210820"/>
                  </a:lnTo>
                  <a:lnTo>
                    <a:pt x="287020" y="210820"/>
                  </a:lnTo>
                  <a:lnTo>
                    <a:pt x="287401" y="212090"/>
                  </a:lnTo>
                  <a:lnTo>
                    <a:pt x="288163" y="212090"/>
                  </a:lnTo>
                  <a:lnTo>
                    <a:pt x="288671" y="213372"/>
                  </a:lnTo>
                  <a:lnTo>
                    <a:pt x="290195" y="214642"/>
                  </a:lnTo>
                  <a:lnTo>
                    <a:pt x="290703" y="214642"/>
                  </a:lnTo>
                  <a:lnTo>
                    <a:pt x="291338" y="215900"/>
                  </a:lnTo>
                  <a:lnTo>
                    <a:pt x="294894" y="215900"/>
                  </a:lnTo>
                  <a:lnTo>
                    <a:pt x="295275" y="214642"/>
                  </a:lnTo>
                  <a:lnTo>
                    <a:pt x="295529" y="213372"/>
                  </a:lnTo>
                  <a:lnTo>
                    <a:pt x="295910" y="210820"/>
                  </a:lnTo>
                  <a:lnTo>
                    <a:pt x="296291" y="209550"/>
                  </a:lnTo>
                  <a:lnTo>
                    <a:pt x="297561" y="205740"/>
                  </a:lnTo>
                  <a:lnTo>
                    <a:pt x="298450" y="203200"/>
                  </a:lnTo>
                  <a:lnTo>
                    <a:pt x="299720" y="200672"/>
                  </a:lnTo>
                  <a:lnTo>
                    <a:pt x="300863" y="198120"/>
                  </a:lnTo>
                  <a:lnTo>
                    <a:pt x="302641" y="195592"/>
                  </a:lnTo>
                  <a:lnTo>
                    <a:pt x="304800" y="194322"/>
                  </a:lnTo>
                  <a:lnTo>
                    <a:pt x="306705" y="191770"/>
                  </a:lnTo>
                  <a:lnTo>
                    <a:pt x="308737" y="190500"/>
                  </a:lnTo>
                  <a:lnTo>
                    <a:pt x="310896" y="189242"/>
                  </a:lnTo>
                  <a:lnTo>
                    <a:pt x="312928" y="189242"/>
                  </a:lnTo>
                  <a:lnTo>
                    <a:pt x="314960" y="187972"/>
                  </a:lnTo>
                  <a:lnTo>
                    <a:pt x="319024" y="187972"/>
                  </a:lnTo>
                  <a:lnTo>
                    <a:pt x="320929" y="189242"/>
                  </a:lnTo>
                  <a:lnTo>
                    <a:pt x="322834" y="189242"/>
                  </a:lnTo>
                  <a:lnTo>
                    <a:pt x="324739" y="190500"/>
                  </a:lnTo>
                  <a:lnTo>
                    <a:pt x="326517" y="191770"/>
                  </a:lnTo>
                  <a:lnTo>
                    <a:pt x="329565" y="194322"/>
                  </a:lnTo>
                  <a:lnTo>
                    <a:pt x="330962" y="196850"/>
                  </a:lnTo>
                  <a:lnTo>
                    <a:pt x="332486" y="199390"/>
                  </a:lnTo>
                  <a:lnTo>
                    <a:pt x="333883" y="200672"/>
                  </a:lnTo>
                  <a:lnTo>
                    <a:pt x="335153" y="203200"/>
                  </a:lnTo>
                  <a:lnTo>
                    <a:pt x="336169" y="207022"/>
                  </a:lnTo>
                  <a:lnTo>
                    <a:pt x="337312" y="209550"/>
                  </a:lnTo>
                  <a:lnTo>
                    <a:pt x="338201" y="213372"/>
                  </a:lnTo>
                  <a:lnTo>
                    <a:pt x="338836" y="218440"/>
                  </a:lnTo>
                  <a:lnTo>
                    <a:pt x="339598" y="223520"/>
                  </a:lnTo>
                  <a:lnTo>
                    <a:pt x="339725" y="226072"/>
                  </a:lnTo>
                  <a:lnTo>
                    <a:pt x="339852" y="228600"/>
                  </a:lnTo>
                  <a:lnTo>
                    <a:pt x="339979" y="234950"/>
                  </a:lnTo>
                  <a:lnTo>
                    <a:pt x="340271" y="256540"/>
                  </a:lnTo>
                  <a:lnTo>
                    <a:pt x="340360" y="262890"/>
                  </a:lnTo>
                  <a:lnTo>
                    <a:pt x="340487" y="265442"/>
                  </a:lnTo>
                  <a:lnTo>
                    <a:pt x="340868" y="266700"/>
                  </a:lnTo>
                  <a:lnTo>
                    <a:pt x="341122" y="267970"/>
                  </a:lnTo>
                  <a:lnTo>
                    <a:pt x="341376" y="267970"/>
                  </a:lnTo>
                  <a:lnTo>
                    <a:pt x="341757" y="269240"/>
                  </a:lnTo>
                  <a:lnTo>
                    <a:pt x="342646" y="269240"/>
                  </a:lnTo>
                  <a:lnTo>
                    <a:pt x="344805" y="271792"/>
                  </a:lnTo>
                  <a:lnTo>
                    <a:pt x="345567" y="273050"/>
                  </a:lnTo>
                  <a:lnTo>
                    <a:pt x="350647" y="273050"/>
                  </a:lnTo>
                  <a:lnTo>
                    <a:pt x="351028" y="271792"/>
                  </a:lnTo>
                  <a:lnTo>
                    <a:pt x="366420" y="256540"/>
                  </a:lnTo>
                  <a:lnTo>
                    <a:pt x="389509" y="233692"/>
                  </a:lnTo>
                  <a:lnTo>
                    <a:pt x="390017" y="232422"/>
                  </a:lnTo>
                  <a:lnTo>
                    <a:pt x="390017" y="231140"/>
                  </a:lnTo>
                  <a:close/>
                </a:path>
                <a:path w="1099185" h="273050">
                  <a:moveTo>
                    <a:pt x="432435" y="179070"/>
                  </a:moveTo>
                  <a:lnTo>
                    <a:pt x="429895" y="168922"/>
                  </a:lnTo>
                  <a:lnTo>
                    <a:pt x="427609" y="163842"/>
                  </a:lnTo>
                  <a:lnTo>
                    <a:pt x="420497" y="153670"/>
                  </a:lnTo>
                  <a:lnTo>
                    <a:pt x="420370" y="153530"/>
                  </a:lnTo>
                  <a:lnTo>
                    <a:pt x="420370" y="184150"/>
                  </a:lnTo>
                  <a:lnTo>
                    <a:pt x="419989" y="186690"/>
                  </a:lnTo>
                  <a:lnTo>
                    <a:pt x="418211" y="191770"/>
                  </a:lnTo>
                  <a:lnTo>
                    <a:pt x="416814" y="193040"/>
                  </a:lnTo>
                  <a:lnTo>
                    <a:pt x="412242" y="198120"/>
                  </a:lnTo>
                  <a:lnTo>
                    <a:pt x="406654" y="200672"/>
                  </a:lnTo>
                  <a:lnTo>
                    <a:pt x="400685" y="200672"/>
                  </a:lnTo>
                  <a:lnTo>
                    <a:pt x="393827" y="198120"/>
                  </a:lnTo>
                  <a:lnTo>
                    <a:pt x="390017" y="196850"/>
                  </a:lnTo>
                  <a:lnTo>
                    <a:pt x="385826" y="193040"/>
                  </a:lnTo>
                  <a:lnTo>
                    <a:pt x="381635" y="190500"/>
                  </a:lnTo>
                  <a:lnTo>
                    <a:pt x="376936" y="186690"/>
                  </a:lnTo>
                  <a:lnTo>
                    <a:pt x="367919" y="176542"/>
                  </a:lnTo>
                  <a:lnTo>
                    <a:pt x="364490" y="172720"/>
                  </a:lnTo>
                  <a:lnTo>
                    <a:pt x="361569" y="168922"/>
                  </a:lnTo>
                  <a:lnTo>
                    <a:pt x="358521" y="166370"/>
                  </a:lnTo>
                  <a:lnTo>
                    <a:pt x="356362" y="162572"/>
                  </a:lnTo>
                  <a:lnTo>
                    <a:pt x="353568" y="154940"/>
                  </a:lnTo>
                  <a:lnTo>
                    <a:pt x="353060" y="151142"/>
                  </a:lnTo>
                  <a:lnTo>
                    <a:pt x="354076" y="144792"/>
                  </a:lnTo>
                  <a:lnTo>
                    <a:pt x="355727" y="140970"/>
                  </a:lnTo>
                  <a:lnTo>
                    <a:pt x="358775" y="138442"/>
                  </a:lnTo>
                  <a:lnTo>
                    <a:pt x="365887" y="133350"/>
                  </a:lnTo>
                  <a:lnTo>
                    <a:pt x="374142" y="133350"/>
                  </a:lnTo>
                  <a:lnTo>
                    <a:pt x="378714" y="134620"/>
                  </a:lnTo>
                  <a:lnTo>
                    <a:pt x="381127" y="135890"/>
                  </a:lnTo>
                  <a:lnTo>
                    <a:pt x="383794" y="137172"/>
                  </a:lnTo>
                  <a:lnTo>
                    <a:pt x="386334" y="139700"/>
                  </a:lnTo>
                  <a:lnTo>
                    <a:pt x="389128" y="140970"/>
                  </a:lnTo>
                  <a:lnTo>
                    <a:pt x="395224" y="146050"/>
                  </a:lnTo>
                  <a:lnTo>
                    <a:pt x="398399" y="149872"/>
                  </a:lnTo>
                  <a:lnTo>
                    <a:pt x="401828" y="152400"/>
                  </a:lnTo>
                  <a:lnTo>
                    <a:pt x="404495" y="154940"/>
                  </a:lnTo>
                  <a:lnTo>
                    <a:pt x="406908" y="157492"/>
                  </a:lnTo>
                  <a:lnTo>
                    <a:pt x="413258" y="165100"/>
                  </a:lnTo>
                  <a:lnTo>
                    <a:pt x="414782" y="167640"/>
                  </a:lnTo>
                  <a:lnTo>
                    <a:pt x="416433" y="170192"/>
                  </a:lnTo>
                  <a:lnTo>
                    <a:pt x="420243" y="182892"/>
                  </a:lnTo>
                  <a:lnTo>
                    <a:pt x="420370" y="184150"/>
                  </a:lnTo>
                  <a:lnTo>
                    <a:pt x="420370" y="153530"/>
                  </a:lnTo>
                  <a:lnTo>
                    <a:pt x="416052" y="148590"/>
                  </a:lnTo>
                  <a:lnTo>
                    <a:pt x="410718" y="142240"/>
                  </a:lnTo>
                  <a:lnTo>
                    <a:pt x="405003" y="137172"/>
                  </a:lnTo>
                  <a:lnTo>
                    <a:pt x="400900" y="133350"/>
                  </a:lnTo>
                  <a:lnTo>
                    <a:pt x="399542" y="132092"/>
                  </a:lnTo>
                  <a:lnTo>
                    <a:pt x="389128" y="124472"/>
                  </a:lnTo>
                  <a:lnTo>
                    <a:pt x="384175" y="121920"/>
                  </a:lnTo>
                  <a:lnTo>
                    <a:pt x="379222" y="121920"/>
                  </a:lnTo>
                  <a:lnTo>
                    <a:pt x="374396" y="120650"/>
                  </a:lnTo>
                  <a:lnTo>
                    <a:pt x="369697" y="120650"/>
                  </a:lnTo>
                  <a:lnTo>
                    <a:pt x="360680" y="123190"/>
                  </a:lnTo>
                  <a:lnTo>
                    <a:pt x="356235" y="125742"/>
                  </a:lnTo>
                  <a:lnTo>
                    <a:pt x="351790" y="130822"/>
                  </a:lnTo>
                  <a:lnTo>
                    <a:pt x="347218" y="134620"/>
                  </a:lnTo>
                  <a:lnTo>
                    <a:pt x="344170" y="139700"/>
                  </a:lnTo>
                  <a:lnTo>
                    <a:pt x="341376" y="149872"/>
                  </a:lnTo>
                  <a:lnTo>
                    <a:pt x="341337" y="151142"/>
                  </a:lnTo>
                  <a:lnTo>
                    <a:pt x="341249" y="154940"/>
                  </a:lnTo>
                  <a:lnTo>
                    <a:pt x="343789" y="165100"/>
                  </a:lnTo>
                  <a:lnTo>
                    <a:pt x="368681" y="196850"/>
                  </a:lnTo>
                  <a:lnTo>
                    <a:pt x="399161" y="213372"/>
                  </a:lnTo>
                  <a:lnTo>
                    <a:pt x="403860" y="213372"/>
                  </a:lnTo>
                  <a:lnTo>
                    <a:pt x="432308" y="184150"/>
                  </a:lnTo>
                  <a:lnTo>
                    <a:pt x="432435" y="179070"/>
                  </a:lnTo>
                  <a:close/>
                </a:path>
                <a:path w="1099185" h="273050">
                  <a:moveTo>
                    <a:pt x="490601" y="120650"/>
                  </a:moveTo>
                  <a:lnTo>
                    <a:pt x="489331" y="115570"/>
                  </a:lnTo>
                  <a:lnTo>
                    <a:pt x="488188" y="110490"/>
                  </a:lnTo>
                  <a:lnTo>
                    <a:pt x="485775" y="105422"/>
                  </a:lnTo>
                  <a:lnTo>
                    <a:pt x="478663" y="95250"/>
                  </a:lnTo>
                  <a:lnTo>
                    <a:pt x="478536" y="95110"/>
                  </a:lnTo>
                  <a:lnTo>
                    <a:pt x="478536" y="125742"/>
                  </a:lnTo>
                  <a:lnTo>
                    <a:pt x="478155" y="128270"/>
                  </a:lnTo>
                  <a:lnTo>
                    <a:pt x="476377" y="133350"/>
                  </a:lnTo>
                  <a:lnTo>
                    <a:pt x="474980" y="134620"/>
                  </a:lnTo>
                  <a:lnTo>
                    <a:pt x="470408" y="139700"/>
                  </a:lnTo>
                  <a:lnTo>
                    <a:pt x="467741" y="140970"/>
                  </a:lnTo>
                  <a:lnTo>
                    <a:pt x="464820" y="142240"/>
                  </a:lnTo>
                  <a:lnTo>
                    <a:pt x="458851" y="142240"/>
                  </a:lnTo>
                  <a:lnTo>
                    <a:pt x="451993" y="139700"/>
                  </a:lnTo>
                  <a:lnTo>
                    <a:pt x="448183" y="138442"/>
                  </a:lnTo>
                  <a:lnTo>
                    <a:pt x="443992" y="134620"/>
                  </a:lnTo>
                  <a:lnTo>
                    <a:pt x="439801" y="132092"/>
                  </a:lnTo>
                  <a:lnTo>
                    <a:pt x="435102" y="128270"/>
                  </a:lnTo>
                  <a:lnTo>
                    <a:pt x="430022" y="123190"/>
                  </a:lnTo>
                  <a:lnTo>
                    <a:pt x="426085" y="119392"/>
                  </a:lnTo>
                  <a:lnTo>
                    <a:pt x="422656" y="115570"/>
                  </a:lnTo>
                  <a:lnTo>
                    <a:pt x="416814" y="107950"/>
                  </a:lnTo>
                  <a:lnTo>
                    <a:pt x="414528" y="104140"/>
                  </a:lnTo>
                  <a:lnTo>
                    <a:pt x="411734" y="96520"/>
                  </a:lnTo>
                  <a:lnTo>
                    <a:pt x="411226" y="92722"/>
                  </a:lnTo>
                  <a:lnTo>
                    <a:pt x="412242" y="86372"/>
                  </a:lnTo>
                  <a:lnTo>
                    <a:pt x="414020" y="83820"/>
                  </a:lnTo>
                  <a:lnTo>
                    <a:pt x="416941" y="80022"/>
                  </a:lnTo>
                  <a:lnTo>
                    <a:pt x="422275" y="76200"/>
                  </a:lnTo>
                  <a:lnTo>
                    <a:pt x="424180" y="74942"/>
                  </a:lnTo>
                  <a:lnTo>
                    <a:pt x="432308" y="74942"/>
                  </a:lnTo>
                  <a:lnTo>
                    <a:pt x="434594" y="76200"/>
                  </a:lnTo>
                  <a:lnTo>
                    <a:pt x="436880" y="76200"/>
                  </a:lnTo>
                  <a:lnTo>
                    <a:pt x="441960" y="78740"/>
                  </a:lnTo>
                  <a:lnTo>
                    <a:pt x="444627" y="81292"/>
                  </a:lnTo>
                  <a:lnTo>
                    <a:pt x="447421" y="82550"/>
                  </a:lnTo>
                  <a:lnTo>
                    <a:pt x="450342" y="85090"/>
                  </a:lnTo>
                  <a:lnTo>
                    <a:pt x="453390" y="87642"/>
                  </a:lnTo>
                  <a:lnTo>
                    <a:pt x="460121" y="93992"/>
                  </a:lnTo>
                  <a:lnTo>
                    <a:pt x="462661" y="96520"/>
                  </a:lnTo>
                  <a:lnTo>
                    <a:pt x="465074" y="99072"/>
                  </a:lnTo>
                  <a:lnTo>
                    <a:pt x="467233" y="101600"/>
                  </a:lnTo>
                  <a:lnTo>
                    <a:pt x="469519" y="104140"/>
                  </a:lnTo>
                  <a:lnTo>
                    <a:pt x="471424" y="106692"/>
                  </a:lnTo>
                  <a:lnTo>
                    <a:pt x="472948" y="109220"/>
                  </a:lnTo>
                  <a:lnTo>
                    <a:pt x="474599" y="111772"/>
                  </a:lnTo>
                  <a:lnTo>
                    <a:pt x="478536" y="125742"/>
                  </a:lnTo>
                  <a:lnTo>
                    <a:pt x="478536" y="95110"/>
                  </a:lnTo>
                  <a:lnTo>
                    <a:pt x="474218" y="90170"/>
                  </a:lnTo>
                  <a:lnTo>
                    <a:pt x="468884" y="83820"/>
                  </a:lnTo>
                  <a:lnTo>
                    <a:pt x="463169" y="78740"/>
                  </a:lnTo>
                  <a:lnTo>
                    <a:pt x="459066" y="74942"/>
                  </a:lnTo>
                  <a:lnTo>
                    <a:pt x="457708" y="73672"/>
                  </a:lnTo>
                  <a:lnTo>
                    <a:pt x="447294" y="66040"/>
                  </a:lnTo>
                  <a:lnTo>
                    <a:pt x="432689" y="62242"/>
                  </a:lnTo>
                  <a:lnTo>
                    <a:pt x="427990" y="62242"/>
                  </a:lnTo>
                  <a:lnTo>
                    <a:pt x="418846" y="64770"/>
                  </a:lnTo>
                  <a:lnTo>
                    <a:pt x="414401" y="67322"/>
                  </a:lnTo>
                  <a:lnTo>
                    <a:pt x="409956" y="72390"/>
                  </a:lnTo>
                  <a:lnTo>
                    <a:pt x="405384" y="76200"/>
                  </a:lnTo>
                  <a:lnTo>
                    <a:pt x="402463" y="81292"/>
                  </a:lnTo>
                  <a:lnTo>
                    <a:pt x="400939" y="86372"/>
                  </a:lnTo>
                  <a:lnTo>
                    <a:pt x="399542" y="91440"/>
                  </a:lnTo>
                  <a:lnTo>
                    <a:pt x="399415" y="96520"/>
                  </a:lnTo>
                  <a:lnTo>
                    <a:pt x="401955" y="106692"/>
                  </a:lnTo>
                  <a:lnTo>
                    <a:pt x="404368" y="111772"/>
                  </a:lnTo>
                  <a:lnTo>
                    <a:pt x="411480" y="121920"/>
                  </a:lnTo>
                  <a:lnTo>
                    <a:pt x="415925" y="127000"/>
                  </a:lnTo>
                  <a:lnTo>
                    <a:pt x="421132" y="133350"/>
                  </a:lnTo>
                  <a:lnTo>
                    <a:pt x="426847" y="138442"/>
                  </a:lnTo>
                  <a:lnTo>
                    <a:pt x="432308" y="143522"/>
                  </a:lnTo>
                  <a:lnTo>
                    <a:pt x="442722" y="151142"/>
                  </a:lnTo>
                  <a:lnTo>
                    <a:pt x="457454" y="154940"/>
                  </a:lnTo>
                  <a:lnTo>
                    <a:pt x="462153" y="154940"/>
                  </a:lnTo>
                  <a:lnTo>
                    <a:pt x="471170" y="152400"/>
                  </a:lnTo>
                  <a:lnTo>
                    <a:pt x="475615" y="149872"/>
                  </a:lnTo>
                  <a:lnTo>
                    <a:pt x="480060" y="144792"/>
                  </a:lnTo>
                  <a:lnTo>
                    <a:pt x="483108" y="142240"/>
                  </a:lnTo>
                  <a:lnTo>
                    <a:pt x="484632" y="140970"/>
                  </a:lnTo>
                  <a:lnTo>
                    <a:pt x="487680" y="135890"/>
                  </a:lnTo>
                  <a:lnTo>
                    <a:pt x="490474" y="125742"/>
                  </a:lnTo>
                  <a:lnTo>
                    <a:pt x="490562" y="121920"/>
                  </a:lnTo>
                  <a:lnTo>
                    <a:pt x="490601" y="120650"/>
                  </a:lnTo>
                  <a:close/>
                </a:path>
                <a:path w="1099185" h="273050">
                  <a:moveTo>
                    <a:pt x="541782" y="68592"/>
                  </a:moveTo>
                  <a:lnTo>
                    <a:pt x="541147" y="64770"/>
                  </a:lnTo>
                  <a:lnTo>
                    <a:pt x="539750" y="60972"/>
                  </a:lnTo>
                  <a:lnTo>
                    <a:pt x="538226" y="57150"/>
                  </a:lnTo>
                  <a:lnTo>
                    <a:pt x="537464" y="55892"/>
                  </a:lnTo>
                  <a:lnTo>
                    <a:pt x="535940" y="53340"/>
                  </a:lnTo>
                  <a:lnTo>
                    <a:pt x="532765" y="50800"/>
                  </a:lnTo>
                  <a:lnTo>
                    <a:pt x="531685" y="49542"/>
                  </a:lnTo>
                  <a:lnTo>
                    <a:pt x="530606" y="48272"/>
                  </a:lnTo>
                  <a:lnTo>
                    <a:pt x="528193" y="46990"/>
                  </a:lnTo>
                  <a:lnTo>
                    <a:pt x="525399" y="45720"/>
                  </a:lnTo>
                  <a:lnTo>
                    <a:pt x="522732" y="44450"/>
                  </a:lnTo>
                  <a:lnTo>
                    <a:pt x="519938" y="43192"/>
                  </a:lnTo>
                  <a:lnTo>
                    <a:pt x="514223" y="43192"/>
                  </a:lnTo>
                  <a:lnTo>
                    <a:pt x="505460" y="46990"/>
                  </a:lnTo>
                  <a:lnTo>
                    <a:pt x="499872" y="49542"/>
                  </a:lnTo>
                  <a:lnTo>
                    <a:pt x="501650" y="46990"/>
                  </a:lnTo>
                  <a:lnTo>
                    <a:pt x="502793" y="44450"/>
                  </a:lnTo>
                  <a:lnTo>
                    <a:pt x="503301" y="41922"/>
                  </a:lnTo>
                  <a:lnTo>
                    <a:pt x="503936" y="39370"/>
                  </a:lnTo>
                  <a:lnTo>
                    <a:pt x="503999" y="38100"/>
                  </a:lnTo>
                  <a:lnTo>
                    <a:pt x="504063" y="36842"/>
                  </a:lnTo>
                  <a:lnTo>
                    <a:pt x="503682" y="34290"/>
                  </a:lnTo>
                  <a:lnTo>
                    <a:pt x="503555" y="33020"/>
                  </a:lnTo>
                  <a:lnTo>
                    <a:pt x="503428" y="31750"/>
                  </a:lnTo>
                  <a:lnTo>
                    <a:pt x="502539" y="29222"/>
                  </a:lnTo>
                  <a:lnTo>
                    <a:pt x="501269" y="26670"/>
                  </a:lnTo>
                  <a:lnTo>
                    <a:pt x="499999" y="24142"/>
                  </a:lnTo>
                  <a:lnTo>
                    <a:pt x="498221" y="22872"/>
                  </a:lnTo>
                  <a:lnTo>
                    <a:pt x="496062" y="20320"/>
                  </a:lnTo>
                  <a:lnTo>
                    <a:pt x="493522" y="17792"/>
                  </a:lnTo>
                  <a:lnTo>
                    <a:pt x="490728" y="15240"/>
                  </a:lnTo>
                  <a:lnTo>
                    <a:pt x="487934" y="13970"/>
                  </a:lnTo>
                  <a:lnTo>
                    <a:pt x="485013" y="12700"/>
                  </a:lnTo>
                  <a:lnTo>
                    <a:pt x="475742" y="12700"/>
                  </a:lnTo>
                  <a:lnTo>
                    <a:pt x="472567" y="13970"/>
                  </a:lnTo>
                  <a:lnTo>
                    <a:pt x="465963" y="16522"/>
                  </a:lnTo>
                  <a:lnTo>
                    <a:pt x="448564" y="40640"/>
                  </a:lnTo>
                  <a:lnTo>
                    <a:pt x="447802" y="43192"/>
                  </a:lnTo>
                  <a:lnTo>
                    <a:pt x="447548" y="44450"/>
                  </a:lnTo>
                  <a:lnTo>
                    <a:pt x="447675" y="46990"/>
                  </a:lnTo>
                  <a:lnTo>
                    <a:pt x="447802" y="46990"/>
                  </a:lnTo>
                  <a:lnTo>
                    <a:pt x="447802" y="48272"/>
                  </a:lnTo>
                  <a:lnTo>
                    <a:pt x="448056" y="48272"/>
                  </a:lnTo>
                  <a:lnTo>
                    <a:pt x="448437" y="49542"/>
                  </a:lnTo>
                  <a:lnTo>
                    <a:pt x="449072" y="49542"/>
                  </a:lnTo>
                  <a:lnTo>
                    <a:pt x="449834" y="50800"/>
                  </a:lnTo>
                  <a:lnTo>
                    <a:pt x="450469" y="50800"/>
                  </a:lnTo>
                  <a:lnTo>
                    <a:pt x="451866" y="52070"/>
                  </a:lnTo>
                  <a:lnTo>
                    <a:pt x="452374" y="53340"/>
                  </a:lnTo>
                  <a:lnTo>
                    <a:pt x="455930" y="53340"/>
                  </a:lnTo>
                  <a:lnTo>
                    <a:pt x="456311" y="52070"/>
                  </a:lnTo>
                  <a:lnTo>
                    <a:pt x="457327" y="46990"/>
                  </a:lnTo>
                  <a:lnTo>
                    <a:pt x="457962" y="45720"/>
                  </a:lnTo>
                  <a:lnTo>
                    <a:pt x="458597" y="43192"/>
                  </a:lnTo>
                  <a:lnTo>
                    <a:pt x="459486" y="40640"/>
                  </a:lnTo>
                  <a:lnTo>
                    <a:pt x="460629" y="38100"/>
                  </a:lnTo>
                  <a:lnTo>
                    <a:pt x="461645" y="36842"/>
                  </a:lnTo>
                  <a:lnTo>
                    <a:pt x="463296" y="34290"/>
                  </a:lnTo>
                  <a:lnTo>
                    <a:pt x="467233" y="30492"/>
                  </a:lnTo>
                  <a:lnTo>
                    <a:pt x="469138" y="29222"/>
                  </a:lnTo>
                  <a:lnTo>
                    <a:pt x="473202" y="26670"/>
                  </a:lnTo>
                  <a:lnTo>
                    <a:pt x="480822" y="26670"/>
                  </a:lnTo>
                  <a:lnTo>
                    <a:pt x="482600" y="27940"/>
                  </a:lnTo>
                  <a:lnTo>
                    <a:pt x="484251" y="27940"/>
                  </a:lnTo>
                  <a:lnTo>
                    <a:pt x="485902" y="29222"/>
                  </a:lnTo>
                  <a:lnTo>
                    <a:pt x="487299" y="31750"/>
                  </a:lnTo>
                  <a:lnTo>
                    <a:pt x="489331" y="33020"/>
                  </a:lnTo>
                  <a:lnTo>
                    <a:pt x="490728" y="35572"/>
                  </a:lnTo>
                  <a:lnTo>
                    <a:pt x="492506" y="39370"/>
                  </a:lnTo>
                  <a:lnTo>
                    <a:pt x="492506" y="46990"/>
                  </a:lnTo>
                  <a:lnTo>
                    <a:pt x="491871" y="49542"/>
                  </a:lnTo>
                  <a:lnTo>
                    <a:pt x="489331" y="54622"/>
                  </a:lnTo>
                  <a:lnTo>
                    <a:pt x="487553" y="57150"/>
                  </a:lnTo>
                  <a:lnTo>
                    <a:pt x="478790" y="66040"/>
                  </a:lnTo>
                  <a:lnTo>
                    <a:pt x="478536" y="66040"/>
                  </a:lnTo>
                  <a:lnTo>
                    <a:pt x="478536" y="68592"/>
                  </a:lnTo>
                  <a:lnTo>
                    <a:pt x="479298" y="69850"/>
                  </a:lnTo>
                  <a:lnTo>
                    <a:pt x="480441" y="71120"/>
                  </a:lnTo>
                  <a:lnTo>
                    <a:pt x="481203" y="72390"/>
                  </a:lnTo>
                  <a:lnTo>
                    <a:pt x="482473" y="72390"/>
                  </a:lnTo>
                  <a:lnTo>
                    <a:pt x="483108" y="73672"/>
                  </a:lnTo>
                  <a:lnTo>
                    <a:pt x="485394" y="73672"/>
                  </a:lnTo>
                  <a:lnTo>
                    <a:pt x="486156" y="72390"/>
                  </a:lnTo>
                  <a:lnTo>
                    <a:pt x="493268" y="66040"/>
                  </a:lnTo>
                  <a:lnTo>
                    <a:pt x="496189" y="63500"/>
                  </a:lnTo>
                  <a:lnTo>
                    <a:pt x="498983" y="60972"/>
                  </a:lnTo>
                  <a:lnTo>
                    <a:pt x="501777" y="59690"/>
                  </a:lnTo>
                  <a:lnTo>
                    <a:pt x="504698" y="57150"/>
                  </a:lnTo>
                  <a:lnTo>
                    <a:pt x="507492" y="55892"/>
                  </a:lnTo>
                  <a:lnTo>
                    <a:pt x="515366" y="55892"/>
                  </a:lnTo>
                  <a:lnTo>
                    <a:pt x="517652" y="57150"/>
                  </a:lnTo>
                  <a:lnTo>
                    <a:pt x="520065" y="57150"/>
                  </a:lnTo>
                  <a:lnTo>
                    <a:pt x="522224" y="58420"/>
                  </a:lnTo>
                  <a:lnTo>
                    <a:pt x="524129" y="60972"/>
                  </a:lnTo>
                  <a:lnTo>
                    <a:pt x="526034" y="62242"/>
                  </a:lnTo>
                  <a:lnTo>
                    <a:pt x="527304" y="64770"/>
                  </a:lnTo>
                  <a:lnTo>
                    <a:pt x="529082" y="68592"/>
                  </a:lnTo>
                  <a:lnTo>
                    <a:pt x="529209" y="76200"/>
                  </a:lnTo>
                  <a:lnTo>
                    <a:pt x="528574" y="78740"/>
                  </a:lnTo>
                  <a:lnTo>
                    <a:pt x="527304" y="80022"/>
                  </a:lnTo>
                  <a:lnTo>
                    <a:pt x="526034" y="82550"/>
                  </a:lnTo>
                  <a:lnTo>
                    <a:pt x="524256" y="85090"/>
                  </a:lnTo>
                  <a:lnTo>
                    <a:pt x="519303" y="90170"/>
                  </a:lnTo>
                  <a:lnTo>
                    <a:pt x="516763" y="92722"/>
                  </a:lnTo>
                  <a:lnTo>
                    <a:pt x="514096" y="93992"/>
                  </a:lnTo>
                  <a:lnTo>
                    <a:pt x="511556" y="95250"/>
                  </a:lnTo>
                  <a:lnTo>
                    <a:pt x="509143" y="96520"/>
                  </a:lnTo>
                  <a:lnTo>
                    <a:pt x="504825" y="97790"/>
                  </a:lnTo>
                  <a:lnTo>
                    <a:pt x="502920" y="99072"/>
                  </a:lnTo>
                  <a:lnTo>
                    <a:pt x="499872" y="99072"/>
                  </a:lnTo>
                  <a:lnTo>
                    <a:pt x="498856" y="100342"/>
                  </a:lnTo>
                  <a:lnTo>
                    <a:pt x="498094" y="100342"/>
                  </a:lnTo>
                  <a:lnTo>
                    <a:pt x="497967" y="101600"/>
                  </a:lnTo>
                  <a:lnTo>
                    <a:pt x="498475" y="102870"/>
                  </a:lnTo>
                  <a:lnTo>
                    <a:pt x="499237" y="104140"/>
                  </a:lnTo>
                  <a:lnTo>
                    <a:pt x="500507" y="105422"/>
                  </a:lnTo>
                  <a:lnTo>
                    <a:pt x="501269" y="106692"/>
                  </a:lnTo>
                  <a:lnTo>
                    <a:pt x="502539" y="106692"/>
                  </a:lnTo>
                  <a:lnTo>
                    <a:pt x="503047" y="107950"/>
                  </a:lnTo>
                  <a:lnTo>
                    <a:pt x="504571" y="107950"/>
                  </a:lnTo>
                  <a:lnTo>
                    <a:pt x="504952" y="109220"/>
                  </a:lnTo>
                  <a:lnTo>
                    <a:pt x="508254" y="109220"/>
                  </a:lnTo>
                  <a:lnTo>
                    <a:pt x="509905" y="107950"/>
                  </a:lnTo>
                  <a:lnTo>
                    <a:pt x="511429" y="107950"/>
                  </a:lnTo>
                  <a:lnTo>
                    <a:pt x="513334" y="106692"/>
                  </a:lnTo>
                  <a:lnTo>
                    <a:pt x="515366" y="105422"/>
                  </a:lnTo>
                  <a:lnTo>
                    <a:pt x="519684" y="102870"/>
                  </a:lnTo>
                  <a:lnTo>
                    <a:pt x="524510" y="100342"/>
                  </a:lnTo>
                  <a:lnTo>
                    <a:pt x="526923" y="97790"/>
                  </a:lnTo>
                  <a:lnTo>
                    <a:pt x="529209" y="95250"/>
                  </a:lnTo>
                  <a:lnTo>
                    <a:pt x="533019" y="91440"/>
                  </a:lnTo>
                  <a:lnTo>
                    <a:pt x="535940" y="87642"/>
                  </a:lnTo>
                  <a:lnTo>
                    <a:pt x="538099" y="83820"/>
                  </a:lnTo>
                  <a:lnTo>
                    <a:pt x="540131" y="80022"/>
                  </a:lnTo>
                  <a:lnTo>
                    <a:pt x="541274" y="76200"/>
                  </a:lnTo>
                  <a:lnTo>
                    <a:pt x="541350" y="74942"/>
                  </a:lnTo>
                  <a:lnTo>
                    <a:pt x="541439" y="73672"/>
                  </a:lnTo>
                  <a:lnTo>
                    <a:pt x="541528" y="72390"/>
                  </a:lnTo>
                  <a:lnTo>
                    <a:pt x="541604" y="71120"/>
                  </a:lnTo>
                  <a:lnTo>
                    <a:pt x="541693" y="69850"/>
                  </a:lnTo>
                  <a:lnTo>
                    <a:pt x="541782" y="68592"/>
                  </a:lnTo>
                  <a:close/>
                </a:path>
                <a:path w="1099185" h="273050">
                  <a:moveTo>
                    <a:pt x="676529" y="231140"/>
                  </a:moveTo>
                  <a:lnTo>
                    <a:pt x="676275" y="231140"/>
                  </a:lnTo>
                  <a:lnTo>
                    <a:pt x="675894" y="229870"/>
                  </a:lnTo>
                  <a:lnTo>
                    <a:pt x="675386" y="229870"/>
                  </a:lnTo>
                  <a:lnTo>
                    <a:pt x="675005" y="228600"/>
                  </a:lnTo>
                  <a:lnTo>
                    <a:pt x="674497" y="228600"/>
                  </a:lnTo>
                  <a:lnTo>
                    <a:pt x="673862" y="227342"/>
                  </a:lnTo>
                  <a:lnTo>
                    <a:pt x="673227" y="227342"/>
                  </a:lnTo>
                  <a:lnTo>
                    <a:pt x="672084" y="226072"/>
                  </a:lnTo>
                  <a:lnTo>
                    <a:pt x="667893" y="226072"/>
                  </a:lnTo>
                  <a:lnTo>
                    <a:pt x="637667" y="256540"/>
                  </a:lnTo>
                  <a:lnTo>
                    <a:pt x="637184" y="234950"/>
                  </a:lnTo>
                  <a:lnTo>
                    <a:pt x="637159" y="226072"/>
                  </a:lnTo>
                  <a:lnTo>
                    <a:pt x="636651" y="218440"/>
                  </a:lnTo>
                  <a:lnTo>
                    <a:pt x="628269" y="189242"/>
                  </a:lnTo>
                  <a:lnTo>
                    <a:pt x="627380" y="187972"/>
                  </a:lnTo>
                  <a:lnTo>
                    <a:pt x="626491" y="186690"/>
                  </a:lnTo>
                  <a:lnTo>
                    <a:pt x="624459" y="184150"/>
                  </a:lnTo>
                  <a:lnTo>
                    <a:pt x="622300" y="182892"/>
                  </a:lnTo>
                  <a:lnTo>
                    <a:pt x="619760" y="180340"/>
                  </a:lnTo>
                  <a:lnTo>
                    <a:pt x="617093" y="177800"/>
                  </a:lnTo>
                  <a:lnTo>
                    <a:pt x="614045" y="176542"/>
                  </a:lnTo>
                  <a:lnTo>
                    <a:pt x="611124" y="175272"/>
                  </a:lnTo>
                  <a:lnTo>
                    <a:pt x="607949" y="173990"/>
                  </a:lnTo>
                  <a:lnTo>
                    <a:pt x="601345" y="175272"/>
                  </a:lnTo>
                  <a:lnTo>
                    <a:pt x="597916" y="175272"/>
                  </a:lnTo>
                  <a:lnTo>
                    <a:pt x="580263" y="189242"/>
                  </a:lnTo>
                  <a:lnTo>
                    <a:pt x="578739" y="190500"/>
                  </a:lnTo>
                  <a:lnTo>
                    <a:pt x="577342" y="193040"/>
                  </a:lnTo>
                  <a:lnTo>
                    <a:pt x="576072" y="195592"/>
                  </a:lnTo>
                  <a:lnTo>
                    <a:pt x="575056" y="198120"/>
                  </a:lnTo>
                  <a:lnTo>
                    <a:pt x="573405" y="201942"/>
                  </a:lnTo>
                  <a:lnTo>
                    <a:pt x="573024" y="204470"/>
                  </a:lnTo>
                  <a:lnTo>
                    <a:pt x="572643" y="205740"/>
                  </a:lnTo>
                  <a:lnTo>
                    <a:pt x="572389" y="207022"/>
                  </a:lnTo>
                  <a:lnTo>
                    <a:pt x="572262" y="208292"/>
                  </a:lnTo>
                  <a:lnTo>
                    <a:pt x="572262" y="209550"/>
                  </a:lnTo>
                  <a:lnTo>
                    <a:pt x="572389" y="209550"/>
                  </a:lnTo>
                  <a:lnTo>
                    <a:pt x="572643" y="210820"/>
                  </a:lnTo>
                  <a:lnTo>
                    <a:pt x="573405" y="210820"/>
                  </a:lnTo>
                  <a:lnTo>
                    <a:pt x="573659" y="212090"/>
                  </a:lnTo>
                  <a:lnTo>
                    <a:pt x="574548" y="212090"/>
                  </a:lnTo>
                  <a:lnTo>
                    <a:pt x="575056" y="213372"/>
                  </a:lnTo>
                  <a:lnTo>
                    <a:pt x="575818" y="213372"/>
                  </a:lnTo>
                  <a:lnTo>
                    <a:pt x="576453" y="214642"/>
                  </a:lnTo>
                  <a:lnTo>
                    <a:pt x="577723" y="215900"/>
                  </a:lnTo>
                  <a:lnTo>
                    <a:pt x="581279" y="215900"/>
                  </a:lnTo>
                  <a:lnTo>
                    <a:pt x="581660" y="214642"/>
                  </a:lnTo>
                  <a:lnTo>
                    <a:pt x="582168" y="210820"/>
                  </a:lnTo>
                  <a:lnTo>
                    <a:pt x="582676" y="209550"/>
                  </a:lnTo>
                  <a:lnTo>
                    <a:pt x="597154" y="189242"/>
                  </a:lnTo>
                  <a:lnTo>
                    <a:pt x="599313" y="189242"/>
                  </a:lnTo>
                  <a:lnTo>
                    <a:pt x="601345" y="187972"/>
                  </a:lnTo>
                  <a:lnTo>
                    <a:pt x="605282" y="187972"/>
                  </a:lnTo>
                  <a:lnTo>
                    <a:pt x="607314" y="189242"/>
                  </a:lnTo>
                  <a:lnTo>
                    <a:pt x="609219" y="189242"/>
                  </a:lnTo>
                  <a:lnTo>
                    <a:pt x="618744" y="199390"/>
                  </a:lnTo>
                  <a:lnTo>
                    <a:pt x="620141" y="200672"/>
                  </a:lnTo>
                  <a:lnTo>
                    <a:pt x="621411" y="203200"/>
                  </a:lnTo>
                  <a:lnTo>
                    <a:pt x="622554" y="207022"/>
                  </a:lnTo>
                  <a:lnTo>
                    <a:pt x="623570" y="209550"/>
                  </a:lnTo>
                  <a:lnTo>
                    <a:pt x="626656" y="256540"/>
                  </a:lnTo>
                  <a:lnTo>
                    <a:pt x="626745" y="265442"/>
                  </a:lnTo>
                  <a:lnTo>
                    <a:pt x="626999" y="265442"/>
                  </a:lnTo>
                  <a:lnTo>
                    <a:pt x="627507" y="267970"/>
                  </a:lnTo>
                  <a:lnTo>
                    <a:pt x="628015" y="269240"/>
                  </a:lnTo>
                  <a:lnTo>
                    <a:pt x="628523" y="269240"/>
                  </a:lnTo>
                  <a:lnTo>
                    <a:pt x="629666" y="270522"/>
                  </a:lnTo>
                  <a:lnTo>
                    <a:pt x="630301" y="271792"/>
                  </a:lnTo>
                  <a:lnTo>
                    <a:pt x="631063" y="271792"/>
                  </a:lnTo>
                  <a:lnTo>
                    <a:pt x="631825" y="273050"/>
                  </a:lnTo>
                  <a:lnTo>
                    <a:pt x="636905" y="273050"/>
                  </a:lnTo>
                  <a:lnTo>
                    <a:pt x="653351" y="256540"/>
                  </a:lnTo>
                  <a:lnTo>
                    <a:pt x="676148" y="233692"/>
                  </a:lnTo>
                  <a:lnTo>
                    <a:pt x="676275" y="232422"/>
                  </a:lnTo>
                  <a:lnTo>
                    <a:pt x="676402" y="232422"/>
                  </a:lnTo>
                  <a:lnTo>
                    <a:pt x="676529" y="231140"/>
                  </a:lnTo>
                  <a:close/>
                </a:path>
                <a:path w="1099185" h="273050">
                  <a:moveTo>
                    <a:pt x="718693" y="179070"/>
                  </a:moveTo>
                  <a:lnTo>
                    <a:pt x="717550" y="173990"/>
                  </a:lnTo>
                  <a:lnTo>
                    <a:pt x="716280" y="168922"/>
                  </a:lnTo>
                  <a:lnTo>
                    <a:pt x="713867" y="163842"/>
                  </a:lnTo>
                  <a:lnTo>
                    <a:pt x="706755" y="153670"/>
                  </a:lnTo>
                  <a:lnTo>
                    <a:pt x="706755" y="184150"/>
                  </a:lnTo>
                  <a:lnTo>
                    <a:pt x="706374" y="186690"/>
                  </a:lnTo>
                  <a:lnTo>
                    <a:pt x="704596" y="191770"/>
                  </a:lnTo>
                  <a:lnTo>
                    <a:pt x="703072" y="193040"/>
                  </a:lnTo>
                  <a:lnTo>
                    <a:pt x="701167" y="195592"/>
                  </a:lnTo>
                  <a:lnTo>
                    <a:pt x="698500" y="198120"/>
                  </a:lnTo>
                  <a:lnTo>
                    <a:pt x="695833" y="199390"/>
                  </a:lnTo>
                  <a:lnTo>
                    <a:pt x="693039" y="200672"/>
                  </a:lnTo>
                  <a:lnTo>
                    <a:pt x="686943" y="200672"/>
                  </a:lnTo>
                  <a:lnTo>
                    <a:pt x="680085" y="198120"/>
                  </a:lnTo>
                  <a:lnTo>
                    <a:pt x="676275" y="196850"/>
                  </a:lnTo>
                  <a:lnTo>
                    <a:pt x="668020" y="190500"/>
                  </a:lnTo>
                  <a:lnTo>
                    <a:pt x="663321" y="186690"/>
                  </a:lnTo>
                  <a:lnTo>
                    <a:pt x="658114" y="180340"/>
                  </a:lnTo>
                  <a:lnTo>
                    <a:pt x="654177" y="176542"/>
                  </a:lnTo>
                  <a:lnTo>
                    <a:pt x="650875" y="172720"/>
                  </a:lnTo>
                  <a:lnTo>
                    <a:pt x="644906" y="166370"/>
                  </a:lnTo>
                  <a:lnTo>
                    <a:pt x="642747" y="162572"/>
                  </a:lnTo>
                  <a:lnTo>
                    <a:pt x="641350" y="158750"/>
                  </a:lnTo>
                  <a:lnTo>
                    <a:pt x="639826" y="154940"/>
                  </a:lnTo>
                  <a:lnTo>
                    <a:pt x="639572" y="152400"/>
                  </a:lnTo>
                  <a:lnTo>
                    <a:pt x="639445" y="151142"/>
                  </a:lnTo>
                  <a:lnTo>
                    <a:pt x="639826" y="148590"/>
                  </a:lnTo>
                  <a:lnTo>
                    <a:pt x="640334" y="144792"/>
                  </a:lnTo>
                  <a:lnTo>
                    <a:pt x="642112" y="140970"/>
                  </a:lnTo>
                  <a:lnTo>
                    <a:pt x="646811" y="137172"/>
                  </a:lnTo>
                  <a:lnTo>
                    <a:pt x="648589" y="135890"/>
                  </a:lnTo>
                  <a:lnTo>
                    <a:pt x="650494" y="134620"/>
                  </a:lnTo>
                  <a:lnTo>
                    <a:pt x="652272" y="133350"/>
                  </a:lnTo>
                  <a:lnTo>
                    <a:pt x="660527" y="133350"/>
                  </a:lnTo>
                  <a:lnTo>
                    <a:pt x="665099" y="134620"/>
                  </a:lnTo>
                  <a:lnTo>
                    <a:pt x="667512" y="135890"/>
                  </a:lnTo>
                  <a:lnTo>
                    <a:pt x="670052" y="137172"/>
                  </a:lnTo>
                  <a:lnTo>
                    <a:pt x="672719" y="139700"/>
                  </a:lnTo>
                  <a:lnTo>
                    <a:pt x="675513" y="140970"/>
                  </a:lnTo>
                  <a:lnTo>
                    <a:pt x="681482" y="146050"/>
                  </a:lnTo>
                  <a:lnTo>
                    <a:pt x="684784" y="149872"/>
                  </a:lnTo>
                  <a:lnTo>
                    <a:pt x="688213" y="152400"/>
                  </a:lnTo>
                  <a:lnTo>
                    <a:pt x="693166" y="157492"/>
                  </a:lnTo>
                  <a:lnTo>
                    <a:pt x="704977" y="175272"/>
                  </a:lnTo>
                  <a:lnTo>
                    <a:pt x="705993" y="177800"/>
                  </a:lnTo>
                  <a:lnTo>
                    <a:pt x="706501" y="180340"/>
                  </a:lnTo>
                  <a:lnTo>
                    <a:pt x="706628" y="182892"/>
                  </a:lnTo>
                  <a:lnTo>
                    <a:pt x="706755" y="184150"/>
                  </a:lnTo>
                  <a:lnTo>
                    <a:pt x="706755" y="153670"/>
                  </a:lnTo>
                  <a:lnTo>
                    <a:pt x="702310" y="148590"/>
                  </a:lnTo>
                  <a:lnTo>
                    <a:pt x="696976" y="142240"/>
                  </a:lnTo>
                  <a:lnTo>
                    <a:pt x="691261" y="137172"/>
                  </a:lnTo>
                  <a:lnTo>
                    <a:pt x="687158" y="133350"/>
                  </a:lnTo>
                  <a:lnTo>
                    <a:pt x="685800" y="132092"/>
                  </a:lnTo>
                  <a:lnTo>
                    <a:pt x="680593" y="128270"/>
                  </a:lnTo>
                  <a:lnTo>
                    <a:pt x="675513" y="124472"/>
                  </a:lnTo>
                  <a:lnTo>
                    <a:pt x="670433" y="121920"/>
                  </a:lnTo>
                  <a:lnTo>
                    <a:pt x="665607" y="121920"/>
                  </a:lnTo>
                  <a:lnTo>
                    <a:pt x="660781" y="120650"/>
                  </a:lnTo>
                  <a:lnTo>
                    <a:pt x="656082" y="120650"/>
                  </a:lnTo>
                  <a:lnTo>
                    <a:pt x="646938" y="123190"/>
                  </a:lnTo>
                  <a:lnTo>
                    <a:pt x="642493" y="125742"/>
                  </a:lnTo>
                  <a:lnTo>
                    <a:pt x="638175" y="130822"/>
                  </a:lnTo>
                  <a:lnTo>
                    <a:pt x="633476" y="134620"/>
                  </a:lnTo>
                  <a:lnTo>
                    <a:pt x="630555" y="139700"/>
                  </a:lnTo>
                  <a:lnTo>
                    <a:pt x="627761" y="149872"/>
                  </a:lnTo>
                  <a:lnTo>
                    <a:pt x="627634" y="154940"/>
                  </a:lnTo>
                  <a:lnTo>
                    <a:pt x="628904" y="160020"/>
                  </a:lnTo>
                  <a:lnTo>
                    <a:pt x="630047" y="165100"/>
                  </a:lnTo>
                  <a:lnTo>
                    <a:pt x="655066" y="196850"/>
                  </a:lnTo>
                  <a:lnTo>
                    <a:pt x="670814" y="208292"/>
                  </a:lnTo>
                  <a:lnTo>
                    <a:pt x="675894" y="210820"/>
                  </a:lnTo>
                  <a:lnTo>
                    <a:pt x="685546" y="213372"/>
                  </a:lnTo>
                  <a:lnTo>
                    <a:pt x="690245" y="213372"/>
                  </a:lnTo>
                  <a:lnTo>
                    <a:pt x="699262" y="210820"/>
                  </a:lnTo>
                  <a:lnTo>
                    <a:pt x="703834" y="208292"/>
                  </a:lnTo>
                  <a:lnTo>
                    <a:pt x="708152" y="203200"/>
                  </a:lnTo>
                  <a:lnTo>
                    <a:pt x="710425" y="200672"/>
                  </a:lnTo>
                  <a:lnTo>
                    <a:pt x="712724" y="198120"/>
                  </a:lnTo>
                  <a:lnTo>
                    <a:pt x="715772" y="194322"/>
                  </a:lnTo>
                  <a:lnTo>
                    <a:pt x="718566" y="184150"/>
                  </a:lnTo>
                  <a:lnTo>
                    <a:pt x="718693" y="179070"/>
                  </a:lnTo>
                  <a:close/>
                </a:path>
                <a:path w="1099185" h="273050">
                  <a:moveTo>
                    <a:pt x="776859" y="120650"/>
                  </a:moveTo>
                  <a:lnTo>
                    <a:pt x="775716" y="115570"/>
                  </a:lnTo>
                  <a:lnTo>
                    <a:pt x="774446" y="110490"/>
                  </a:lnTo>
                  <a:lnTo>
                    <a:pt x="772033" y="105422"/>
                  </a:lnTo>
                  <a:lnTo>
                    <a:pt x="764921" y="95250"/>
                  </a:lnTo>
                  <a:lnTo>
                    <a:pt x="764921" y="125742"/>
                  </a:lnTo>
                  <a:lnTo>
                    <a:pt x="764540" y="128270"/>
                  </a:lnTo>
                  <a:lnTo>
                    <a:pt x="762762" y="133350"/>
                  </a:lnTo>
                  <a:lnTo>
                    <a:pt x="761365" y="134620"/>
                  </a:lnTo>
                  <a:lnTo>
                    <a:pt x="756793" y="139700"/>
                  </a:lnTo>
                  <a:lnTo>
                    <a:pt x="751205" y="142240"/>
                  </a:lnTo>
                  <a:lnTo>
                    <a:pt x="745236" y="142240"/>
                  </a:lnTo>
                  <a:lnTo>
                    <a:pt x="741680" y="140970"/>
                  </a:lnTo>
                  <a:lnTo>
                    <a:pt x="738251" y="139700"/>
                  </a:lnTo>
                  <a:lnTo>
                    <a:pt x="734441" y="138442"/>
                  </a:lnTo>
                  <a:lnTo>
                    <a:pt x="730377" y="134620"/>
                  </a:lnTo>
                  <a:lnTo>
                    <a:pt x="726186" y="132092"/>
                  </a:lnTo>
                  <a:lnTo>
                    <a:pt x="721487" y="128270"/>
                  </a:lnTo>
                  <a:lnTo>
                    <a:pt x="698119" y="96520"/>
                  </a:lnTo>
                  <a:lnTo>
                    <a:pt x="697611" y="92722"/>
                  </a:lnTo>
                  <a:lnTo>
                    <a:pt x="698119" y="90170"/>
                  </a:lnTo>
                  <a:lnTo>
                    <a:pt x="698246" y="88900"/>
                  </a:lnTo>
                  <a:lnTo>
                    <a:pt x="698373" y="87642"/>
                  </a:lnTo>
                  <a:lnTo>
                    <a:pt x="698500" y="86372"/>
                  </a:lnTo>
                  <a:lnTo>
                    <a:pt x="700278" y="83820"/>
                  </a:lnTo>
                  <a:lnTo>
                    <a:pt x="703326" y="80022"/>
                  </a:lnTo>
                  <a:lnTo>
                    <a:pt x="705104" y="78740"/>
                  </a:lnTo>
                  <a:lnTo>
                    <a:pt x="706755" y="77470"/>
                  </a:lnTo>
                  <a:lnTo>
                    <a:pt x="708660" y="76200"/>
                  </a:lnTo>
                  <a:lnTo>
                    <a:pt x="710438" y="74942"/>
                  </a:lnTo>
                  <a:lnTo>
                    <a:pt x="718693" y="74942"/>
                  </a:lnTo>
                  <a:lnTo>
                    <a:pt x="720979" y="76200"/>
                  </a:lnTo>
                  <a:lnTo>
                    <a:pt x="723265" y="76200"/>
                  </a:lnTo>
                  <a:lnTo>
                    <a:pt x="725678" y="77470"/>
                  </a:lnTo>
                  <a:lnTo>
                    <a:pt x="728345" y="78740"/>
                  </a:lnTo>
                  <a:lnTo>
                    <a:pt x="730885" y="81292"/>
                  </a:lnTo>
                  <a:lnTo>
                    <a:pt x="733679" y="82550"/>
                  </a:lnTo>
                  <a:lnTo>
                    <a:pt x="739648" y="87642"/>
                  </a:lnTo>
                  <a:lnTo>
                    <a:pt x="742950" y="91440"/>
                  </a:lnTo>
                  <a:lnTo>
                    <a:pt x="746379" y="93992"/>
                  </a:lnTo>
                  <a:lnTo>
                    <a:pt x="763143" y="116840"/>
                  </a:lnTo>
                  <a:lnTo>
                    <a:pt x="764159" y="119392"/>
                  </a:lnTo>
                  <a:lnTo>
                    <a:pt x="764667" y="121920"/>
                  </a:lnTo>
                  <a:lnTo>
                    <a:pt x="764794" y="124472"/>
                  </a:lnTo>
                  <a:lnTo>
                    <a:pt x="764921" y="125742"/>
                  </a:lnTo>
                  <a:lnTo>
                    <a:pt x="764921" y="95250"/>
                  </a:lnTo>
                  <a:lnTo>
                    <a:pt x="760476" y="90170"/>
                  </a:lnTo>
                  <a:lnTo>
                    <a:pt x="755142" y="83820"/>
                  </a:lnTo>
                  <a:lnTo>
                    <a:pt x="749427" y="78740"/>
                  </a:lnTo>
                  <a:lnTo>
                    <a:pt x="745426" y="74942"/>
                  </a:lnTo>
                  <a:lnTo>
                    <a:pt x="744093" y="73672"/>
                  </a:lnTo>
                  <a:lnTo>
                    <a:pt x="733679" y="66040"/>
                  </a:lnTo>
                  <a:lnTo>
                    <a:pt x="728599" y="64770"/>
                  </a:lnTo>
                  <a:lnTo>
                    <a:pt x="718947" y="62242"/>
                  </a:lnTo>
                  <a:lnTo>
                    <a:pt x="714248" y="62242"/>
                  </a:lnTo>
                  <a:lnTo>
                    <a:pt x="685927" y="91440"/>
                  </a:lnTo>
                  <a:lnTo>
                    <a:pt x="685800" y="96520"/>
                  </a:lnTo>
                  <a:lnTo>
                    <a:pt x="687070" y="101600"/>
                  </a:lnTo>
                  <a:lnTo>
                    <a:pt x="688213" y="106692"/>
                  </a:lnTo>
                  <a:lnTo>
                    <a:pt x="713232" y="138442"/>
                  </a:lnTo>
                  <a:lnTo>
                    <a:pt x="723900" y="147320"/>
                  </a:lnTo>
                  <a:lnTo>
                    <a:pt x="728980" y="151142"/>
                  </a:lnTo>
                  <a:lnTo>
                    <a:pt x="734060" y="152400"/>
                  </a:lnTo>
                  <a:lnTo>
                    <a:pt x="743712" y="154940"/>
                  </a:lnTo>
                  <a:lnTo>
                    <a:pt x="748411" y="154940"/>
                  </a:lnTo>
                  <a:lnTo>
                    <a:pt x="757555" y="152400"/>
                  </a:lnTo>
                  <a:lnTo>
                    <a:pt x="762000" y="149872"/>
                  </a:lnTo>
                  <a:lnTo>
                    <a:pt x="766318" y="144792"/>
                  </a:lnTo>
                  <a:lnTo>
                    <a:pt x="769366" y="142240"/>
                  </a:lnTo>
                  <a:lnTo>
                    <a:pt x="770890" y="140970"/>
                  </a:lnTo>
                  <a:lnTo>
                    <a:pt x="773938" y="135890"/>
                  </a:lnTo>
                  <a:lnTo>
                    <a:pt x="775335" y="130822"/>
                  </a:lnTo>
                  <a:lnTo>
                    <a:pt x="776859" y="125742"/>
                  </a:lnTo>
                  <a:lnTo>
                    <a:pt x="776859" y="120650"/>
                  </a:lnTo>
                  <a:close/>
                </a:path>
                <a:path w="1099185" h="273050">
                  <a:moveTo>
                    <a:pt x="827151" y="67322"/>
                  </a:moveTo>
                  <a:lnTo>
                    <a:pt x="826516" y="63500"/>
                  </a:lnTo>
                  <a:lnTo>
                    <a:pt x="823214" y="55892"/>
                  </a:lnTo>
                  <a:lnTo>
                    <a:pt x="820547" y="52070"/>
                  </a:lnTo>
                  <a:lnTo>
                    <a:pt x="816864" y="48272"/>
                  </a:lnTo>
                  <a:lnTo>
                    <a:pt x="813816" y="44450"/>
                  </a:lnTo>
                  <a:lnTo>
                    <a:pt x="810641" y="41922"/>
                  </a:lnTo>
                  <a:lnTo>
                    <a:pt x="803783" y="39370"/>
                  </a:lnTo>
                  <a:lnTo>
                    <a:pt x="792861" y="39370"/>
                  </a:lnTo>
                  <a:lnTo>
                    <a:pt x="789178" y="40640"/>
                  </a:lnTo>
                  <a:lnTo>
                    <a:pt x="785368" y="41922"/>
                  </a:lnTo>
                  <a:lnTo>
                    <a:pt x="777748" y="46990"/>
                  </a:lnTo>
                  <a:lnTo>
                    <a:pt x="770763" y="53340"/>
                  </a:lnTo>
                  <a:lnTo>
                    <a:pt x="767207" y="58420"/>
                  </a:lnTo>
                  <a:lnTo>
                    <a:pt x="766191" y="59690"/>
                  </a:lnTo>
                  <a:lnTo>
                    <a:pt x="746760" y="39370"/>
                  </a:lnTo>
                  <a:lnTo>
                    <a:pt x="772160" y="13970"/>
                  </a:lnTo>
                  <a:lnTo>
                    <a:pt x="771525" y="11442"/>
                  </a:lnTo>
                  <a:lnTo>
                    <a:pt x="770763" y="10172"/>
                  </a:lnTo>
                  <a:lnTo>
                    <a:pt x="769493" y="8890"/>
                  </a:lnTo>
                  <a:lnTo>
                    <a:pt x="768731" y="7620"/>
                  </a:lnTo>
                  <a:lnTo>
                    <a:pt x="767588" y="7620"/>
                  </a:lnTo>
                  <a:lnTo>
                    <a:pt x="766953" y="6350"/>
                  </a:lnTo>
                  <a:lnTo>
                    <a:pt x="763397" y="6350"/>
                  </a:lnTo>
                  <a:lnTo>
                    <a:pt x="732663" y="38100"/>
                  </a:lnTo>
                  <a:lnTo>
                    <a:pt x="731647" y="39370"/>
                  </a:lnTo>
                  <a:lnTo>
                    <a:pt x="731139" y="39370"/>
                  </a:lnTo>
                  <a:lnTo>
                    <a:pt x="731139" y="41922"/>
                  </a:lnTo>
                  <a:lnTo>
                    <a:pt x="731774" y="43192"/>
                  </a:lnTo>
                  <a:lnTo>
                    <a:pt x="762508" y="73672"/>
                  </a:lnTo>
                  <a:lnTo>
                    <a:pt x="763651" y="74942"/>
                  </a:lnTo>
                  <a:lnTo>
                    <a:pt x="766318" y="74942"/>
                  </a:lnTo>
                  <a:lnTo>
                    <a:pt x="768731" y="72390"/>
                  </a:lnTo>
                  <a:lnTo>
                    <a:pt x="770128" y="69850"/>
                  </a:lnTo>
                  <a:lnTo>
                    <a:pt x="771398" y="68592"/>
                  </a:lnTo>
                  <a:lnTo>
                    <a:pt x="772795" y="67322"/>
                  </a:lnTo>
                  <a:lnTo>
                    <a:pt x="774573" y="64770"/>
                  </a:lnTo>
                  <a:lnTo>
                    <a:pt x="779907" y="59690"/>
                  </a:lnTo>
                  <a:lnTo>
                    <a:pt x="782828" y="57150"/>
                  </a:lnTo>
                  <a:lnTo>
                    <a:pt x="785495" y="55892"/>
                  </a:lnTo>
                  <a:lnTo>
                    <a:pt x="788289" y="53340"/>
                  </a:lnTo>
                  <a:lnTo>
                    <a:pt x="790956" y="53340"/>
                  </a:lnTo>
                  <a:lnTo>
                    <a:pt x="796163" y="52070"/>
                  </a:lnTo>
                  <a:lnTo>
                    <a:pt x="798576" y="52070"/>
                  </a:lnTo>
                  <a:lnTo>
                    <a:pt x="803402" y="54622"/>
                  </a:lnTo>
                  <a:lnTo>
                    <a:pt x="805688" y="55892"/>
                  </a:lnTo>
                  <a:lnTo>
                    <a:pt x="807974" y="58420"/>
                  </a:lnTo>
                  <a:lnTo>
                    <a:pt x="810641" y="60972"/>
                  </a:lnTo>
                  <a:lnTo>
                    <a:pt x="812419" y="63500"/>
                  </a:lnTo>
                  <a:lnTo>
                    <a:pt x="814451" y="68592"/>
                  </a:lnTo>
                  <a:lnTo>
                    <a:pt x="814412" y="76200"/>
                  </a:lnTo>
                  <a:lnTo>
                    <a:pt x="798957" y="95250"/>
                  </a:lnTo>
                  <a:lnTo>
                    <a:pt x="796671" y="96520"/>
                  </a:lnTo>
                  <a:lnTo>
                    <a:pt x="794639" y="97790"/>
                  </a:lnTo>
                  <a:lnTo>
                    <a:pt x="792734" y="99072"/>
                  </a:lnTo>
                  <a:lnTo>
                    <a:pt x="790956" y="100342"/>
                  </a:lnTo>
                  <a:lnTo>
                    <a:pt x="788289" y="100342"/>
                  </a:lnTo>
                  <a:lnTo>
                    <a:pt x="786384" y="101600"/>
                  </a:lnTo>
                  <a:lnTo>
                    <a:pt x="785749" y="101600"/>
                  </a:lnTo>
                  <a:lnTo>
                    <a:pt x="785622" y="104140"/>
                  </a:lnTo>
                  <a:lnTo>
                    <a:pt x="786130" y="104140"/>
                  </a:lnTo>
                  <a:lnTo>
                    <a:pt x="786511" y="105422"/>
                  </a:lnTo>
                  <a:lnTo>
                    <a:pt x="787019" y="105422"/>
                  </a:lnTo>
                  <a:lnTo>
                    <a:pt x="787527" y="106692"/>
                  </a:lnTo>
                  <a:lnTo>
                    <a:pt x="788162" y="106692"/>
                  </a:lnTo>
                  <a:lnTo>
                    <a:pt x="788797" y="107950"/>
                  </a:lnTo>
                  <a:lnTo>
                    <a:pt x="789813" y="107950"/>
                  </a:lnTo>
                  <a:lnTo>
                    <a:pt x="790321" y="109220"/>
                  </a:lnTo>
                  <a:lnTo>
                    <a:pt x="791972" y="109220"/>
                  </a:lnTo>
                  <a:lnTo>
                    <a:pt x="794004" y="110490"/>
                  </a:lnTo>
                  <a:lnTo>
                    <a:pt x="795020" y="109220"/>
                  </a:lnTo>
                  <a:lnTo>
                    <a:pt x="797814" y="109220"/>
                  </a:lnTo>
                  <a:lnTo>
                    <a:pt x="799465" y="107950"/>
                  </a:lnTo>
                  <a:lnTo>
                    <a:pt x="801370" y="106692"/>
                  </a:lnTo>
                  <a:lnTo>
                    <a:pt x="805434" y="104140"/>
                  </a:lnTo>
                  <a:lnTo>
                    <a:pt x="807720" y="102870"/>
                  </a:lnTo>
                  <a:lnTo>
                    <a:pt x="809879" y="101600"/>
                  </a:lnTo>
                  <a:lnTo>
                    <a:pt x="812165" y="99072"/>
                  </a:lnTo>
                  <a:lnTo>
                    <a:pt x="814197" y="96520"/>
                  </a:lnTo>
                  <a:lnTo>
                    <a:pt x="818134" y="92722"/>
                  </a:lnTo>
                  <a:lnTo>
                    <a:pt x="821055" y="88900"/>
                  </a:lnTo>
                  <a:lnTo>
                    <a:pt x="825373" y="81292"/>
                  </a:lnTo>
                  <a:lnTo>
                    <a:pt x="826643" y="76200"/>
                  </a:lnTo>
                  <a:lnTo>
                    <a:pt x="826706" y="74942"/>
                  </a:lnTo>
                  <a:lnTo>
                    <a:pt x="826782" y="73672"/>
                  </a:lnTo>
                  <a:lnTo>
                    <a:pt x="826858" y="72390"/>
                  </a:lnTo>
                  <a:lnTo>
                    <a:pt x="826922" y="71120"/>
                  </a:lnTo>
                  <a:lnTo>
                    <a:pt x="826998" y="69850"/>
                  </a:lnTo>
                  <a:lnTo>
                    <a:pt x="827074" y="68592"/>
                  </a:lnTo>
                  <a:lnTo>
                    <a:pt x="827151" y="67322"/>
                  </a:lnTo>
                  <a:close/>
                </a:path>
                <a:path w="1099185" h="273050">
                  <a:moveTo>
                    <a:pt x="962914" y="232422"/>
                  </a:moveTo>
                  <a:lnTo>
                    <a:pt x="962152" y="229870"/>
                  </a:lnTo>
                  <a:lnTo>
                    <a:pt x="961390" y="228600"/>
                  </a:lnTo>
                  <a:lnTo>
                    <a:pt x="960882" y="228600"/>
                  </a:lnTo>
                  <a:lnTo>
                    <a:pt x="960247" y="227342"/>
                  </a:lnTo>
                  <a:lnTo>
                    <a:pt x="959612" y="227342"/>
                  </a:lnTo>
                  <a:lnTo>
                    <a:pt x="958977" y="226072"/>
                  </a:lnTo>
                  <a:lnTo>
                    <a:pt x="954278" y="226072"/>
                  </a:lnTo>
                  <a:lnTo>
                    <a:pt x="924052" y="256540"/>
                  </a:lnTo>
                  <a:lnTo>
                    <a:pt x="923569" y="234950"/>
                  </a:lnTo>
                  <a:lnTo>
                    <a:pt x="923455" y="228600"/>
                  </a:lnTo>
                  <a:lnTo>
                    <a:pt x="923417" y="226072"/>
                  </a:lnTo>
                  <a:lnTo>
                    <a:pt x="923036" y="218440"/>
                  </a:lnTo>
                  <a:lnTo>
                    <a:pt x="913765" y="187972"/>
                  </a:lnTo>
                  <a:lnTo>
                    <a:pt x="912876" y="186690"/>
                  </a:lnTo>
                  <a:lnTo>
                    <a:pt x="910844" y="184150"/>
                  </a:lnTo>
                  <a:lnTo>
                    <a:pt x="906145" y="180340"/>
                  </a:lnTo>
                  <a:lnTo>
                    <a:pt x="903351" y="177800"/>
                  </a:lnTo>
                  <a:lnTo>
                    <a:pt x="900430" y="176542"/>
                  </a:lnTo>
                  <a:lnTo>
                    <a:pt x="897382" y="175272"/>
                  </a:lnTo>
                  <a:lnTo>
                    <a:pt x="894207" y="173990"/>
                  </a:lnTo>
                  <a:lnTo>
                    <a:pt x="887603" y="175272"/>
                  </a:lnTo>
                  <a:lnTo>
                    <a:pt x="884174" y="175272"/>
                  </a:lnTo>
                  <a:lnTo>
                    <a:pt x="880745" y="176542"/>
                  </a:lnTo>
                  <a:lnTo>
                    <a:pt x="873887" y="181622"/>
                  </a:lnTo>
                  <a:lnTo>
                    <a:pt x="868426" y="186690"/>
                  </a:lnTo>
                  <a:lnTo>
                    <a:pt x="866648" y="189242"/>
                  </a:lnTo>
                  <a:lnTo>
                    <a:pt x="865124" y="190500"/>
                  </a:lnTo>
                  <a:lnTo>
                    <a:pt x="863600" y="193040"/>
                  </a:lnTo>
                  <a:lnTo>
                    <a:pt x="862457" y="195592"/>
                  </a:lnTo>
                  <a:lnTo>
                    <a:pt x="860425" y="200672"/>
                  </a:lnTo>
                  <a:lnTo>
                    <a:pt x="859790" y="201942"/>
                  </a:lnTo>
                  <a:lnTo>
                    <a:pt x="859409" y="204470"/>
                  </a:lnTo>
                  <a:lnTo>
                    <a:pt x="858901" y="205740"/>
                  </a:lnTo>
                  <a:lnTo>
                    <a:pt x="858774" y="207022"/>
                  </a:lnTo>
                  <a:lnTo>
                    <a:pt x="858774" y="209550"/>
                  </a:lnTo>
                  <a:lnTo>
                    <a:pt x="859155" y="210820"/>
                  </a:lnTo>
                  <a:lnTo>
                    <a:pt x="859663" y="210820"/>
                  </a:lnTo>
                  <a:lnTo>
                    <a:pt x="860044" y="212090"/>
                  </a:lnTo>
                  <a:lnTo>
                    <a:pt x="860425" y="212090"/>
                  </a:lnTo>
                  <a:lnTo>
                    <a:pt x="862076" y="213372"/>
                  </a:lnTo>
                  <a:lnTo>
                    <a:pt x="863473" y="214642"/>
                  </a:lnTo>
                  <a:lnTo>
                    <a:pt x="863981" y="215900"/>
                  </a:lnTo>
                  <a:lnTo>
                    <a:pt x="867537" y="215900"/>
                  </a:lnTo>
                  <a:lnTo>
                    <a:pt x="867918" y="214642"/>
                  </a:lnTo>
                  <a:lnTo>
                    <a:pt x="868172" y="213372"/>
                  </a:lnTo>
                  <a:lnTo>
                    <a:pt x="868553" y="210820"/>
                  </a:lnTo>
                  <a:lnTo>
                    <a:pt x="868934" y="209550"/>
                  </a:lnTo>
                  <a:lnTo>
                    <a:pt x="877443" y="194322"/>
                  </a:lnTo>
                  <a:lnTo>
                    <a:pt x="879475" y="191770"/>
                  </a:lnTo>
                  <a:lnTo>
                    <a:pt x="881380" y="190500"/>
                  </a:lnTo>
                  <a:lnTo>
                    <a:pt x="883539" y="189242"/>
                  </a:lnTo>
                  <a:lnTo>
                    <a:pt x="885571" y="189242"/>
                  </a:lnTo>
                  <a:lnTo>
                    <a:pt x="887603" y="187972"/>
                  </a:lnTo>
                  <a:lnTo>
                    <a:pt x="891667" y="187972"/>
                  </a:lnTo>
                  <a:lnTo>
                    <a:pt x="893572" y="189242"/>
                  </a:lnTo>
                  <a:lnTo>
                    <a:pt x="895477" y="189242"/>
                  </a:lnTo>
                  <a:lnTo>
                    <a:pt x="905129" y="199390"/>
                  </a:lnTo>
                  <a:lnTo>
                    <a:pt x="906526" y="200672"/>
                  </a:lnTo>
                  <a:lnTo>
                    <a:pt x="907796" y="203200"/>
                  </a:lnTo>
                  <a:lnTo>
                    <a:pt x="908812" y="207022"/>
                  </a:lnTo>
                  <a:lnTo>
                    <a:pt x="909955" y="209550"/>
                  </a:lnTo>
                  <a:lnTo>
                    <a:pt x="910844" y="213372"/>
                  </a:lnTo>
                  <a:lnTo>
                    <a:pt x="911479" y="218440"/>
                  </a:lnTo>
                  <a:lnTo>
                    <a:pt x="912241" y="223520"/>
                  </a:lnTo>
                  <a:lnTo>
                    <a:pt x="912431" y="226072"/>
                  </a:lnTo>
                  <a:lnTo>
                    <a:pt x="912520" y="227342"/>
                  </a:lnTo>
                  <a:lnTo>
                    <a:pt x="912914" y="256540"/>
                  </a:lnTo>
                  <a:lnTo>
                    <a:pt x="913003" y="262890"/>
                  </a:lnTo>
                  <a:lnTo>
                    <a:pt x="913130" y="265442"/>
                  </a:lnTo>
                  <a:lnTo>
                    <a:pt x="913384" y="266700"/>
                  </a:lnTo>
                  <a:lnTo>
                    <a:pt x="913638" y="266700"/>
                  </a:lnTo>
                  <a:lnTo>
                    <a:pt x="913765" y="267970"/>
                  </a:lnTo>
                  <a:lnTo>
                    <a:pt x="914019" y="267970"/>
                  </a:lnTo>
                  <a:lnTo>
                    <a:pt x="914400" y="269240"/>
                  </a:lnTo>
                  <a:lnTo>
                    <a:pt x="915416" y="269240"/>
                  </a:lnTo>
                  <a:lnTo>
                    <a:pt x="915924" y="270522"/>
                  </a:lnTo>
                  <a:lnTo>
                    <a:pt x="917448" y="271792"/>
                  </a:lnTo>
                  <a:lnTo>
                    <a:pt x="918210" y="273050"/>
                  </a:lnTo>
                  <a:lnTo>
                    <a:pt x="923290" y="273050"/>
                  </a:lnTo>
                  <a:lnTo>
                    <a:pt x="939584" y="256540"/>
                  </a:lnTo>
                  <a:lnTo>
                    <a:pt x="962152" y="233692"/>
                  </a:lnTo>
                  <a:lnTo>
                    <a:pt x="962660" y="232422"/>
                  </a:lnTo>
                  <a:lnTo>
                    <a:pt x="962914" y="232422"/>
                  </a:lnTo>
                  <a:close/>
                </a:path>
                <a:path w="1099185" h="273050">
                  <a:moveTo>
                    <a:pt x="1005078" y="179070"/>
                  </a:moveTo>
                  <a:lnTo>
                    <a:pt x="1003808" y="173990"/>
                  </a:lnTo>
                  <a:lnTo>
                    <a:pt x="1002665" y="168922"/>
                  </a:lnTo>
                  <a:lnTo>
                    <a:pt x="1000252" y="163842"/>
                  </a:lnTo>
                  <a:lnTo>
                    <a:pt x="993140" y="153670"/>
                  </a:lnTo>
                  <a:lnTo>
                    <a:pt x="993013" y="153530"/>
                  </a:lnTo>
                  <a:lnTo>
                    <a:pt x="993013" y="184150"/>
                  </a:lnTo>
                  <a:lnTo>
                    <a:pt x="992632" y="186690"/>
                  </a:lnTo>
                  <a:lnTo>
                    <a:pt x="990854" y="191770"/>
                  </a:lnTo>
                  <a:lnTo>
                    <a:pt x="989457" y="193040"/>
                  </a:lnTo>
                  <a:lnTo>
                    <a:pt x="984885" y="198120"/>
                  </a:lnTo>
                  <a:lnTo>
                    <a:pt x="982218" y="199390"/>
                  </a:lnTo>
                  <a:lnTo>
                    <a:pt x="979297" y="200672"/>
                  </a:lnTo>
                  <a:lnTo>
                    <a:pt x="973328" y="200672"/>
                  </a:lnTo>
                  <a:lnTo>
                    <a:pt x="966470" y="198120"/>
                  </a:lnTo>
                  <a:lnTo>
                    <a:pt x="962660" y="196850"/>
                  </a:lnTo>
                  <a:lnTo>
                    <a:pt x="958469" y="193040"/>
                  </a:lnTo>
                  <a:lnTo>
                    <a:pt x="954278" y="190500"/>
                  </a:lnTo>
                  <a:lnTo>
                    <a:pt x="949579" y="186690"/>
                  </a:lnTo>
                  <a:lnTo>
                    <a:pt x="940562" y="176542"/>
                  </a:lnTo>
                  <a:lnTo>
                    <a:pt x="937133" y="172720"/>
                  </a:lnTo>
                  <a:lnTo>
                    <a:pt x="934212" y="168922"/>
                  </a:lnTo>
                  <a:lnTo>
                    <a:pt x="931164" y="166370"/>
                  </a:lnTo>
                  <a:lnTo>
                    <a:pt x="929005" y="162572"/>
                  </a:lnTo>
                  <a:lnTo>
                    <a:pt x="926211" y="154940"/>
                  </a:lnTo>
                  <a:lnTo>
                    <a:pt x="925703" y="151142"/>
                  </a:lnTo>
                  <a:lnTo>
                    <a:pt x="926719" y="144792"/>
                  </a:lnTo>
                  <a:lnTo>
                    <a:pt x="928370" y="140970"/>
                  </a:lnTo>
                  <a:lnTo>
                    <a:pt x="931418" y="138442"/>
                  </a:lnTo>
                  <a:lnTo>
                    <a:pt x="936752" y="134620"/>
                  </a:lnTo>
                  <a:lnTo>
                    <a:pt x="938657" y="133350"/>
                  </a:lnTo>
                  <a:lnTo>
                    <a:pt x="946785" y="133350"/>
                  </a:lnTo>
                  <a:lnTo>
                    <a:pt x="951357" y="134620"/>
                  </a:lnTo>
                  <a:lnTo>
                    <a:pt x="953897" y="135890"/>
                  </a:lnTo>
                  <a:lnTo>
                    <a:pt x="958977" y="139700"/>
                  </a:lnTo>
                  <a:lnTo>
                    <a:pt x="961771" y="140970"/>
                  </a:lnTo>
                  <a:lnTo>
                    <a:pt x="967867" y="146050"/>
                  </a:lnTo>
                  <a:lnTo>
                    <a:pt x="974598" y="152400"/>
                  </a:lnTo>
                  <a:lnTo>
                    <a:pt x="979551" y="157492"/>
                  </a:lnTo>
                  <a:lnTo>
                    <a:pt x="981710" y="160020"/>
                  </a:lnTo>
                  <a:lnTo>
                    <a:pt x="983996" y="162572"/>
                  </a:lnTo>
                  <a:lnTo>
                    <a:pt x="985901" y="165100"/>
                  </a:lnTo>
                  <a:lnTo>
                    <a:pt x="987425" y="167640"/>
                  </a:lnTo>
                  <a:lnTo>
                    <a:pt x="989076" y="170192"/>
                  </a:lnTo>
                  <a:lnTo>
                    <a:pt x="992886" y="182892"/>
                  </a:lnTo>
                  <a:lnTo>
                    <a:pt x="993013" y="184150"/>
                  </a:lnTo>
                  <a:lnTo>
                    <a:pt x="993013" y="153530"/>
                  </a:lnTo>
                  <a:lnTo>
                    <a:pt x="988695" y="148590"/>
                  </a:lnTo>
                  <a:lnTo>
                    <a:pt x="983361" y="142240"/>
                  </a:lnTo>
                  <a:lnTo>
                    <a:pt x="977646" y="137172"/>
                  </a:lnTo>
                  <a:lnTo>
                    <a:pt x="973543" y="133350"/>
                  </a:lnTo>
                  <a:lnTo>
                    <a:pt x="972185" y="132092"/>
                  </a:lnTo>
                  <a:lnTo>
                    <a:pt x="961771" y="124472"/>
                  </a:lnTo>
                  <a:lnTo>
                    <a:pt x="956818" y="121920"/>
                  </a:lnTo>
                  <a:lnTo>
                    <a:pt x="951992" y="121920"/>
                  </a:lnTo>
                  <a:lnTo>
                    <a:pt x="947039" y="120650"/>
                  </a:lnTo>
                  <a:lnTo>
                    <a:pt x="942340" y="120650"/>
                  </a:lnTo>
                  <a:lnTo>
                    <a:pt x="933323" y="123190"/>
                  </a:lnTo>
                  <a:lnTo>
                    <a:pt x="928878" y="125742"/>
                  </a:lnTo>
                  <a:lnTo>
                    <a:pt x="924433" y="130822"/>
                  </a:lnTo>
                  <a:lnTo>
                    <a:pt x="919861" y="134620"/>
                  </a:lnTo>
                  <a:lnTo>
                    <a:pt x="916813" y="139700"/>
                  </a:lnTo>
                  <a:lnTo>
                    <a:pt x="914019" y="149872"/>
                  </a:lnTo>
                  <a:lnTo>
                    <a:pt x="913892" y="154940"/>
                  </a:lnTo>
                  <a:lnTo>
                    <a:pt x="916432" y="165100"/>
                  </a:lnTo>
                  <a:lnTo>
                    <a:pt x="941324" y="196850"/>
                  </a:lnTo>
                  <a:lnTo>
                    <a:pt x="971931" y="213372"/>
                  </a:lnTo>
                  <a:lnTo>
                    <a:pt x="976630" y="213372"/>
                  </a:lnTo>
                  <a:lnTo>
                    <a:pt x="1004951" y="184150"/>
                  </a:lnTo>
                  <a:lnTo>
                    <a:pt x="1005078" y="179070"/>
                  </a:lnTo>
                  <a:close/>
                </a:path>
                <a:path w="1099185" h="273050">
                  <a:moveTo>
                    <a:pt x="1063244" y="120650"/>
                  </a:moveTo>
                  <a:lnTo>
                    <a:pt x="1061974" y="115570"/>
                  </a:lnTo>
                  <a:lnTo>
                    <a:pt x="1060831" y="110490"/>
                  </a:lnTo>
                  <a:lnTo>
                    <a:pt x="1058418" y="105422"/>
                  </a:lnTo>
                  <a:lnTo>
                    <a:pt x="1051306" y="95250"/>
                  </a:lnTo>
                  <a:lnTo>
                    <a:pt x="1051179" y="95110"/>
                  </a:lnTo>
                  <a:lnTo>
                    <a:pt x="1051179" y="125742"/>
                  </a:lnTo>
                  <a:lnTo>
                    <a:pt x="1050798" y="128270"/>
                  </a:lnTo>
                  <a:lnTo>
                    <a:pt x="1049909" y="130822"/>
                  </a:lnTo>
                  <a:lnTo>
                    <a:pt x="1049147" y="133350"/>
                  </a:lnTo>
                  <a:lnTo>
                    <a:pt x="1047623" y="134620"/>
                  </a:lnTo>
                  <a:lnTo>
                    <a:pt x="1043051" y="139700"/>
                  </a:lnTo>
                  <a:lnTo>
                    <a:pt x="1040384" y="140970"/>
                  </a:lnTo>
                  <a:lnTo>
                    <a:pt x="1037463" y="142240"/>
                  </a:lnTo>
                  <a:lnTo>
                    <a:pt x="1031494" y="142240"/>
                  </a:lnTo>
                  <a:lnTo>
                    <a:pt x="1024636" y="139700"/>
                  </a:lnTo>
                  <a:lnTo>
                    <a:pt x="1020826" y="138442"/>
                  </a:lnTo>
                  <a:lnTo>
                    <a:pt x="1016635" y="134620"/>
                  </a:lnTo>
                  <a:lnTo>
                    <a:pt x="1012444" y="132092"/>
                  </a:lnTo>
                  <a:lnTo>
                    <a:pt x="1007745" y="128270"/>
                  </a:lnTo>
                  <a:lnTo>
                    <a:pt x="1002665" y="123190"/>
                  </a:lnTo>
                  <a:lnTo>
                    <a:pt x="998728" y="119392"/>
                  </a:lnTo>
                  <a:lnTo>
                    <a:pt x="995299" y="115570"/>
                  </a:lnTo>
                  <a:lnTo>
                    <a:pt x="989457" y="107950"/>
                  </a:lnTo>
                  <a:lnTo>
                    <a:pt x="987171" y="104140"/>
                  </a:lnTo>
                  <a:lnTo>
                    <a:pt x="984377" y="96520"/>
                  </a:lnTo>
                  <a:lnTo>
                    <a:pt x="983869" y="92722"/>
                  </a:lnTo>
                  <a:lnTo>
                    <a:pt x="984885" y="86372"/>
                  </a:lnTo>
                  <a:lnTo>
                    <a:pt x="986663" y="83820"/>
                  </a:lnTo>
                  <a:lnTo>
                    <a:pt x="991362" y="78740"/>
                  </a:lnTo>
                  <a:lnTo>
                    <a:pt x="994918" y="76200"/>
                  </a:lnTo>
                  <a:lnTo>
                    <a:pt x="996823" y="74942"/>
                  </a:lnTo>
                  <a:lnTo>
                    <a:pt x="1005078" y="74942"/>
                  </a:lnTo>
                  <a:lnTo>
                    <a:pt x="1007364" y="76200"/>
                  </a:lnTo>
                  <a:lnTo>
                    <a:pt x="1009650" y="76200"/>
                  </a:lnTo>
                  <a:lnTo>
                    <a:pt x="1012063" y="77470"/>
                  </a:lnTo>
                  <a:lnTo>
                    <a:pt x="1014603" y="78740"/>
                  </a:lnTo>
                  <a:lnTo>
                    <a:pt x="1017270" y="81292"/>
                  </a:lnTo>
                  <a:lnTo>
                    <a:pt x="1020064" y="82550"/>
                  </a:lnTo>
                  <a:lnTo>
                    <a:pt x="1022985" y="85090"/>
                  </a:lnTo>
                  <a:lnTo>
                    <a:pt x="1026033" y="87642"/>
                  </a:lnTo>
                  <a:lnTo>
                    <a:pt x="1032764" y="93992"/>
                  </a:lnTo>
                  <a:lnTo>
                    <a:pt x="1035304" y="96520"/>
                  </a:lnTo>
                  <a:lnTo>
                    <a:pt x="1037717" y="99072"/>
                  </a:lnTo>
                  <a:lnTo>
                    <a:pt x="1039876" y="101600"/>
                  </a:lnTo>
                  <a:lnTo>
                    <a:pt x="1042162" y="104140"/>
                  </a:lnTo>
                  <a:lnTo>
                    <a:pt x="1044067" y="106692"/>
                  </a:lnTo>
                  <a:lnTo>
                    <a:pt x="1045591" y="109220"/>
                  </a:lnTo>
                  <a:lnTo>
                    <a:pt x="1047242" y="111772"/>
                  </a:lnTo>
                  <a:lnTo>
                    <a:pt x="1051179" y="125742"/>
                  </a:lnTo>
                  <a:lnTo>
                    <a:pt x="1051179" y="95110"/>
                  </a:lnTo>
                  <a:lnTo>
                    <a:pt x="1046861" y="90170"/>
                  </a:lnTo>
                  <a:lnTo>
                    <a:pt x="1041527" y="83820"/>
                  </a:lnTo>
                  <a:lnTo>
                    <a:pt x="1035812" y="78740"/>
                  </a:lnTo>
                  <a:lnTo>
                    <a:pt x="1031709" y="74942"/>
                  </a:lnTo>
                  <a:lnTo>
                    <a:pt x="1030351" y="73672"/>
                  </a:lnTo>
                  <a:lnTo>
                    <a:pt x="1019937" y="66040"/>
                  </a:lnTo>
                  <a:lnTo>
                    <a:pt x="1005332" y="62242"/>
                  </a:lnTo>
                  <a:lnTo>
                    <a:pt x="1000633" y="62242"/>
                  </a:lnTo>
                  <a:lnTo>
                    <a:pt x="991489" y="64770"/>
                  </a:lnTo>
                  <a:lnTo>
                    <a:pt x="987044" y="67322"/>
                  </a:lnTo>
                  <a:lnTo>
                    <a:pt x="982599" y="72390"/>
                  </a:lnTo>
                  <a:lnTo>
                    <a:pt x="978027" y="76200"/>
                  </a:lnTo>
                  <a:lnTo>
                    <a:pt x="975106" y="81292"/>
                  </a:lnTo>
                  <a:lnTo>
                    <a:pt x="973582" y="86372"/>
                  </a:lnTo>
                  <a:lnTo>
                    <a:pt x="972185" y="91440"/>
                  </a:lnTo>
                  <a:lnTo>
                    <a:pt x="972185" y="96520"/>
                  </a:lnTo>
                  <a:lnTo>
                    <a:pt x="988568" y="127000"/>
                  </a:lnTo>
                  <a:lnTo>
                    <a:pt x="993775" y="133350"/>
                  </a:lnTo>
                  <a:lnTo>
                    <a:pt x="999490" y="138442"/>
                  </a:lnTo>
                  <a:lnTo>
                    <a:pt x="1004951" y="143522"/>
                  </a:lnTo>
                  <a:lnTo>
                    <a:pt x="1015365" y="151142"/>
                  </a:lnTo>
                  <a:lnTo>
                    <a:pt x="1030097" y="154940"/>
                  </a:lnTo>
                  <a:lnTo>
                    <a:pt x="1034796" y="154940"/>
                  </a:lnTo>
                  <a:lnTo>
                    <a:pt x="1043813" y="152400"/>
                  </a:lnTo>
                  <a:lnTo>
                    <a:pt x="1048258" y="149872"/>
                  </a:lnTo>
                  <a:lnTo>
                    <a:pt x="1052703" y="144792"/>
                  </a:lnTo>
                  <a:lnTo>
                    <a:pt x="1055751" y="142240"/>
                  </a:lnTo>
                  <a:lnTo>
                    <a:pt x="1057275" y="140970"/>
                  </a:lnTo>
                  <a:lnTo>
                    <a:pt x="1060323" y="135890"/>
                  </a:lnTo>
                  <a:lnTo>
                    <a:pt x="1063117" y="125742"/>
                  </a:lnTo>
                  <a:lnTo>
                    <a:pt x="1063244" y="120650"/>
                  </a:lnTo>
                  <a:close/>
                </a:path>
                <a:path w="1099185" h="273050">
                  <a:moveTo>
                    <a:pt x="1099058" y="93992"/>
                  </a:moveTo>
                  <a:lnTo>
                    <a:pt x="1069263" y="17792"/>
                  </a:lnTo>
                  <a:lnTo>
                    <a:pt x="1066292" y="10172"/>
                  </a:lnTo>
                  <a:lnTo>
                    <a:pt x="1065911" y="10172"/>
                  </a:lnTo>
                  <a:lnTo>
                    <a:pt x="1065657" y="8890"/>
                  </a:lnTo>
                  <a:lnTo>
                    <a:pt x="1065403" y="8890"/>
                  </a:lnTo>
                  <a:lnTo>
                    <a:pt x="1065149" y="7620"/>
                  </a:lnTo>
                  <a:lnTo>
                    <a:pt x="1064768" y="7620"/>
                  </a:lnTo>
                  <a:lnTo>
                    <a:pt x="1064387" y="6350"/>
                  </a:lnTo>
                  <a:lnTo>
                    <a:pt x="1064006" y="6350"/>
                  </a:lnTo>
                  <a:lnTo>
                    <a:pt x="1063498" y="5092"/>
                  </a:lnTo>
                  <a:lnTo>
                    <a:pt x="1062609" y="5092"/>
                  </a:lnTo>
                  <a:lnTo>
                    <a:pt x="1062101" y="3822"/>
                  </a:lnTo>
                  <a:lnTo>
                    <a:pt x="1061466" y="3822"/>
                  </a:lnTo>
                  <a:lnTo>
                    <a:pt x="1060577" y="2540"/>
                  </a:lnTo>
                  <a:lnTo>
                    <a:pt x="1059942" y="1270"/>
                  </a:lnTo>
                  <a:lnTo>
                    <a:pt x="1057656" y="1270"/>
                  </a:lnTo>
                  <a:lnTo>
                    <a:pt x="1056640" y="0"/>
                  </a:lnTo>
                  <a:lnTo>
                    <a:pt x="1055624" y="1270"/>
                  </a:lnTo>
                  <a:lnTo>
                    <a:pt x="1055116" y="1270"/>
                  </a:lnTo>
                  <a:lnTo>
                    <a:pt x="1014222" y="43192"/>
                  </a:lnTo>
                  <a:lnTo>
                    <a:pt x="1013587" y="43192"/>
                  </a:lnTo>
                  <a:lnTo>
                    <a:pt x="1013460" y="44450"/>
                  </a:lnTo>
                  <a:lnTo>
                    <a:pt x="1013714" y="44450"/>
                  </a:lnTo>
                  <a:lnTo>
                    <a:pt x="1013841" y="45720"/>
                  </a:lnTo>
                  <a:lnTo>
                    <a:pt x="1014095" y="45720"/>
                  </a:lnTo>
                  <a:lnTo>
                    <a:pt x="1014476" y="46990"/>
                  </a:lnTo>
                  <a:lnTo>
                    <a:pt x="1015492" y="48272"/>
                  </a:lnTo>
                  <a:lnTo>
                    <a:pt x="1016127" y="48272"/>
                  </a:lnTo>
                  <a:lnTo>
                    <a:pt x="1018667" y="50800"/>
                  </a:lnTo>
                  <a:lnTo>
                    <a:pt x="1020699" y="52070"/>
                  </a:lnTo>
                  <a:lnTo>
                    <a:pt x="1021588" y="50800"/>
                  </a:lnTo>
                  <a:lnTo>
                    <a:pt x="1022223" y="50800"/>
                  </a:lnTo>
                  <a:lnTo>
                    <a:pt x="1055624" y="17792"/>
                  </a:lnTo>
                  <a:lnTo>
                    <a:pt x="1088136" y="102870"/>
                  </a:lnTo>
                  <a:lnTo>
                    <a:pt x="1088390" y="102870"/>
                  </a:lnTo>
                  <a:lnTo>
                    <a:pt x="1088771" y="104140"/>
                  </a:lnTo>
                  <a:lnTo>
                    <a:pt x="1092200" y="104140"/>
                  </a:lnTo>
                  <a:lnTo>
                    <a:pt x="1093089" y="102870"/>
                  </a:lnTo>
                  <a:lnTo>
                    <a:pt x="1094105" y="101600"/>
                  </a:lnTo>
                  <a:lnTo>
                    <a:pt x="1095248" y="101600"/>
                  </a:lnTo>
                  <a:lnTo>
                    <a:pt x="1096137" y="100342"/>
                  </a:lnTo>
                  <a:lnTo>
                    <a:pt x="1096899" y="99072"/>
                  </a:lnTo>
                  <a:lnTo>
                    <a:pt x="1097534" y="99072"/>
                  </a:lnTo>
                  <a:lnTo>
                    <a:pt x="1098169" y="97790"/>
                  </a:lnTo>
                  <a:lnTo>
                    <a:pt x="1098550" y="97790"/>
                  </a:lnTo>
                  <a:lnTo>
                    <a:pt x="1098804" y="96520"/>
                  </a:lnTo>
                  <a:lnTo>
                    <a:pt x="1099058" y="96520"/>
                  </a:lnTo>
                  <a:lnTo>
                    <a:pt x="1099058" y="9399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6318044" y="3996616"/>
            <a:ext cx="1845149" cy="361927"/>
            <a:chOff x="4831841" y="2765551"/>
            <a:chExt cx="1385570" cy="271780"/>
          </a:xfrm>
        </p:grpSpPr>
        <p:sp>
          <p:nvSpPr>
            <p:cNvPr id="76" name="object 76"/>
            <p:cNvSpPr/>
            <p:nvPr/>
          </p:nvSpPr>
          <p:spPr>
            <a:xfrm>
              <a:off x="4831841" y="2775711"/>
              <a:ext cx="251460" cy="261620"/>
            </a:xfrm>
            <a:custGeom>
              <a:avLst/>
              <a:gdLst/>
              <a:ahLst/>
              <a:cxnLst/>
              <a:rect l="l" t="t" r="r" b="b"/>
              <a:pathLst>
                <a:path w="251460" h="261619">
                  <a:moveTo>
                    <a:pt x="54737" y="176530"/>
                  </a:moveTo>
                  <a:lnTo>
                    <a:pt x="32766" y="176530"/>
                  </a:lnTo>
                  <a:lnTo>
                    <a:pt x="34671" y="177800"/>
                  </a:lnTo>
                  <a:lnTo>
                    <a:pt x="36575" y="177800"/>
                  </a:lnTo>
                  <a:lnTo>
                    <a:pt x="38481" y="179069"/>
                  </a:lnTo>
                  <a:lnTo>
                    <a:pt x="40132" y="180339"/>
                  </a:lnTo>
                  <a:lnTo>
                    <a:pt x="43180" y="182880"/>
                  </a:lnTo>
                  <a:lnTo>
                    <a:pt x="44704" y="185419"/>
                  </a:lnTo>
                  <a:lnTo>
                    <a:pt x="46100" y="187959"/>
                  </a:lnTo>
                  <a:lnTo>
                    <a:pt x="47498" y="189230"/>
                  </a:lnTo>
                  <a:lnTo>
                    <a:pt x="53498" y="215900"/>
                  </a:lnTo>
                  <a:lnTo>
                    <a:pt x="53594" y="217169"/>
                  </a:lnTo>
                  <a:lnTo>
                    <a:pt x="53721" y="223519"/>
                  </a:lnTo>
                  <a:lnTo>
                    <a:pt x="54015" y="245109"/>
                  </a:lnTo>
                  <a:lnTo>
                    <a:pt x="54102" y="251459"/>
                  </a:lnTo>
                  <a:lnTo>
                    <a:pt x="54229" y="254000"/>
                  </a:lnTo>
                  <a:lnTo>
                    <a:pt x="54483" y="255269"/>
                  </a:lnTo>
                  <a:lnTo>
                    <a:pt x="54863" y="256539"/>
                  </a:lnTo>
                  <a:lnTo>
                    <a:pt x="55372" y="257809"/>
                  </a:lnTo>
                  <a:lnTo>
                    <a:pt x="55880" y="257809"/>
                  </a:lnTo>
                  <a:lnTo>
                    <a:pt x="57023" y="259080"/>
                  </a:lnTo>
                  <a:lnTo>
                    <a:pt x="57658" y="260350"/>
                  </a:lnTo>
                  <a:lnTo>
                    <a:pt x="58547" y="260350"/>
                  </a:lnTo>
                  <a:lnTo>
                    <a:pt x="59182" y="261619"/>
                  </a:lnTo>
                  <a:lnTo>
                    <a:pt x="64262" y="261619"/>
                  </a:lnTo>
                  <a:lnTo>
                    <a:pt x="80718" y="245109"/>
                  </a:lnTo>
                  <a:lnTo>
                    <a:pt x="65024" y="245109"/>
                  </a:lnTo>
                  <a:lnTo>
                    <a:pt x="64664" y="223519"/>
                  </a:lnTo>
                  <a:lnTo>
                    <a:pt x="59055" y="184150"/>
                  </a:lnTo>
                  <a:lnTo>
                    <a:pt x="55625" y="177800"/>
                  </a:lnTo>
                  <a:lnTo>
                    <a:pt x="54737" y="176530"/>
                  </a:lnTo>
                  <a:close/>
                </a:path>
                <a:path w="251460" h="261619">
                  <a:moveTo>
                    <a:pt x="99441" y="214630"/>
                  </a:moveTo>
                  <a:lnTo>
                    <a:pt x="95250" y="214630"/>
                  </a:lnTo>
                  <a:lnTo>
                    <a:pt x="65024" y="245109"/>
                  </a:lnTo>
                  <a:lnTo>
                    <a:pt x="80718" y="245109"/>
                  </a:lnTo>
                  <a:lnTo>
                    <a:pt x="103505" y="222250"/>
                  </a:lnTo>
                  <a:lnTo>
                    <a:pt x="103759" y="220980"/>
                  </a:lnTo>
                  <a:lnTo>
                    <a:pt x="103759" y="219709"/>
                  </a:lnTo>
                  <a:lnTo>
                    <a:pt x="103250" y="218439"/>
                  </a:lnTo>
                  <a:lnTo>
                    <a:pt x="102870" y="218439"/>
                  </a:lnTo>
                  <a:lnTo>
                    <a:pt x="102362" y="217169"/>
                  </a:lnTo>
                  <a:lnTo>
                    <a:pt x="101854" y="217169"/>
                  </a:lnTo>
                  <a:lnTo>
                    <a:pt x="101219" y="215900"/>
                  </a:lnTo>
                  <a:lnTo>
                    <a:pt x="100584" y="215900"/>
                  </a:lnTo>
                  <a:lnTo>
                    <a:pt x="99441" y="214630"/>
                  </a:lnTo>
                  <a:close/>
                </a:path>
                <a:path w="251460" h="261619">
                  <a:moveTo>
                    <a:pt x="35306" y="162559"/>
                  </a:moveTo>
                  <a:lnTo>
                    <a:pt x="28702" y="163830"/>
                  </a:lnTo>
                  <a:lnTo>
                    <a:pt x="25273" y="163830"/>
                  </a:lnTo>
                  <a:lnTo>
                    <a:pt x="21844" y="165100"/>
                  </a:lnTo>
                  <a:lnTo>
                    <a:pt x="7620" y="177800"/>
                  </a:lnTo>
                  <a:lnTo>
                    <a:pt x="6223" y="179069"/>
                  </a:lnTo>
                  <a:lnTo>
                    <a:pt x="4699" y="181609"/>
                  </a:lnTo>
                  <a:lnTo>
                    <a:pt x="3429" y="184150"/>
                  </a:lnTo>
                  <a:lnTo>
                    <a:pt x="2540" y="186689"/>
                  </a:lnTo>
                  <a:lnTo>
                    <a:pt x="1524" y="189230"/>
                  </a:lnTo>
                  <a:lnTo>
                    <a:pt x="888" y="190500"/>
                  </a:lnTo>
                  <a:lnTo>
                    <a:pt x="381" y="193039"/>
                  </a:lnTo>
                  <a:lnTo>
                    <a:pt x="0" y="194309"/>
                  </a:lnTo>
                  <a:lnTo>
                    <a:pt x="0" y="199389"/>
                  </a:lnTo>
                  <a:lnTo>
                    <a:pt x="762" y="199389"/>
                  </a:lnTo>
                  <a:lnTo>
                    <a:pt x="1143" y="200659"/>
                  </a:lnTo>
                  <a:lnTo>
                    <a:pt x="1905" y="200659"/>
                  </a:lnTo>
                  <a:lnTo>
                    <a:pt x="2412" y="201930"/>
                  </a:lnTo>
                  <a:lnTo>
                    <a:pt x="3175" y="201930"/>
                  </a:lnTo>
                  <a:lnTo>
                    <a:pt x="3810" y="203200"/>
                  </a:lnTo>
                  <a:lnTo>
                    <a:pt x="5080" y="204469"/>
                  </a:lnTo>
                  <a:lnTo>
                    <a:pt x="8636" y="204469"/>
                  </a:lnTo>
                  <a:lnTo>
                    <a:pt x="9017" y="203200"/>
                  </a:lnTo>
                  <a:lnTo>
                    <a:pt x="9525" y="199389"/>
                  </a:lnTo>
                  <a:lnTo>
                    <a:pt x="10033" y="198119"/>
                  </a:lnTo>
                  <a:lnTo>
                    <a:pt x="24511" y="177800"/>
                  </a:lnTo>
                  <a:lnTo>
                    <a:pt x="26670" y="177800"/>
                  </a:lnTo>
                  <a:lnTo>
                    <a:pt x="28702" y="176530"/>
                  </a:lnTo>
                  <a:lnTo>
                    <a:pt x="54737" y="176530"/>
                  </a:lnTo>
                  <a:lnTo>
                    <a:pt x="53848" y="175259"/>
                  </a:lnTo>
                  <a:lnTo>
                    <a:pt x="51816" y="172719"/>
                  </a:lnTo>
                  <a:lnTo>
                    <a:pt x="49657" y="171450"/>
                  </a:lnTo>
                  <a:lnTo>
                    <a:pt x="47117" y="168909"/>
                  </a:lnTo>
                  <a:lnTo>
                    <a:pt x="44450" y="166369"/>
                  </a:lnTo>
                  <a:lnTo>
                    <a:pt x="41402" y="165100"/>
                  </a:lnTo>
                  <a:lnTo>
                    <a:pt x="38481" y="163830"/>
                  </a:lnTo>
                  <a:lnTo>
                    <a:pt x="35306" y="162559"/>
                  </a:lnTo>
                  <a:close/>
                </a:path>
                <a:path w="251460" h="261619">
                  <a:moveTo>
                    <a:pt x="88137" y="109219"/>
                  </a:moveTo>
                  <a:lnTo>
                    <a:pt x="83438" y="109219"/>
                  </a:lnTo>
                  <a:lnTo>
                    <a:pt x="74295" y="111759"/>
                  </a:lnTo>
                  <a:lnTo>
                    <a:pt x="54991" y="143509"/>
                  </a:lnTo>
                  <a:lnTo>
                    <a:pt x="56261" y="148589"/>
                  </a:lnTo>
                  <a:lnTo>
                    <a:pt x="57404" y="153669"/>
                  </a:lnTo>
                  <a:lnTo>
                    <a:pt x="82423" y="185419"/>
                  </a:lnTo>
                  <a:lnTo>
                    <a:pt x="98171" y="196850"/>
                  </a:lnTo>
                  <a:lnTo>
                    <a:pt x="103250" y="199389"/>
                  </a:lnTo>
                  <a:lnTo>
                    <a:pt x="112903" y="201930"/>
                  </a:lnTo>
                  <a:lnTo>
                    <a:pt x="117602" y="201930"/>
                  </a:lnTo>
                  <a:lnTo>
                    <a:pt x="126746" y="199389"/>
                  </a:lnTo>
                  <a:lnTo>
                    <a:pt x="131191" y="196850"/>
                  </a:lnTo>
                  <a:lnTo>
                    <a:pt x="135509" y="191769"/>
                  </a:lnTo>
                  <a:lnTo>
                    <a:pt x="137795" y="189230"/>
                  </a:lnTo>
                  <a:lnTo>
                    <a:pt x="114427" y="189230"/>
                  </a:lnTo>
                  <a:lnTo>
                    <a:pt x="110871" y="187959"/>
                  </a:lnTo>
                  <a:lnTo>
                    <a:pt x="107442" y="186689"/>
                  </a:lnTo>
                  <a:lnTo>
                    <a:pt x="103632" y="185419"/>
                  </a:lnTo>
                  <a:lnTo>
                    <a:pt x="95377" y="179069"/>
                  </a:lnTo>
                  <a:lnTo>
                    <a:pt x="90678" y="175259"/>
                  </a:lnTo>
                  <a:lnTo>
                    <a:pt x="81661" y="165100"/>
                  </a:lnTo>
                  <a:lnTo>
                    <a:pt x="78232" y="161289"/>
                  </a:lnTo>
                  <a:lnTo>
                    <a:pt x="72262" y="154939"/>
                  </a:lnTo>
                  <a:lnTo>
                    <a:pt x="70104" y="151130"/>
                  </a:lnTo>
                  <a:lnTo>
                    <a:pt x="67310" y="143509"/>
                  </a:lnTo>
                  <a:lnTo>
                    <a:pt x="66802" y="139700"/>
                  </a:lnTo>
                  <a:lnTo>
                    <a:pt x="67183" y="137159"/>
                  </a:lnTo>
                  <a:lnTo>
                    <a:pt x="67691" y="133350"/>
                  </a:lnTo>
                  <a:lnTo>
                    <a:pt x="69469" y="129539"/>
                  </a:lnTo>
                  <a:lnTo>
                    <a:pt x="74168" y="125730"/>
                  </a:lnTo>
                  <a:lnTo>
                    <a:pt x="75946" y="124459"/>
                  </a:lnTo>
                  <a:lnTo>
                    <a:pt x="77850" y="123189"/>
                  </a:lnTo>
                  <a:lnTo>
                    <a:pt x="79629" y="121919"/>
                  </a:lnTo>
                  <a:lnTo>
                    <a:pt x="114522" y="121919"/>
                  </a:lnTo>
                  <a:lnTo>
                    <a:pt x="113157" y="120650"/>
                  </a:lnTo>
                  <a:lnTo>
                    <a:pt x="108077" y="116839"/>
                  </a:lnTo>
                  <a:lnTo>
                    <a:pt x="102870" y="113030"/>
                  </a:lnTo>
                  <a:lnTo>
                    <a:pt x="97790" y="110489"/>
                  </a:lnTo>
                  <a:lnTo>
                    <a:pt x="92963" y="110489"/>
                  </a:lnTo>
                  <a:lnTo>
                    <a:pt x="88137" y="109219"/>
                  </a:lnTo>
                  <a:close/>
                </a:path>
                <a:path w="251460" h="261619">
                  <a:moveTo>
                    <a:pt x="114522" y="121919"/>
                  </a:moveTo>
                  <a:lnTo>
                    <a:pt x="87884" y="121919"/>
                  </a:lnTo>
                  <a:lnTo>
                    <a:pt x="92456" y="123189"/>
                  </a:lnTo>
                  <a:lnTo>
                    <a:pt x="94869" y="124459"/>
                  </a:lnTo>
                  <a:lnTo>
                    <a:pt x="97536" y="125730"/>
                  </a:lnTo>
                  <a:lnTo>
                    <a:pt x="100075" y="128269"/>
                  </a:lnTo>
                  <a:lnTo>
                    <a:pt x="102870" y="129539"/>
                  </a:lnTo>
                  <a:lnTo>
                    <a:pt x="108838" y="134619"/>
                  </a:lnTo>
                  <a:lnTo>
                    <a:pt x="112141" y="138430"/>
                  </a:lnTo>
                  <a:lnTo>
                    <a:pt x="115570" y="140969"/>
                  </a:lnTo>
                  <a:lnTo>
                    <a:pt x="132334" y="163830"/>
                  </a:lnTo>
                  <a:lnTo>
                    <a:pt x="133350" y="166369"/>
                  </a:lnTo>
                  <a:lnTo>
                    <a:pt x="133858" y="168909"/>
                  </a:lnTo>
                  <a:lnTo>
                    <a:pt x="133985" y="171450"/>
                  </a:lnTo>
                  <a:lnTo>
                    <a:pt x="134112" y="172719"/>
                  </a:lnTo>
                  <a:lnTo>
                    <a:pt x="133731" y="175259"/>
                  </a:lnTo>
                  <a:lnTo>
                    <a:pt x="131953" y="180339"/>
                  </a:lnTo>
                  <a:lnTo>
                    <a:pt x="130429" y="181609"/>
                  </a:lnTo>
                  <a:lnTo>
                    <a:pt x="128524" y="184150"/>
                  </a:lnTo>
                  <a:lnTo>
                    <a:pt x="125857" y="186689"/>
                  </a:lnTo>
                  <a:lnTo>
                    <a:pt x="123190" y="187959"/>
                  </a:lnTo>
                  <a:lnTo>
                    <a:pt x="120396" y="189230"/>
                  </a:lnTo>
                  <a:lnTo>
                    <a:pt x="137795" y="189230"/>
                  </a:lnTo>
                  <a:lnTo>
                    <a:pt x="140081" y="186689"/>
                  </a:lnTo>
                  <a:lnTo>
                    <a:pt x="143129" y="182880"/>
                  </a:lnTo>
                  <a:lnTo>
                    <a:pt x="145923" y="172719"/>
                  </a:lnTo>
                  <a:lnTo>
                    <a:pt x="146050" y="167639"/>
                  </a:lnTo>
                  <a:lnTo>
                    <a:pt x="144907" y="162559"/>
                  </a:lnTo>
                  <a:lnTo>
                    <a:pt x="143637" y="157480"/>
                  </a:lnTo>
                  <a:lnTo>
                    <a:pt x="141224" y="152400"/>
                  </a:lnTo>
                  <a:lnTo>
                    <a:pt x="134112" y="142239"/>
                  </a:lnTo>
                  <a:lnTo>
                    <a:pt x="129667" y="137159"/>
                  </a:lnTo>
                  <a:lnTo>
                    <a:pt x="124333" y="130809"/>
                  </a:lnTo>
                  <a:lnTo>
                    <a:pt x="118618" y="125730"/>
                  </a:lnTo>
                  <a:lnTo>
                    <a:pt x="114522" y="121919"/>
                  </a:lnTo>
                  <a:close/>
                </a:path>
                <a:path w="251460" h="261619">
                  <a:moveTo>
                    <a:pt x="146304" y="50800"/>
                  </a:moveTo>
                  <a:lnTo>
                    <a:pt x="141605" y="50800"/>
                  </a:lnTo>
                  <a:lnTo>
                    <a:pt x="132587" y="53339"/>
                  </a:lnTo>
                  <a:lnTo>
                    <a:pt x="113157" y="85089"/>
                  </a:lnTo>
                  <a:lnTo>
                    <a:pt x="115697" y="95250"/>
                  </a:lnTo>
                  <a:lnTo>
                    <a:pt x="140588" y="127000"/>
                  </a:lnTo>
                  <a:lnTo>
                    <a:pt x="151257" y="135889"/>
                  </a:lnTo>
                  <a:lnTo>
                    <a:pt x="156337" y="139700"/>
                  </a:lnTo>
                  <a:lnTo>
                    <a:pt x="161417" y="140969"/>
                  </a:lnTo>
                  <a:lnTo>
                    <a:pt x="171069" y="143509"/>
                  </a:lnTo>
                  <a:lnTo>
                    <a:pt x="175768" y="143509"/>
                  </a:lnTo>
                  <a:lnTo>
                    <a:pt x="184912" y="140969"/>
                  </a:lnTo>
                  <a:lnTo>
                    <a:pt x="189357" y="138430"/>
                  </a:lnTo>
                  <a:lnTo>
                    <a:pt x="197085" y="130809"/>
                  </a:lnTo>
                  <a:lnTo>
                    <a:pt x="172593" y="130809"/>
                  </a:lnTo>
                  <a:lnTo>
                    <a:pt x="169163" y="129539"/>
                  </a:lnTo>
                  <a:lnTo>
                    <a:pt x="165608" y="128269"/>
                  </a:lnTo>
                  <a:lnTo>
                    <a:pt x="161798" y="127000"/>
                  </a:lnTo>
                  <a:lnTo>
                    <a:pt x="157734" y="123189"/>
                  </a:lnTo>
                  <a:lnTo>
                    <a:pt x="133477" y="100330"/>
                  </a:lnTo>
                  <a:lnTo>
                    <a:pt x="130429" y="96519"/>
                  </a:lnTo>
                  <a:lnTo>
                    <a:pt x="128270" y="92709"/>
                  </a:lnTo>
                  <a:lnTo>
                    <a:pt x="125475" y="85089"/>
                  </a:lnTo>
                  <a:lnTo>
                    <a:pt x="124968" y="81280"/>
                  </a:lnTo>
                  <a:lnTo>
                    <a:pt x="125475" y="78739"/>
                  </a:lnTo>
                  <a:lnTo>
                    <a:pt x="125730" y="76200"/>
                  </a:lnTo>
                  <a:lnTo>
                    <a:pt x="125857" y="74930"/>
                  </a:lnTo>
                  <a:lnTo>
                    <a:pt x="127635" y="72389"/>
                  </a:lnTo>
                  <a:lnTo>
                    <a:pt x="130683" y="68580"/>
                  </a:lnTo>
                  <a:lnTo>
                    <a:pt x="137795" y="63500"/>
                  </a:lnTo>
                  <a:lnTo>
                    <a:pt x="172815" y="63500"/>
                  </a:lnTo>
                  <a:lnTo>
                    <a:pt x="171450" y="62230"/>
                  </a:lnTo>
                  <a:lnTo>
                    <a:pt x="161036" y="54609"/>
                  </a:lnTo>
                  <a:lnTo>
                    <a:pt x="155956" y="53339"/>
                  </a:lnTo>
                  <a:lnTo>
                    <a:pt x="146304" y="50800"/>
                  </a:lnTo>
                  <a:close/>
                </a:path>
                <a:path w="251460" h="261619">
                  <a:moveTo>
                    <a:pt x="172815" y="63500"/>
                  </a:moveTo>
                  <a:lnTo>
                    <a:pt x="146050" y="63500"/>
                  </a:lnTo>
                  <a:lnTo>
                    <a:pt x="148336" y="64769"/>
                  </a:lnTo>
                  <a:lnTo>
                    <a:pt x="150622" y="64769"/>
                  </a:lnTo>
                  <a:lnTo>
                    <a:pt x="153035" y="66039"/>
                  </a:lnTo>
                  <a:lnTo>
                    <a:pt x="155702" y="67309"/>
                  </a:lnTo>
                  <a:lnTo>
                    <a:pt x="158242" y="69850"/>
                  </a:lnTo>
                  <a:lnTo>
                    <a:pt x="161036" y="71119"/>
                  </a:lnTo>
                  <a:lnTo>
                    <a:pt x="167005" y="76200"/>
                  </a:lnTo>
                  <a:lnTo>
                    <a:pt x="170307" y="80009"/>
                  </a:lnTo>
                  <a:lnTo>
                    <a:pt x="173736" y="82550"/>
                  </a:lnTo>
                  <a:lnTo>
                    <a:pt x="190500" y="105409"/>
                  </a:lnTo>
                  <a:lnTo>
                    <a:pt x="191516" y="107950"/>
                  </a:lnTo>
                  <a:lnTo>
                    <a:pt x="192024" y="110489"/>
                  </a:lnTo>
                  <a:lnTo>
                    <a:pt x="192150" y="113030"/>
                  </a:lnTo>
                  <a:lnTo>
                    <a:pt x="192278" y="114300"/>
                  </a:lnTo>
                  <a:lnTo>
                    <a:pt x="191897" y="116839"/>
                  </a:lnTo>
                  <a:lnTo>
                    <a:pt x="190119" y="121919"/>
                  </a:lnTo>
                  <a:lnTo>
                    <a:pt x="188722" y="123189"/>
                  </a:lnTo>
                  <a:lnTo>
                    <a:pt x="184150" y="128269"/>
                  </a:lnTo>
                  <a:lnTo>
                    <a:pt x="178562" y="130809"/>
                  </a:lnTo>
                  <a:lnTo>
                    <a:pt x="197085" y="130809"/>
                  </a:lnTo>
                  <a:lnTo>
                    <a:pt x="198374" y="129539"/>
                  </a:lnTo>
                  <a:lnTo>
                    <a:pt x="201295" y="124459"/>
                  </a:lnTo>
                  <a:lnTo>
                    <a:pt x="202692" y="119380"/>
                  </a:lnTo>
                  <a:lnTo>
                    <a:pt x="204216" y="114300"/>
                  </a:lnTo>
                  <a:lnTo>
                    <a:pt x="204216" y="109219"/>
                  </a:lnTo>
                  <a:lnTo>
                    <a:pt x="203073" y="104139"/>
                  </a:lnTo>
                  <a:lnTo>
                    <a:pt x="201803" y="99059"/>
                  </a:lnTo>
                  <a:lnTo>
                    <a:pt x="199390" y="93980"/>
                  </a:lnTo>
                  <a:lnTo>
                    <a:pt x="192278" y="83819"/>
                  </a:lnTo>
                  <a:lnTo>
                    <a:pt x="187960" y="78739"/>
                  </a:lnTo>
                  <a:lnTo>
                    <a:pt x="182625" y="72389"/>
                  </a:lnTo>
                  <a:lnTo>
                    <a:pt x="176911" y="67309"/>
                  </a:lnTo>
                  <a:lnTo>
                    <a:pt x="172815" y="63500"/>
                  </a:lnTo>
                  <a:close/>
                </a:path>
                <a:path w="251460" h="261619">
                  <a:moveTo>
                    <a:pt x="224409" y="97789"/>
                  </a:moveTo>
                  <a:lnTo>
                    <a:pt x="220725" y="97789"/>
                  </a:lnTo>
                  <a:lnTo>
                    <a:pt x="221361" y="99059"/>
                  </a:lnTo>
                  <a:lnTo>
                    <a:pt x="223520" y="99059"/>
                  </a:lnTo>
                  <a:lnTo>
                    <a:pt x="224409" y="97789"/>
                  </a:lnTo>
                  <a:close/>
                </a:path>
                <a:path w="251460" h="261619">
                  <a:moveTo>
                    <a:pt x="227837" y="96519"/>
                  </a:moveTo>
                  <a:lnTo>
                    <a:pt x="219202" y="96519"/>
                  </a:lnTo>
                  <a:lnTo>
                    <a:pt x="219963" y="97789"/>
                  </a:lnTo>
                  <a:lnTo>
                    <a:pt x="226568" y="97789"/>
                  </a:lnTo>
                  <a:lnTo>
                    <a:pt x="227837" y="96519"/>
                  </a:lnTo>
                  <a:close/>
                </a:path>
                <a:path w="251460" h="261619">
                  <a:moveTo>
                    <a:pt x="242824" y="35559"/>
                  </a:moveTo>
                  <a:lnTo>
                    <a:pt x="227075" y="35559"/>
                  </a:lnTo>
                  <a:lnTo>
                    <a:pt x="230378" y="39369"/>
                  </a:lnTo>
                  <a:lnTo>
                    <a:pt x="233045" y="43180"/>
                  </a:lnTo>
                  <a:lnTo>
                    <a:pt x="237362" y="50800"/>
                  </a:lnTo>
                  <a:lnTo>
                    <a:pt x="238760" y="54609"/>
                  </a:lnTo>
                  <a:lnTo>
                    <a:pt x="239522" y="58419"/>
                  </a:lnTo>
                  <a:lnTo>
                    <a:pt x="239945" y="60959"/>
                  </a:lnTo>
                  <a:lnTo>
                    <a:pt x="239903" y="66039"/>
                  </a:lnTo>
                  <a:lnTo>
                    <a:pt x="237617" y="73659"/>
                  </a:lnTo>
                  <a:lnTo>
                    <a:pt x="235331" y="77469"/>
                  </a:lnTo>
                  <a:lnTo>
                    <a:pt x="229997" y="82550"/>
                  </a:lnTo>
                  <a:lnTo>
                    <a:pt x="228219" y="83819"/>
                  </a:lnTo>
                  <a:lnTo>
                    <a:pt x="226568" y="85089"/>
                  </a:lnTo>
                  <a:lnTo>
                    <a:pt x="224790" y="86359"/>
                  </a:lnTo>
                  <a:lnTo>
                    <a:pt x="223266" y="87630"/>
                  </a:lnTo>
                  <a:lnTo>
                    <a:pt x="221742" y="87630"/>
                  </a:lnTo>
                  <a:lnTo>
                    <a:pt x="219202" y="88900"/>
                  </a:lnTo>
                  <a:lnTo>
                    <a:pt x="218186" y="90169"/>
                  </a:lnTo>
                  <a:lnTo>
                    <a:pt x="216535" y="90169"/>
                  </a:lnTo>
                  <a:lnTo>
                    <a:pt x="215646" y="91439"/>
                  </a:lnTo>
                  <a:lnTo>
                    <a:pt x="215773" y="92709"/>
                  </a:lnTo>
                  <a:lnTo>
                    <a:pt x="216027" y="93980"/>
                  </a:lnTo>
                  <a:lnTo>
                    <a:pt x="216788" y="95250"/>
                  </a:lnTo>
                  <a:lnTo>
                    <a:pt x="217424" y="95250"/>
                  </a:lnTo>
                  <a:lnTo>
                    <a:pt x="218186" y="96519"/>
                  </a:lnTo>
                  <a:lnTo>
                    <a:pt x="229362" y="96519"/>
                  </a:lnTo>
                  <a:lnTo>
                    <a:pt x="230759" y="95250"/>
                  </a:lnTo>
                  <a:lnTo>
                    <a:pt x="232283" y="93980"/>
                  </a:lnTo>
                  <a:lnTo>
                    <a:pt x="247650" y="76200"/>
                  </a:lnTo>
                  <a:lnTo>
                    <a:pt x="249682" y="72389"/>
                  </a:lnTo>
                  <a:lnTo>
                    <a:pt x="251375" y="58419"/>
                  </a:lnTo>
                  <a:lnTo>
                    <a:pt x="251206" y="55880"/>
                  </a:lnTo>
                  <a:lnTo>
                    <a:pt x="250062" y="52069"/>
                  </a:lnTo>
                  <a:lnTo>
                    <a:pt x="249047" y="48259"/>
                  </a:lnTo>
                  <a:lnTo>
                    <a:pt x="247523" y="44450"/>
                  </a:lnTo>
                  <a:lnTo>
                    <a:pt x="245618" y="40639"/>
                  </a:lnTo>
                  <a:lnTo>
                    <a:pt x="243586" y="36830"/>
                  </a:lnTo>
                  <a:lnTo>
                    <a:pt x="242824" y="35559"/>
                  </a:lnTo>
                  <a:close/>
                </a:path>
                <a:path w="251460" h="261619">
                  <a:moveTo>
                    <a:pt x="198374" y="0"/>
                  </a:moveTo>
                  <a:lnTo>
                    <a:pt x="195325" y="0"/>
                  </a:lnTo>
                  <a:lnTo>
                    <a:pt x="189357" y="1269"/>
                  </a:lnTo>
                  <a:lnTo>
                    <a:pt x="186309" y="1269"/>
                  </a:lnTo>
                  <a:lnTo>
                    <a:pt x="183387" y="2539"/>
                  </a:lnTo>
                  <a:lnTo>
                    <a:pt x="180340" y="5080"/>
                  </a:lnTo>
                  <a:lnTo>
                    <a:pt x="177419" y="6350"/>
                  </a:lnTo>
                  <a:lnTo>
                    <a:pt x="163449" y="30480"/>
                  </a:lnTo>
                  <a:lnTo>
                    <a:pt x="163787" y="35559"/>
                  </a:lnTo>
                  <a:lnTo>
                    <a:pt x="163872" y="36830"/>
                  </a:lnTo>
                  <a:lnTo>
                    <a:pt x="163957" y="38100"/>
                  </a:lnTo>
                  <a:lnTo>
                    <a:pt x="164973" y="41909"/>
                  </a:lnTo>
                  <a:lnTo>
                    <a:pt x="166878" y="45719"/>
                  </a:lnTo>
                  <a:lnTo>
                    <a:pt x="168656" y="49530"/>
                  </a:lnTo>
                  <a:lnTo>
                    <a:pt x="171196" y="53339"/>
                  </a:lnTo>
                  <a:lnTo>
                    <a:pt x="174244" y="55880"/>
                  </a:lnTo>
                  <a:lnTo>
                    <a:pt x="177165" y="59689"/>
                  </a:lnTo>
                  <a:lnTo>
                    <a:pt x="180340" y="60959"/>
                  </a:lnTo>
                  <a:lnTo>
                    <a:pt x="183515" y="63500"/>
                  </a:lnTo>
                  <a:lnTo>
                    <a:pt x="186690" y="64769"/>
                  </a:lnTo>
                  <a:lnTo>
                    <a:pt x="189992" y="66039"/>
                  </a:lnTo>
                  <a:lnTo>
                    <a:pt x="200406" y="66039"/>
                  </a:lnTo>
                  <a:lnTo>
                    <a:pt x="204088" y="64769"/>
                  </a:lnTo>
                  <a:lnTo>
                    <a:pt x="207772" y="62230"/>
                  </a:lnTo>
                  <a:lnTo>
                    <a:pt x="211582" y="59689"/>
                  </a:lnTo>
                  <a:lnTo>
                    <a:pt x="215392" y="55880"/>
                  </a:lnTo>
                  <a:lnTo>
                    <a:pt x="217678" y="53339"/>
                  </a:lnTo>
                  <a:lnTo>
                    <a:pt x="193802" y="53339"/>
                  </a:lnTo>
                  <a:lnTo>
                    <a:pt x="191516" y="52069"/>
                  </a:lnTo>
                  <a:lnTo>
                    <a:pt x="185038" y="48259"/>
                  </a:lnTo>
                  <a:lnTo>
                    <a:pt x="180975" y="44450"/>
                  </a:lnTo>
                  <a:lnTo>
                    <a:pt x="179450" y="41909"/>
                  </a:lnTo>
                  <a:lnTo>
                    <a:pt x="178181" y="39369"/>
                  </a:lnTo>
                  <a:lnTo>
                    <a:pt x="176784" y="38100"/>
                  </a:lnTo>
                  <a:lnTo>
                    <a:pt x="176022" y="35559"/>
                  </a:lnTo>
                  <a:lnTo>
                    <a:pt x="175260" y="30480"/>
                  </a:lnTo>
                  <a:lnTo>
                    <a:pt x="175387" y="29209"/>
                  </a:lnTo>
                  <a:lnTo>
                    <a:pt x="188213" y="12700"/>
                  </a:lnTo>
                  <a:lnTo>
                    <a:pt x="222059" y="12700"/>
                  </a:lnTo>
                  <a:lnTo>
                    <a:pt x="220472" y="11430"/>
                  </a:lnTo>
                  <a:lnTo>
                    <a:pt x="217170" y="8889"/>
                  </a:lnTo>
                  <a:lnTo>
                    <a:pt x="213995" y="6350"/>
                  </a:lnTo>
                  <a:lnTo>
                    <a:pt x="210947" y="5080"/>
                  </a:lnTo>
                  <a:lnTo>
                    <a:pt x="204597" y="2539"/>
                  </a:lnTo>
                  <a:lnTo>
                    <a:pt x="201549" y="1269"/>
                  </a:lnTo>
                  <a:lnTo>
                    <a:pt x="198374" y="0"/>
                  </a:lnTo>
                  <a:close/>
                </a:path>
                <a:path w="251460" h="261619">
                  <a:moveTo>
                    <a:pt x="222059" y="12700"/>
                  </a:moveTo>
                  <a:lnTo>
                    <a:pt x="196850" y="12700"/>
                  </a:lnTo>
                  <a:lnTo>
                    <a:pt x="199898" y="13969"/>
                  </a:lnTo>
                  <a:lnTo>
                    <a:pt x="203327" y="15239"/>
                  </a:lnTo>
                  <a:lnTo>
                    <a:pt x="207137" y="17780"/>
                  </a:lnTo>
                  <a:lnTo>
                    <a:pt x="210820" y="20319"/>
                  </a:lnTo>
                  <a:lnTo>
                    <a:pt x="215011" y="24130"/>
                  </a:lnTo>
                  <a:lnTo>
                    <a:pt x="219583" y="29209"/>
                  </a:lnTo>
                  <a:lnTo>
                    <a:pt x="219075" y="31750"/>
                  </a:lnTo>
                  <a:lnTo>
                    <a:pt x="217932" y="35559"/>
                  </a:lnTo>
                  <a:lnTo>
                    <a:pt x="216281" y="38100"/>
                  </a:lnTo>
                  <a:lnTo>
                    <a:pt x="214503" y="41909"/>
                  </a:lnTo>
                  <a:lnTo>
                    <a:pt x="212344" y="44450"/>
                  </a:lnTo>
                  <a:lnTo>
                    <a:pt x="209677" y="46989"/>
                  </a:lnTo>
                  <a:lnTo>
                    <a:pt x="207263" y="49530"/>
                  </a:lnTo>
                  <a:lnTo>
                    <a:pt x="200406" y="53339"/>
                  </a:lnTo>
                  <a:lnTo>
                    <a:pt x="217678" y="53339"/>
                  </a:lnTo>
                  <a:lnTo>
                    <a:pt x="218821" y="52069"/>
                  </a:lnTo>
                  <a:lnTo>
                    <a:pt x="221487" y="49530"/>
                  </a:lnTo>
                  <a:lnTo>
                    <a:pt x="225044" y="41909"/>
                  </a:lnTo>
                  <a:lnTo>
                    <a:pt x="226313" y="39369"/>
                  </a:lnTo>
                  <a:lnTo>
                    <a:pt x="227075" y="35559"/>
                  </a:lnTo>
                  <a:lnTo>
                    <a:pt x="242824" y="35559"/>
                  </a:lnTo>
                  <a:lnTo>
                    <a:pt x="241300" y="33019"/>
                  </a:lnTo>
                  <a:lnTo>
                    <a:pt x="238506" y="30480"/>
                  </a:lnTo>
                  <a:lnTo>
                    <a:pt x="235838" y="26669"/>
                  </a:lnTo>
                  <a:lnTo>
                    <a:pt x="232918" y="22859"/>
                  </a:lnTo>
                  <a:lnTo>
                    <a:pt x="229997" y="20319"/>
                  </a:lnTo>
                  <a:lnTo>
                    <a:pt x="226822" y="16509"/>
                  </a:lnTo>
                  <a:lnTo>
                    <a:pt x="222059" y="127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8226" y="2776981"/>
              <a:ext cx="541782" cy="26035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690616" y="2765551"/>
              <a:ext cx="527050" cy="271780"/>
            </a:xfrm>
            <a:custGeom>
              <a:avLst/>
              <a:gdLst/>
              <a:ahLst/>
              <a:cxnLst/>
              <a:rect l="l" t="t" r="r" b="b"/>
              <a:pathLst>
                <a:path w="527050" h="271780">
                  <a:moveTo>
                    <a:pt x="103886" y="231152"/>
                  </a:moveTo>
                  <a:lnTo>
                    <a:pt x="103759" y="229870"/>
                  </a:lnTo>
                  <a:lnTo>
                    <a:pt x="103378" y="228600"/>
                  </a:lnTo>
                  <a:lnTo>
                    <a:pt x="102616" y="227330"/>
                  </a:lnTo>
                  <a:lnTo>
                    <a:pt x="102108" y="227330"/>
                  </a:lnTo>
                  <a:lnTo>
                    <a:pt x="101473" y="226072"/>
                  </a:lnTo>
                  <a:lnTo>
                    <a:pt x="100838" y="226072"/>
                  </a:lnTo>
                  <a:lnTo>
                    <a:pt x="100203" y="224802"/>
                  </a:lnTo>
                  <a:lnTo>
                    <a:pt x="95504" y="224802"/>
                  </a:lnTo>
                  <a:lnTo>
                    <a:pt x="65278" y="255270"/>
                  </a:lnTo>
                  <a:lnTo>
                    <a:pt x="64795" y="233680"/>
                  </a:lnTo>
                  <a:lnTo>
                    <a:pt x="64681" y="227330"/>
                  </a:lnTo>
                  <a:lnTo>
                    <a:pt x="64643" y="224802"/>
                  </a:lnTo>
                  <a:lnTo>
                    <a:pt x="64262" y="217170"/>
                  </a:lnTo>
                  <a:lnTo>
                    <a:pt x="63500" y="212102"/>
                  </a:lnTo>
                  <a:lnTo>
                    <a:pt x="62865" y="207022"/>
                  </a:lnTo>
                  <a:lnTo>
                    <a:pt x="61849" y="201930"/>
                  </a:lnTo>
                  <a:lnTo>
                    <a:pt x="60579" y="198120"/>
                  </a:lnTo>
                  <a:lnTo>
                    <a:pt x="59182" y="194322"/>
                  </a:lnTo>
                  <a:lnTo>
                    <a:pt x="57658" y="190500"/>
                  </a:lnTo>
                  <a:lnTo>
                    <a:pt x="54991" y="186702"/>
                  </a:lnTo>
                  <a:lnTo>
                    <a:pt x="54102" y="185420"/>
                  </a:lnTo>
                  <a:lnTo>
                    <a:pt x="52070" y="182880"/>
                  </a:lnTo>
                  <a:lnTo>
                    <a:pt x="49911" y="181622"/>
                  </a:lnTo>
                  <a:lnTo>
                    <a:pt x="47371" y="179070"/>
                  </a:lnTo>
                  <a:lnTo>
                    <a:pt x="44704" y="176530"/>
                  </a:lnTo>
                  <a:lnTo>
                    <a:pt x="38608" y="174002"/>
                  </a:lnTo>
                  <a:lnTo>
                    <a:pt x="35433" y="172720"/>
                  </a:lnTo>
                  <a:lnTo>
                    <a:pt x="28829" y="174002"/>
                  </a:lnTo>
                  <a:lnTo>
                    <a:pt x="25527" y="174002"/>
                  </a:lnTo>
                  <a:lnTo>
                    <a:pt x="7874" y="187972"/>
                  </a:lnTo>
                  <a:lnTo>
                    <a:pt x="6350" y="189230"/>
                  </a:lnTo>
                  <a:lnTo>
                    <a:pt x="4826" y="191770"/>
                  </a:lnTo>
                  <a:lnTo>
                    <a:pt x="3683" y="194322"/>
                  </a:lnTo>
                  <a:lnTo>
                    <a:pt x="2667" y="196850"/>
                  </a:lnTo>
                  <a:lnTo>
                    <a:pt x="1016" y="200672"/>
                  </a:lnTo>
                  <a:lnTo>
                    <a:pt x="635" y="203200"/>
                  </a:lnTo>
                  <a:lnTo>
                    <a:pt x="254" y="204470"/>
                  </a:lnTo>
                  <a:lnTo>
                    <a:pt x="0" y="205752"/>
                  </a:lnTo>
                  <a:lnTo>
                    <a:pt x="127" y="208280"/>
                  </a:lnTo>
                  <a:lnTo>
                    <a:pt x="254" y="209550"/>
                  </a:lnTo>
                  <a:lnTo>
                    <a:pt x="889" y="209550"/>
                  </a:lnTo>
                  <a:lnTo>
                    <a:pt x="1270" y="210820"/>
                  </a:lnTo>
                  <a:lnTo>
                    <a:pt x="2159" y="210820"/>
                  </a:lnTo>
                  <a:lnTo>
                    <a:pt x="2667" y="212102"/>
                  </a:lnTo>
                  <a:lnTo>
                    <a:pt x="3429" y="212102"/>
                  </a:lnTo>
                  <a:lnTo>
                    <a:pt x="4064" y="213372"/>
                  </a:lnTo>
                  <a:lnTo>
                    <a:pt x="5334" y="214630"/>
                  </a:lnTo>
                  <a:lnTo>
                    <a:pt x="8763" y="214630"/>
                  </a:lnTo>
                  <a:lnTo>
                    <a:pt x="9525" y="212102"/>
                  </a:lnTo>
                  <a:lnTo>
                    <a:pt x="9652" y="210820"/>
                  </a:lnTo>
                  <a:lnTo>
                    <a:pt x="9779" y="209550"/>
                  </a:lnTo>
                  <a:lnTo>
                    <a:pt x="10287" y="208280"/>
                  </a:lnTo>
                  <a:lnTo>
                    <a:pt x="11557" y="204470"/>
                  </a:lnTo>
                  <a:lnTo>
                    <a:pt x="12446" y="201930"/>
                  </a:lnTo>
                  <a:lnTo>
                    <a:pt x="24765" y="187972"/>
                  </a:lnTo>
                  <a:lnTo>
                    <a:pt x="26797" y="187972"/>
                  </a:lnTo>
                  <a:lnTo>
                    <a:pt x="28829" y="186702"/>
                  </a:lnTo>
                  <a:lnTo>
                    <a:pt x="32893" y="186702"/>
                  </a:lnTo>
                  <a:lnTo>
                    <a:pt x="34925" y="187972"/>
                  </a:lnTo>
                  <a:lnTo>
                    <a:pt x="36703" y="187972"/>
                  </a:lnTo>
                  <a:lnTo>
                    <a:pt x="46355" y="198120"/>
                  </a:lnTo>
                  <a:lnTo>
                    <a:pt x="47752" y="199402"/>
                  </a:lnTo>
                  <a:lnTo>
                    <a:pt x="49022" y="201930"/>
                  </a:lnTo>
                  <a:lnTo>
                    <a:pt x="50165" y="205752"/>
                  </a:lnTo>
                  <a:lnTo>
                    <a:pt x="51181" y="208280"/>
                  </a:lnTo>
                  <a:lnTo>
                    <a:pt x="54140" y="255270"/>
                  </a:lnTo>
                  <a:lnTo>
                    <a:pt x="54229" y="261620"/>
                  </a:lnTo>
                  <a:lnTo>
                    <a:pt x="54356" y="262902"/>
                  </a:lnTo>
                  <a:lnTo>
                    <a:pt x="54483" y="264172"/>
                  </a:lnTo>
                  <a:lnTo>
                    <a:pt x="54610" y="265430"/>
                  </a:lnTo>
                  <a:lnTo>
                    <a:pt x="54864" y="265430"/>
                  </a:lnTo>
                  <a:lnTo>
                    <a:pt x="55118" y="266700"/>
                  </a:lnTo>
                  <a:lnTo>
                    <a:pt x="55626" y="267970"/>
                  </a:lnTo>
                  <a:lnTo>
                    <a:pt x="56642" y="267970"/>
                  </a:lnTo>
                  <a:lnTo>
                    <a:pt x="57150" y="269252"/>
                  </a:lnTo>
                  <a:lnTo>
                    <a:pt x="58674" y="270522"/>
                  </a:lnTo>
                  <a:lnTo>
                    <a:pt x="59436" y="271780"/>
                  </a:lnTo>
                  <a:lnTo>
                    <a:pt x="64516" y="271780"/>
                  </a:lnTo>
                  <a:lnTo>
                    <a:pt x="80810" y="255270"/>
                  </a:lnTo>
                  <a:lnTo>
                    <a:pt x="103378" y="232422"/>
                  </a:lnTo>
                  <a:lnTo>
                    <a:pt x="103886" y="231152"/>
                  </a:lnTo>
                  <a:close/>
                </a:path>
                <a:path w="527050" h="271780">
                  <a:moveTo>
                    <a:pt x="146304" y="177800"/>
                  </a:moveTo>
                  <a:lnTo>
                    <a:pt x="145034" y="172720"/>
                  </a:lnTo>
                  <a:lnTo>
                    <a:pt x="143891" y="167652"/>
                  </a:lnTo>
                  <a:lnTo>
                    <a:pt x="141478" y="162572"/>
                  </a:lnTo>
                  <a:lnTo>
                    <a:pt x="134366" y="152400"/>
                  </a:lnTo>
                  <a:lnTo>
                    <a:pt x="134239" y="152260"/>
                  </a:lnTo>
                  <a:lnTo>
                    <a:pt x="134239" y="182880"/>
                  </a:lnTo>
                  <a:lnTo>
                    <a:pt x="133858" y="185420"/>
                  </a:lnTo>
                  <a:lnTo>
                    <a:pt x="132080" y="190500"/>
                  </a:lnTo>
                  <a:lnTo>
                    <a:pt x="130683" y="191770"/>
                  </a:lnTo>
                  <a:lnTo>
                    <a:pt x="126111" y="196850"/>
                  </a:lnTo>
                  <a:lnTo>
                    <a:pt x="123444" y="198120"/>
                  </a:lnTo>
                  <a:lnTo>
                    <a:pt x="120523" y="199402"/>
                  </a:lnTo>
                  <a:lnTo>
                    <a:pt x="114554" y="199402"/>
                  </a:lnTo>
                  <a:lnTo>
                    <a:pt x="107696" y="196850"/>
                  </a:lnTo>
                  <a:lnTo>
                    <a:pt x="103886" y="195580"/>
                  </a:lnTo>
                  <a:lnTo>
                    <a:pt x="99695" y="191770"/>
                  </a:lnTo>
                  <a:lnTo>
                    <a:pt x="95504" y="189230"/>
                  </a:lnTo>
                  <a:lnTo>
                    <a:pt x="90805" y="185420"/>
                  </a:lnTo>
                  <a:lnTo>
                    <a:pt x="85725" y="179070"/>
                  </a:lnTo>
                  <a:lnTo>
                    <a:pt x="81788" y="175272"/>
                  </a:lnTo>
                  <a:lnTo>
                    <a:pt x="78359" y="171450"/>
                  </a:lnTo>
                  <a:lnTo>
                    <a:pt x="75438" y="167652"/>
                  </a:lnTo>
                  <a:lnTo>
                    <a:pt x="72517" y="165100"/>
                  </a:lnTo>
                  <a:lnTo>
                    <a:pt x="70231" y="161302"/>
                  </a:lnTo>
                  <a:lnTo>
                    <a:pt x="67437" y="153670"/>
                  </a:lnTo>
                  <a:lnTo>
                    <a:pt x="66929" y="149872"/>
                  </a:lnTo>
                  <a:lnTo>
                    <a:pt x="67945" y="143522"/>
                  </a:lnTo>
                  <a:lnTo>
                    <a:pt x="69723" y="139700"/>
                  </a:lnTo>
                  <a:lnTo>
                    <a:pt x="74422" y="135902"/>
                  </a:lnTo>
                  <a:lnTo>
                    <a:pt x="77978" y="133350"/>
                  </a:lnTo>
                  <a:lnTo>
                    <a:pt x="79883" y="132080"/>
                  </a:lnTo>
                  <a:lnTo>
                    <a:pt x="88138" y="132080"/>
                  </a:lnTo>
                  <a:lnTo>
                    <a:pt x="92710" y="133350"/>
                  </a:lnTo>
                  <a:lnTo>
                    <a:pt x="95123" y="134620"/>
                  </a:lnTo>
                  <a:lnTo>
                    <a:pt x="97663" y="135902"/>
                  </a:lnTo>
                  <a:lnTo>
                    <a:pt x="100330" y="138430"/>
                  </a:lnTo>
                  <a:lnTo>
                    <a:pt x="103124" y="139700"/>
                  </a:lnTo>
                  <a:lnTo>
                    <a:pt x="106045" y="142252"/>
                  </a:lnTo>
                  <a:lnTo>
                    <a:pt x="109093" y="144780"/>
                  </a:lnTo>
                  <a:lnTo>
                    <a:pt x="115824" y="151130"/>
                  </a:lnTo>
                  <a:lnTo>
                    <a:pt x="120777" y="156222"/>
                  </a:lnTo>
                  <a:lnTo>
                    <a:pt x="122936" y="158750"/>
                  </a:lnTo>
                  <a:lnTo>
                    <a:pt x="125222" y="161302"/>
                  </a:lnTo>
                  <a:lnTo>
                    <a:pt x="127127" y="163830"/>
                  </a:lnTo>
                  <a:lnTo>
                    <a:pt x="128651" y="166370"/>
                  </a:lnTo>
                  <a:lnTo>
                    <a:pt x="130302" y="168922"/>
                  </a:lnTo>
                  <a:lnTo>
                    <a:pt x="134239" y="182880"/>
                  </a:lnTo>
                  <a:lnTo>
                    <a:pt x="134239" y="152260"/>
                  </a:lnTo>
                  <a:lnTo>
                    <a:pt x="129921" y="147320"/>
                  </a:lnTo>
                  <a:lnTo>
                    <a:pt x="124587" y="140970"/>
                  </a:lnTo>
                  <a:lnTo>
                    <a:pt x="118872" y="135902"/>
                  </a:lnTo>
                  <a:lnTo>
                    <a:pt x="114769" y="132080"/>
                  </a:lnTo>
                  <a:lnTo>
                    <a:pt x="113411" y="130822"/>
                  </a:lnTo>
                  <a:lnTo>
                    <a:pt x="102997" y="123202"/>
                  </a:lnTo>
                  <a:lnTo>
                    <a:pt x="98044" y="120650"/>
                  </a:lnTo>
                  <a:lnTo>
                    <a:pt x="93218" y="120650"/>
                  </a:lnTo>
                  <a:lnTo>
                    <a:pt x="88392" y="119380"/>
                  </a:lnTo>
                  <a:lnTo>
                    <a:pt x="83693" y="119380"/>
                  </a:lnTo>
                  <a:lnTo>
                    <a:pt x="74549" y="121920"/>
                  </a:lnTo>
                  <a:lnTo>
                    <a:pt x="70104" y="124472"/>
                  </a:lnTo>
                  <a:lnTo>
                    <a:pt x="65659" y="129552"/>
                  </a:lnTo>
                  <a:lnTo>
                    <a:pt x="61087" y="133350"/>
                  </a:lnTo>
                  <a:lnTo>
                    <a:pt x="58166" y="138430"/>
                  </a:lnTo>
                  <a:lnTo>
                    <a:pt x="56642" y="143522"/>
                  </a:lnTo>
                  <a:lnTo>
                    <a:pt x="55245" y="148602"/>
                  </a:lnTo>
                  <a:lnTo>
                    <a:pt x="55245" y="153670"/>
                  </a:lnTo>
                  <a:lnTo>
                    <a:pt x="76835" y="189230"/>
                  </a:lnTo>
                  <a:lnTo>
                    <a:pt x="82550" y="195580"/>
                  </a:lnTo>
                  <a:lnTo>
                    <a:pt x="88011" y="200672"/>
                  </a:lnTo>
                  <a:lnTo>
                    <a:pt x="98425" y="207022"/>
                  </a:lnTo>
                  <a:lnTo>
                    <a:pt x="103378" y="209550"/>
                  </a:lnTo>
                  <a:lnTo>
                    <a:pt x="113157" y="212102"/>
                  </a:lnTo>
                  <a:lnTo>
                    <a:pt x="117856" y="212102"/>
                  </a:lnTo>
                  <a:lnTo>
                    <a:pt x="126873" y="209550"/>
                  </a:lnTo>
                  <a:lnTo>
                    <a:pt x="131318" y="207022"/>
                  </a:lnTo>
                  <a:lnTo>
                    <a:pt x="135763" y="201930"/>
                  </a:lnTo>
                  <a:lnTo>
                    <a:pt x="138049" y="199402"/>
                  </a:lnTo>
                  <a:lnTo>
                    <a:pt x="140335" y="196850"/>
                  </a:lnTo>
                  <a:lnTo>
                    <a:pt x="143383" y="193052"/>
                  </a:lnTo>
                  <a:lnTo>
                    <a:pt x="146177" y="182880"/>
                  </a:lnTo>
                  <a:lnTo>
                    <a:pt x="146265" y="179070"/>
                  </a:lnTo>
                  <a:lnTo>
                    <a:pt x="146304" y="177800"/>
                  </a:lnTo>
                  <a:close/>
                </a:path>
                <a:path w="527050" h="271780">
                  <a:moveTo>
                    <a:pt x="213868" y="121920"/>
                  </a:moveTo>
                  <a:lnTo>
                    <a:pt x="213741" y="119380"/>
                  </a:lnTo>
                  <a:lnTo>
                    <a:pt x="213360" y="118122"/>
                  </a:lnTo>
                  <a:lnTo>
                    <a:pt x="213106" y="118122"/>
                  </a:lnTo>
                  <a:lnTo>
                    <a:pt x="211836" y="116852"/>
                  </a:lnTo>
                  <a:lnTo>
                    <a:pt x="211201" y="115570"/>
                  </a:lnTo>
                  <a:lnTo>
                    <a:pt x="210566" y="115570"/>
                  </a:lnTo>
                  <a:lnTo>
                    <a:pt x="209550" y="114300"/>
                  </a:lnTo>
                  <a:lnTo>
                    <a:pt x="206121" y="114300"/>
                  </a:lnTo>
                  <a:lnTo>
                    <a:pt x="193548" y="127000"/>
                  </a:lnTo>
                  <a:lnTo>
                    <a:pt x="150266" y="83820"/>
                  </a:lnTo>
                  <a:lnTo>
                    <a:pt x="132461" y="66052"/>
                  </a:lnTo>
                  <a:lnTo>
                    <a:pt x="129794" y="66052"/>
                  </a:lnTo>
                  <a:lnTo>
                    <a:pt x="129032" y="67322"/>
                  </a:lnTo>
                  <a:lnTo>
                    <a:pt x="128397" y="67322"/>
                  </a:lnTo>
                  <a:lnTo>
                    <a:pt x="126873" y="68580"/>
                  </a:lnTo>
                  <a:lnTo>
                    <a:pt x="126238" y="69850"/>
                  </a:lnTo>
                  <a:lnTo>
                    <a:pt x="125603" y="69850"/>
                  </a:lnTo>
                  <a:lnTo>
                    <a:pt x="125222" y="71120"/>
                  </a:lnTo>
                  <a:lnTo>
                    <a:pt x="124460" y="71120"/>
                  </a:lnTo>
                  <a:lnTo>
                    <a:pt x="123952" y="72402"/>
                  </a:lnTo>
                  <a:lnTo>
                    <a:pt x="123571" y="73672"/>
                  </a:lnTo>
                  <a:lnTo>
                    <a:pt x="117602" y="100330"/>
                  </a:lnTo>
                  <a:lnTo>
                    <a:pt x="117602" y="101600"/>
                  </a:lnTo>
                  <a:lnTo>
                    <a:pt x="117856" y="102870"/>
                  </a:lnTo>
                  <a:lnTo>
                    <a:pt x="118237" y="102870"/>
                  </a:lnTo>
                  <a:lnTo>
                    <a:pt x="118999" y="104152"/>
                  </a:lnTo>
                  <a:lnTo>
                    <a:pt x="120904" y="106680"/>
                  </a:lnTo>
                  <a:lnTo>
                    <a:pt x="122301" y="107950"/>
                  </a:lnTo>
                  <a:lnTo>
                    <a:pt x="125222" y="107950"/>
                  </a:lnTo>
                  <a:lnTo>
                    <a:pt x="125857" y="106680"/>
                  </a:lnTo>
                  <a:lnTo>
                    <a:pt x="126238" y="105422"/>
                  </a:lnTo>
                  <a:lnTo>
                    <a:pt x="131572" y="83820"/>
                  </a:lnTo>
                  <a:lnTo>
                    <a:pt x="184404" y="135902"/>
                  </a:lnTo>
                  <a:lnTo>
                    <a:pt x="169926" y="151130"/>
                  </a:lnTo>
                  <a:lnTo>
                    <a:pt x="169545" y="151130"/>
                  </a:lnTo>
                  <a:lnTo>
                    <a:pt x="169545" y="153670"/>
                  </a:lnTo>
                  <a:lnTo>
                    <a:pt x="169799" y="153670"/>
                  </a:lnTo>
                  <a:lnTo>
                    <a:pt x="170561" y="154952"/>
                  </a:lnTo>
                  <a:lnTo>
                    <a:pt x="171704" y="156222"/>
                  </a:lnTo>
                  <a:lnTo>
                    <a:pt x="172339" y="157480"/>
                  </a:lnTo>
                  <a:lnTo>
                    <a:pt x="172974" y="157480"/>
                  </a:lnTo>
                  <a:lnTo>
                    <a:pt x="173609" y="158750"/>
                  </a:lnTo>
                  <a:lnTo>
                    <a:pt x="177038" y="158750"/>
                  </a:lnTo>
                  <a:lnTo>
                    <a:pt x="208788" y="127000"/>
                  </a:lnTo>
                  <a:lnTo>
                    <a:pt x="213868" y="121920"/>
                  </a:lnTo>
                  <a:close/>
                </a:path>
                <a:path w="527050" h="271780">
                  <a:moveTo>
                    <a:pt x="254762" y="66052"/>
                  </a:moveTo>
                  <a:lnTo>
                    <a:pt x="254127" y="62230"/>
                  </a:lnTo>
                  <a:lnTo>
                    <a:pt x="250825" y="54622"/>
                  </a:lnTo>
                  <a:lnTo>
                    <a:pt x="248158" y="50800"/>
                  </a:lnTo>
                  <a:lnTo>
                    <a:pt x="244475" y="47002"/>
                  </a:lnTo>
                  <a:lnTo>
                    <a:pt x="241427" y="43180"/>
                  </a:lnTo>
                  <a:lnTo>
                    <a:pt x="238252" y="40652"/>
                  </a:lnTo>
                  <a:lnTo>
                    <a:pt x="234696" y="39370"/>
                  </a:lnTo>
                  <a:lnTo>
                    <a:pt x="231267" y="38100"/>
                  </a:lnTo>
                  <a:lnTo>
                    <a:pt x="220472" y="38100"/>
                  </a:lnTo>
                  <a:lnTo>
                    <a:pt x="216789" y="39370"/>
                  </a:lnTo>
                  <a:lnTo>
                    <a:pt x="212979" y="40652"/>
                  </a:lnTo>
                  <a:lnTo>
                    <a:pt x="205359" y="45720"/>
                  </a:lnTo>
                  <a:lnTo>
                    <a:pt x="201422" y="49530"/>
                  </a:lnTo>
                  <a:lnTo>
                    <a:pt x="199771" y="50800"/>
                  </a:lnTo>
                  <a:lnTo>
                    <a:pt x="198374" y="52070"/>
                  </a:lnTo>
                  <a:lnTo>
                    <a:pt x="197104" y="53352"/>
                  </a:lnTo>
                  <a:lnTo>
                    <a:pt x="195961" y="55880"/>
                  </a:lnTo>
                  <a:lnTo>
                    <a:pt x="194818" y="57150"/>
                  </a:lnTo>
                  <a:lnTo>
                    <a:pt x="193802" y="58420"/>
                  </a:lnTo>
                  <a:lnTo>
                    <a:pt x="174371" y="38100"/>
                  </a:lnTo>
                  <a:lnTo>
                    <a:pt x="199771" y="12700"/>
                  </a:lnTo>
                  <a:lnTo>
                    <a:pt x="199136" y="10172"/>
                  </a:lnTo>
                  <a:lnTo>
                    <a:pt x="198247" y="8902"/>
                  </a:lnTo>
                  <a:lnTo>
                    <a:pt x="195707" y="6350"/>
                  </a:lnTo>
                  <a:lnTo>
                    <a:pt x="195072" y="6350"/>
                  </a:lnTo>
                  <a:lnTo>
                    <a:pt x="194564" y="5080"/>
                  </a:lnTo>
                  <a:lnTo>
                    <a:pt x="191262" y="5080"/>
                  </a:lnTo>
                  <a:lnTo>
                    <a:pt x="160274" y="36830"/>
                  </a:lnTo>
                  <a:lnTo>
                    <a:pt x="159258" y="38100"/>
                  </a:lnTo>
                  <a:lnTo>
                    <a:pt x="158750" y="38100"/>
                  </a:lnTo>
                  <a:lnTo>
                    <a:pt x="158750" y="40652"/>
                  </a:lnTo>
                  <a:lnTo>
                    <a:pt x="159385" y="41922"/>
                  </a:lnTo>
                  <a:lnTo>
                    <a:pt x="190119" y="72402"/>
                  </a:lnTo>
                  <a:lnTo>
                    <a:pt x="191262" y="73672"/>
                  </a:lnTo>
                  <a:lnTo>
                    <a:pt x="193929" y="73672"/>
                  </a:lnTo>
                  <a:lnTo>
                    <a:pt x="196342" y="71120"/>
                  </a:lnTo>
                  <a:lnTo>
                    <a:pt x="197612" y="68580"/>
                  </a:lnTo>
                  <a:lnTo>
                    <a:pt x="200406" y="66052"/>
                  </a:lnTo>
                  <a:lnTo>
                    <a:pt x="202184" y="63500"/>
                  </a:lnTo>
                  <a:lnTo>
                    <a:pt x="204343" y="60972"/>
                  </a:lnTo>
                  <a:lnTo>
                    <a:pt x="207391" y="58420"/>
                  </a:lnTo>
                  <a:lnTo>
                    <a:pt x="210312" y="55880"/>
                  </a:lnTo>
                  <a:lnTo>
                    <a:pt x="213106" y="54622"/>
                  </a:lnTo>
                  <a:lnTo>
                    <a:pt x="215900" y="52070"/>
                  </a:lnTo>
                  <a:lnTo>
                    <a:pt x="218567" y="52070"/>
                  </a:lnTo>
                  <a:lnTo>
                    <a:pt x="223774" y="50800"/>
                  </a:lnTo>
                  <a:lnTo>
                    <a:pt x="226187" y="50800"/>
                  </a:lnTo>
                  <a:lnTo>
                    <a:pt x="242062" y="67322"/>
                  </a:lnTo>
                  <a:lnTo>
                    <a:pt x="241935" y="76200"/>
                  </a:lnTo>
                  <a:lnTo>
                    <a:pt x="241173" y="78752"/>
                  </a:lnTo>
                  <a:lnTo>
                    <a:pt x="239649" y="81280"/>
                  </a:lnTo>
                  <a:lnTo>
                    <a:pt x="238252" y="83820"/>
                  </a:lnTo>
                  <a:lnTo>
                    <a:pt x="236347" y="86372"/>
                  </a:lnTo>
                  <a:lnTo>
                    <a:pt x="231394" y="91452"/>
                  </a:lnTo>
                  <a:lnTo>
                    <a:pt x="228854" y="92722"/>
                  </a:lnTo>
                  <a:lnTo>
                    <a:pt x="224282" y="95250"/>
                  </a:lnTo>
                  <a:lnTo>
                    <a:pt x="222123" y="96520"/>
                  </a:lnTo>
                  <a:lnTo>
                    <a:pt x="218567" y="99072"/>
                  </a:lnTo>
                  <a:lnTo>
                    <a:pt x="214630" y="99072"/>
                  </a:lnTo>
                  <a:lnTo>
                    <a:pt x="213868" y="100330"/>
                  </a:lnTo>
                  <a:lnTo>
                    <a:pt x="213106" y="100330"/>
                  </a:lnTo>
                  <a:lnTo>
                    <a:pt x="213233" y="102870"/>
                  </a:lnTo>
                  <a:lnTo>
                    <a:pt x="214122" y="104152"/>
                  </a:lnTo>
                  <a:lnTo>
                    <a:pt x="214630" y="104152"/>
                  </a:lnTo>
                  <a:lnTo>
                    <a:pt x="215138" y="105422"/>
                  </a:lnTo>
                  <a:lnTo>
                    <a:pt x="215646" y="105422"/>
                  </a:lnTo>
                  <a:lnTo>
                    <a:pt x="216281" y="106680"/>
                  </a:lnTo>
                  <a:lnTo>
                    <a:pt x="217424" y="106680"/>
                  </a:lnTo>
                  <a:lnTo>
                    <a:pt x="217932" y="107950"/>
                  </a:lnTo>
                  <a:lnTo>
                    <a:pt x="219456" y="107950"/>
                  </a:lnTo>
                  <a:lnTo>
                    <a:pt x="221615" y="109220"/>
                  </a:lnTo>
                  <a:lnTo>
                    <a:pt x="222504" y="107950"/>
                  </a:lnTo>
                  <a:lnTo>
                    <a:pt x="225298" y="107950"/>
                  </a:lnTo>
                  <a:lnTo>
                    <a:pt x="227076" y="106680"/>
                  </a:lnTo>
                  <a:lnTo>
                    <a:pt x="230886" y="104152"/>
                  </a:lnTo>
                  <a:lnTo>
                    <a:pt x="235204" y="101600"/>
                  </a:lnTo>
                  <a:lnTo>
                    <a:pt x="237490" y="100330"/>
                  </a:lnTo>
                  <a:lnTo>
                    <a:pt x="239649" y="97802"/>
                  </a:lnTo>
                  <a:lnTo>
                    <a:pt x="254635" y="68580"/>
                  </a:lnTo>
                  <a:lnTo>
                    <a:pt x="254762" y="66052"/>
                  </a:lnTo>
                  <a:close/>
                </a:path>
                <a:path w="527050" h="271780">
                  <a:moveTo>
                    <a:pt x="390271" y="229870"/>
                  </a:moveTo>
                  <a:lnTo>
                    <a:pt x="389763" y="228600"/>
                  </a:lnTo>
                  <a:lnTo>
                    <a:pt x="389001" y="227330"/>
                  </a:lnTo>
                  <a:lnTo>
                    <a:pt x="388366" y="227330"/>
                  </a:lnTo>
                  <a:lnTo>
                    <a:pt x="387731" y="226072"/>
                  </a:lnTo>
                  <a:lnTo>
                    <a:pt x="387096" y="226072"/>
                  </a:lnTo>
                  <a:lnTo>
                    <a:pt x="385953" y="224802"/>
                  </a:lnTo>
                  <a:lnTo>
                    <a:pt x="382143" y="224802"/>
                  </a:lnTo>
                  <a:lnTo>
                    <a:pt x="351663" y="255270"/>
                  </a:lnTo>
                  <a:lnTo>
                    <a:pt x="351180" y="233680"/>
                  </a:lnTo>
                  <a:lnTo>
                    <a:pt x="351066" y="227330"/>
                  </a:lnTo>
                  <a:lnTo>
                    <a:pt x="351028" y="224802"/>
                  </a:lnTo>
                  <a:lnTo>
                    <a:pt x="350647" y="217170"/>
                  </a:lnTo>
                  <a:lnTo>
                    <a:pt x="341312" y="186702"/>
                  </a:lnTo>
                  <a:lnTo>
                    <a:pt x="338455" y="182880"/>
                  </a:lnTo>
                  <a:lnTo>
                    <a:pt x="333756" y="179070"/>
                  </a:lnTo>
                  <a:lnTo>
                    <a:pt x="330962" y="176530"/>
                  </a:lnTo>
                  <a:lnTo>
                    <a:pt x="328041" y="175272"/>
                  </a:lnTo>
                  <a:lnTo>
                    <a:pt x="324993" y="174002"/>
                  </a:lnTo>
                  <a:lnTo>
                    <a:pt x="321818" y="172720"/>
                  </a:lnTo>
                  <a:lnTo>
                    <a:pt x="315214" y="174002"/>
                  </a:lnTo>
                  <a:lnTo>
                    <a:pt x="311785" y="174002"/>
                  </a:lnTo>
                  <a:lnTo>
                    <a:pt x="308356" y="175272"/>
                  </a:lnTo>
                  <a:lnTo>
                    <a:pt x="301498" y="180352"/>
                  </a:lnTo>
                  <a:lnTo>
                    <a:pt x="296037" y="185420"/>
                  </a:lnTo>
                  <a:lnTo>
                    <a:pt x="294132" y="187972"/>
                  </a:lnTo>
                  <a:lnTo>
                    <a:pt x="292735" y="189230"/>
                  </a:lnTo>
                  <a:lnTo>
                    <a:pt x="291211" y="191770"/>
                  </a:lnTo>
                  <a:lnTo>
                    <a:pt x="289941" y="194322"/>
                  </a:lnTo>
                  <a:lnTo>
                    <a:pt x="289052" y="196850"/>
                  </a:lnTo>
                  <a:lnTo>
                    <a:pt x="288036" y="199402"/>
                  </a:lnTo>
                  <a:lnTo>
                    <a:pt x="287401" y="200672"/>
                  </a:lnTo>
                  <a:lnTo>
                    <a:pt x="286893" y="203200"/>
                  </a:lnTo>
                  <a:lnTo>
                    <a:pt x="286512" y="204470"/>
                  </a:lnTo>
                  <a:lnTo>
                    <a:pt x="286385" y="208280"/>
                  </a:lnTo>
                  <a:lnTo>
                    <a:pt x="286639" y="209550"/>
                  </a:lnTo>
                  <a:lnTo>
                    <a:pt x="287274" y="209550"/>
                  </a:lnTo>
                  <a:lnTo>
                    <a:pt x="287655" y="210820"/>
                  </a:lnTo>
                  <a:lnTo>
                    <a:pt x="288417" y="210820"/>
                  </a:lnTo>
                  <a:lnTo>
                    <a:pt x="288925" y="212102"/>
                  </a:lnTo>
                  <a:lnTo>
                    <a:pt x="290449" y="213372"/>
                  </a:lnTo>
                  <a:lnTo>
                    <a:pt x="290957" y="213372"/>
                  </a:lnTo>
                  <a:lnTo>
                    <a:pt x="291592" y="214630"/>
                  </a:lnTo>
                  <a:lnTo>
                    <a:pt x="295148" y="214630"/>
                  </a:lnTo>
                  <a:lnTo>
                    <a:pt x="295529" y="213372"/>
                  </a:lnTo>
                  <a:lnTo>
                    <a:pt x="295783" y="212102"/>
                  </a:lnTo>
                  <a:lnTo>
                    <a:pt x="296164" y="209550"/>
                  </a:lnTo>
                  <a:lnTo>
                    <a:pt x="296545" y="208280"/>
                  </a:lnTo>
                  <a:lnTo>
                    <a:pt x="297815" y="204470"/>
                  </a:lnTo>
                  <a:lnTo>
                    <a:pt x="298704" y="201930"/>
                  </a:lnTo>
                  <a:lnTo>
                    <a:pt x="299974" y="199402"/>
                  </a:lnTo>
                  <a:lnTo>
                    <a:pt x="301117" y="196850"/>
                  </a:lnTo>
                  <a:lnTo>
                    <a:pt x="302768" y="194322"/>
                  </a:lnTo>
                  <a:lnTo>
                    <a:pt x="306959" y="190500"/>
                  </a:lnTo>
                  <a:lnTo>
                    <a:pt x="311023" y="187972"/>
                  </a:lnTo>
                  <a:lnTo>
                    <a:pt x="313182" y="187972"/>
                  </a:lnTo>
                  <a:lnTo>
                    <a:pt x="315214" y="186702"/>
                  </a:lnTo>
                  <a:lnTo>
                    <a:pt x="319278" y="186702"/>
                  </a:lnTo>
                  <a:lnTo>
                    <a:pt x="321183" y="187972"/>
                  </a:lnTo>
                  <a:lnTo>
                    <a:pt x="323088" y="187972"/>
                  </a:lnTo>
                  <a:lnTo>
                    <a:pt x="324993" y="189230"/>
                  </a:lnTo>
                  <a:lnTo>
                    <a:pt x="328295" y="191770"/>
                  </a:lnTo>
                  <a:lnTo>
                    <a:pt x="329819" y="193052"/>
                  </a:lnTo>
                  <a:lnTo>
                    <a:pt x="332613" y="198120"/>
                  </a:lnTo>
                  <a:lnTo>
                    <a:pt x="334137" y="199402"/>
                  </a:lnTo>
                  <a:lnTo>
                    <a:pt x="335407" y="201930"/>
                  </a:lnTo>
                  <a:lnTo>
                    <a:pt x="336423" y="205752"/>
                  </a:lnTo>
                  <a:lnTo>
                    <a:pt x="337566" y="208280"/>
                  </a:lnTo>
                  <a:lnTo>
                    <a:pt x="338455" y="212102"/>
                  </a:lnTo>
                  <a:lnTo>
                    <a:pt x="339725" y="222250"/>
                  </a:lnTo>
                  <a:lnTo>
                    <a:pt x="339915" y="224802"/>
                  </a:lnTo>
                  <a:lnTo>
                    <a:pt x="340004" y="226072"/>
                  </a:lnTo>
                  <a:lnTo>
                    <a:pt x="340106" y="227330"/>
                  </a:lnTo>
                  <a:lnTo>
                    <a:pt x="340233" y="233680"/>
                  </a:lnTo>
                  <a:lnTo>
                    <a:pt x="340525" y="255270"/>
                  </a:lnTo>
                  <a:lnTo>
                    <a:pt x="340614" y="262902"/>
                  </a:lnTo>
                  <a:lnTo>
                    <a:pt x="341376" y="266700"/>
                  </a:lnTo>
                  <a:lnTo>
                    <a:pt x="341630" y="266700"/>
                  </a:lnTo>
                  <a:lnTo>
                    <a:pt x="342392" y="267970"/>
                  </a:lnTo>
                  <a:lnTo>
                    <a:pt x="345694" y="271780"/>
                  </a:lnTo>
                  <a:lnTo>
                    <a:pt x="350774" y="271780"/>
                  </a:lnTo>
                  <a:lnTo>
                    <a:pt x="367118" y="255270"/>
                  </a:lnTo>
                  <a:lnTo>
                    <a:pt x="389763" y="232422"/>
                  </a:lnTo>
                  <a:lnTo>
                    <a:pt x="390271" y="231152"/>
                  </a:lnTo>
                  <a:lnTo>
                    <a:pt x="390271" y="229870"/>
                  </a:lnTo>
                  <a:close/>
                </a:path>
                <a:path w="527050" h="271780">
                  <a:moveTo>
                    <a:pt x="432562" y="177800"/>
                  </a:moveTo>
                  <a:lnTo>
                    <a:pt x="431419" y="172720"/>
                  </a:lnTo>
                  <a:lnTo>
                    <a:pt x="430149" y="167652"/>
                  </a:lnTo>
                  <a:lnTo>
                    <a:pt x="427736" y="162572"/>
                  </a:lnTo>
                  <a:lnTo>
                    <a:pt x="420624" y="152400"/>
                  </a:lnTo>
                  <a:lnTo>
                    <a:pt x="420624" y="182880"/>
                  </a:lnTo>
                  <a:lnTo>
                    <a:pt x="420243" y="185420"/>
                  </a:lnTo>
                  <a:lnTo>
                    <a:pt x="418465" y="190500"/>
                  </a:lnTo>
                  <a:lnTo>
                    <a:pt x="417068" y="191770"/>
                  </a:lnTo>
                  <a:lnTo>
                    <a:pt x="412496" y="196850"/>
                  </a:lnTo>
                  <a:lnTo>
                    <a:pt x="406908" y="199402"/>
                  </a:lnTo>
                  <a:lnTo>
                    <a:pt x="400939" y="199402"/>
                  </a:lnTo>
                  <a:lnTo>
                    <a:pt x="397510" y="198120"/>
                  </a:lnTo>
                  <a:lnTo>
                    <a:pt x="393954" y="196850"/>
                  </a:lnTo>
                  <a:lnTo>
                    <a:pt x="390144" y="195580"/>
                  </a:lnTo>
                  <a:lnTo>
                    <a:pt x="386080" y="191770"/>
                  </a:lnTo>
                  <a:lnTo>
                    <a:pt x="381889" y="189230"/>
                  </a:lnTo>
                  <a:lnTo>
                    <a:pt x="377190" y="185420"/>
                  </a:lnTo>
                  <a:lnTo>
                    <a:pt x="368173" y="175272"/>
                  </a:lnTo>
                  <a:lnTo>
                    <a:pt x="364744" y="171450"/>
                  </a:lnTo>
                  <a:lnTo>
                    <a:pt x="361823" y="167652"/>
                  </a:lnTo>
                  <a:lnTo>
                    <a:pt x="358775" y="165100"/>
                  </a:lnTo>
                  <a:lnTo>
                    <a:pt x="356616" y="161302"/>
                  </a:lnTo>
                  <a:lnTo>
                    <a:pt x="353822" y="153670"/>
                  </a:lnTo>
                  <a:lnTo>
                    <a:pt x="353314" y="149872"/>
                  </a:lnTo>
                  <a:lnTo>
                    <a:pt x="353822" y="147320"/>
                  </a:lnTo>
                  <a:lnTo>
                    <a:pt x="354076" y="144780"/>
                  </a:lnTo>
                  <a:lnTo>
                    <a:pt x="354203" y="143522"/>
                  </a:lnTo>
                  <a:lnTo>
                    <a:pt x="355981" y="139700"/>
                  </a:lnTo>
                  <a:lnTo>
                    <a:pt x="359029" y="137172"/>
                  </a:lnTo>
                  <a:lnTo>
                    <a:pt x="366141" y="132080"/>
                  </a:lnTo>
                  <a:lnTo>
                    <a:pt x="374396" y="132080"/>
                  </a:lnTo>
                  <a:lnTo>
                    <a:pt x="378968" y="133350"/>
                  </a:lnTo>
                  <a:lnTo>
                    <a:pt x="381381" y="134620"/>
                  </a:lnTo>
                  <a:lnTo>
                    <a:pt x="384048" y="135902"/>
                  </a:lnTo>
                  <a:lnTo>
                    <a:pt x="386588" y="138430"/>
                  </a:lnTo>
                  <a:lnTo>
                    <a:pt x="389382" y="139700"/>
                  </a:lnTo>
                  <a:lnTo>
                    <a:pt x="395351" y="144780"/>
                  </a:lnTo>
                  <a:lnTo>
                    <a:pt x="398653" y="148602"/>
                  </a:lnTo>
                  <a:lnTo>
                    <a:pt x="402082" y="151130"/>
                  </a:lnTo>
                  <a:lnTo>
                    <a:pt x="404749" y="153670"/>
                  </a:lnTo>
                  <a:lnTo>
                    <a:pt x="418846" y="174002"/>
                  </a:lnTo>
                  <a:lnTo>
                    <a:pt x="419862" y="176530"/>
                  </a:lnTo>
                  <a:lnTo>
                    <a:pt x="420370" y="179070"/>
                  </a:lnTo>
                  <a:lnTo>
                    <a:pt x="420497" y="181622"/>
                  </a:lnTo>
                  <a:lnTo>
                    <a:pt x="420624" y="182880"/>
                  </a:lnTo>
                  <a:lnTo>
                    <a:pt x="420624" y="152400"/>
                  </a:lnTo>
                  <a:lnTo>
                    <a:pt x="416306" y="147320"/>
                  </a:lnTo>
                  <a:lnTo>
                    <a:pt x="410972" y="140970"/>
                  </a:lnTo>
                  <a:lnTo>
                    <a:pt x="405257" y="135902"/>
                  </a:lnTo>
                  <a:lnTo>
                    <a:pt x="401154" y="132080"/>
                  </a:lnTo>
                  <a:lnTo>
                    <a:pt x="399796" y="130822"/>
                  </a:lnTo>
                  <a:lnTo>
                    <a:pt x="389382" y="123202"/>
                  </a:lnTo>
                  <a:lnTo>
                    <a:pt x="384302" y="120650"/>
                  </a:lnTo>
                  <a:lnTo>
                    <a:pt x="379476" y="120650"/>
                  </a:lnTo>
                  <a:lnTo>
                    <a:pt x="374650" y="119380"/>
                  </a:lnTo>
                  <a:lnTo>
                    <a:pt x="369951" y="119380"/>
                  </a:lnTo>
                  <a:lnTo>
                    <a:pt x="360934" y="121920"/>
                  </a:lnTo>
                  <a:lnTo>
                    <a:pt x="341503" y="153670"/>
                  </a:lnTo>
                  <a:lnTo>
                    <a:pt x="344043" y="163830"/>
                  </a:lnTo>
                  <a:lnTo>
                    <a:pt x="368935" y="195580"/>
                  </a:lnTo>
                  <a:lnTo>
                    <a:pt x="399415" y="212102"/>
                  </a:lnTo>
                  <a:lnTo>
                    <a:pt x="404114" y="212102"/>
                  </a:lnTo>
                  <a:lnTo>
                    <a:pt x="431038" y="187972"/>
                  </a:lnTo>
                  <a:lnTo>
                    <a:pt x="432562" y="182880"/>
                  </a:lnTo>
                  <a:lnTo>
                    <a:pt x="432562" y="177800"/>
                  </a:lnTo>
                  <a:close/>
                </a:path>
                <a:path w="527050" h="271780">
                  <a:moveTo>
                    <a:pt x="500380" y="119380"/>
                  </a:moveTo>
                  <a:lnTo>
                    <a:pt x="500126" y="119380"/>
                  </a:lnTo>
                  <a:lnTo>
                    <a:pt x="499745" y="118122"/>
                  </a:lnTo>
                  <a:lnTo>
                    <a:pt x="499364" y="118122"/>
                  </a:lnTo>
                  <a:lnTo>
                    <a:pt x="498856" y="116852"/>
                  </a:lnTo>
                  <a:lnTo>
                    <a:pt x="498221" y="116852"/>
                  </a:lnTo>
                  <a:lnTo>
                    <a:pt x="497586" y="115570"/>
                  </a:lnTo>
                  <a:lnTo>
                    <a:pt x="496316" y="115570"/>
                  </a:lnTo>
                  <a:lnTo>
                    <a:pt x="495808" y="114300"/>
                  </a:lnTo>
                  <a:lnTo>
                    <a:pt x="492760" y="114300"/>
                  </a:lnTo>
                  <a:lnTo>
                    <a:pt x="479933" y="127000"/>
                  </a:lnTo>
                  <a:lnTo>
                    <a:pt x="436740" y="83820"/>
                  </a:lnTo>
                  <a:lnTo>
                    <a:pt x="418973" y="66052"/>
                  </a:lnTo>
                  <a:lnTo>
                    <a:pt x="416052" y="66052"/>
                  </a:lnTo>
                  <a:lnTo>
                    <a:pt x="414782" y="67322"/>
                  </a:lnTo>
                  <a:lnTo>
                    <a:pt x="414020" y="68580"/>
                  </a:lnTo>
                  <a:lnTo>
                    <a:pt x="413131" y="68580"/>
                  </a:lnTo>
                  <a:lnTo>
                    <a:pt x="412496" y="69850"/>
                  </a:lnTo>
                  <a:lnTo>
                    <a:pt x="411607" y="71120"/>
                  </a:lnTo>
                  <a:lnTo>
                    <a:pt x="410845" y="71120"/>
                  </a:lnTo>
                  <a:lnTo>
                    <a:pt x="410083" y="72402"/>
                  </a:lnTo>
                  <a:lnTo>
                    <a:pt x="409829" y="73672"/>
                  </a:lnTo>
                  <a:lnTo>
                    <a:pt x="409702" y="73672"/>
                  </a:lnTo>
                  <a:lnTo>
                    <a:pt x="403987" y="100330"/>
                  </a:lnTo>
                  <a:lnTo>
                    <a:pt x="404114" y="102870"/>
                  </a:lnTo>
                  <a:lnTo>
                    <a:pt x="404622" y="102870"/>
                  </a:lnTo>
                  <a:lnTo>
                    <a:pt x="405384" y="104152"/>
                  </a:lnTo>
                  <a:lnTo>
                    <a:pt x="405892" y="105422"/>
                  </a:lnTo>
                  <a:lnTo>
                    <a:pt x="406400" y="105422"/>
                  </a:lnTo>
                  <a:lnTo>
                    <a:pt x="407289" y="106680"/>
                  </a:lnTo>
                  <a:lnTo>
                    <a:pt x="407924" y="106680"/>
                  </a:lnTo>
                  <a:lnTo>
                    <a:pt x="408559" y="107950"/>
                  </a:lnTo>
                  <a:lnTo>
                    <a:pt x="411480" y="107950"/>
                  </a:lnTo>
                  <a:lnTo>
                    <a:pt x="411861" y="106680"/>
                  </a:lnTo>
                  <a:lnTo>
                    <a:pt x="412242" y="106680"/>
                  </a:lnTo>
                  <a:lnTo>
                    <a:pt x="417957" y="83820"/>
                  </a:lnTo>
                  <a:lnTo>
                    <a:pt x="470662" y="135902"/>
                  </a:lnTo>
                  <a:lnTo>
                    <a:pt x="455930" y="151130"/>
                  </a:lnTo>
                  <a:lnTo>
                    <a:pt x="455676" y="152400"/>
                  </a:lnTo>
                  <a:lnTo>
                    <a:pt x="455803" y="153670"/>
                  </a:lnTo>
                  <a:lnTo>
                    <a:pt x="456184" y="153670"/>
                  </a:lnTo>
                  <a:lnTo>
                    <a:pt x="456946" y="154952"/>
                  </a:lnTo>
                  <a:lnTo>
                    <a:pt x="457327" y="156222"/>
                  </a:lnTo>
                  <a:lnTo>
                    <a:pt x="458089" y="156222"/>
                  </a:lnTo>
                  <a:lnTo>
                    <a:pt x="458724" y="157480"/>
                  </a:lnTo>
                  <a:lnTo>
                    <a:pt x="459867" y="158750"/>
                  </a:lnTo>
                  <a:lnTo>
                    <a:pt x="463296" y="158750"/>
                  </a:lnTo>
                  <a:lnTo>
                    <a:pt x="495046" y="127000"/>
                  </a:lnTo>
                  <a:lnTo>
                    <a:pt x="500126" y="121920"/>
                  </a:lnTo>
                  <a:lnTo>
                    <a:pt x="500380" y="121920"/>
                  </a:lnTo>
                  <a:lnTo>
                    <a:pt x="500380" y="119380"/>
                  </a:lnTo>
                  <a:close/>
                </a:path>
                <a:path w="527050" h="271780">
                  <a:moveTo>
                    <a:pt x="526669" y="92722"/>
                  </a:moveTo>
                  <a:lnTo>
                    <a:pt x="496531" y="16522"/>
                  </a:lnTo>
                  <a:lnTo>
                    <a:pt x="493522" y="8902"/>
                  </a:lnTo>
                  <a:lnTo>
                    <a:pt x="493268" y="7620"/>
                  </a:lnTo>
                  <a:lnTo>
                    <a:pt x="493014" y="7620"/>
                  </a:lnTo>
                  <a:lnTo>
                    <a:pt x="492633" y="6350"/>
                  </a:lnTo>
                  <a:lnTo>
                    <a:pt x="492379" y="6350"/>
                  </a:lnTo>
                  <a:lnTo>
                    <a:pt x="491871" y="5080"/>
                  </a:lnTo>
                  <a:lnTo>
                    <a:pt x="491490" y="5080"/>
                  </a:lnTo>
                  <a:lnTo>
                    <a:pt x="488950" y="2552"/>
                  </a:lnTo>
                  <a:lnTo>
                    <a:pt x="488188" y="1270"/>
                  </a:lnTo>
                  <a:lnTo>
                    <a:pt x="487553" y="0"/>
                  </a:lnTo>
                  <a:lnTo>
                    <a:pt x="482727" y="0"/>
                  </a:lnTo>
                  <a:lnTo>
                    <a:pt x="441452" y="41922"/>
                  </a:lnTo>
                  <a:lnTo>
                    <a:pt x="441198" y="41922"/>
                  </a:lnTo>
                  <a:lnTo>
                    <a:pt x="441198" y="43180"/>
                  </a:lnTo>
                  <a:lnTo>
                    <a:pt x="441452" y="44450"/>
                  </a:lnTo>
                  <a:lnTo>
                    <a:pt x="441706" y="44450"/>
                  </a:lnTo>
                  <a:lnTo>
                    <a:pt x="442087" y="45720"/>
                  </a:lnTo>
                  <a:lnTo>
                    <a:pt x="442468" y="45720"/>
                  </a:lnTo>
                  <a:lnTo>
                    <a:pt x="445008" y="48272"/>
                  </a:lnTo>
                  <a:lnTo>
                    <a:pt x="446151" y="49530"/>
                  </a:lnTo>
                  <a:lnTo>
                    <a:pt x="447294" y="49530"/>
                  </a:lnTo>
                  <a:lnTo>
                    <a:pt x="448310" y="50800"/>
                  </a:lnTo>
                  <a:lnTo>
                    <a:pt x="449199" y="49530"/>
                  </a:lnTo>
                  <a:lnTo>
                    <a:pt x="449834" y="49530"/>
                  </a:lnTo>
                  <a:lnTo>
                    <a:pt x="483235" y="16522"/>
                  </a:lnTo>
                  <a:lnTo>
                    <a:pt x="515747" y="101600"/>
                  </a:lnTo>
                  <a:lnTo>
                    <a:pt x="516001" y="101600"/>
                  </a:lnTo>
                  <a:lnTo>
                    <a:pt x="516255" y="102870"/>
                  </a:lnTo>
                  <a:lnTo>
                    <a:pt x="519811" y="102870"/>
                  </a:lnTo>
                  <a:lnTo>
                    <a:pt x="520573" y="101600"/>
                  </a:lnTo>
                  <a:lnTo>
                    <a:pt x="522859" y="100330"/>
                  </a:lnTo>
                  <a:lnTo>
                    <a:pt x="523748" y="99072"/>
                  </a:lnTo>
                  <a:lnTo>
                    <a:pt x="524510" y="97802"/>
                  </a:lnTo>
                  <a:lnTo>
                    <a:pt x="525145" y="97802"/>
                  </a:lnTo>
                  <a:lnTo>
                    <a:pt x="525780" y="96520"/>
                  </a:lnTo>
                  <a:lnTo>
                    <a:pt x="526161" y="96520"/>
                  </a:lnTo>
                  <a:lnTo>
                    <a:pt x="526415" y="95250"/>
                  </a:lnTo>
                  <a:lnTo>
                    <a:pt x="526669" y="95250"/>
                  </a:lnTo>
                  <a:lnTo>
                    <a:pt x="526669" y="9272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83" name="object 8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78497" y="4646304"/>
            <a:ext cx="328778" cy="85757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85114" y="4646304"/>
            <a:ext cx="328777" cy="85757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8BA096D1-8113-1598-50B3-0D9BEADF36D6}"/>
              </a:ext>
            </a:extLst>
          </p:cNvPr>
          <p:cNvGrpSpPr/>
          <p:nvPr/>
        </p:nvGrpSpPr>
        <p:grpSpPr>
          <a:xfrm>
            <a:off x="1999620" y="1163867"/>
            <a:ext cx="7780289" cy="4193592"/>
            <a:chOff x="2121350" y="744327"/>
            <a:chExt cx="7780289" cy="4193592"/>
          </a:xfrm>
        </p:grpSpPr>
        <p:grpSp>
          <p:nvGrpSpPr>
            <p:cNvPr id="65" name="object 65"/>
            <p:cNvGrpSpPr/>
            <p:nvPr/>
          </p:nvGrpSpPr>
          <p:grpSpPr>
            <a:xfrm>
              <a:off x="2850837" y="1128139"/>
              <a:ext cx="7050802" cy="2389730"/>
              <a:chOff x="2135123" y="847149"/>
              <a:chExt cx="5294630" cy="1794510"/>
            </a:xfrm>
          </p:grpSpPr>
          <p:sp>
            <p:nvSpPr>
              <p:cNvPr id="66" name="object 66"/>
              <p:cNvSpPr/>
              <p:nvPr/>
            </p:nvSpPr>
            <p:spPr>
              <a:xfrm>
                <a:off x="2135123" y="1011300"/>
                <a:ext cx="5294630" cy="1610995"/>
              </a:xfrm>
              <a:custGeom>
                <a:avLst/>
                <a:gdLst/>
                <a:ahLst/>
                <a:cxnLst/>
                <a:rect l="l" t="t" r="r" b="b"/>
                <a:pathLst>
                  <a:path w="5294630" h="1610995">
                    <a:moveTo>
                      <a:pt x="0" y="1345311"/>
                    </a:moveTo>
                    <a:lnTo>
                      <a:pt x="5294376" y="1345311"/>
                    </a:lnTo>
                  </a:path>
                  <a:path w="5294630" h="1610995">
                    <a:moveTo>
                      <a:pt x="0" y="1080008"/>
                    </a:moveTo>
                    <a:lnTo>
                      <a:pt x="5294376" y="1080008"/>
                    </a:lnTo>
                  </a:path>
                  <a:path w="5294630" h="1610995">
                    <a:moveTo>
                      <a:pt x="0" y="805434"/>
                    </a:moveTo>
                    <a:lnTo>
                      <a:pt x="5294376" y="805434"/>
                    </a:lnTo>
                  </a:path>
                  <a:path w="5294630" h="1610995">
                    <a:moveTo>
                      <a:pt x="0" y="540004"/>
                    </a:moveTo>
                    <a:lnTo>
                      <a:pt x="5294376" y="540004"/>
                    </a:lnTo>
                  </a:path>
                  <a:path w="5294630" h="1610995">
                    <a:moveTo>
                      <a:pt x="0" y="274574"/>
                    </a:moveTo>
                    <a:lnTo>
                      <a:pt x="5294376" y="274574"/>
                    </a:lnTo>
                  </a:path>
                  <a:path w="5294630" h="1610995">
                    <a:moveTo>
                      <a:pt x="0" y="0"/>
                    </a:moveTo>
                    <a:lnTo>
                      <a:pt x="5294376" y="0"/>
                    </a:lnTo>
                  </a:path>
                  <a:path w="5294630" h="1610995">
                    <a:moveTo>
                      <a:pt x="0" y="1610741"/>
                    </a:moveTo>
                    <a:lnTo>
                      <a:pt x="5294376" y="1610741"/>
                    </a:lnTo>
                  </a:path>
                </a:pathLst>
              </a:custGeom>
              <a:ln w="9533">
                <a:solidFill>
                  <a:srgbClr val="D9D9D9"/>
                </a:solidFill>
              </a:ln>
            </p:spPr>
            <p:txBody>
              <a:bodyPr wrap="square" lIns="0" tIns="0" rIns="0" bIns="0" rtlCol="0"/>
              <a:lstStyle/>
              <a:p>
                <a:endParaRPr sz="2397"/>
              </a:p>
            </p:txBody>
          </p:sp>
          <p:pic>
            <p:nvPicPr>
              <p:cNvPr id="67" name="object 67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173029" y="847149"/>
                <a:ext cx="5212469" cy="1794137"/>
              </a:xfrm>
              <a:prstGeom prst="rect">
                <a:avLst/>
              </a:prstGeom>
            </p:spPr>
          </p:pic>
        </p:grpSp>
        <p:grpSp>
          <p:nvGrpSpPr>
            <p:cNvPr id="79" name="object 79"/>
            <p:cNvGrpSpPr/>
            <p:nvPr/>
          </p:nvGrpSpPr>
          <p:grpSpPr>
            <a:xfrm>
              <a:off x="8348570" y="3689619"/>
              <a:ext cx="1483222" cy="355162"/>
              <a:chOff x="6263513" y="2770631"/>
              <a:chExt cx="1113790" cy="266700"/>
            </a:xfrm>
          </p:grpSpPr>
          <p:sp>
            <p:nvSpPr>
              <p:cNvPr id="80" name="object 80"/>
              <p:cNvSpPr/>
              <p:nvPr/>
            </p:nvSpPr>
            <p:spPr>
              <a:xfrm>
                <a:off x="6263513" y="2775711"/>
                <a:ext cx="251460" cy="261620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61619">
                    <a:moveTo>
                      <a:pt x="54737" y="176530"/>
                    </a:moveTo>
                    <a:lnTo>
                      <a:pt x="32638" y="176530"/>
                    </a:lnTo>
                    <a:lnTo>
                      <a:pt x="34671" y="177800"/>
                    </a:lnTo>
                    <a:lnTo>
                      <a:pt x="36575" y="177800"/>
                    </a:lnTo>
                    <a:lnTo>
                      <a:pt x="40132" y="180339"/>
                    </a:lnTo>
                    <a:lnTo>
                      <a:pt x="43179" y="182880"/>
                    </a:lnTo>
                    <a:lnTo>
                      <a:pt x="44703" y="185419"/>
                    </a:lnTo>
                    <a:lnTo>
                      <a:pt x="46100" y="187959"/>
                    </a:lnTo>
                    <a:lnTo>
                      <a:pt x="47498" y="189230"/>
                    </a:lnTo>
                    <a:lnTo>
                      <a:pt x="48767" y="191769"/>
                    </a:lnTo>
                    <a:lnTo>
                      <a:pt x="49911" y="195580"/>
                    </a:lnTo>
                    <a:lnTo>
                      <a:pt x="50926" y="198119"/>
                    </a:lnTo>
                    <a:lnTo>
                      <a:pt x="53498" y="215900"/>
                    </a:lnTo>
                    <a:lnTo>
                      <a:pt x="53594" y="217169"/>
                    </a:lnTo>
                    <a:lnTo>
                      <a:pt x="53721" y="223519"/>
                    </a:lnTo>
                    <a:lnTo>
                      <a:pt x="54015" y="245109"/>
                    </a:lnTo>
                    <a:lnTo>
                      <a:pt x="54101" y="251459"/>
                    </a:lnTo>
                    <a:lnTo>
                      <a:pt x="54228" y="254000"/>
                    </a:lnTo>
                    <a:lnTo>
                      <a:pt x="54356" y="255269"/>
                    </a:lnTo>
                    <a:lnTo>
                      <a:pt x="54610" y="255269"/>
                    </a:lnTo>
                    <a:lnTo>
                      <a:pt x="54863" y="256539"/>
                    </a:lnTo>
                    <a:lnTo>
                      <a:pt x="55372" y="257809"/>
                    </a:lnTo>
                    <a:lnTo>
                      <a:pt x="55879" y="257809"/>
                    </a:lnTo>
                    <a:lnTo>
                      <a:pt x="57023" y="259080"/>
                    </a:lnTo>
                    <a:lnTo>
                      <a:pt x="57658" y="260350"/>
                    </a:lnTo>
                    <a:lnTo>
                      <a:pt x="58420" y="260350"/>
                    </a:lnTo>
                    <a:lnTo>
                      <a:pt x="59182" y="261619"/>
                    </a:lnTo>
                    <a:lnTo>
                      <a:pt x="64262" y="261619"/>
                    </a:lnTo>
                    <a:lnTo>
                      <a:pt x="80718" y="245109"/>
                    </a:lnTo>
                    <a:lnTo>
                      <a:pt x="65024" y="245109"/>
                    </a:lnTo>
                    <a:lnTo>
                      <a:pt x="64544" y="223519"/>
                    </a:lnTo>
                    <a:lnTo>
                      <a:pt x="64515" y="214630"/>
                    </a:lnTo>
                    <a:lnTo>
                      <a:pt x="64008" y="207009"/>
                    </a:lnTo>
                    <a:lnTo>
                      <a:pt x="63246" y="201930"/>
                    </a:lnTo>
                    <a:lnTo>
                      <a:pt x="62611" y="196850"/>
                    </a:lnTo>
                    <a:lnTo>
                      <a:pt x="61595" y="191769"/>
                    </a:lnTo>
                    <a:lnTo>
                      <a:pt x="59054" y="184150"/>
                    </a:lnTo>
                    <a:lnTo>
                      <a:pt x="57403" y="180339"/>
                    </a:lnTo>
                    <a:lnTo>
                      <a:pt x="54737" y="176530"/>
                    </a:lnTo>
                    <a:close/>
                  </a:path>
                  <a:path w="251459" h="261619">
                    <a:moveTo>
                      <a:pt x="99440" y="214630"/>
                    </a:moveTo>
                    <a:lnTo>
                      <a:pt x="95250" y="214630"/>
                    </a:lnTo>
                    <a:lnTo>
                      <a:pt x="65024" y="245109"/>
                    </a:lnTo>
                    <a:lnTo>
                      <a:pt x="80718" y="245109"/>
                    </a:lnTo>
                    <a:lnTo>
                      <a:pt x="103504" y="222250"/>
                    </a:lnTo>
                    <a:lnTo>
                      <a:pt x="103632" y="220980"/>
                    </a:lnTo>
                    <a:lnTo>
                      <a:pt x="103632" y="219709"/>
                    </a:lnTo>
                    <a:lnTo>
                      <a:pt x="103504" y="219709"/>
                    </a:lnTo>
                    <a:lnTo>
                      <a:pt x="103250" y="218439"/>
                    </a:lnTo>
                    <a:lnTo>
                      <a:pt x="102742" y="218439"/>
                    </a:lnTo>
                    <a:lnTo>
                      <a:pt x="102362" y="217169"/>
                    </a:lnTo>
                    <a:lnTo>
                      <a:pt x="101853" y="217169"/>
                    </a:lnTo>
                    <a:lnTo>
                      <a:pt x="101219" y="215900"/>
                    </a:lnTo>
                    <a:lnTo>
                      <a:pt x="100584" y="215900"/>
                    </a:lnTo>
                    <a:lnTo>
                      <a:pt x="99440" y="214630"/>
                    </a:lnTo>
                    <a:close/>
                  </a:path>
                  <a:path w="251459" h="261619">
                    <a:moveTo>
                      <a:pt x="35306" y="162559"/>
                    </a:moveTo>
                    <a:lnTo>
                      <a:pt x="28575" y="163830"/>
                    </a:lnTo>
                    <a:lnTo>
                      <a:pt x="25273" y="163830"/>
                    </a:lnTo>
                    <a:lnTo>
                      <a:pt x="21716" y="165100"/>
                    </a:lnTo>
                    <a:lnTo>
                      <a:pt x="14859" y="170180"/>
                    </a:lnTo>
                    <a:lnTo>
                      <a:pt x="11557" y="172719"/>
                    </a:lnTo>
                    <a:lnTo>
                      <a:pt x="9398" y="175259"/>
                    </a:lnTo>
                    <a:lnTo>
                      <a:pt x="7620" y="177800"/>
                    </a:lnTo>
                    <a:lnTo>
                      <a:pt x="6096" y="179069"/>
                    </a:lnTo>
                    <a:lnTo>
                      <a:pt x="4699" y="181609"/>
                    </a:lnTo>
                    <a:lnTo>
                      <a:pt x="3428" y="184150"/>
                    </a:lnTo>
                    <a:lnTo>
                      <a:pt x="2412" y="186689"/>
                    </a:lnTo>
                    <a:lnTo>
                      <a:pt x="762" y="190500"/>
                    </a:lnTo>
                    <a:lnTo>
                      <a:pt x="381" y="193039"/>
                    </a:lnTo>
                    <a:lnTo>
                      <a:pt x="0" y="194309"/>
                    </a:lnTo>
                    <a:lnTo>
                      <a:pt x="0" y="199389"/>
                    </a:lnTo>
                    <a:lnTo>
                      <a:pt x="635" y="199389"/>
                    </a:lnTo>
                    <a:lnTo>
                      <a:pt x="1015" y="200659"/>
                    </a:lnTo>
                    <a:lnTo>
                      <a:pt x="1904" y="200659"/>
                    </a:lnTo>
                    <a:lnTo>
                      <a:pt x="2412" y="201930"/>
                    </a:lnTo>
                    <a:lnTo>
                      <a:pt x="3175" y="201930"/>
                    </a:lnTo>
                    <a:lnTo>
                      <a:pt x="3810" y="203200"/>
                    </a:lnTo>
                    <a:lnTo>
                      <a:pt x="5079" y="204469"/>
                    </a:lnTo>
                    <a:lnTo>
                      <a:pt x="8509" y="204469"/>
                    </a:lnTo>
                    <a:lnTo>
                      <a:pt x="9271" y="201930"/>
                    </a:lnTo>
                    <a:lnTo>
                      <a:pt x="9398" y="200659"/>
                    </a:lnTo>
                    <a:lnTo>
                      <a:pt x="9525" y="199389"/>
                    </a:lnTo>
                    <a:lnTo>
                      <a:pt x="10033" y="198119"/>
                    </a:lnTo>
                    <a:lnTo>
                      <a:pt x="11302" y="194309"/>
                    </a:lnTo>
                    <a:lnTo>
                      <a:pt x="12191" y="191769"/>
                    </a:lnTo>
                    <a:lnTo>
                      <a:pt x="26542" y="177800"/>
                    </a:lnTo>
                    <a:lnTo>
                      <a:pt x="28701" y="176530"/>
                    </a:lnTo>
                    <a:lnTo>
                      <a:pt x="54737" y="176530"/>
                    </a:lnTo>
                    <a:lnTo>
                      <a:pt x="53848" y="175259"/>
                    </a:lnTo>
                    <a:lnTo>
                      <a:pt x="51815" y="172719"/>
                    </a:lnTo>
                    <a:lnTo>
                      <a:pt x="49657" y="171450"/>
                    </a:lnTo>
                    <a:lnTo>
                      <a:pt x="47116" y="168909"/>
                    </a:lnTo>
                    <a:lnTo>
                      <a:pt x="44450" y="166369"/>
                    </a:lnTo>
                    <a:lnTo>
                      <a:pt x="35306" y="162559"/>
                    </a:lnTo>
                    <a:close/>
                  </a:path>
                  <a:path w="251459" h="261619">
                    <a:moveTo>
                      <a:pt x="88137" y="109219"/>
                    </a:moveTo>
                    <a:lnTo>
                      <a:pt x="83438" y="109219"/>
                    </a:lnTo>
                    <a:lnTo>
                      <a:pt x="74295" y="111759"/>
                    </a:lnTo>
                    <a:lnTo>
                      <a:pt x="69850" y="114300"/>
                    </a:lnTo>
                    <a:lnTo>
                      <a:pt x="65404" y="119380"/>
                    </a:lnTo>
                    <a:lnTo>
                      <a:pt x="60833" y="123189"/>
                    </a:lnTo>
                    <a:lnTo>
                      <a:pt x="57912" y="128269"/>
                    </a:lnTo>
                    <a:lnTo>
                      <a:pt x="56514" y="133350"/>
                    </a:lnTo>
                    <a:lnTo>
                      <a:pt x="54990" y="138430"/>
                    </a:lnTo>
                    <a:lnTo>
                      <a:pt x="54990" y="143509"/>
                    </a:lnTo>
                    <a:lnTo>
                      <a:pt x="56134" y="148589"/>
                    </a:lnTo>
                    <a:lnTo>
                      <a:pt x="76581" y="179069"/>
                    </a:lnTo>
                    <a:lnTo>
                      <a:pt x="82296" y="185419"/>
                    </a:lnTo>
                    <a:lnTo>
                      <a:pt x="87757" y="190500"/>
                    </a:lnTo>
                    <a:lnTo>
                      <a:pt x="98171" y="196850"/>
                    </a:lnTo>
                    <a:lnTo>
                      <a:pt x="103250" y="199389"/>
                    </a:lnTo>
                    <a:lnTo>
                      <a:pt x="112902" y="201930"/>
                    </a:lnTo>
                    <a:lnTo>
                      <a:pt x="117601" y="201930"/>
                    </a:lnTo>
                    <a:lnTo>
                      <a:pt x="126619" y="199389"/>
                    </a:lnTo>
                    <a:lnTo>
                      <a:pt x="131063" y="196850"/>
                    </a:lnTo>
                    <a:lnTo>
                      <a:pt x="135509" y="191769"/>
                    </a:lnTo>
                    <a:lnTo>
                      <a:pt x="137795" y="189230"/>
                    </a:lnTo>
                    <a:lnTo>
                      <a:pt x="114300" y="189230"/>
                    </a:lnTo>
                    <a:lnTo>
                      <a:pt x="107441" y="186689"/>
                    </a:lnTo>
                    <a:lnTo>
                      <a:pt x="103632" y="185419"/>
                    </a:lnTo>
                    <a:lnTo>
                      <a:pt x="99440" y="181609"/>
                    </a:lnTo>
                    <a:lnTo>
                      <a:pt x="95250" y="179069"/>
                    </a:lnTo>
                    <a:lnTo>
                      <a:pt x="90677" y="175259"/>
                    </a:lnTo>
                    <a:lnTo>
                      <a:pt x="85471" y="168909"/>
                    </a:lnTo>
                    <a:lnTo>
                      <a:pt x="81534" y="165100"/>
                    </a:lnTo>
                    <a:lnTo>
                      <a:pt x="78104" y="161289"/>
                    </a:lnTo>
                    <a:lnTo>
                      <a:pt x="75184" y="157480"/>
                    </a:lnTo>
                    <a:lnTo>
                      <a:pt x="72262" y="154939"/>
                    </a:lnTo>
                    <a:lnTo>
                      <a:pt x="70103" y="151130"/>
                    </a:lnTo>
                    <a:lnTo>
                      <a:pt x="68579" y="147319"/>
                    </a:lnTo>
                    <a:lnTo>
                      <a:pt x="67183" y="143509"/>
                    </a:lnTo>
                    <a:lnTo>
                      <a:pt x="66928" y="140969"/>
                    </a:lnTo>
                    <a:lnTo>
                      <a:pt x="66801" y="139700"/>
                    </a:lnTo>
                    <a:lnTo>
                      <a:pt x="67183" y="137159"/>
                    </a:lnTo>
                    <a:lnTo>
                      <a:pt x="67690" y="133350"/>
                    </a:lnTo>
                    <a:lnTo>
                      <a:pt x="69469" y="129539"/>
                    </a:lnTo>
                    <a:lnTo>
                      <a:pt x="74167" y="125730"/>
                    </a:lnTo>
                    <a:lnTo>
                      <a:pt x="75946" y="124459"/>
                    </a:lnTo>
                    <a:lnTo>
                      <a:pt x="77850" y="123189"/>
                    </a:lnTo>
                    <a:lnTo>
                      <a:pt x="79628" y="121919"/>
                    </a:lnTo>
                    <a:lnTo>
                      <a:pt x="114522" y="121919"/>
                    </a:lnTo>
                    <a:lnTo>
                      <a:pt x="113157" y="120650"/>
                    </a:lnTo>
                    <a:lnTo>
                      <a:pt x="107950" y="116839"/>
                    </a:lnTo>
                    <a:lnTo>
                      <a:pt x="102870" y="113030"/>
                    </a:lnTo>
                    <a:lnTo>
                      <a:pt x="97789" y="110489"/>
                    </a:lnTo>
                    <a:lnTo>
                      <a:pt x="92963" y="110489"/>
                    </a:lnTo>
                    <a:lnTo>
                      <a:pt x="88137" y="109219"/>
                    </a:lnTo>
                    <a:close/>
                  </a:path>
                  <a:path w="251459" h="261619">
                    <a:moveTo>
                      <a:pt x="114522" y="121919"/>
                    </a:moveTo>
                    <a:lnTo>
                      <a:pt x="87884" y="121919"/>
                    </a:lnTo>
                    <a:lnTo>
                      <a:pt x="92456" y="123189"/>
                    </a:lnTo>
                    <a:lnTo>
                      <a:pt x="94869" y="124459"/>
                    </a:lnTo>
                    <a:lnTo>
                      <a:pt x="97409" y="125730"/>
                    </a:lnTo>
                    <a:lnTo>
                      <a:pt x="100075" y="128269"/>
                    </a:lnTo>
                    <a:lnTo>
                      <a:pt x="102870" y="129539"/>
                    </a:lnTo>
                    <a:lnTo>
                      <a:pt x="105790" y="132080"/>
                    </a:lnTo>
                    <a:lnTo>
                      <a:pt x="108838" y="134619"/>
                    </a:lnTo>
                    <a:lnTo>
                      <a:pt x="112140" y="138430"/>
                    </a:lnTo>
                    <a:lnTo>
                      <a:pt x="115570" y="140969"/>
                    </a:lnTo>
                    <a:lnTo>
                      <a:pt x="120523" y="146050"/>
                    </a:lnTo>
                    <a:lnTo>
                      <a:pt x="122682" y="148589"/>
                    </a:lnTo>
                    <a:lnTo>
                      <a:pt x="124967" y="151130"/>
                    </a:lnTo>
                    <a:lnTo>
                      <a:pt x="133985" y="172719"/>
                    </a:lnTo>
                    <a:lnTo>
                      <a:pt x="133603" y="175259"/>
                    </a:lnTo>
                    <a:lnTo>
                      <a:pt x="132841" y="177800"/>
                    </a:lnTo>
                    <a:lnTo>
                      <a:pt x="131952" y="180339"/>
                    </a:lnTo>
                    <a:lnTo>
                      <a:pt x="130428" y="181609"/>
                    </a:lnTo>
                    <a:lnTo>
                      <a:pt x="125857" y="186689"/>
                    </a:lnTo>
                    <a:lnTo>
                      <a:pt x="123189" y="187959"/>
                    </a:lnTo>
                    <a:lnTo>
                      <a:pt x="120269" y="189230"/>
                    </a:lnTo>
                    <a:lnTo>
                      <a:pt x="137795" y="189230"/>
                    </a:lnTo>
                    <a:lnTo>
                      <a:pt x="140081" y="186689"/>
                    </a:lnTo>
                    <a:lnTo>
                      <a:pt x="143128" y="182880"/>
                    </a:lnTo>
                    <a:lnTo>
                      <a:pt x="145923" y="172719"/>
                    </a:lnTo>
                    <a:lnTo>
                      <a:pt x="146050" y="167639"/>
                    </a:lnTo>
                    <a:lnTo>
                      <a:pt x="144779" y="162559"/>
                    </a:lnTo>
                    <a:lnTo>
                      <a:pt x="143637" y="157480"/>
                    </a:lnTo>
                    <a:lnTo>
                      <a:pt x="141224" y="152400"/>
                    </a:lnTo>
                    <a:lnTo>
                      <a:pt x="134112" y="142239"/>
                    </a:lnTo>
                    <a:lnTo>
                      <a:pt x="129666" y="137159"/>
                    </a:lnTo>
                    <a:lnTo>
                      <a:pt x="124333" y="130809"/>
                    </a:lnTo>
                    <a:lnTo>
                      <a:pt x="118617" y="125730"/>
                    </a:lnTo>
                    <a:lnTo>
                      <a:pt x="114522" y="121919"/>
                    </a:lnTo>
                    <a:close/>
                  </a:path>
                  <a:path w="251459" h="261619">
                    <a:moveTo>
                      <a:pt x="150061" y="73659"/>
                    </a:moveTo>
                    <a:lnTo>
                      <a:pt x="131317" y="73659"/>
                    </a:lnTo>
                    <a:lnTo>
                      <a:pt x="184150" y="125730"/>
                    </a:lnTo>
                    <a:lnTo>
                      <a:pt x="169672" y="140969"/>
                    </a:lnTo>
                    <a:lnTo>
                      <a:pt x="169290" y="140969"/>
                    </a:lnTo>
                    <a:lnTo>
                      <a:pt x="169290" y="143509"/>
                    </a:lnTo>
                    <a:lnTo>
                      <a:pt x="169545" y="143509"/>
                    </a:lnTo>
                    <a:lnTo>
                      <a:pt x="170307" y="144780"/>
                    </a:lnTo>
                    <a:lnTo>
                      <a:pt x="171450" y="146050"/>
                    </a:lnTo>
                    <a:lnTo>
                      <a:pt x="172085" y="147319"/>
                    </a:lnTo>
                    <a:lnTo>
                      <a:pt x="172720" y="147319"/>
                    </a:lnTo>
                    <a:lnTo>
                      <a:pt x="173354" y="148589"/>
                    </a:lnTo>
                    <a:lnTo>
                      <a:pt x="176784" y="148589"/>
                    </a:lnTo>
                    <a:lnTo>
                      <a:pt x="208534" y="116839"/>
                    </a:lnTo>
                    <a:lnTo>
                      <a:pt x="193421" y="116839"/>
                    </a:lnTo>
                    <a:lnTo>
                      <a:pt x="150061" y="73659"/>
                    </a:lnTo>
                    <a:close/>
                  </a:path>
                  <a:path w="251459" h="261619">
                    <a:moveTo>
                      <a:pt x="209296" y="104139"/>
                    </a:moveTo>
                    <a:lnTo>
                      <a:pt x="205866" y="104139"/>
                    </a:lnTo>
                    <a:lnTo>
                      <a:pt x="193421" y="116839"/>
                    </a:lnTo>
                    <a:lnTo>
                      <a:pt x="208534" y="116839"/>
                    </a:lnTo>
                    <a:lnTo>
                      <a:pt x="213613" y="111759"/>
                    </a:lnTo>
                    <a:lnTo>
                      <a:pt x="213867" y="110489"/>
                    </a:lnTo>
                    <a:lnTo>
                      <a:pt x="213995" y="110489"/>
                    </a:lnTo>
                    <a:lnTo>
                      <a:pt x="213867" y="109219"/>
                    </a:lnTo>
                    <a:lnTo>
                      <a:pt x="213487" y="109219"/>
                    </a:lnTo>
                    <a:lnTo>
                      <a:pt x="213106" y="107950"/>
                    </a:lnTo>
                    <a:lnTo>
                      <a:pt x="212851" y="107950"/>
                    </a:lnTo>
                    <a:lnTo>
                      <a:pt x="212344" y="106680"/>
                    </a:lnTo>
                    <a:lnTo>
                      <a:pt x="211582" y="106680"/>
                    </a:lnTo>
                    <a:lnTo>
                      <a:pt x="210947" y="105409"/>
                    </a:lnTo>
                    <a:lnTo>
                      <a:pt x="210312" y="105409"/>
                    </a:lnTo>
                    <a:lnTo>
                      <a:pt x="209296" y="104139"/>
                    </a:lnTo>
                    <a:close/>
                  </a:path>
                  <a:path w="251459" h="261619">
                    <a:moveTo>
                      <a:pt x="224282" y="97789"/>
                    </a:moveTo>
                    <a:lnTo>
                      <a:pt x="220599" y="97789"/>
                    </a:lnTo>
                    <a:lnTo>
                      <a:pt x="221361" y="99059"/>
                    </a:lnTo>
                    <a:lnTo>
                      <a:pt x="223392" y="99059"/>
                    </a:lnTo>
                    <a:lnTo>
                      <a:pt x="224282" y="97789"/>
                    </a:lnTo>
                    <a:close/>
                  </a:path>
                  <a:path w="251459" h="261619">
                    <a:moveTo>
                      <a:pt x="132207" y="55880"/>
                    </a:moveTo>
                    <a:lnTo>
                      <a:pt x="129539" y="55880"/>
                    </a:lnTo>
                    <a:lnTo>
                      <a:pt x="128904" y="57150"/>
                    </a:lnTo>
                    <a:lnTo>
                      <a:pt x="128142" y="57150"/>
                    </a:lnTo>
                    <a:lnTo>
                      <a:pt x="127508" y="58419"/>
                    </a:lnTo>
                    <a:lnTo>
                      <a:pt x="126619" y="58419"/>
                    </a:lnTo>
                    <a:lnTo>
                      <a:pt x="125984" y="59689"/>
                    </a:lnTo>
                    <a:lnTo>
                      <a:pt x="125475" y="59689"/>
                    </a:lnTo>
                    <a:lnTo>
                      <a:pt x="124967" y="60959"/>
                    </a:lnTo>
                    <a:lnTo>
                      <a:pt x="124206" y="60959"/>
                    </a:lnTo>
                    <a:lnTo>
                      <a:pt x="124078" y="62230"/>
                    </a:lnTo>
                    <a:lnTo>
                      <a:pt x="123571" y="62230"/>
                    </a:lnTo>
                    <a:lnTo>
                      <a:pt x="123316" y="63500"/>
                    </a:lnTo>
                    <a:lnTo>
                      <a:pt x="117348" y="90169"/>
                    </a:lnTo>
                    <a:lnTo>
                      <a:pt x="117348" y="91439"/>
                    </a:lnTo>
                    <a:lnTo>
                      <a:pt x="117601" y="92709"/>
                    </a:lnTo>
                    <a:lnTo>
                      <a:pt x="117983" y="92709"/>
                    </a:lnTo>
                    <a:lnTo>
                      <a:pt x="118745" y="93980"/>
                    </a:lnTo>
                    <a:lnTo>
                      <a:pt x="120650" y="96519"/>
                    </a:lnTo>
                    <a:lnTo>
                      <a:pt x="122047" y="97789"/>
                    </a:lnTo>
                    <a:lnTo>
                      <a:pt x="124967" y="97789"/>
                    </a:lnTo>
                    <a:lnTo>
                      <a:pt x="125602" y="96519"/>
                    </a:lnTo>
                    <a:lnTo>
                      <a:pt x="125984" y="95250"/>
                    </a:lnTo>
                    <a:lnTo>
                      <a:pt x="131317" y="73659"/>
                    </a:lnTo>
                    <a:lnTo>
                      <a:pt x="150061" y="73659"/>
                    </a:lnTo>
                    <a:lnTo>
                      <a:pt x="132207" y="55880"/>
                    </a:lnTo>
                    <a:close/>
                  </a:path>
                  <a:path w="251459" h="261619">
                    <a:moveTo>
                      <a:pt x="242781" y="35559"/>
                    </a:moveTo>
                    <a:lnTo>
                      <a:pt x="227075" y="35559"/>
                    </a:lnTo>
                    <a:lnTo>
                      <a:pt x="230250" y="39369"/>
                    </a:lnTo>
                    <a:lnTo>
                      <a:pt x="233045" y="43180"/>
                    </a:lnTo>
                    <a:lnTo>
                      <a:pt x="237362" y="50800"/>
                    </a:lnTo>
                    <a:lnTo>
                      <a:pt x="238760" y="54609"/>
                    </a:lnTo>
                    <a:lnTo>
                      <a:pt x="239394" y="58419"/>
                    </a:lnTo>
                    <a:lnTo>
                      <a:pt x="240157" y="62230"/>
                    </a:lnTo>
                    <a:lnTo>
                      <a:pt x="240072" y="63500"/>
                    </a:lnTo>
                    <a:lnTo>
                      <a:pt x="239987" y="64769"/>
                    </a:lnTo>
                    <a:lnTo>
                      <a:pt x="239903" y="66039"/>
                    </a:lnTo>
                    <a:lnTo>
                      <a:pt x="237616" y="73659"/>
                    </a:lnTo>
                    <a:lnTo>
                      <a:pt x="235331" y="77469"/>
                    </a:lnTo>
                    <a:lnTo>
                      <a:pt x="231775" y="80009"/>
                    </a:lnTo>
                    <a:lnTo>
                      <a:pt x="229997" y="82550"/>
                    </a:lnTo>
                    <a:lnTo>
                      <a:pt x="226440" y="85089"/>
                    </a:lnTo>
                    <a:lnTo>
                      <a:pt x="223138" y="87630"/>
                    </a:lnTo>
                    <a:lnTo>
                      <a:pt x="219201" y="88900"/>
                    </a:lnTo>
                    <a:lnTo>
                      <a:pt x="218186" y="90169"/>
                    </a:lnTo>
                    <a:lnTo>
                      <a:pt x="216535" y="90169"/>
                    </a:lnTo>
                    <a:lnTo>
                      <a:pt x="216153" y="91439"/>
                    </a:lnTo>
                    <a:lnTo>
                      <a:pt x="215773" y="91439"/>
                    </a:lnTo>
                    <a:lnTo>
                      <a:pt x="215391" y="92709"/>
                    </a:lnTo>
                    <a:lnTo>
                      <a:pt x="215519" y="92709"/>
                    </a:lnTo>
                    <a:lnTo>
                      <a:pt x="216026" y="93980"/>
                    </a:lnTo>
                    <a:lnTo>
                      <a:pt x="216788" y="95250"/>
                    </a:lnTo>
                    <a:lnTo>
                      <a:pt x="217424" y="95250"/>
                    </a:lnTo>
                    <a:lnTo>
                      <a:pt x="219075" y="96519"/>
                    </a:lnTo>
                    <a:lnTo>
                      <a:pt x="219963" y="97789"/>
                    </a:lnTo>
                    <a:lnTo>
                      <a:pt x="226567" y="97789"/>
                    </a:lnTo>
                    <a:lnTo>
                      <a:pt x="227837" y="96519"/>
                    </a:lnTo>
                    <a:lnTo>
                      <a:pt x="229235" y="96519"/>
                    </a:lnTo>
                    <a:lnTo>
                      <a:pt x="232283" y="93980"/>
                    </a:lnTo>
                    <a:lnTo>
                      <a:pt x="235585" y="91439"/>
                    </a:lnTo>
                    <a:lnTo>
                      <a:pt x="237109" y="90169"/>
                    </a:lnTo>
                    <a:lnTo>
                      <a:pt x="242696" y="85089"/>
                    </a:lnTo>
                    <a:lnTo>
                      <a:pt x="245744" y="80009"/>
                    </a:lnTo>
                    <a:lnTo>
                      <a:pt x="247650" y="76200"/>
                    </a:lnTo>
                    <a:lnTo>
                      <a:pt x="249682" y="72389"/>
                    </a:lnTo>
                    <a:lnTo>
                      <a:pt x="250825" y="68580"/>
                    </a:lnTo>
                    <a:lnTo>
                      <a:pt x="250994" y="66039"/>
                    </a:lnTo>
                    <a:lnTo>
                      <a:pt x="251079" y="55880"/>
                    </a:lnTo>
                    <a:lnTo>
                      <a:pt x="249046" y="48259"/>
                    </a:lnTo>
                    <a:lnTo>
                      <a:pt x="247522" y="44450"/>
                    </a:lnTo>
                    <a:lnTo>
                      <a:pt x="245490" y="40639"/>
                    </a:lnTo>
                    <a:lnTo>
                      <a:pt x="243586" y="36830"/>
                    </a:lnTo>
                    <a:lnTo>
                      <a:pt x="242781" y="35559"/>
                    </a:lnTo>
                    <a:close/>
                  </a:path>
                  <a:path w="251459" h="261619">
                    <a:moveTo>
                      <a:pt x="198374" y="0"/>
                    </a:moveTo>
                    <a:lnTo>
                      <a:pt x="195325" y="0"/>
                    </a:lnTo>
                    <a:lnTo>
                      <a:pt x="189229" y="1269"/>
                    </a:lnTo>
                    <a:lnTo>
                      <a:pt x="186309" y="1269"/>
                    </a:lnTo>
                    <a:lnTo>
                      <a:pt x="183261" y="2539"/>
                    </a:lnTo>
                    <a:lnTo>
                      <a:pt x="180339" y="5080"/>
                    </a:lnTo>
                    <a:lnTo>
                      <a:pt x="177419" y="6350"/>
                    </a:lnTo>
                    <a:lnTo>
                      <a:pt x="170434" y="13969"/>
                    </a:lnTo>
                    <a:lnTo>
                      <a:pt x="167512" y="17780"/>
                    </a:lnTo>
                    <a:lnTo>
                      <a:pt x="164211" y="26669"/>
                    </a:lnTo>
                    <a:lnTo>
                      <a:pt x="163449" y="30480"/>
                    </a:lnTo>
                    <a:lnTo>
                      <a:pt x="163533" y="31750"/>
                    </a:lnTo>
                    <a:lnTo>
                      <a:pt x="163618" y="33019"/>
                    </a:lnTo>
                    <a:lnTo>
                      <a:pt x="163702" y="34289"/>
                    </a:lnTo>
                    <a:lnTo>
                      <a:pt x="163829" y="38100"/>
                    </a:lnTo>
                    <a:lnTo>
                      <a:pt x="164973" y="41909"/>
                    </a:lnTo>
                    <a:lnTo>
                      <a:pt x="166750" y="45719"/>
                    </a:lnTo>
                    <a:lnTo>
                      <a:pt x="168656" y="49530"/>
                    </a:lnTo>
                    <a:lnTo>
                      <a:pt x="171196" y="53339"/>
                    </a:lnTo>
                    <a:lnTo>
                      <a:pt x="174244" y="55880"/>
                    </a:lnTo>
                    <a:lnTo>
                      <a:pt x="177164" y="59689"/>
                    </a:lnTo>
                    <a:lnTo>
                      <a:pt x="180212" y="60959"/>
                    </a:lnTo>
                    <a:lnTo>
                      <a:pt x="183514" y="63500"/>
                    </a:lnTo>
                    <a:lnTo>
                      <a:pt x="186689" y="64769"/>
                    </a:lnTo>
                    <a:lnTo>
                      <a:pt x="189991" y="66039"/>
                    </a:lnTo>
                    <a:lnTo>
                      <a:pt x="200406" y="66039"/>
                    </a:lnTo>
                    <a:lnTo>
                      <a:pt x="204088" y="64769"/>
                    </a:lnTo>
                    <a:lnTo>
                      <a:pt x="211454" y="59689"/>
                    </a:lnTo>
                    <a:lnTo>
                      <a:pt x="215391" y="55880"/>
                    </a:lnTo>
                    <a:lnTo>
                      <a:pt x="217677" y="53339"/>
                    </a:lnTo>
                    <a:lnTo>
                      <a:pt x="193675" y="53339"/>
                    </a:lnTo>
                    <a:lnTo>
                      <a:pt x="189357" y="50800"/>
                    </a:lnTo>
                    <a:lnTo>
                      <a:pt x="187071" y="49530"/>
                    </a:lnTo>
                    <a:lnTo>
                      <a:pt x="184912" y="48259"/>
                    </a:lnTo>
                    <a:lnTo>
                      <a:pt x="182879" y="45719"/>
                    </a:lnTo>
                    <a:lnTo>
                      <a:pt x="180975" y="44450"/>
                    </a:lnTo>
                    <a:lnTo>
                      <a:pt x="179324" y="41909"/>
                    </a:lnTo>
                    <a:lnTo>
                      <a:pt x="176784" y="38100"/>
                    </a:lnTo>
                    <a:lnTo>
                      <a:pt x="176022" y="35559"/>
                    </a:lnTo>
                    <a:lnTo>
                      <a:pt x="175260" y="30480"/>
                    </a:lnTo>
                    <a:lnTo>
                      <a:pt x="175387" y="29209"/>
                    </a:lnTo>
                    <a:lnTo>
                      <a:pt x="175513" y="27939"/>
                    </a:lnTo>
                    <a:lnTo>
                      <a:pt x="188213" y="12700"/>
                    </a:lnTo>
                    <a:lnTo>
                      <a:pt x="221932" y="12700"/>
                    </a:lnTo>
                    <a:lnTo>
                      <a:pt x="213995" y="6350"/>
                    </a:lnTo>
                    <a:lnTo>
                      <a:pt x="207645" y="3809"/>
                    </a:lnTo>
                    <a:lnTo>
                      <a:pt x="204597" y="2539"/>
                    </a:lnTo>
                    <a:lnTo>
                      <a:pt x="201422" y="1269"/>
                    </a:lnTo>
                    <a:lnTo>
                      <a:pt x="198374" y="0"/>
                    </a:lnTo>
                    <a:close/>
                  </a:path>
                  <a:path w="251459" h="261619">
                    <a:moveTo>
                      <a:pt x="221932" y="12700"/>
                    </a:moveTo>
                    <a:lnTo>
                      <a:pt x="196723" y="12700"/>
                    </a:lnTo>
                    <a:lnTo>
                      <a:pt x="199898" y="13969"/>
                    </a:lnTo>
                    <a:lnTo>
                      <a:pt x="203326" y="15239"/>
                    </a:lnTo>
                    <a:lnTo>
                      <a:pt x="207010" y="17780"/>
                    </a:lnTo>
                    <a:lnTo>
                      <a:pt x="210820" y="20319"/>
                    </a:lnTo>
                    <a:lnTo>
                      <a:pt x="214884" y="24130"/>
                    </a:lnTo>
                    <a:lnTo>
                      <a:pt x="219456" y="29209"/>
                    </a:lnTo>
                    <a:lnTo>
                      <a:pt x="218948" y="31750"/>
                    </a:lnTo>
                    <a:lnTo>
                      <a:pt x="217932" y="35559"/>
                    </a:lnTo>
                    <a:lnTo>
                      <a:pt x="216153" y="38100"/>
                    </a:lnTo>
                    <a:lnTo>
                      <a:pt x="214502" y="41909"/>
                    </a:lnTo>
                    <a:lnTo>
                      <a:pt x="212344" y="44450"/>
                    </a:lnTo>
                    <a:lnTo>
                      <a:pt x="209676" y="46989"/>
                    </a:lnTo>
                    <a:lnTo>
                      <a:pt x="207263" y="49530"/>
                    </a:lnTo>
                    <a:lnTo>
                      <a:pt x="200406" y="53339"/>
                    </a:lnTo>
                    <a:lnTo>
                      <a:pt x="217677" y="53339"/>
                    </a:lnTo>
                    <a:lnTo>
                      <a:pt x="218821" y="52069"/>
                    </a:lnTo>
                    <a:lnTo>
                      <a:pt x="221361" y="49530"/>
                    </a:lnTo>
                    <a:lnTo>
                      <a:pt x="223265" y="45719"/>
                    </a:lnTo>
                    <a:lnTo>
                      <a:pt x="225044" y="41909"/>
                    </a:lnTo>
                    <a:lnTo>
                      <a:pt x="226313" y="39369"/>
                    </a:lnTo>
                    <a:lnTo>
                      <a:pt x="227075" y="35559"/>
                    </a:lnTo>
                    <a:lnTo>
                      <a:pt x="242781" y="35559"/>
                    </a:lnTo>
                    <a:lnTo>
                      <a:pt x="241172" y="33019"/>
                    </a:lnTo>
                    <a:lnTo>
                      <a:pt x="235838" y="26669"/>
                    </a:lnTo>
                    <a:lnTo>
                      <a:pt x="232917" y="22859"/>
                    </a:lnTo>
                    <a:lnTo>
                      <a:pt x="229870" y="20319"/>
                    </a:lnTo>
                    <a:lnTo>
                      <a:pt x="226695" y="16509"/>
                    </a:lnTo>
                    <a:lnTo>
                      <a:pt x="221932" y="12700"/>
                    </a:lnTo>
                    <a:close/>
                  </a:path>
                </a:pathLst>
              </a:custGeom>
              <a:solidFill>
                <a:srgbClr val="585858"/>
              </a:solidFill>
            </p:spPr>
            <p:txBody>
              <a:bodyPr wrap="square" lIns="0" tIns="0" rIns="0" bIns="0" rtlCol="0"/>
              <a:lstStyle/>
              <a:p>
                <a:endParaRPr sz="2397"/>
              </a:p>
            </p:txBody>
          </p:sp>
          <p:pic>
            <p:nvPicPr>
              <p:cNvPr id="81" name="object 81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549644" y="2776981"/>
                <a:ext cx="541908" cy="260350"/>
              </a:xfrm>
              <a:prstGeom prst="rect">
                <a:avLst/>
              </a:prstGeom>
            </p:spPr>
          </p:pic>
          <p:sp>
            <p:nvSpPr>
              <p:cNvPr id="82" name="object 82"/>
              <p:cNvSpPr/>
              <p:nvPr/>
            </p:nvSpPr>
            <p:spPr>
              <a:xfrm>
                <a:off x="7122287" y="2770631"/>
                <a:ext cx="25527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55270" h="266700">
                    <a:moveTo>
                      <a:pt x="54991" y="181610"/>
                    </a:moveTo>
                    <a:lnTo>
                      <a:pt x="32893" y="181610"/>
                    </a:lnTo>
                    <a:lnTo>
                      <a:pt x="34798" y="182880"/>
                    </a:lnTo>
                    <a:lnTo>
                      <a:pt x="36703" y="182880"/>
                    </a:lnTo>
                    <a:lnTo>
                      <a:pt x="38608" y="184150"/>
                    </a:lnTo>
                    <a:lnTo>
                      <a:pt x="40386" y="185419"/>
                    </a:lnTo>
                    <a:lnTo>
                      <a:pt x="43434" y="187960"/>
                    </a:lnTo>
                    <a:lnTo>
                      <a:pt x="44958" y="190500"/>
                    </a:lnTo>
                    <a:lnTo>
                      <a:pt x="46355" y="193039"/>
                    </a:lnTo>
                    <a:lnTo>
                      <a:pt x="47752" y="194310"/>
                    </a:lnTo>
                    <a:lnTo>
                      <a:pt x="49022" y="196850"/>
                    </a:lnTo>
                    <a:lnTo>
                      <a:pt x="50038" y="200660"/>
                    </a:lnTo>
                    <a:lnTo>
                      <a:pt x="51181" y="203200"/>
                    </a:lnTo>
                    <a:lnTo>
                      <a:pt x="52070" y="207010"/>
                    </a:lnTo>
                    <a:lnTo>
                      <a:pt x="52705" y="212089"/>
                    </a:lnTo>
                    <a:lnTo>
                      <a:pt x="53467" y="217169"/>
                    </a:lnTo>
                    <a:lnTo>
                      <a:pt x="53657" y="219710"/>
                    </a:lnTo>
                    <a:lnTo>
                      <a:pt x="53752" y="220980"/>
                    </a:lnTo>
                    <a:lnTo>
                      <a:pt x="54142" y="250189"/>
                    </a:lnTo>
                    <a:lnTo>
                      <a:pt x="54229" y="256539"/>
                    </a:lnTo>
                    <a:lnTo>
                      <a:pt x="54356" y="259080"/>
                    </a:lnTo>
                    <a:lnTo>
                      <a:pt x="54610" y="260350"/>
                    </a:lnTo>
                    <a:lnTo>
                      <a:pt x="54864" y="260350"/>
                    </a:lnTo>
                    <a:lnTo>
                      <a:pt x="54991" y="261619"/>
                    </a:lnTo>
                    <a:lnTo>
                      <a:pt x="55245" y="261619"/>
                    </a:lnTo>
                    <a:lnTo>
                      <a:pt x="55626" y="262889"/>
                    </a:lnTo>
                    <a:lnTo>
                      <a:pt x="56515" y="262889"/>
                    </a:lnTo>
                    <a:lnTo>
                      <a:pt x="58674" y="265430"/>
                    </a:lnTo>
                    <a:lnTo>
                      <a:pt x="59436" y="266700"/>
                    </a:lnTo>
                    <a:lnTo>
                      <a:pt x="64516" y="266700"/>
                    </a:lnTo>
                    <a:lnTo>
                      <a:pt x="80812" y="250189"/>
                    </a:lnTo>
                    <a:lnTo>
                      <a:pt x="65278" y="250189"/>
                    </a:lnTo>
                    <a:lnTo>
                      <a:pt x="64798" y="228600"/>
                    </a:lnTo>
                    <a:lnTo>
                      <a:pt x="64685" y="222250"/>
                    </a:lnTo>
                    <a:lnTo>
                      <a:pt x="64643" y="219710"/>
                    </a:lnTo>
                    <a:lnTo>
                      <a:pt x="64262" y="212089"/>
                    </a:lnTo>
                    <a:lnTo>
                      <a:pt x="62738" y="201930"/>
                    </a:lnTo>
                    <a:lnTo>
                      <a:pt x="61722" y="196850"/>
                    </a:lnTo>
                    <a:lnTo>
                      <a:pt x="59182" y="189230"/>
                    </a:lnTo>
                    <a:lnTo>
                      <a:pt x="57658" y="185419"/>
                    </a:lnTo>
                    <a:lnTo>
                      <a:pt x="54991" y="181610"/>
                    </a:lnTo>
                    <a:close/>
                  </a:path>
                  <a:path w="255270" h="266700">
                    <a:moveTo>
                      <a:pt x="100203" y="219710"/>
                    </a:moveTo>
                    <a:lnTo>
                      <a:pt x="95504" y="219710"/>
                    </a:lnTo>
                    <a:lnTo>
                      <a:pt x="65278" y="250189"/>
                    </a:lnTo>
                    <a:lnTo>
                      <a:pt x="80812" y="250189"/>
                    </a:lnTo>
                    <a:lnTo>
                      <a:pt x="103378" y="227330"/>
                    </a:lnTo>
                    <a:lnTo>
                      <a:pt x="103886" y="226060"/>
                    </a:lnTo>
                    <a:lnTo>
                      <a:pt x="103759" y="224789"/>
                    </a:lnTo>
                    <a:lnTo>
                      <a:pt x="103378" y="223519"/>
                    </a:lnTo>
                    <a:lnTo>
                      <a:pt x="102616" y="222250"/>
                    </a:lnTo>
                    <a:lnTo>
                      <a:pt x="102108" y="222250"/>
                    </a:lnTo>
                    <a:lnTo>
                      <a:pt x="101473" y="220980"/>
                    </a:lnTo>
                    <a:lnTo>
                      <a:pt x="100711" y="220980"/>
                    </a:lnTo>
                    <a:lnTo>
                      <a:pt x="100203" y="219710"/>
                    </a:lnTo>
                    <a:close/>
                  </a:path>
                  <a:path w="255270" h="266700">
                    <a:moveTo>
                      <a:pt x="35433" y="167639"/>
                    </a:moveTo>
                    <a:lnTo>
                      <a:pt x="28829" y="168910"/>
                    </a:lnTo>
                    <a:lnTo>
                      <a:pt x="25400" y="168910"/>
                    </a:lnTo>
                    <a:lnTo>
                      <a:pt x="21971" y="170180"/>
                    </a:lnTo>
                    <a:lnTo>
                      <a:pt x="15113" y="175260"/>
                    </a:lnTo>
                    <a:lnTo>
                      <a:pt x="9652" y="180339"/>
                    </a:lnTo>
                    <a:lnTo>
                      <a:pt x="7874" y="182880"/>
                    </a:lnTo>
                    <a:lnTo>
                      <a:pt x="6350" y="184150"/>
                    </a:lnTo>
                    <a:lnTo>
                      <a:pt x="4826" y="186689"/>
                    </a:lnTo>
                    <a:lnTo>
                      <a:pt x="3683" y="189230"/>
                    </a:lnTo>
                    <a:lnTo>
                      <a:pt x="1651" y="194310"/>
                    </a:lnTo>
                    <a:lnTo>
                      <a:pt x="1016" y="195580"/>
                    </a:lnTo>
                    <a:lnTo>
                      <a:pt x="635" y="198119"/>
                    </a:lnTo>
                    <a:lnTo>
                      <a:pt x="127" y="199389"/>
                    </a:lnTo>
                    <a:lnTo>
                      <a:pt x="0" y="200660"/>
                    </a:lnTo>
                    <a:lnTo>
                      <a:pt x="0" y="203200"/>
                    </a:lnTo>
                    <a:lnTo>
                      <a:pt x="381" y="204469"/>
                    </a:lnTo>
                    <a:lnTo>
                      <a:pt x="889" y="204469"/>
                    </a:lnTo>
                    <a:lnTo>
                      <a:pt x="1270" y="205739"/>
                    </a:lnTo>
                    <a:lnTo>
                      <a:pt x="2032" y="205739"/>
                    </a:lnTo>
                    <a:lnTo>
                      <a:pt x="2540" y="207010"/>
                    </a:lnTo>
                    <a:lnTo>
                      <a:pt x="4699" y="208280"/>
                    </a:lnTo>
                    <a:lnTo>
                      <a:pt x="5207" y="209550"/>
                    </a:lnTo>
                    <a:lnTo>
                      <a:pt x="8763" y="209550"/>
                    </a:lnTo>
                    <a:lnTo>
                      <a:pt x="9144" y="208280"/>
                    </a:lnTo>
                    <a:lnTo>
                      <a:pt x="9398" y="207010"/>
                    </a:lnTo>
                    <a:lnTo>
                      <a:pt x="9779" y="204469"/>
                    </a:lnTo>
                    <a:lnTo>
                      <a:pt x="10160" y="203200"/>
                    </a:lnTo>
                    <a:lnTo>
                      <a:pt x="11430" y="199389"/>
                    </a:lnTo>
                    <a:lnTo>
                      <a:pt x="12319" y="196850"/>
                    </a:lnTo>
                    <a:lnTo>
                      <a:pt x="13589" y="194310"/>
                    </a:lnTo>
                    <a:lnTo>
                      <a:pt x="14732" y="191769"/>
                    </a:lnTo>
                    <a:lnTo>
                      <a:pt x="16510" y="189230"/>
                    </a:lnTo>
                    <a:lnTo>
                      <a:pt x="18669" y="187960"/>
                    </a:lnTo>
                    <a:lnTo>
                      <a:pt x="20574" y="185419"/>
                    </a:lnTo>
                    <a:lnTo>
                      <a:pt x="22606" y="184150"/>
                    </a:lnTo>
                    <a:lnTo>
                      <a:pt x="24765" y="182880"/>
                    </a:lnTo>
                    <a:lnTo>
                      <a:pt x="26797" y="182880"/>
                    </a:lnTo>
                    <a:lnTo>
                      <a:pt x="28829" y="181610"/>
                    </a:lnTo>
                    <a:lnTo>
                      <a:pt x="54991" y="181610"/>
                    </a:lnTo>
                    <a:lnTo>
                      <a:pt x="54102" y="180339"/>
                    </a:lnTo>
                    <a:lnTo>
                      <a:pt x="52070" y="177800"/>
                    </a:lnTo>
                    <a:lnTo>
                      <a:pt x="47371" y="173989"/>
                    </a:lnTo>
                    <a:lnTo>
                      <a:pt x="44577" y="171450"/>
                    </a:lnTo>
                    <a:lnTo>
                      <a:pt x="41656" y="170180"/>
                    </a:lnTo>
                    <a:lnTo>
                      <a:pt x="38608" y="168910"/>
                    </a:lnTo>
                    <a:lnTo>
                      <a:pt x="35433" y="167639"/>
                    </a:lnTo>
                    <a:close/>
                  </a:path>
                  <a:path w="255270" h="266700">
                    <a:moveTo>
                      <a:pt x="88265" y="114300"/>
                    </a:moveTo>
                    <a:lnTo>
                      <a:pt x="83566" y="114300"/>
                    </a:lnTo>
                    <a:lnTo>
                      <a:pt x="74549" y="116839"/>
                    </a:lnTo>
                    <a:lnTo>
                      <a:pt x="70104" y="119380"/>
                    </a:lnTo>
                    <a:lnTo>
                      <a:pt x="65659" y="124460"/>
                    </a:lnTo>
                    <a:lnTo>
                      <a:pt x="61087" y="128269"/>
                    </a:lnTo>
                    <a:lnTo>
                      <a:pt x="58039" y="133350"/>
                    </a:lnTo>
                    <a:lnTo>
                      <a:pt x="55245" y="143510"/>
                    </a:lnTo>
                    <a:lnTo>
                      <a:pt x="55118" y="148589"/>
                    </a:lnTo>
                    <a:lnTo>
                      <a:pt x="57658" y="158750"/>
                    </a:lnTo>
                    <a:lnTo>
                      <a:pt x="82550" y="190500"/>
                    </a:lnTo>
                    <a:lnTo>
                      <a:pt x="113030" y="207010"/>
                    </a:lnTo>
                    <a:lnTo>
                      <a:pt x="117729" y="207010"/>
                    </a:lnTo>
                    <a:lnTo>
                      <a:pt x="126873" y="204469"/>
                    </a:lnTo>
                    <a:lnTo>
                      <a:pt x="131318" y="201930"/>
                    </a:lnTo>
                    <a:lnTo>
                      <a:pt x="138080" y="194310"/>
                    </a:lnTo>
                    <a:lnTo>
                      <a:pt x="114554" y="194310"/>
                    </a:lnTo>
                    <a:lnTo>
                      <a:pt x="107696" y="191769"/>
                    </a:lnTo>
                    <a:lnTo>
                      <a:pt x="103886" y="190500"/>
                    </a:lnTo>
                    <a:lnTo>
                      <a:pt x="99695" y="186689"/>
                    </a:lnTo>
                    <a:lnTo>
                      <a:pt x="95504" y="184150"/>
                    </a:lnTo>
                    <a:lnTo>
                      <a:pt x="90805" y="180339"/>
                    </a:lnTo>
                    <a:lnTo>
                      <a:pt x="81788" y="170180"/>
                    </a:lnTo>
                    <a:lnTo>
                      <a:pt x="78359" y="166369"/>
                    </a:lnTo>
                    <a:lnTo>
                      <a:pt x="75438" y="162560"/>
                    </a:lnTo>
                    <a:lnTo>
                      <a:pt x="72390" y="160019"/>
                    </a:lnTo>
                    <a:lnTo>
                      <a:pt x="70231" y="156210"/>
                    </a:lnTo>
                    <a:lnTo>
                      <a:pt x="67437" y="148589"/>
                    </a:lnTo>
                    <a:lnTo>
                      <a:pt x="66929" y="144780"/>
                    </a:lnTo>
                    <a:lnTo>
                      <a:pt x="67945" y="138430"/>
                    </a:lnTo>
                    <a:lnTo>
                      <a:pt x="69596" y="134619"/>
                    </a:lnTo>
                    <a:lnTo>
                      <a:pt x="72644" y="132080"/>
                    </a:lnTo>
                    <a:lnTo>
                      <a:pt x="77978" y="128269"/>
                    </a:lnTo>
                    <a:lnTo>
                      <a:pt x="79883" y="127000"/>
                    </a:lnTo>
                    <a:lnTo>
                      <a:pt x="114776" y="127000"/>
                    </a:lnTo>
                    <a:lnTo>
                      <a:pt x="113411" y="125730"/>
                    </a:lnTo>
                    <a:lnTo>
                      <a:pt x="102997" y="118110"/>
                    </a:lnTo>
                    <a:lnTo>
                      <a:pt x="98044" y="115569"/>
                    </a:lnTo>
                    <a:lnTo>
                      <a:pt x="93218" y="115569"/>
                    </a:lnTo>
                    <a:lnTo>
                      <a:pt x="88265" y="114300"/>
                    </a:lnTo>
                    <a:close/>
                  </a:path>
                  <a:path w="255270" h="266700">
                    <a:moveTo>
                      <a:pt x="114776" y="127000"/>
                    </a:moveTo>
                    <a:lnTo>
                      <a:pt x="88011" y="127000"/>
                    </a:lnTo>
                    <a:lnTo>
                      <a:pt x="92583" y="128269"/>
                    </a:lnTo>
                    <a:lnTo>
                      <a:pt x="95123" y="129539"/>
                    </a:lnTo>
                    <a:lnTo>
                      <a:pt x="100203" y="133350"/>
                    </a:lnTo>
                    <a:lnTo>
                      <a:pt x="102997" y="134619"/>
                    </a:lnTo>
                    <a:lnTo>
                      <a:pt x="109093" y="139700"/>
                    </a:lnTo>
                    <a:lnTo>
                      <a:pt x="112268" y="143510"/>
                    </a:lnTo>
                    <a:lnTo>
                      <a:pt x="115697" y="146050"/>
                    </a:lnTo>
                    <a:lnTo>
                      <a:pt x="118364" y="148589"/>
                    </a:lnTo>
                    <a:lnTo>
                      <a:pt x="120777" y="151130"/>
                    </a:lnTo>
                    <a:lnTo>
                      <a:pt x="122936" y="153669"/>
                    </a:lnTo>
                    <a:lnTo>
                      <a:pt x="125222" y="156210"/>
                    </a:lnTo>
                    <a:lnTo>
                      <a:pt x="127127" y="158750"/>
                    </a:lnTo>
                    <a:lnTo>
                      <a:pt x="128651" y="161289"/>
                    </a:lnTo>
                    <a:lnTo>
                      <a:pt x="130302" y="163830"/>
                    </a:lnTo>
                    <a:lnTo>
                      <a:pt x="134112" y="176530"/>
                    </a:lnTo>
                    <a:lnTo>
                      <a:pt x="134239" y="177800"/>
                    </a:lnTo>
                    <a:lnTo>
                      <a:pt x="133858" y="180339"/>
                    </a:lnTo>
                    <a:lnTo>
                      <a:pt x="132080" y="185419"/>
                    </a:lnTo>
                    <a:lnTo>
                      <a:pt x="130683" y="186689"/>
                    </a:lnTo>
                    <a:lnTo>
                      <a:pt x="126111" y="191769"/>
                    </a:lnTo>
                    <a:lnTo>
                      <a:pt x="123444" y="193039"/>
                    </a:lnTo>
                    <a:lnTo>
                      <a:pt x="120523" y="194310"/>
                    </a:lnTo>
                    <a:lnTo>
                      <a:pt x="138080" y="194310"/>
                    </a:lnTo>
                    <a:lnTo>
                      <a:pt x="140335" y="191769"/>
                    </a:lnTo>
                    <a:lnTo>
                      <a:pt x="143383" y="187960"/>
                    </a:lnTo>
                    <a:lnTo>
                      <a:pt x="146177" y="177800"/>
                    </a:lnTo>
                    <a:lnTo>
                      <a:pt x="146304" y="172719"/>
                    </a:lnTo>
                    <a:lnTo>
                      <a:pt x="143764" y="162560"/>
                    </a:lnTo>
                    <a:lnTo>
                      <a:pt x="141478" y="157480"/>
                    </a:lnTo>
                    <a:lnTo>
                      <a:pt x="134366" y="147319"/>
                    </a:lnTo>
                    <a:lnTo>
                      <a:pt x="129921" y="142239"/>
                    </a:lnTo>
                    <a:lnTo>
                      <a:pt x="124587" y="135889"/>
                    </a:lnTo>
                    <a:lnTo>
                      <a:pt x="118872" y="130810"/>
                    </a:lnTo>
                    <a:lnTo>
                      <a:pt x="114776" y="127000"/>
                    </a:lnTo>
                    <a:close/>
                  </a:path>
                  <a:path w="255270" h="266700">
                    <a:moveTo>
                      <a:pt x="173863" y="156210"/>
                    </a:moveTo>
                    <a:lnTo>
                      <a:pt x="169926" y="156210"/>
                    </a:lnTo>
                    <a:lnTo>
                      <a:pt x="171196" y="157480"/>
                    </a:lnTo>
                    <a:lnTo>
                      <a:pt x="172847" y="157480"/>
                    </a:lnTo>
                    <a:lnTo>
                      <a:pt x="173863" y="156210"/>
                    </a:lnTo>
                    <a:close/>
                  </a:path>
                  <a:path w="255270" h="266700">
                    <a:moveTo>
                      <a:pt x="164846" y="72389"/>
                    </a:moveTo>
                    <a:lnTo>
                      <a:pt x="144780" y="72389"/>
                    </a:lnTo>
                    <a:lnTo>
                      <a:pt x="146685" y="73660"/>
                    </a:lnTo>
                    <a:lnTo>
                      <a:pt x="148590" y="73660"/>
                    </a:lnTo>
                    <a:lnTo>
                      <a:pt x="150241" y="74930"/>
                    </a:lnTo>
                    <a:lnTo>
                      <a:pt x="153289" y="78739"/>
                    </a:lnTo>
                    <a:lnTo>
                      <a:pt x="154813" y="80010"/>
                    </a:lnTo>
                    <a:lnTo>
                      <a:pt x="156210" y="82550"/>
                    </a:lnTo>
                    <a:lnTo>
                      <a:pt x="157607" y="83819"/>
                    </a:lnTo>
                    <a:lnTo>
                      <a:pt x="158877" y="87630"/>
                    </a:lnTo>
                    <a:lnTo>
                      <a:pt x="160020" y="90169"/>
                    </a:lnTo>
                    <a:lnTo>
                      <a:pt x="163512" y="109219"/>
                    </a:lnTo>
                    <a:lnTo>
                      <a:pt x="163607" y="110489"/>
                    </a:lnTo>
                    <a:lnTo>
                      <a:pt x="164211" y="148589"/>
                    </a:lnTo>
                    <a:lnTo>
                      <a:pt x="164465" y="148589"/>
                    </a:lnTo>
                    <a:lnTo>
                      <a:pt x="164592" y="149860"/>
                    </a:lnTo>
                    <a:lnTo>
                      <a:pt x="164973" y="151130"/>
                    </a:lnTo>
                    <a:lnTo>
                      <a:pt x="165481" y="152400"/>
                    </a:lnTo>
                    <a:lnTo>
                      <a:pt x="165989" y="152400"/>
                    </a:lnTo>
                    <a:lnTo>
                      <a:pt x="166497" y="153669"/>
                    </a:lnTo>
                    <a:lnTo>
                      <a:pt x="167132" y="153669"/>
                    </a:lnTo>
                    <a:lnTo>
                      <a:pt x="167767" y="154939"/>
                    </a:lnTo>
                    <a:lnTo>
                      <a:pt x="168529" y="154939"/>
                    </a:lnTo>
                    <a:lnTo>
                      <a:pt x="169291" y="156210"/>
                    </a:lnTo>
                    <a:lnTo>
                      <a:pt x="174879" y="156210"/>
                    </a:lnTo>
                    <a:lnTo>
                      <a:pt x="191122" y="139700"/>
                    </a:lnTo>
                    <a:lnTo>
                      <a:pt x="175133" y="139700"/>
                    </a:lnTo>
                    <a:lnTo>
                      <a:pt x="175020" y="134619"/>
                    </a:lnTo>
                    <a:lnTo>
                      <a:pt x="174907" y="129539"/>
                    </a:lnTo>
                    <a:lnTo>
                      <a:pt x="174794" y="124460"/>
                    </a:lnTo>
                    <a:lnTo>
                      <a:pt x="174681" y="119380"/>
                    </a:lnTo>
                    <a:lnTo>
                      <a:pt x="174625" y="109219"/>
                    </a:lnTo>
                    <a:lnTo>
                      <a:pt x="174218" y="104139"/>
                    </a:lnTo>
                    <a:lnTo>
                      <a:pt x="174117" y="102869"/>
                    </a:lnTo>
                    <a:lnTo>
                      <a:pt x="173990" y="101600"/>
                    </a:lnTo>
                    <a:lnTo>
                      <a:pt x="173863" y="100330"/>
                    </a:lnTo>
                    <a:lnTo>
                      <a:pt x="173736" y="99060"/>
                    </a:lnTo>
                    <a:lnTo>
                      <a:pt x="173609" y="97789"/>
                    </a:lnTo>
                    <a:lnTo>
                      <a:pt x="173482" y="96519"/>
                    </a:lnTo>
                    <a:lnTo>
                      <a:pt x="165735" y="73660"/>
                    </a:lnTo>
                    <a:lnTo>
                      <a:pt x="164846" y="72389"/>
                    </a:lnTo>
                    <a:close/>
                  </a:path>
                  <a:path w="255270" h="266700">
                    <a:moveTo>
                      <a:pt x="209550" y="109219"/>
                    </a:moveTo>
                    <a:lnTo>
                      <a:pt x="205613" y="109219"/>
                    </a:lnTo>
                    <a:lnTo>
                      <a:pt x="175133" y="139700"/>
                    </a:lnTo>
                    <a:lnTo>
                      <a:pt x="191122" y="139700"/>
                    </a:lnTo>
                    <a:lnTo>
                      <a:pt x="213614" y="116839"/>
                    </a:lnTo>
                    <a:lnTo>
                      <a:pt x="213614" y="114300"/>
                    </a:lnTo>
                    <a:lnTo>
                      <a:pt x="213360" y="114300"/>
                    </a:lnTo>
                    <a:lnTo>
                      <a:pt x="212852" y="113030"/>
                    </a:lnTo>
                    <a:lnTo>
                      <a:pt x="212471" y="113030"/>
                    </a:lnTo>
                    <a:lnTo>
                      <a:pt x="211963" y="111760"/>
                    </a:lnTo>
                    <a:lnTo>
                      <a:pt x="211328" y="111760"/>
                    </a:lnTo>
                    <a:lnTo>
                      <a:pt x="210693" y="110489"/>
                    </a:lnTo>
                    <a:lnTo>
                      <a:pt x="209550" y="109219"/>
                    </a:lnTo>
                    <a:close/>
                  </a:path>
                  <a:path w="255270" h="266700">
                    <a:moveTo>
                      <a:pt x="222504" y="102869"/>
                    </a:moveTo>
                    <a:lnTo>
                      <a:pt x="219456" y="102869"/>
                    </a:lnTo>
                    <a:lnTo>
                      <a:pt x="221615" y="104139"/>
                    </a:lnTo>
                    <a:lnTo>
                      <a:pt x="222504" y="102869"/>
                    </a:lnTo>
                    <a:close/>
                  </a:path>
                  <a:path w="255270" h="266700">
                    <a:moveTo>
                      <a:pt x="248158" y="45719"/>
                    </a:moveTo>
                    <a:lnTo>
                      <a:pt x="226187" y="45719"/>
                    </a:lnTo>
                    <a:lnTo>
                      <a:pt x="231013" y="48260"/>
                    </a:lnTo>
                    <a:lnTo>
                      <a:pt x="233299" y="49530"/>
                    </a:lnTo>
                    <a:lnTo>
                      <a:pt x="238125" y="54610"/>
                    </a:lnTo>
                    <a:lnTo>
                      <a:pt x="239903" y="57150"/>
                    </a:lnTo>
                    <a:lnTo>
                      <a:pt x="240919" y="59689"/>
                    </a:lnTo>
                    <a:lnTo>
                      <a:pt x="242062" y="62230"/>
                    </a:lnTo>
                    <a:lnTo>
                      <a:pt x="228854" y="87630"/>
                    </a:lnTo>
                    <a:lnTo>
                      <a:pt x="226568" y="88900"/>
                    </a:lnTo>
                    <a:lnTo>
                      <a:pt x="224155" y="90169"/>
                    </a:lnTo>
                    <a:lnTo>
                      <a:pt x="222123" y="91439"/>
                    </a:lnTo>
                    <a:lnTo>
                      <a:pt x="218567" y="93980"/>
                    </a:lnTo>
                    <a:lnTo>
                      <a:pt x="214630" y="93980"/>
                    </a:lnTo>
                    <a:lnTo>
                      <a:pt x="213868" y="95250"/>
                    </a:lnTo>
                    <a:lnTo>
                      <a:pt x="213233" y="95250"/>
                    </a:lnTo>
                    <a:lnTo>
                      <a:pt x="213360" y="97789"/>
                    </a:lnTo>
                    <a:lnTo>
                      <a:pt x="215011" y="100330"/>
                    </a:lnTo>
                    <a:lnTo>
                      <a:pt x="215646" y="100330"/>
                    </a:lnTo>
                    <a:lnTo>
                      <a:pt x="216281" y="101600"/>
                    </a:lnTo>
                    <a:lnTo>
                      <a:pt x="217424" y="101600"/>
                    </a:lnTo>
                    <a:lnTo>
                      <a:pt x="217932" y="102869"/>
                    </a:lnTo>
                    <a:lnTo>
                      <a:pt x="225298" y="102869"/>
                    </a:lnTo>
                    <a:lnTo>
                      <a:pt x="226949" y="101600"/>
                    </a:lnTo>
                    <a:lnTo>
                      <a:pt x="228981" y="100330"/>
                    </a:lnTo>
                    <a:lnTo>
                      <a:pt x="230886" y="99060"/>
                    </a:lnTo>
                    <a:lnTo>
                      <a:pt x="235204" y="96519"/>
                    </a:lnTo>
                    <a:lnTo>
                      <a:pt x="237490" y="95250"/>
                    </a:lnTo>
                    <a:lnTo>
                      <a:pt x="241808" y="90169"/>
                    </a:lnTo>
                    <a:lnTo>
                      <a:pt x="254211" y="68580"/>
                    </a:lnTo>
                    <a:lnTo>
                      <a:pt x="254296" y="67310"/>
                    </a:lnTo>
                    <a:lnTo>
                      <a:pt x="254381" y="66039"/>
                    </a:lnTo>
                    <a:lnTo>
                      <a:pt x="254476" y="64769"/>
                    </a:lnTo>
                    <a:lnTo>
                      <a:pt x="254571" y="63500"/>
                    </a:lnTo>
                    <a:lnTo>
                      <a:pt x="254666" y="62230"/>
                    </a:lnTo>
                    <a:lnTo>
                      <a:pt x="254762" y="60960"/>
                    </a:lnTo>
                    <a:lnTo>
                      <a:pt x="254127" y="57150"/>
                    </a:lnTo>
                    <a:lnTo>
                      <a:pt x="250825" y="49530"/>
                    </a:lnTo>
                    <a:lnTo>
                      <a:pt x="248158" y="45719"/>
                    </a:lnTo>
                    <a:close/>
                  </a:path>
                  <a:path w="255270" h="266700">
                    <a:moveTo>
                      <a:pt x="118237" y="99060"/>
                    </a:moveTo>
                    <a:lnTo>
                      <a:pt x="116205" y="99060"/>
                    </a:lnTo>
                    <a:lnTo>
                      <a:pt x="116586" y="100330"/>
                    </a:lnTo>
                    <a:lnTo>
                      <a:pt x="117729" y="100330"/>
                    </a:lnTo>
                    <a:lnTo>
                      <a:pt x="118237" y="99060"/>
                    </a:lnTo>
                    <a:close/>
                  </a:path>
                  <a:path w="255270" h="266700">
                    <a:moveTo>
                      <a:pt x="148590" y="58419"/>
                    </a:moveTo>
                    <a:lnTo>
                      <a:pt x="135382" y="58419"/>
                    </a:lnTo>
                    <a:lnTo>
                      <a:pt x="131953" y="60960"/>
                    </a:lnTo>
                    <a:lnTo>
                      <a:pt x="128397" y="62230"/>
                    </a:lnTo>
                    <a:lnTo>
                      <a:pt x="124968" y="64769"/>
                    </a:lnTo>
                    <a:lnTo>
                      <a:pt x="121666" y="68580"/>
                    </a:lnTo>
                    <a:lnTo>
                      <a:pt x="119507" y="69850"/>
                    </a:lnTo>
                    <a:lnTo>
                      <a:pt x="117729" y="72389"/>
                    </a:lnTo>
                    <a:lnTo>
                      <a:pt x="116205" y="74930"/>
                    </a:lnTo>
                    <a:lnTo>
                      <a:pt x="114808" y="77469"/>
                    </a:lnTo>
                    <a:lnTo>
                      <a:pt x="113538" y="78739"/>
                    </a:lnTo>
                    <a:lnTo>
                      <a:pt x="112522" y="81280"/>
                    </a:lnTo>
                    <a:lnTo>
                      <a:pt x="110871" y="85089"/>
                    </a:lnTo>
                    <a:lnTo>
                      <a:pt x="110490" y="87630"/>
                    </a:lnTo>
                    <a:lnTo>
                      <a:pt x="110109" y="88900"/>
                    </a:lnTo>
                    <a:lnTo>
                      <a:pt x="109982" y="93980"/>
                    </a:lnTo>
                    <a:lnTo>
                      <a:pt x="110363" y="93980"/>
                    </a:lnTo>
                    <a:lnTo>
                      <a:pt x="110871" y="95250"/>
                    </a:lnTo>
                    <a:lnTo>
                      <a:pt x="111125" y="95250"/>
                    </a:lnTo>
                    <a:lnTo>
                      <a:pt x="112014" y="96519"/>
                    </a:lnTo>
                    <a:lnTo>
                      <a:pt x="112522" y="96519"/>
                    </a:lnTo>
                    <a:lnTo>
                      <a:pt x="113284" y="97789"/>
                    </a:lnTo>
                    <a:lnTo>
                      <a:pt x="113919" y="97789"/>
                    </a:lnTo>
                    <a:lnTo>
                      <a:pt x="115189" y="99060"/>
                    </a:lnTo>
                    <a:lnTo>
                      <a:pt x="118745" y="99060"/>
                    </a:lnTo>
                    <a:lnTo>
                      <a:pt x="119126" y="97789"/>
                    </a:lnTo>
                    <a:lnTo>
                      <a:pt x="120142" y="92710"/>
                    </a:lnTo>
                    <a:lnTo>
                      <a:pt x="121412" y="88900"/>
                    </a:lnTo>
                    <a:lnTo>
                      <a:pt x="122301" y="86360"/>
                    </a:lnTo>
                    <a:lnTo>
                      <a:pt x="123444" y="83819"/>
                    </a:lnTo>
                    <a:lnTo>
                      <a:pt x="124714" y="81280"/>
                    </a:lnTo>
                    <a:lnTo>
                      <a:pt x="126365" y="80010"/>
                    </a:lnTo>
                    <a:lnTo>
                      <a:pt x="130556" y="74930"/>
                    </a:lnTo>
                    <a:lnTo>
                      <a:pt x="132588" y="73660"/>
                    </a:lnTo>
                    <a:lnTo>
                      <a:pt x="134620" y="73660"/>
                    </a:lnTo>
                    <a:lnTo>
                      <a:pt x="136779" y="72389"/>
                    </a:lnTo>
                    <a:lnTo>
                      <a:pt x="164846" y="72389"/>
                    </a:lnTo>
                    <a:lnTo>
                      <a:pt x="163957" y="71119"/>
                    </a:lnTo>
                    <a:lnTo>
                      <a:pt x="151511" y="59689"/>
                    </a:lnTo>
                    <a:lnTo>
                      <a:pt x="148590" y="58419"/>
                    </a:lnTo>
                    <a:close/>
                  </a:path>
                  <a:path w="255270" h="266700">
                    <a:moveTo>
                      <a:pt x="194437" y="0"/>
                    </a:moveTo>
                    <a:lnTo>
                      <a:pt x="191262" y="0"/>
                    </a:lnTo>
                    <a:lnTo>
                      <a:pt x="159131" y="33019"/>
                    </a:lnTo>
                    <a:lnTo>
                      <a:pt x="158623" y="33019"/>
                    </a:lnTo>
                    <a:lnTo>
                      <a:pt x="158750" y="35560"/>
                    </a:lnTo>
                    <a:lnTo>
                      <a:pt x="159258" y="36830"/>
                    </a:lnTo>
                    <a:lnTo>
                      <a:pt x="190119" y="67310"/>
                    </a:lnTo>
                    <a:lnTo>
                      <a:pt x="191135" y="68580"/>
                    </a:lnTo>
                    <a:lnTo>
                      <a:pt x="193929" y="68580"/>
                    </a:lnTo>
                    <a:lnTo>
                      <a:pt x="196342" y="66039"/>
                    </a:lnTo>
                    <a:lnTo>
                      <a:pt x="197612" y="63500"/>
                    </a:lnTo>
                    <a:lnTo>
                      <a:pt x="200406" y="60960"/>
                    </a:lnTo>
                    <a:lnTo>
                      <a:pt x="202184" y="58419"/>
                    </a:lnTo>
                    <a:lnTo>
                      <a:pt x="204343" y="55880"/>
                    </a:lnTo>
                    <a:lnTo>
                      <a:pt x="207391" y="53339"/>
                    </a:lnTo>
                    <a:lnTo>
                      <a:pt x="193802" y="53339"/>
                    </a:lnTo>
                    <a:lnTo>
                      <a:pt x="174244" y="33019"/>
                    </a:lnTo>
                    <a:lnTo>
                      <a:pt x="199771" y="7619"/>
                    </a:lnTo>
                    <a:lnTo>
                      <a:pt x="199136" y="5080"/>
                    </a:lnTo>
                    <a:lnTo>
                      <a:pt x="198247" y="3810"/>
                    </a:lnTo>
                    <a:lnTo>
                      <a:pt x="194437" y="0"/>
                    </a:lnTo>
                    <a:close/>
                  </a:path>
                  <a:path w="255270" h="266700">
                    <a:moveTo>
                      <a:pt x="231267" y="33019"/>
                    </a:moveTo>
                    <a:lnTo>
                      <a:pt x="220472" y="33019"/>
                    </a:lnTo>
                    <a:lnTo>
                      <a:pt x="212852" y="35560"/>
                    </a:lnTo>
                    <a:lnTo>
                      <a:pt x="205232" y="40639"/>
                    </a:lnTo>
                    <a:lnTo>
                      <a:pt x="199771" y="45719"/>
                    </a:lnTo>
                    <a:lnTo>
                      <a:pt x="198374" y="46989"/>
                    </a:lnTo>
                    <a:lnTo>
                      <a:pt x="197104" y="48260"/>
                    </a:lnTo>
                    <a:lnTo>
                      <a:pt x="195961" y="50800"/>
                    </a:lnTo>
                    <a:lnTo>
                      <a:pt x="194818" y="52069"/>
                    </a:lnTo>
                    <a:lnTo>
                      <a:pt x="193802" y="53339"/>
                    </a:lnTo>
                    <a:lnTo>
                      <a:pt x="207391" y="53339"/>
                    </a:lnTo>
                    <a:lnTo>
                      <a:pt x="210312" y="50800"/>
                    </a:lnTo>
                    <a:lnTo>
                      <a:pt x="213106" y="49530"/>
                    </a:lnTo>
                    <a:lnTo>
                      <a:pt x="215900" y="46989"/>
                    </a:lnTo>
                    <a:lnTo>
                      <a:pt x="218567" y="46989"/>
                    </a:lnTo>
                    <a:lnTo>
                      <a:pt x="223647" y="45719"/>
                    </a:lnTo>
                    <a:lnTo>
                      <a:pt x="248158" y="45719"/>
                    </a:lnTo>
                    <a:lnTo>
                      <a:pt x="244348" y="41910"/>
                    </a:lnTo>
                    <a:lnTo>
                      <a:pt x="241427" y="38100"/>
                    </a:lnTo>
                    <a:lnTo>
                      <a:pt x="238125" y="35560"/>
                    </a:lnTo>
                    <a:lnTo>
                      <a:pt x="231267" y="33019"/>
                    </a:lnTo>
                    <a:close/>
                  </a:path>
                </a:pathLst>
              </a:custGeom>
              <a:solidFill>
                <a:srgbClr val="585858"/>
              </a:solidFill>
            </p:spPr>
            <p:txBody>
              <a:bodyPr wrap="square" lIns="0" tIns="0" rIns="0" bIns="0" rtlCol="0"/>
              <a:lstStyle/>
              <a:p>
                <a:endParaRPr sz="2397"/>
              </a:p>
            </p:txBody>
          </p:sp>
        </p:grpSp>
        <p:sp>
          <p:nvSpPr>
            <p:cNvPr id="85" name="object 85"/>
            <p:cNvSpPr txBox="1"/>
            <p:nvPr/>
          </p:nvSpPr>
          <p:spPr>
            <a:xfrm>
              <a:off x="2121350" y="744327"/>
              <a:ext cx="7097311" cy="4193592"/>
            </a:xfrm>
            <a:prstGeom prst="rect">
              <a:avLst/>
            </a:prstGeom>
          </p:spPr>
          <p:txBody>
            <a:bodyPr vert="horz" wrap="square" lIns="0" tIns="131072" rIns="0" bIns="0" rtlCol="0">
              <a:spAutoFit/>
            </a:bodyPr>
            <a:lstStyle/>
            <a:p>
              <a:pPr marR="6548555" algn="r">
                <a:spcBef>
                  <a:spcPts val="1032"/>
                </a:spcBef>
              </a:pPr>
              <a:r>
                <a:rPr sz="1598" spc="-13" dirty="0">
                  <a:solidFill>
                    <a:srgbClr val="585858"/>
                  </a:solidFill>
                  <a:latin typeface="Calibri"/>
                  <a:cs typeface="Calibri"/>
                </a:rPr>
                <a:t>14000</a:t>
              </a:r>
              <a:endParaRPr sz="1598" dirty="0">
                <a:latin typeface="Calibri"/>
                <a:cs typeface="Calibri"/>
              </a:endParaRPr>
            </a:p>
            <a:p>
              <a:pPr marR="6548555" algn="r">
                <a:spcBef>
                  <a:spcPts val="899"/>
                </a:spcBef>
              </a:pPr>
              <a:r>
                <a:rPr sz="1598" spc="-13" dirty="0">
                  <a:solidFill>
                    <a:srgbClr val="585858"/>
                  </a:solidFill>
                  <a:latin typeface="Calibri"/>
                  <a:cs typeface="Calibri"/>
                </a:rPr>
                <a:t>12000</a:t>
              </a:r>
              <a:endParaRPr sz="1598" dirty="0">
                <a:latin typeface="Calibri"/>
                <a:cs typeface="Calibri"/>
              </a:endParaRPr>
            </a:p>
            <a:p>
              <a:pPr marR="6548555" algn="r">
                <a:spcBef>
                  <a:spcPts val="899"/>
                </a:spcBef>
              </a:pPr>
              <a:r>
                <a:rPr sz="1598" spc="-13" dirty="0">
                  <a:solidFill>
                    <a:srgbClr val="585858"/>
                  </a:solidFill>
                  <a:latin typeface="Calibri"/>
                  <a:cs typeface="Calibri"/>
                </a:rPr>
                <a:t>10000</a:t>
              </a:r>
              <a:endParaRPr sz="1598" dirty="0">
                <a:latin typeface="Calibri"/>
                <a:cs typeface="Calibri"/>
              </a:endParaRPr>
            </a:p>
            <a:p>
              <a:pPr marR="6557011" algn="r">
                <a:spcBef>
                  <a:spcPts val="906"/>
                </a:spcBef>
              </a:pPr>
              <a:r>
                <a:rPr sz="1598" spc="-27" dirty="0">
                  <a:solidFill>
                    <a:srgbClr val="585858"/>
                  </a:solidFill>
                  <a:latin typeface="Calibri"/>
                  <a:cs typeface="Calibri"/>
                </a:rPr>
                <a:t>8000</a:t>
              </a:r>
              <a:endParaRPr sz="1598" dirty="0">
                <a:latin typeface="Calibri"/>
                <a:cs typeface="Calibri"/>
              </a:endParaRPr>
            </a:p>
            <a:p>
              <a:pPr marR="6557011" algn="r">
                <a:spcBef>
                  <a:spcPts val="899"/>
                </a:spcBef>
              </a:pPr>
              <a:r>
                <a:rPr sz="1598" spc="-27" dirty="0">
                  <a:solidFill>
                    <a:srgbClr val="585858"/>
                  </a:solidFill>
                  <a:latin typeface="Calibri"/>
                  <a:cs typeface="Calibri"/>
                </a:rPr>
                <a:t>6000</a:t>
              </a:r>
              <a:endParaRPr sz="1598" dirty="0">
                <a:latin typeface="Calibri"/>
                <a:cs typeface="Calibri"/>
              </a:endParaRPr>
            </a:p>
            <a:p>
              <a:pPr marR="6557011" algn="r">
                <a:spcBef>
                  <a:spcPts val="906"/>
                </a:spcBef>
              </a:pPr>
              <a:r>
                <a:rPr sz="1598" spc="-27" dirty="0">
                  <a:solidFill>
                    <a:srgbClr val="585858"/>
                  </a:solidFill>
                  <a:latin typeface="Calibri"/>
                  <a:cs typeface="Calibri"/>
                </a:rPr>
                <a:t>4000</a:t>
              </a:r>
              <a:endParaRPr sz="1598" dirty="0">
                <a:latin typeface="Calibri"/>
                <a:cs typeface="Calibri"/>
              </a:endParaRPr>
            </a:p>
            <a:p>
              <a:pPr marR="6557011" algn="r">
                <a:spcBef>
                  <a:spcPts val="899"/>
                </a:spcBef>
              </a:pPr>
              <a:r>
                <a:rPr sz="1598" spc="-27" dirty="0">
                  <a:solidFill>
                    <a:srgbClr val="585858"/>
                  </a:solidFill>
                  <a:latin typeface="Calibri"/>
                  <a:cs typeface="Calibri"/>
                </a:rPr>
                <a:t>2000</a:t>
              </a:r>
              <a:endParaRPr sz="1598" dirty="0">
                <a:latin typeface="Calibri"/>
                <a:cs typeface="Calibri"/>
              </a:endParaRPr>
            </a:p>
            <a:p>
              <a:pPr marR="6553629" algn="r">
                <a:spcBef>
                  <a:spcPts val="899"/>
                </a:spcBef>
              </a:pPr>
              <a:r>
                <a:rPr sz="1598" spc="-67" dirty="0">
                  <a:solidFill>
                    <a:srgbClr val="585858"/>
                  </a:solidFill>
                  <a:latin typeface="Calibri"/>
                  <a:cs typeface="Calibri"/>
                </a:rPr>
                <a:t>0</a:t>
              </a:r>
              <a:endParaRPr sz="1598" dirty="0">
                <a:latin typeface="Calibri"/>
                <a:cs typeface="Calibri"/>
              </a:endParaRPr>
            </a:p>
            <a:p>
              <a:pPr>
                <a:lnSpc>
                  <a:spcPct val="100000"/>
                </a:lnSpc>
              </a:pPr>
              <a:endParaRPr sz="1598" dirty="0">
                <a:latin typeface="Calibri"/>
                <a:cs typeface="Calibri"/>
              </a:endParaRPr>
            </a:p>
            <a:p>
              <a:pPr>
                <a:spcBef>
                  <a:spcPts val="1105"/>
                </a:spcBef>
              </a:pPr>
              <a:endParaRPr sz="1598" dirty="0">
                <a:latin typeface="Calibri"/>
                <a:cs typeface="Calibri"/>
              </a:endParaRPr>
            </a:p>
            <a:p>
              <a:pPr marL="1257450" algn="ctr">
                <a:tabLst>
                  <a:tab pos="3368988" algn="l"/>
                </a:tabLst>
              </a:pPr>
              <a:r>
                <a:rPr sz="1598" dirty="0">
                  <a:solidFill>
                    <a:srgbClr val="585858"/>
                  </a:solidFill>
                  <a:latin typeface="Calibri"/>
                  <a:cs typeface="Calibri"/>
                </a:rPr>
                <a:t>Submitted</a:t>
              </a:r>
              <a:r>
                <a:rPr sz="1598" spc="-60" dirty="0">
                  <a:solidFill>
                    <a:srgbClr val="585858"/>
                  </a:solidFill>
                  <a:latin typeface="Calibri"/>
                  <a:cs typeface="Calibri"/>
                </a:rPr>
                <a:t> </a:t>
              </a:r>
              <a:r>
                <a:rPr sz="1598" spc="-13" dirty="0">
                  <a:solidFill>
                    <a:srgbClr val="585858"/>
                  </a:solidFill>
                  <a:latin typeface="Calibri"/>
                  <a:cs typeface="Calibri"/>
                </a:rPr>
                <a:t>Papers</a:t>
              </a:r>
              <a:r>
                <a:rPr sz="1598" dirty="0">
                  <a:solidFill>
                    <a:srgbClr val="585858"/>
                  </a:solidFill>
                  <a:latin typeface="Calibri"/>
                  <a:cs typeface="Calibri"/>
                </a:rPr>
                <a:t>	Accepted</a:t>
              </a:r>
              <a:r>
                <a:rPr sz="1598" spc="-80" dirty="0">
                  <a:solidFill>
                    <a:srgbClr val="585858"/>
                  </a:solidFill>
                  <a:latin typeface="Calibri"/>
                  <a:cs typeface="Calibri"/>
                </a:rPr>
                <a:t> </a:t>
              </a:r>
              <a:r>
                <a:rPr sz="1598" spc="-13" dirty="0">
                  <a:solidFill>
                    <a:srgbClr val="585858"/>
                  </a:solidFill>
                  <a:latin typeface="Calibri"/>
                  <a:cs typeface="Calibri"/>
                </a:rPr>
                <a:t>Papers</a:t>
              </a:r>
              <a:endParaRPr sz="1598" dirty="0">
                <a:latin typeface="Calibri"/>
                <a:cs typeface="Calibri"/>
              </a:endParaRPr>
            </a:p>
            <a:p>
              <a:pPr marL="1179653" algn="ctr">
                <a:spcBef>
                  <a:spcPts val="253"/>
                </a:spcBef>
              </a:pPr>
              <a:r>
                <a:rPr sz="2397" dirty="0">
                  <a:latin typeface="Calibri"/>
                  <a:cs typeface="Calibri"/>
                </a:rPr>
                <a:t>Publications</a:t>
              </a:r>
              <a:r>
                <a:rPr sz="2397" spc="-73" dirty="0">
                  <a:latin typeface="Calibri"/>
                  <a:cs typeface="Calibri"/>
                </a:rPr>
                <a:t> </a:t>
              </a:r>
              <a:r>
                <a:rPr sz="2397" dirty="0">
                  <a:latin typeface="Calibri"/>
                  <a:cs typeface="Calibri"/>
                </a:rPr>
                <a:t>at</a:t>
              </a:r>
              <a:r>
                <a:rPr sz="2397" spc="-47" dirty="0">
                  <a:latin typeface="Calibri"/>
                  <a:cs typeface="Calibri"/>
                </a:rPr>
                <a:t> </a:t>
              </a:r>
              <a:r>
                <a:rPr sz="2397" dirty="0">
                  <a:latin typeface="Calibri"/>
                  <a:cs typeface="Calibri"/>
                </a:rPr>
                <a:t>top</a:t>
              </a:r>
              <a:r>
                <a:rPr sz="2397" spc="-93" dirty="0">
                  <a:latin typeface="Calibri"/>
                  <a:cs typeface="Calibri"/>
                </a:rPr>
                <a:t> </a:t>
              </a:r>
              <a:r>
                <a:rPr sz="2397" dirty="0">
                  <a:latin typeface="Calibri"/>
                  <a:cs typeface="Calibri"/>
                </a:rPr>
                <a:t>Computer</a:t>
              </a:r>
              <a:r>
                <a:rPr sz="2397" spc="-73" dirty="0">
                  <a:latin typeface="Calibri"/>
                  <a:cs typeface="Calibri"/>
                </a:rPr>
                <a:t> </a:t>
              </a:r>
              <a:r>
                <a:rPr sz="2397" dirty="0">
                  <a:latin typeface="Calibri"/>
                  <a:cs typeface="Calibri"/>
                </a:rPr>
                <a:t>Vision</a:t>
              </a:r>
              <a:r>
                <a:rPr sz="2397" spc="-100" dirty="0">
                  <a:latin typeface="Calibri"/>
                  <a:cs typeface="Calibri"/>
                </a:rPr>
                <a:t> </a:t>
              </a:r>
              <a:r>
                <a:rPr sz="2397" spc="-13" dirty="0">
                  <a:latin typeface="Calibri"/>
                  <a:cs typeface="Calibri"/>
                </a:rPr>
                <a:t>conference</a:t>
              </a:r>
              <a:endParaRPr sz="2397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0796" y="637062"/>
            <a:ext cx="10637349" cy="697602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16913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2652" y="1259555"/>
            <a:ext cx="1000372" cy="798563"/>
          </a:xfrm>
          <a:prstGeom prst="rect">
            <a:avLst/>
          </a:prstGeom>
        </p:spPr>
        <p:txBody>
          <a:bodyPr vert="horz" wrap="square" lIns="0" tIns="128535" rIns="0" bIns="0" rtlCol="0">
            <a:spAutoFit/>
          </a:bodyPr>
          <a:lstStyle/>
          <a:p>
            <a:pPr marL="16913">
              <a:spcBef>
                <a:spcPts val="1012"/>
              </a:spcBef>
            </a:pPr>
            <a:r>
              <a:rPr sz="1798" b="1" u="sng" spc="-1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Year</a:t>
            </a:r>
            <a:r>
              <a:rPr sz="1798" b="1" u="sng" spc="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98" b="1" u="sng" spc="-2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2015</a:t>
            </a:r>
            <a:endParaRPr sz="1798">
              <a:latin typeface="Arial"/>
              <a:cs typeface="Arial"/>
            </a:endParaRPr>
          </a:p>
          <a:p>
            <a:pPr marL="124308">
              <a:spcBef>
                <a:spcPts val="899"/>
              </a:spcBef>
            </a:pPr>
            <a:r>
              <a:rPr sz="1798" spc="-13" dirty="0">
                <a:latin typeface="Arial MT"/>
                <a:cs typeface="Arial MT"/>
              </a:rPr>
              <a:t>ResNet</a:t>
            </a:r>
            <a:endParaRPr sz="1798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216" y="2455550"/>
            <a:ext cx="978154" cy="31754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9518" y="1259555"/>
            <a:ext cx="1012210" cy="798563"/>
          </a:xfrm>
          <a:prstGeom prst="rect">
            <a:avLst/>
          </a:prstGeom>
        </p:spPr>
        <p:txBody>
          <a:bodyPr vert="horz" wrap="square" lIns="0" tIns="128535" rIns="0" bIns="0" rtlCol="0">
            <a:spAutoFit/>
          </a:bodyPr>
          <a:lstStyle/>
          <a:p>
            <a:pPr marL="31288">
              <a:spcBef>
                <a:spcPts val="1012"/>
              </a:spcBef>
            </a:pPr>
            <a:r>
              <a:rPr sz="1798" b="1" u="sng" spc="-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Year</a:t>
            </a:r>
            <a:r>
              <a:rPr sz="1798" b="1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98" b="1" u="sng" spc="-2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2012</a:t>
            </a:r>
            <a:endParaRPr sz="1798">
              <a:latin typeface="Arial"/>
              <a:cs typeface="Arial"/>
            </a:endParaRPr>
          </a:p>
          <a:p>
            <a:pPr marL="16913">
              <a:spcBef>
                <a:spcPts val="899"/>
              </a:spcBef>
            </a:pPr>
            <a:r>
              <a:rPr sz="1798" spc="-13" dirty="0">
                <a:latin typeface="Arial MT"/>
                <a:cs typeface="Arial MT"/>
              </a:rPr>
              <a:t>AlexNet</a:t>
            </a:r>
            <a:endParaRPr sz="1798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6455" y="5917385"/>
            <a:ext cx="1291265" cy="179261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6913">
              <a:spcBef>
                <a:spcPts val="120"/>
              </a:spcBef>
            </a:pPr>
            <a:r>
              <a:rPr sz="1065" spc="-73" dirty="0">
                <a:latin typeface="Arial MT"/>
                <a:cs typeface="Arial MT"/>
              </a:rPr>
              <a:t>[Krizhevsky</a:t>
            </a:r>
            <a:r>
              <a:rPr sz="1065" spc="-7" dirty="0">
                <a:latin typeface="Arial MT"/>
                <a:cs typeface="Arial MT"/>
              </a:rPr>
              <a:t> </a:t>
            </a:r>
            <a:r>
              <a:rPr sz="1065" spc="-146" dirty="0">
                <a:latin typeface="Arial MT"/>
                <a:cs typeface="Arial MT"/>
              </a:rPr>
              <a:t>NIPS</a:t>
            </a:r>
            <a:r>
              <a:rPr sz="1065" spc="93" dirty="0">
                <a:latin typeface="Arial MT"/>
                <a:cs typeface="Arial MT"/>
              </a:rPr>
              <a:t> </a:t>
            </a:r>
            <a:r>
              <a:rPr sz="1065" spc="-13" dirty="0">
                <a:latin typeface="Arial MT"/>
                <a:cs typeface="Arial MT"/>
              </a:rPr>
              <a:t>2012]</a:t>
            </a:r>
            <a:endParaRPr sz="1065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97499" y="1406522"/>
            <a:ext cx="105703" cy="5193815"/>
            <a:chOff x="3693472" y="722344"/>
            <a:chExt cx="79375" cy="39001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3472" y="722344"/>
              <a:ext cx="79130" cy="38999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5324" y="727582"/>
              <a:ext cx="0" cy="3851275"/>
            </a:xfrm>
            <a:custGeom>
              <a:avLst/>
              <a:gdLst/>
              <a:ahLst/>
              <a:cxnLst/>
              <a:rect l="l" t="t" r="r" b="b"/>
              <a:pathLst>
                <a:path h="3851275">
                  <a:moveTo>
                    <a:pt x="0" y="0"/>
                  </a:moveTo>
                  <a:lnTo>
                    <a:pt x="0" y="3851186"/>
                  </a:lnTo>
                </a:path>
              </a:pathLst>
            </a:custGeom>
            <a:ln w="3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949185" y="1406521"/>
            <a:ext cx="105703" cy="5108407"/>
            <a:chOff x="2230432" y="722343"/>
            <a:chExt cx="79375" cy="38360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0432" y="722343"/>
              <a:ext cx="79130" cy="38359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72284" y="727582"/>
              <a:ext cx="0" cy="3781425"/>
            </a:xfrm>
            <a:custGeom>
              <a:avLst/>
              <a:gdLst/>
              <a:ahLst/>
              <a:cxnLst/>
              <a:rect l="l" t="t" r="r" b="b"/>
              <a:pathLst>
                <a:path h="3781425">
                  <a:moveTo>
                    <a:pt x="0" y="0"/>
                  </a:moveTo>
                  <a:lnTo>
                    <a:pt x="0" y="3781196"/>
                  </a:lnTo>
                </a:path>
              </a:pathLst>
            </a:custGeom>
            <a:ln w="3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941741" y="1430875"/>
            <a:ext cx="105703" cy="5193815"/>
            <a:chOff x="5979472" y="740632"/>
            <a:chExt cx="79375" cy="390017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9472" y="740632"/>
              <a:ext cx="79130" cy="38999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21324" y="745870"/>
              <a:ext cx="0" cy="3851275"/>
            </a:xfrm>
            <a:custGeom>
              <a:avLst/>
              <a:gdLst/>
              <a:ahLst/>
              <a:cxnLst/>
              <a:rect l="l" t="t" r="r" b="b"/>
              <a:pathLst>
                <a:path h="3851275">
                  <a:moveTo>
                    <a:pt x="0" y="0"/>
                  </a:moveTo>
                  <a:lnTo>
                    <a:pt x="0" y="3851198"/>
                  </a:lnTo>
                </a:path>
              </a:pathLst>
            </a:custGeom>
            <a:ln w="3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692657" y="2120438"/>
            <a:ext cx="786429" cy="3938910"/>
            <a:chOff x="2788725" y="1258442"/>
            <a:chExt cx="590550" cy="2957830"/>
          </a:xfrm>
        </p:grpSpPr>
        <p:sp>
          <p:nvSpPr>
            <p:cNvPr id="17" name="object 17"/>
            <p:cNvSpPr/>
            <p:nvPr/>
          </p:nvSpPr>
          <p:spPr>
            <a:xfrm>
              <a:off x="2943606" y="1258442"/>
              <a:ext cx="76200" cy="2957830"/>
            </a:xfrm>
            <a:custGeom>
              <a:avLst/>
              <a:gdLst/>
              <a:ahLst/>
              <a:cxnLst/>
              <a:rect l="l" t="t" r="r" b="b"/>
              <a:pathLst>
                <a:path w="76200" h="2957829">
                  <a:moveTo>
                    <a:pt x="31812" y="2881445"/>
                  </a:moveTo>
                  <a:lnTo>
                    <a:pt x="0" y="2881604"/>
                  </a:lnTo>
                  <a:lnTo>
                    <a:pt x="38481" y="2957677"/>
                  </a:lnTo>
                  <a:lnTo>
                    <a:pt x="69815" y="2894164"/>
                  </a:lnTo>
                  <a:lnTo>
                    <a:pt x="31876" y="2894164"/>
                  </a:lnTo>
                  <a:lnTo>
                    <a:pt x="31812" y="2881445"/>
                  </a:lnTo>
                  <a:close/>
                </a:path>
                <a:path w="76200" h="2957829">
                  <a:moveTo>
                    <a:pt x="29971" y="0"/>
                  </a:moveTo>
                  <a:lnTo>
                    <a:pt x="17271" y="0"/>
                  </a:lnTo>
                  <a:lnTo>
                    <a:pt x="31811" y="2881223"/>
                  </a:lnTo>
                  <a:lnTo>
                    <a:pt x="31876" y="2894164"/>
                  </a:lnTo>
                  <a:lnTo>
                    <a:pt x="44577" y="2894164"/>
                  </a:lnTo>
                  <a:lnTo>
                    <a:pt x="29971" y="0"/>
                  </a:lnTo>
                  <a:close/>
                </a:path>
                <a:path w="76200" h="2957829">
                  <a:moveTo>
                    <a:pt x="76090" y="2881445"/>
                  </a:moveTo>
                  <a:lnTo>
                    <a:pt x="44513" y="2881445"/>
                  </a:lnTo>
                  <a:lnTo>
                    <a:pt x="44577" y="2894164"/>
                  </a:lnTo>
                  <a:lnTo>
                    <a:pt x="69815" y="2894164"/>
                  </a:lnTo>
                  <a:lnTo>
                    <a:pt x="76012" y="2881604"/>
                  </a:lnTo>
                  <a:lnTo>
                    <a:pt x="76090" y="2881445"/>
                  </a:lnTo>
                  <a:close/>
                </a:path>
                <a:path w="76200" h="2957829">
                  <a:moveTo>
                    <a:pt x="76200" y="2881223"/>
                  </a:moveTo>
                  <a:lnTo>
                    <a:pt x="31812" y="2881445"/>
                  </a:lnTo>
                  <a:lnTo>
                    <a:pt x="76090" y="2881445"/>
                  </a:lnTo>
                  <a:lnTo>
                    <a:pt x="76200" y="28812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2802636" y="132253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2802636" y="132253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2802636" y="141397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1" name="object 21"/>
            <p:cNvSpPr/>
            <p:nvPr/>
          </p:nvSpPr>
          <p:spPr>
            <a:xfrm>
              <a:off x="2802636" y="141397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8648" y="1271015"/>
              <a:ext cx="461772" cy="2880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58084" y="1304162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90">
                  <a:moveTo>
                    <a:pt x="0" y="0"/>
                  </a:moveTo>
                  <a:lnTo>
                    <a:pt x="61198" y="58"/>
                  </a:lnTo>
                  <a:lnTo>
                    <a:pt x="120438" y="851"/>
                  </a:lnTo>
                  <a:lnTo>
                    <a:pt x="175783" y="3111"/>
                  </a:lnTo>
                  <a:lnTo>
                    <a:pt x="225298" y="7572"/>
                  </a:lnTo>
                  <a:lnTo>
                    <a:pt x="267043" y="14969"/>
                  </a:lnTo>
                  <a:lnTo>
                    <a:pt x="331168" y="54550"/>
                  </a:lnTo>
                  <a:lnTo>
                    <a:pt x="346487" y="93281"/>
                  </a:lnTo>
                  <a:lnTo>
                    <a:pt x="342804" y="131441"/>
                  </a:lnTo>
                  <a:lnTo>
                    <a:pt x="317881" y="158242"/>
                  </a:lnTo>
                  <a:lnTo>
                    <a:pt x="287176" y="167486"/>
                  </a:lnTo>
                  <a:lnTo>
                    <a:pt x="245091" y="172423"/>
                  </a:lnTo>
                  <a:lnTo>
                    <a:pt x="193897" y="173910"/>
                  </a:lnTo>
                  <a:lnTo>
                    <a:pt x="135866" y="172804"/>
                  </a:lnTo>
                  <a:lnTo>
                    <a:pt x="73270" y="169963"/>
                  </a:lnTo>
                  <a:lnTo>
                    <a:pt x="8382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2636" y="149640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2636" y="149640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2802636" y="158784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2802636" y="158784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7792" y="1444751"/>
              <a:ext cx="452628" cy="28803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67228" y="1478152"/>
              <a:ext cx="337820" cy="173990"/>
            </a:xfrm>
            <a:custGeom>
              <a:avLst/>
              <a:gdLst/>
              <a:ahLst/>
              <a:cxnLst/>
              <a:rect l="l" t="t" r="r" b="b"/>
              <a:pathLst>
                <a:path w="337820" h="173989">
                  <a:moveTo>
                    <a:pt x="0" y="0"/>
                  </a:moveTo>
                  <a:lnTo>
                    <a:pt x="59565" y="5"/>
                  </a:lnTo>
                  <a:lnTo>
                    <a:pt x="117239" y="766"/>
                  </a:lnTo>
                  <a:lnTo>
                    <a:pt x="171132" y="3016"/>
                  </a:lnTo>
                  <a:lnTo>
                    <a:pt x="219352" y="7488"/>
                  </a:lnTo>
                  <a:lnTo>
                    <a:pt x="260008" y="14916"/>
                  </a:lnTo>
                  <a:lnTo>
                    <a:pt x="322447" y="54477"/>
                  </a:lnTo>
                  <a:lnTo>
                    <a:pt x="337359" y="93170"/>
                  </a:lnTo>
                  <a:lnTo>
                    <a:pt x="333769" y="131316"/>
                  </a:lnTo>
                  <a:lnTo>
                    <a:pt x="309499" y="158115"/>
                  </a:lnTo>
                  <a:lnTo>
                    <a:pt x="279599" y="167359"/>
                  </a:lnTo>
                  <a:lnTo>
                    <a:pt x="238618" y="172296"/>
                  </a:lnTo>
                  <a:lnTo>
                    <a:pt x="188769" y="173783"/>
                  </a:lnTo>
                  <a:lnTo>
                    <a:pt x="132263" y="172677"/>
                  </a:lnTo>
                  <a:lnTo>
                    <a:pt x="71312" y="169836"/>
                  </a:lnTo>
                  <a:lnTo>
                    <a:pt x="8128" y="166116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object 30"/>
            <p:cNvSpPr/>
            <p:nvPr/>
          </p:nvSpPr>
          <p:spPr>
            <a:xfrm>
              <a:off x="2802636" y="1661119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object 31"/>
            <p:cNvSpPr/>
            <p:nvPr/>
          </p:nvSpPr>
          <p:spPr>
            <a:xfrm>
              <a:off x="2802636" y="1661119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object 32"/>
            <p:cNvSpPr/>
            <p:nvPr/>
          </p:nvSpPr>
          <p:spPr>
            <a:xfrm>
              <a:off x="2802636" y="175268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02636" y="175268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7792" y="1609343"/>
              <a:ext cx="452628" cy="29717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67228" y="1642871"/>
              <a:ext cx="337820" cy="183515"/>
            </a:xfrm>
            <a:custGeom>
              <a:avLst/>
              <a:gdLst/>
              <a:ahLst/>
              <a:cxnLst/>
              <a:rect l="l" t="t" r="r" b="b"/>
              <a:pathLst>
                <a:path w="337820" h="183514">
                  <a:moveTo>
                    <a:pt x="0" y="0"/>
                  </a:moveTo>
                  <a:lnTo>
                    <a:pt x="59565" y="12"/>
                  </a:lnTo>
                  <a:lnTo>
                    <a:pt x="117239" y="818"/>
                  </a:lnTo>
                  <a:lnTo>
                    <a:pt x="171132" y="3190"/>
                  </a:lnTo>
                  <a:lnTo>
                    <a:pt x="219352" y="7902"/>
                  </a:lnTo>
                  <a:lnTo>
                    <a:pt x="260008" y="15725"/>
                  </a:lnTo>
                  <a:lnTo>
                    <a:pt x="322447" y="57376"/>
                  </a:lnTo>
                  <a:lnTo>
                    <a:pt x="337359" y="98107"/>
                  </a:lnTo>
                  <a:lnTo>
                    <a:pt x="333769" y="138267"/>
                  </a:lnTo>
                  <a:lnTo>
                    <a:pt x="309499" y="166497"/>
                  </a:lnTo>
                  <a:lnTo>
                    <a:pt x="279599" y="176237"/>
                  </a:lnTo>
                  <a:lnTo>
                    <a:pt x="238618" y="181426"/>
                  </a:lnTo>
                  <a:lnTo>
                    <a:pt x="188769" y="182975"/>
                  </a:lnTo>
                  <a:lnTo>
                    <a:pt x="132263" y="181793"/>
                  </a:lnTo>
                  <a:lnTo>
                    <a:pt x="71312" y="178791"/>
                  </a:lnTo>
                  <a:lnTo>
                    <a:pt x="8128" y="174878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6" name="object 36"/>
            <p:cNvSpPr/>
            <p:nvPr/>
          </p:nvSpPr>
          <p:spPr>
            <a:xfrm>
              <a:off x="2802636" y="1844126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7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7" y="45760"/>
                  </a:lnTo>
                  <a:lnTo>
                    <a:pt x="338327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7" name="object 37"/>
            <p:cNvSpPr/>
            <p:nvPr/>
          </p:nvSpPr>
          <p:spPr>
            <a:xfrm>
              <a:off x="2802636" y="1844126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7" y="45760"/>
                  </a:lnTo>
                  <a:lnTo>
                    <a:pt x="338327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8" name="object 38"/>
            <p:cNvSpPr/>
            <p:nvPr/>
          </p:nvSpPr>
          <p:spPr>
            <a:xfrm>
              <a:off x="2802636" y="1926549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7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7" y="45760"/>
                  </a:lnTo>
                  <a:lnTo>
                    <a:pt x="338327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2636" y="1926549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7" y="45760"/>
                  </a:lnTo>
                  <a:lnTo>
                    <a:pt x="338327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7792" y="1783079"/>
              <a:ext cx="461771" cy="29717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67228" y="1816734"/>
              <a:ext cx="346710" cy="183515"/>
            </a:xfrm>
            <a:custGeom>
              <a:avLst/>
              <a:gdLst/>
              <a:ahLst/>
              <a:cxnLst/>
              <a:rect l="l" t="t" r="r" b="b"/>
              <a:pathLst>
                <a:path w="346710" h="183514">
                  <a:moveTo>
                    <a:pt x="0" y="0"/>
                  </a:moveTo>
                  <a:lnTo>
                    <a:pt x="61198" y="56"/>
                  </a:lnTo>
                  <a:lnTo>
                    <a:pt x="120438" y="874"/>
                  </a:lnTo>
                  <a:lnTo>
                    <a:pt x="175783" y="3238"/>
                  </a:lnTo>
                  <a:lnTo>
                    <a:pt x="225298" y="7930"/>
                  </a:lnTo>
                  <a:lnTo>
                    <a:pt x="267043" y="15733"/>
                  </a:lnTo>
                  <a:lnTo>
                    <a:pt x="331168" y="57394"/>
                  </a:lnTo>
                  <a:lnTo>
                    <a:pt x="346487" y="98155"/>
                  </a:lnTo>
                  <a:lnTo>
                    <a:pt x="342804" y="138320"/>
                  </a:lnTo>
                  <a:lnTo>
                    <a:pt x="317881" y="166497"/>
                  </a:lnTo>
                  <a:lnTo>
                    <a:pt x="287176" y="176237"/>
                  </a:lnTo>
                  <a:lnTo>
                    <a:pt x="245091" y="181431"/>
                  </a:lnTo>
                  <a:lnTo>
                    <a:pt x="193897" y="182991"/>
                  </a:lnTo>
                  <a:lnTo>
                    <a:pt x="135866" y="181831"/>
                  </a:lnTo>
                  <a:lnTo>
                    <a:pt x="73270" y="178864"/>
                  </a:lnTo>
                  <a:lnTo>
                    <a:pt x="8382" y="175006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2" name="object 42"/>
            <p:cNvSpPr/>
            <p:nvPr/>
          </p:nvSpPr>
          <p:spPr>
            <a:xfrm>
              <a:off x="2793492" y="2008845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8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8" y="45760"/>
                  </a:lnTo>
                  <a:lnTo>
                    <a:pt x="338328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3" name="object 43"/>
            <p:cNvSpPr/>
            <p:nvPr/>
          </p:nvSpPr>
          <p:spPr>
            <a:xfrm>
              <a:off x="2793492" y="2008845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8" y="45760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2793492" y="2100412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8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8" y="45760"/>
                  </a:lnTo>
                  <a:lnTo>
                    <a:pt x="338328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3492" y="2100412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8" y="45760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98648" y="1956815"/>
              <a:ext cx="461772" cy="2880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958084" y="1990597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58"/>
                  </a:lnTo>
                  <a:lnTo>
                    <a:pt x="120438" y="851"/>
                  </a:lnTo>
                  <a:lnTo>
                    <a:pt x="175783" y="3111"/>
                  </a:lnTo>
                  <a:lnTo>
                    <a:pt x="225298" y="7572"/>
                  </a:lnTo>
                  <a:lnTo>
                    <a:pt x="267043" y="14969"/>
                  </a:lnTo>
                  <a:lnTo>
                    <a:pt x="331168" y="54550"/>
                  </a:lnTo>
                  <a:lnTo>
                    <a:pt x="346487" y="93281"/>
                  </a:lnTo>
                  <a:lnTo>
                    <a:pt x="342804" y="131441"/>
                  </a:lnTo>
                  <a:lnTo>
                    <a:pt x="317881" y="158242"/>
                  </a:lnTo>
                  <a:lnTo>
                    <a:pt x="287176" y="167477"/>
                  </a:lnTo>
                  <a:lnTo>
                    <a:pt x="245091" y="172395"/>
                  </a:lnTo>
                  <a:lnTo>
                    <a:pt x="193897" y="173862"/>
                  </a:lnTo>
                  <a:lnTo>
                    <a:pt x="135866" y="172748"/>
                  </a:lnTo>
                  <a:lnTo>
                    <a:pt x="73270" y="169918"/>
                  </a:lnTo>
                  <a:lnTo>
                    <a:pt x="8382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object 48"/>
            <p:cNvSpPr/>
            <p:nvPr/>
          </p:nvSpPr>
          <p:spPr>
            <a:xfrm>
              <a:off x="2802636" y="2182835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9" name="object 49"/>
            <p:cNvSpPr/>
            <p:nvPr/>
          </p:nvSpPr>
          <p:spPr>
            <a:xfrm>
              <a:off x="2802636" y="2182835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0" name="object 50"/>
            <p:cNvSpPr/>
            <p:nvPr/>
          </p:nvSpPr>
          <p:spPr>
            <a:xfrm>
              <a:off x="2802636" y="2274275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1" name="object 51"/>
            <p:cNvSpPr/>
            <p:nvPr/>
          </p:nvSpPr>
          <p:spPr>
            <a:xfrm>
              <a:off x="2802636" y="2274275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07792" y="2130551"/>
              <a:ext cx="452628" cy="2971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967228" y="2164460"/>
              <a:ext cx="337820" cy="183515"/>
            </a:xfrm>
            <a:custGeom>
              <a:avLst/>
              <a:gdLst/>
              <a:ahLst/>
              <a:cxnLst/>
              <a:rect l="l" t="t" r="r" b="b"/>
              <a:pathLst>
                <a:path w="337820" h="183514">
                  <a:moveTo>
                    <a:pt x="0" y="0"/>
                  </a:moveTo>
                  <a:lnTo>
                    <a:pt x="59565" y="65"/>
                  </a:lnTo>
                  <a:lnTo>
                    <a:pt x="117239" y="903"/>
                  </a:lnTo>
                  <a:lnTo>
                    <a:pt x="171132" y="3286"/>
                  </a:lnTo>
                  <a:lnTo>
                    <a:pt x="219352" y="7986"/>
                  </a:lnTo>
                  <a:lnTo>
                    <a:pt x="260008" y="15777"/>
                  </a:lnTo>
                  <a:lnTo>
                    <a:pt x="322447" y="57449"/>
                  </a:lnTo>
                  <a:lnTo>
                    <a:pt x="337359" y="98218"/>
                  </a:lnTo>
                  <a:lnTo>
                    <a:pt x="333769" y="138392"/>
                  </a:lnTo>
                  <a:lnTo>
                    <a:pt x="309499" y="166624"/>
                  </a:lnTo>
                  <a:lnTo>
                    <a:pt x="279599" y="176320"/>
                  </a:lnTo>
                  <a:lnTo>
                    <a:pt x="238618" y="181497"/>
                  </a:lnTo>
                  <a:lnTo>
                    <a:pt x="188769" y="183054"/>
                  </a:lnTo>
                  <a:lnTo>
                    <a:pt x="132263" y="181892"/>
                  </a:lnTo>
                  <a:lnTo>
                    <a:pt x="71312" y="178909"/>
                  </a:lnTo>
                  <a:lnTo>
                    <a:pt x="8128" y="175006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4" name="object 54"/>
            <p:cNvSpPr/>
            <p:nvPr/>
          </p:nvSpPr>
          <p:spPr>
            <a:xfrm>
              <a:off x="2802636" y="235669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object 55"/>
            <p:cNvSpPr/>
            <p:nvPr/>
          </p:nvSpPr>
          <p:spPr>
            <a:xfrm>
              <a:off x="2802636" y="235669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object 56"/>
            <p:cNvSpPr/>
            <p:nvPr/>
          </p:nvSpPr>
          <p:spPr>
            <a:xfrm>
              <a:off x="2802636" y="244813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object 57"/>
            <p:cNvSpPr/>
            <p:nvPr/>
          </p:nvSpPr>
          <p:spPr>
            <a:xfrm>
              <a:off x="2802636" y="244813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98648" y="2304287"/>
              <a:ext cx="461772" cy="28803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958084" y="2338450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5"/>
                  </a:lnTo>
                  <a:lnTo>
                    <a:pt x="120438" y="766"/>
                  </a:lnTo>
                  <a:lnTo>
                    <a:pt x="175783" y="3016"/>
                  </a:lnTo>
                  <a:lnTo>
                    <a:pt x="225298" y="7488"/>
                  </a:lnTo>
                  <a:lnTo>
                    <a:pt x="267043" y="14916"/>
                  </a:lnTo>
                  <a:lnTo>
                    <a:pt x="331168" y="54477"/>
                  </a:lnTo>
                  <a:lnTo>
                    <a:pt x="346487" y="93170"/>
                  </a:lnTo>
                  <a:lnTo>
                    <a:pt x="342804" y="131316"/>
                  </a:lnTo>
                  <a:lnTo>
                    <a:pt x="317881" y="158114"/>
                  </a:lnTo>
                  <a:lnTo>
                    <a:pt x="287176" y="167359"/>
                  </a:lnTo>
                  <a:lnTo>
                    <a:pt x="245091" y="172296"/>
                  </a:lnTo>
                  <a:lnTo>
                    <a:pt x="193897" y="173783"/>
                  </a:lnTo>
                  <a:lnTo>
                    <a:pt x="135866" y="172677"/>
                  </a:lnTo>
                  <a:lnTo>
                    <a:pt x="73270" y="169836"/>
                  </a:lnTo>
                  <a:lnTo>
                    <a:pt x="8382" y="166115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0" name="object 60"/>
            <p:cNvSpPr/>
            <p:nvPr/>
          </p:nvSpPr>
          <p:spPr>
            <a:xfrm>
              <a:off x="2802636" y="2530561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1" name="object 61"/>
            <p:cNvSpPr/>
            <p:nvPr/>
          </p:nvSpPr>
          <p:spPr>
            <a:xfrm>
              <a:off x="2802636" y="2530561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2" name="object 62"/>
            <p:cNvSpPr/>
            <p:nvPr/>
          </p:nvSpPr>
          <p:spPr>
            <a:xfrm>
              <a:off x="2802636" y="262212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3" name="object 63"/>
            <p:cNvSpPr/>
            <p:nvPr/>
          </p:nvSpPr>
          <p:spPr>
            <a:xfrm>
              <a:off x="2802636" y="262212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07792" y="2478023"/>
              <a:ext cx="461771" cy="28803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967228" y="2512313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5"/>
                  </a:lnTo>
                  <a:lnTo>
                    <a:pt x="120438" y="766"/>
                  </a:lnTo>
                  <a:lnTo>
                    <a:pt x="175783" y="3016"/>
                  </a:lnTo>
                  <a:lnTo>
                    <a:pt x="225298" y="7488"/>
                  </a:lnTo>
                  <a:lnTo>
                    <a:pt x="267043" y="14916"/>
                  </a:lnTo>
                  <a:lnTo>
                    <a:pt x="331168" y="54496"/>
                  </a:lnTo>
                  <a:lnTo>
                    <a:pt x="346487" y="93233"/>
                  </a:lnTo>
                  <a:lnTo>
                    <a:pt x="342804" y="131423"/>
                  </a:lnTo>
                  <a:lnTo>
                    <a:pt x="317881" y="158241"/>
                  </a:lnTo>
                  <a:lnTo>
                    <a:pt x="287176" y="167477"/>
                  </a:lnTo>
                  <a:lnTo>
                    <a:pt x="245091" y="172395"/>
                  </a:lnTo>
                  <a:lnTo>
                    <a:pt x="193897" y="173862"/>
                  </a:lnTo>
                  <a:lnTo>
                    <a:pt x="135866" y="172748"/>
                  </a:lnTo>
                  <a:lnTo>
                    <a:pt x="73270" y="169918"/>
                  </a:lnTo>
                  <a:lnTo>
                    <a:pt x="8382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6" name="object 66"/>
            <p:cNvSpPr/>
            <p:nvPr/>
          </p:nvSpPr>
          <p:spPr>
            <a:xfrm>
              <a:off x="2802636" y="2713568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7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7" y="45760"/>
                  </a:lnTo>
                  <a:lnTo>
                    <a:pt x="338327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7" name="object 67"/>
            <p:cNvSpPr/>
            <p:nvPr/>
          </p:nvSpPr>
          <p:spPr>
            <a:xfrm>
              <a:off x="2802636" y="2713568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7" y="45760"/>
                  </a:lnTo>
                  <a:lnTo>
                    <a:pt x="338327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8" name="object 68"/>
            <p:cNvSpPr/>
            <p:nvPr/>
          </p:nvSpPr>
          <p:spPr>
            <a:xfrm>
              <a:off x="2802636" y="2795991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338327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7" y="45760"/>
                  </a:lnTo>
                  <a:lnTo>
                    <a:pt x="338327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9" name="object 69"/>
            <p:cNvSpPr/>
            <p:nvPr/>
          </p:nvSpPr>
          <p:spPr>
            <a:xfrm>
              <a:off x="2802636" y="2795991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5">
                  <a:moveTo>
                    <a:pt x="0" y="45760"/>
                  </a:moveTo>
                  <a:lnTo>
                    <a:pt x="338327" y="45760"/>
                  </a:lnTo>
                  <a:lnTo>
                    <a:pt x="338327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07792" y="2651759"/>
              <a:ext cx="461771" cy="29718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67228" y="2686176"/>
              <a:ext cx="346710" cy="183515"/>
            </a:xfrm>
            <a:custGeom>
              <a:avLst/>
              <a:gdLst/>
              <a:ahLst/>
              <a:cxnLst/>
              <a:rect l="l" t="t" r="r" b="b"/>
              <a:pathLst>
                <a:path w="346710" h="183514">
                  <a:moveTo>
                    <a:pt x="0" y="0"/>
                  </a:moveTo>
                  <a:lnTo>
                    <a:pt x="61198" y="56"/>
                  </a:lnTo>
                  <a:lnTo>
                    <a:pt x="120438" y="874"/>
                  </a:lnTo>
                  <a:lnTo>
                    <a:pt x="175783" y="3238"/>
                  </a:lnTo>
                  <a:lnTo>
                    <a:pt x="225298" y="7930"/>
                  </a:lnTo>
                  <a:lnTo>
                    <a:pt x="267043" y="15733"/>
                  </a:lnTo>
                  <a:lnTo>
                    <a:pt x="331168" y="57394"/>
                  </a:lnTo>
                  <a:lnTo>
                    <a:pt x="346487" y="98155"/>
                  </a:lnTo>
                  <a:lnTo>
                    <a:pt x="342804" y="138320"/>
                  </a:lnTo>
                  <a:lnTo>
                    <a:pt x="317881" y="166496"/>
                  </a:lnTo>
                  <a:lnTo>
                    <a:pt x="287176" y="176237"/>
                  </a:lnTo>
                  <a:lnTo>
                    <a:pt x="245091" y="181431"/>
                  </a:lnTo>
                  <a:lnTo>
                    <a:pt x="193897" y="182991"/>
                  </a:lnTo>
                  <a:lnTo>
                    <a:pt x="135866" y="181831"/>
                  </a:lnTo>
                  <a:lnTo>
                    <a:pt x="73270" y="178864"/>
                  </a:lnTo>
                  <a:lnTo>
                    <a:pt x="8382" y="175006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2" name="object 72"/>
            <p:cNvSpPr/>
            <p:nvPr/>
          </p:nvSpPr>
          <p:spPr>
            <a:xfrm>
              <a:off x="2811780" y="288755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3" name="object 73"/>
            <p:cNvSpPr/>
            <p:nvPr/>
          </p:nvSpPr>
          <p:spPr>
            <a:xfrm>
              <a:off x="2811780" y="288755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4" name="object 74"/>
            <p:cNvSpPr/>
            <p:nvPr/>
          </p:nvSpPr>
          <p:spPr>
            <a:xfrm>
              <a:off x="2811780" y="297899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5" name="object 75"/>
            <p:cNvSpPr/>
            <p:nvPr/>
          </p:nvSpPr>
          <p:spPr>
            <a:xfrm>
              <a:off x="2811780" y="2978998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76" name="object 7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16936" y="2834639"/>
              <a:ext cx="452627" cy="28803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976372" y="2869183"/>
              <a:ext cx="337820" cy="173990"/>
            </a:xfrm>
            <a:custGeom>
              <a:avLst/>
              <a:gdLst/>
              <a:ahLst/>
              <a:cxnLst/>
              <a:rect l="l" t="t" r="r" b="b"/>
              <a:pathLst>
                <a:path w="337820" h="173989">
                  <a:moveTo>
                    <a:pt x="0" y="0"/>
                  </a:moveTo>
                  <a:lnTo>
                    <a:pt x="59565" y="58"/>
                  </a:lnTo>
                  <a:lnTo>
                    <a:pt x="117239" y="851"/>
                  </a:lnTo>
                  <a:lnTo>
                    <a:pt x="171132" y="3111"/>
                  </a:lnTo>
                  <a:lnTo>
                    <a:pt x="219352" y="7572"/>
                  </a:lnTo>
                  <a:lnTo>
                    <a:pt x="260008" y="14969"/>
                  </a:lnTo>
                  <a:lnTo>
                    <a:pt x="322447" y="54550"/>
                  </a:lnTo>
                  <a:lnTo>
                    <a:pt x="337359" y="93281"/>
                  </a:lnTo>
                  <a:lnTo>
                    <a:pt x="333769" y="131441"/>
                  </a:lnTo>
                  <a:lnTo>
                    <a:pt x="309499" y="158242"/>
                  </a:lnTo>
                  <a:lnTo>
                    <a:pt x="279599" y="167486"/>
                  </a:lnTo>
                  <a:lnTo>
                    <a:pt x="238618" y="172423"/>
                  </a:lnTo>
                  <a:lnTo>
                    <a:pt x="188769" y="173910"/>
                  </a:lnTo>
                  <a:lnTo>
                    <a:pt x="132263" y="172804"/>
                  </a:lnTo>
                  <a:lnTo>
                    <a:pt x="71312" y="169963"/>
                  </a:lnTo>
                  <a:lnTo>
                    <a:pt x="8127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8" name="object 78"/>
            <p:cNvSpPr/>
            <p:nvPr/>
          </p:nvSpPr>
          <p:spPr>
            <a:xfrm>
              <a:off x="2811780" y="305227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9" name="object 79"/>
            <p:cNvSpPr/>
            <p:nvPr/>
          </p:nvSpPr>
          <p:spPr>
            <a:xfrm>
              <a:off x="2811780" y="305227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0" name="object 80"/>
            <p:cNvSpPr/>
            <p:nvPr/>
          </p:nvSpPr>
          <p:spPr>
            <a:xfrm>
              <a:off x="2811780" y="314371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1" name="object 81"/>
            <p:cNvSpPr/>
            <p:nvPr/>
          </p:nvSpPr>
          <p:spPr>
            <a:xfrm>
              <a:off x="2811780" y="3143717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5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82" name="object 8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16936" y="2999231"/>
              <a:ext cx="452627" cy="28803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976372" y="3033902"/>
              <a:ext cx="337820" cy="173990"/>
            </a:xfrm>
            <a:custGeom>
              <a:avLst/>
              <a:gdLst/>
              <a:ahLst/>
              <a:cxnLst/>
              <a:rect l="l" t="t" r="r" b="b"/>
              <a:pathLst>
                <a:path w="337820" h="173989">
                  <a:moveTo>
                    <a:pt x="0" y="0"/>
                  </a:moveTo>
                  <a:lnTo>
                    <a:pt x="59565" y="58"/>
                  </a:lnTo>
                  <a:lnTo>
                    <a:pt x="117239" y="851"/>
                  </a:lnTo>
                  <a:lnTo>
                    <a:pt x="171132" y="3111"/>
                  </a:lnTo>
                  <a:lnTo>
                    <a:pt x="219352" y="7572"/>
                  </a:lnTo>
                  <a:lnTo>
                    <a:pt x="260008" y="14969"/>
                  </a:lnTo>
                  <a:lnTo>
                    <a:pt x="322447" y="54550"/>
                  </a:lnTo>
                  <a:lnTo>
                    <a:pt x="337359" y="93281"/>
                  </a:lnTo>
                  <a:lnTo>
                    <a:pt x="333769" y="131441"/>
                  </a:lnTo>
                  <a:lnTo>
                    <a:pt x="309499" y="158242"/>
                  </a:lnTo>
                  <a:lnTo>
                    <a:pt x="279599" y="167486"/>
                  </a:lnTo>
                  <a:lnTo>
                    <a:pt x="238618" y="172423"/>
                  </a:lnTo>
                  <a:lnTo>
                    <a:pt x="188769" y="173910"/>
                  </a:lnTo>
                  <a:lnTo>
                    <a:pt x="132263" y="172804"/>
                  </a:lnTo>
                  <a:lnTo>
                    <a:pt x="71312" y="169963"/>
                  </a:lnTo>
                  <a:lnTo>
                    <a:pt x="8127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4" name="object 84"/>
            <p:cNvSpPr/>
            <p:nvPr/>
          </p:nvSpPr>
          <p:spPr>
            <a:xfrm>
              <a:off x="2811780" y="3226140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4">
                  <a:moveTo>
                    <a:pt x="338328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8" y="45760"/>
                  </a:lnTo>
                  <a:lnTo>
                    <a:pt x="338328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5" name="object 85"/>
            <p:cNvSpPr/>
            <p:nvPr/>
          </p:nvSpPr>
          <p:spPr>
            <a:xfrm>
              <a:off x="2811780" y="3226140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4">
                  <a:moveTo>
                    <a:pt x="0" y="45760"/>
                  </a:moveTo>
                  <a:lnTo>
                    <a:pt x="338328" y="45760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6" name="object 86"/>
            <p:cNvSpPr/>
            <p:nvPr/>
          </p:nvSpPr>
          <p:spPr>
            <a:xfrm>
              <a:off x="2811780" y="3317707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4">
                  <a:moveTo>
                    <a:pt x="338328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38328" y="45760"/>
                  </a:lnTo>
                  <a:lnTo>
                    <a:pt x="338328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7" name="object 87"/>
            <p:cNvSpPr/>
            <p:nvPr/>
          </p:nvSpPr>
          <p:spPr>
            <a:xfrm>
              <a:off x="2811780" y="3317707"/>
              <a:ext cx="338455" cy="46355"/>
            </a:xfrm>
            <a:custGeom>
              <a:avLst/>
              <a:gdLst/>
              <a:ahLst/>
              <a:cxnLst/>
              <a:rect l="l" t="t" r="r" b="b"/>
              <a:pathLst>
                <a:path w="338455" h="46354">
                  <a:moveTo>
                    <a:pt x="0" y="45760"/>
                  </a:moveTo>
                  <a:lnTo>
                    <a:pt x="338328" y="45760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88" name="object 8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16936" y="3172967"/>
              <a:ext cx="461772" cy="28803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976372" y="3207892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5"/>
                  </a:lnTo>
                  <a:lnTo>
                    <a:pt x="120438" y="766"/>
                  </a:lnTo>
                  <a:lnTo>
                    <a:pt x="175783" y="3016"/>
                  </a:lnTo>
                  <a:lnTo>
                    <a:pt x="225297" y="7488"/>
                  </a:lnTo>
                  <a:lnTo>
                    <a:pt x="267043" y="14916"/>
                  </a:lnTo>
                  <a:lnTo>
                    <a:pt x="331168" y="54477"/>
                  </a:lnTo>
                  <a:lnTo>
                    <a:pt x="346487" y="93170"/>
                  </a:lnTo>
                  <a:lnTo>
                    <a:pt x="342804" y="131316"/>
                  </a:lnTo>
                  <a:lnTo>
                    <a:pt x="317880" y="158115"/>
                  </a:lnTo>
                  <a:lnTo>
                    <a:pt x="287176" y="167360"/>
                  </a:lnTo>
                  <a:lnTo>
                    <a:pt x="245091" y="172301"/>
                  </a:lnTo>
                  <a:lnTo>
                    <a:pt x="193897" y="173799"/>
                  </a:lnTo>
                  <a:lnTo>
                    <a:pt x="135866" y="172715"/>
                  </a:lnTo>
                  <a:lnTo>
                    <a:pt x="73270" y="169909"/>
                  </a:lnTo>
                  <a:lnTo>
                    <a:pt x="8381" y="166243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0" name="object 90"/>
            <p:cNvSpPr/>
            <p:nvPr/>
          </p:nvSpPr>
          <p:spPr>
            <a:xfrm>
              <a:off x="2802636" y="3400003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1" name="object 91"/>
            <p:cNvSpPr/>
            <p:nvPr/>
          </p:nvSpPr>
          <p:spPr>
            <a:xfrm>
              <a:off x="2802636" y="3400003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2" name="object 92"/>
            <p:cNvSpPr/>
            <p:nvPr/>
          </p:nvSpPr>
          <p:spPr>
            <a:xfrm>
              <a:off x="2802636" y="349157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4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4" y="4576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3" name="object 93"/>
            <p:cNvSpPr/>
            <p:nvPr/>
          </p:nvSpPr>
          <p:spPr>
            <a:xfrm>
              <a:off x="2802636" y="3491570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4" y="4576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94" name="object 9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07792" y="3337559"/>
              <a:ext cx="461771" cy="29718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967228" y="3372611"/>
              <a:ext cx="346710" cy="183515"/>
            </a:xfrm>
            <a:custGeom>
              <a:avLst/>
              <a:gdLst/>
              <a:ahLst/>
              <a:cxnLst/>
              <a:rect l="l" t="t" r="r" b="b"/>
              <a:pathLst>
                <a:path w="346710" h="183514">
                  <a:moveTo>
                    <a:pt x="0" y="0"/>
                  </a:moveTo>
                  <a:lnTo>
                    <a:pt x="61198" y="12"/>
                  </a:lnTo>
                  <a:lnTo>
                    <a:pt x="120438" y="818"/>
                  </a:lnTo>
                  <a:lnTo>
                    <a:pt x="175783" y="3190"/>
                  </a:lnTo>
                  <a:lnTo>
                    <a:pt x="225298" y="7902"/>
                  </a:lnTo>
                  <a:lnTo>
                    <a:pt x="267043" y="15725"/>
                  </a:lnTo>
                  <a:lnTo>
                    <a:pt x="331168" y="57394"/>
                  </a:lnTo>
                  <a:lnTo>
                    <a:pt x="346487" y="98155"/>
                  </a:lnTo>
                  <a:lnTo>
                    <a:pt x="342804" y="138320"/>
                  </a:lnTo>
                  <a:lnTo>
                    <a:pt x="317881" y="166497"/>
                  </a:lnTo>
                  <a:lnTo>
                    <a:pt x="287176" y="176237"/>
                  </a:lnTo>
                  <a:lnTo>
                    <a:pt x="245091" y="181431"/>
                  </a:lnTo>
                  <a:lnTo>
                    <a:pt x="193897" y="182991"/>
                  </a:lnTo>
                  <a:lnTo>
                    <a:pt x="135866" y="181831"/>
                  </a:lnTo>
                  <a:lnTo>
                    <a:pt x="73270" y="178864"/>
                  </a:lnTo>
                  <a:lnTo>
                    <a:pt x="8382" y="175006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6" name="object 96"/>
            <p:cNvSpPr/>
            <p:nvPr/>
          </p:nvSpPr>
          <p:spPr>
            <a:xfrm>
              <a:off x="2811780" y="357386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7" name="object 97"/>
            <p:cNvSpPr/>
            <p:nvPr/>
          </p:nvSpPr>
          <p:spPr>
            <a:xfrm>
              <a:off x="2811780" y="357386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8" name="object 98"/>
            <p:cNvSpPr/>
            <p:nvPr/>
          </p:nvSpPr>
          <p:spPr>
            <a:xfrm>
              <a:off x="2811780" y="3665433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9" name="object 99"/>
            <p:cNvSpPr/>
            <p:nvPr/>
          </p:nvSpPr>
          <p:spPr>
            <a:xfrm>
              <a:off x="2811780" y="3665433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00" name="object 10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07792" y="3520439"/>
              <a:ext cx="461771" cy="288035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2967228" y="3555618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49"/>
                  </a:lnTo>
                  <a:lnTo>
                    <a:pt x="120438" y="823"/>
                  </a:lnTo>
                  <a:lnTo>
                    <a:pt x="175783" y="3063"/>
                  </a:lnTo>
                  <a:lnTo>
                    <a:pt x="225298" y="7516"/>
                  </a:lnTo>
                  <a:lnTo>
                    <a:pt x="267043" y="14925"/>
                  </a:lnTo>
                  <a:lnTo>
                    <a:pt x="331168" y="54550"/>
                  </a:lnTo>
                  <a:lnTo>
                    <a:pt x="346487" y="93281"/>
                  </a:lnTo>
                  <a:lnTo>
                    <a:pt x="342804" y="131441"/>
                  </a:lnTo>
                  <a:lnTo>
                    <a:pt x="317881" y="158241"/>
                  </a:lnTo>
                  <a:lnTo>
                    <a:pt x="287176" y="167477"/>
                  </a:lnTo>
                  <a:lnTo>
                    <a:pt x="245091" y="172395"/>
                  </a:lnTo>
                  <a:lnTo>
                    <a:pt x="193897" y="173862"/>
                  </a:lnTo>
                  <a:lnTo>
                    <a:pt x="135866" y="172748"/>
                  </a:lnTo>
                  <a:lnTo>
                    <a:pt x="73270" y="169918"/>
                  </a:lnTo>
                  <a:lnTo>
                    <a:pt x="8382" y="166242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11780" y="374785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811780" y="3747856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811780" y="3830152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811780" y="3830152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06" name="object 10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07792" y="3694175"/>
              <a:ext cx="461771" cy="28803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967228" y="3729481"/>
              <a:ext cx="346710" cy="173990"/>
            </a:xfrm>
            <a:custGeom>
              <a:avLst/>
              <a:gdLst/>
              <a:ahLst/>
              <a:cxnLst/>
              <a:rect l="l" t="t" r="r" b="b"/>
              <a:pathLst>
                <a:path w="346710" h="173989">
                  <a:moveTo>
                    <a:pt x="0" y="0"/>
                  </a:moveTo>
                  <a:lnTo>
                    <a:pt x="61198" y="58"/>
                  </a:lnTo>
                  <a:lnTo>
                    <a:pt x="120438" y="851"/>
                  </a:lnTo>
                  <a:lnTo>
                    <a:pt x="175783" y="3111"/>
                  </a:lnTo>
                  <a:lnTo>
                    <a:pt x="225298" y="7572"/>
                  </a:lnTo>
                  <a:lnTo>
                    <a:pt x="267043" y="14969"/>
                  </a:lnTo>
                  <a:lnTo>
                    <a:pt x="331168" y="54550"/>
                  </a:lnTo>
                  <a:lnTo>
                    <a:pt x="346487" y="93283"/>
                  </a:lnTo>
                  <a:lnTo>
                    <a:pt x="342804" y="131446"/>
                  </a:lnTo>
                  <a:lnTo>
                    <a:pt x="317881" y="158254"/>
                  </a:lnTo>
                  <a:lnTo>
                    <a:pt x="287176" y="167494"/>
                  </a:lnTo>
                  <a:lnTo>
                    <a:pt x="245091" y="172422"/>
                  </a:lnTo>
                  <a:lnTo>
                    <a:pt x="193897" y="173901"/>
                  </a:lnTo>
                  <a:lnTo>
                    <a:pt x="135866" y="172792"/>
                  </a:lnTo>
                  <a:lnTo>
                    <a:pt x="73270" y="169961"/>
                  </a:lnTo>
                  <a:lnTo>
                    <a:pt x="8382" y="166268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811780" y="3921681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811780" y="3921681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811780" y="4013209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329183" y="0"/>
                  </a:moveTo>
                  <a:lnTo>
                    <a:pt x="0" y="0"/>
                  </a:lnTo>
                  <a:lnTo>
                    <a:pt x="0" y="45760"/>
                  </a:lnTo>
                  <a:lnTo>
                    <a:pt x="329183" y="45760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811780" y="4013209"/>
              <a:ext cx="329565" cy="46355"/>
            </a:xfrm>
            <a:custGeom>
              <a:avLst/>
              <a:gdLst/>
              <a:ahLst/>
              <a:cxnLst/>
              <a:rect l="l" t="t" r="r" b="b"/>
              <a:pathLst>
                <a:path w="329564" h="46354">
                  <a:moveTo>
                    <a:pt x="0" y="45760"/>
                  </a:moveTo>
                  <a:lnTo>
                    <a:pt x="329183" y="45760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45760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12" name="object 11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16936" y="3858767"/>
              <a:ext cx="461772" cy="297180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976372" y="3894264"/>
              <a:ext cx="346710" cy="183515"/>
            </a:xfrm>
            <a:custGeom>
              <a:avLst/>
              <a:gdLst/>
              <a:ahLst/>
              <a:cxnLst/>
              <a:rect l="l" t="t" r="r" b="b"/>
              <a:pathLst>
                <a:path w="346710" h="183514">
                  <a:moveTo>
                    <a:pt x="0" y="0"/>
                  </a:moveTo>
                  <a:lnTo>
                    <a:pt x="61198" y="40"/>
                  </a:lnTo>
                  <a:lnTo>
                    <a:pt x="120438" y="857"/>
                  </a:lnTo>
                  <a:lnTo>
                    <a:pt x="175783" y="3225"/>
                  </a:lnTo>
                  <a:lnTo>
                    <a:pt x="225297" y="7922"/>
                  </a:lnTo>
                  <a:lnTo>
                    <a:pt x="267043" y="15724"/>
                  </a:lnTo>
                  <a:lnTo>
                    <a:pt x="331168" y="57394"/>
                  </a:lnTo>
                  <a:lnTo>
                    <a:pt x="346487" y="98156"/>
                  </a:lnTo>
                  <a:lnTo>
                    <a:pt x="342804" y="138325"/>
                  </a:lnTo>
                  <a:lnTo>
                    <a:pt x="317880" y="166535"/>
                  </a:lnTo>
                  <a:lnTo>
                    <a:pt x="287176" y="176263"/>
                  </a:lnTo>
                  <a:lnTo>
                    <a:pt x="245091" y="181452"/>
                  </a:lnTo>
                  <a:lnTo>
                    <a:pt x="193897" y="183010"/>
                  </a:lnTo>
                  <a:lnTo>
                    <a:pt x="135866" y="181843"/>
                  </a:lnTo>
                  <a:lnTo>
                    <a:pt x="73270" y="178860"/>
                  </a:lnTo>
                  <a:lnTo>
                    <a:pt x="8381" y="174967"/>
                  </a:lnTo>
                </a:path>
              </a:pathLst>
            </a:custGeom>
            <a:ln w="63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3505189" y="6146654"/>
            <a:ext cx="903971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1065" spc="-67" dirty="0">
                <a:latin typeface="Arial MT"/>
                <a:cs typeface="Arial MT"/>
              </a:rPr>
              <a:t>[He</a:t>
            </a:r>
            <a:r>
              <a:rPr sz="1065" spc="-27" dirty="0">
                <a:latin typeface="Arial MT"/>
                <a:cs typeface="Arial MT"/>
              </a:rPr>
              <a:t> </a:t>
            </a:r>
            <a:r>
              <a:rPr sz="1065" spc="-107" dirty="0">
                <a:latin typeface="Arial MT"/>
                <a:cs typeface="Arial MT"/>
              </a:rPr>
              <a:t>ICCV</a:t>
            </a:r>
            <a:r>
              <a:rPr sz="1065" spc="-33" dirty="0">
                <a:latin typeface="Arial MT"/>
                <a:cs typeface="Arial MT"/>
              </a:rPr>
              <a:t> </a:t>
            </a:r>
            <a:r>
              <a:rPr sz="1065" spc="-13" dirty="0">
                <a:latin typeface="Arial MT"/>
                <a:cs typeface="Arial MT"/>
              </a:rPr>
              <a:t>2015]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141520" y="6246591"/>
            <a:ext cx="1606683" cy="376778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16913" marR="6765">
              <a:lnSpc>
                <a:spcPct val="109500"/>
              </a:lnSpc>
              <a:spcBef>
                <a:spcPts val="87"/>
              </a:spcBef>
            </a:pP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Figure</a:t>
            </a:r>
            <a:r>
              <a:rPr sz="732" spc="8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copyright</a:t>
            </a:r>
            <a:r>
              <a:rPr sz="732" spc="133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Alex</a:t>
            </a:r>
            <a:r>
              <a:rPr sz="732" spc="1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Krizhevsky,</a:t>
            </a:r>
            <a:r>
              <a:rPr sz="732" spc="8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-27" dirty="0">
                <a:solidFill>
                  <a:srgbClr val="A6A6A6"/>
                </a:solidFill>
                <a:latin typeface="Calibri"/>
                <a:cs typeface="Calibri"/>
              </a:rPr>
              <a:t>Ilya</a:t>
            </a:r>
            <a:r>
              <a:rPr sz="732" spc="666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Sutskever,</a:t>
            </a:r>
            <a:r>
              <a:rPr sz="732" spc="8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and</a:t>
            </a:r>
            <a:r>
              <a:rPr sz="732" spc="186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A6A6A6"/>
                </a:solidFill>
                <a:latin typeface="Calibri"/>
                <a:cs typeface="Calibri"/>
              </a:rPr>
              <a:t>Geoffre</a:t>
            </a:r>
            <a:r>
              <a:rPr sz="732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y</a:t>
            </a:r>
            <a:r>
              <a:rPr sz="732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Hinton,</a:t>
            </a:r>
            <a:r>
              <a:rPr sz="732" spc="8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-27" dirty="0">
                <a:solidFill>
                  <a:srgbClr val="A6A6A6"/>
                </a:solidFill>
                <a:latin typeface="Calibri"/>
                <a:cs typeface="Calibri"/>
              </a:rPr>
              <a:t>2012.</a:t>
            </a:r>
            <a:r>
              <a:rPr sz="732" spc="666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Reprod</a:t>
            </a:r>
            <a:r>
              <a:rPr sz="732" spc="-8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uced</a:t>
            </a:r>
            <a:r>
              <a:rPr sz="732" spc="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with</a:t>
            </a:r>
            <a:r>
              <a:rPr sz="732" spc="133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-13" dirty="0">
                <a:solidFill>
                  <a:srgbClr val="A6A6A6"/>
                </a:solidFill>
                <a:latin typeface="Calibri"/>
                <a:cs typeface="Calibri"/>
              </a:rPr>
              <a:t>permission.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490033" y="1259555"/>
            <a:ext cx="2176631" cy="798563"/>
          </a:xfrm>
          <a:prstGeom prst="rect">
            <a:avLst/>
          </a:prstGeom>
        </p:spPr>
        <p:txBody>
          <a:bodyPr vert="horz" wrap="square" lIns="0" tIns="128535" rIns="0" bIns="0" rtlCol="0">
            <a:spAutoFit/>
          </a:bodyPr>
          <a:lstStyle/>
          <a:p>
            <a:pPr marL="482854">
              <a:spcBef>
                <a:spcPts val="1012"/>
              </a:spcBef>
            </a:pPr>
            <a:r>
              <a:rPr sz="1798" b="1" u="sng" spc="-1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Year</a:t>
            </a:r>
            <a:r>
              <a:rPr sz="1798" b="1" u="sng" spc="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98" b="1" u="sng" spc="-2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2021</a:t>
            </a:r>
            <a:endParaRPr sz="1798">
              <a:latin typeface="Arial"/>
              <a:cs typeface="Arial"/>
            </a:endParaRPr>
          </a:p>
          <a:p>
            <a:pPr marL="16913">
              <a:spcBef>
                <a:spcPts val="899"/>
              </a:spcBef>
            </a:pPr>
            <a:r>
              <a:rPr sz="1798" spc="-127" dirty="0">
                <a:latin typeface="Arial MT"/>
                <a:cs typeface="Arial MT"/>
              </a:rPr>
              <a:t>Vision</a:t>
            </a:r>
            <a:r>
              <a:rPr sz="1798" spc="47" dirty="0">
                <a:latin typeface="Arial MT"/>
                <a:cs typeface="Arial MT"/>
              </a:rPr>
              <a:t> </a:t>
            </a:r>
            <a:r>
              <a:rPr sz="1798" spc="-140" dirty="0">
                <a:latin typeface="Arial MT"/>
                <a:cs typeface="Arial MT"/>
              </a:rPr>
              <a:t>Transformer</a:t>
            </a:r>
            <a:r>
              <a:rPr sz="1798" spc="67" dirty="0">
                <a:latin typeface="Arial MT"/>
                <a:cs typeface="Arial MT"/>
              </a:rPr>
              <a:t> </a:t>
            </a:r>
            <a:r>
              <a:rPr sz="1798" spc="-93" dirty="0">
                <a:latin typeface="Arial MT"/>
                <a:cs typeface="Arial MT"/>
              </a:rPr>
              <a:t>(ViT)</a:t>
            </a:r>
            <a:endParaRPr sz="1798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612242" y="1259555"/>
            <a:ext cx="2428628" cy="798563"/>
          </a:xfrm>
          <a:prstGeom prst="rect">
            <a:avLst/>
          </a:prstGeom>
        </p:spPr>
        <p:txBody>
          <a:bodyPr vert="horz" wrap="square" lIns="0" tIns="128535" rIns="0" bIns="0" rtlCol="0">
            <a:spAutoFit/>
          </a:bodyPr>
          <a:lstStyle/>
          <a:p>
            <a:pPr marL="789818">
              <a:spcBef>
                <a:spcPts val="1012"/>
              </a:spcBef>
            </a:pPr>
            <a:r>
              <a:rPr sz="1798" b="1" u="sng" spc="-1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Year</a:t>
            </a:r>
            <a:r>
              <a:rPr sz="1798" b="1" u="sng" spc="1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98" b="1" u="sng" spc="-2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2023</a:t>
            </a:r>
            <a:endParaRPr sz="1798">
              <a:latin typeface="Arial"/>
              <a:cs typeface="Arial"/>
            </a:endParaRPr>
          </a:p>
          <a:p>
            <a:pPr marL="16913">
              <a:spcBef>
                <a:spcPts val="899"/>
              </a:spcBef>
            </a:pPr>
            <a:r>
              <a:rPr sz="1798" spc="-100" dirty="0">
                <a:latin typeface="Arial MT"/>
                <a:cs typeface="Arial MT"/>
              </a:rPr>
              <a:t>Diffusion</a:t>
            </a:r>
            <a:r>
              <a:rPr sz="1798" spc="-7" dirty="0">
                <a:latin typeface="Arial MT"/>
                <a:cs typeface="Arial MT"/>
              </a:rPr>
              <a:t> </a:t>
            </a:r>
            <a:r>
              <a:rPr sz="1798" spc="-133" dirty="0">
                <a:latin typeface="Arial MT"/>
                <a:cs typeface="Arial MT"/>
              </a:rPr>
              <a:t>Transformer</a:t>
            </a:r>
            <a:r>
              <a:rPr sz="1798" spc="100" dirty="0">
                <a:latin typeface="Arial MT"/>
                <a:cs typeface="Arial MT"/>
              </a:rPr>
              <a:t> </a:t>
            </a:r>
            <a:r>
              <a:rPr sz="1798" spc="-127" dirty="0">
                <a:latin typeface="Arial MT"/>
                <a:cs typeface="Arial MT"/>
              </a:rPr>
              <a:t>(DiT)</a:t>
            </a:r>
            <a:endParaRPr sz="1798">
              <a:latin typeface="Arial MT"/>
              <a:cs typeface="Arial MT"/>
            </a:endParaRPr>
          </a:p>
        </p:txBody>
      </p:sp>
      <p:pic>
        <p:nvPicPr>
          <p:cNvPr id="118" name="object 118" descr="Block designs for DiT.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38237" y="2382412"/>
            <a:ext cx="3281157" cy="2683476"/>
          </a:xfrm>
          <a:prstGeom prst="rect">
            <a:avLst/>
          </a:prstGeom>
        </p:spPr>
      </p:pic>
      <p:sp>
        <p:nvSpPr>
          <p:cNvPr id="119" name="object 119"/>
          <p:cNvSpPr txBox="1"/>
          <p:nvPr/>
        </p:nvSpPr>
        <p:spPr>
          <a:xfrm>
            <a:off x="9306329" y="5446192"/>
            <a:ext cx="1170342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1065" spc="-80" dirty="0">
                <a:latin typeface="Arial MT"/>
                <a:cs typeface="Arial MT"/>
              </a:rPr>
              <a:t>[Peebles</a:t>
            </a:r>
            <a:r>
              <a:rPr sz="1065" spc="-33" dirty="0">
                <a:latin typeface="Arial MT"/>
                <a:cs typeface="Arial MT"/>
              </a:rPr>
              <a:t> </a:t>
            </a:r>
            <a:r>
              <a:rPr sz="1065" spc="-107" dirty="0">
                <a:latin typeface="Arial MT"/>
                <a:cs typeface="Arial MT"/>
              </a:rPr>
              <a:t>ICCV</a:t>
            </a:r>
            <a:r>
              <a:rPr sz="1065" spc="-27" dirty="0">
                <a:latin typeface="Arial MT"/>
                <a:cs typeface="Arial MT"/>
              </a:rPr>
              <a:t> 2023]</a:t>
            </a:r>
            <a:endParaRPr sz="1065">
              <a:latin typeface="Arial MT"/>
              <a:cs typeface="Arial MT"/>
            </a:endParaRPr>
          </a:p>
        </p:txBody>
      </p:sp>
      <p:pic>
        <p:nvPicPr>
          <p:cNvPr id="120" name="object 120" descr="alt text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72547" y="2386443"/>
            <a:ext cx="1366097" cy="3040815"/>
          </a:xfrm>
          <a:prstGeom prst="rect">
            <a:avLst/>
          </a:prstGeom>
        </p:spPr>
      </p:pic>
      <p:sp>
        <p:nvSpPr>
          <p:cNvPr id="121" name="object 121"/>
          <p:cNvSpPr txBox="1"/>
          <p:nvPr/>
        </p:nvSpPr>
        <p:spPr>
          <a:xfrm>
            <a:off x="5929588" y="5619680"/>
            <a:ext cx="1291265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1065" spc="-73" dirty="0">
                <a:latin typeface="Arial MT"/>
                <a:cs typeface="Arial MT"/>
              </a:rPr>
              <a:t>[Dosovitskiy</a:t>
            </a:r>
            <a:r>
              <a:rPr sz="1065" spc="-7" dirty="0">
                <a:latin typeface="Arial MT"/>
                <a:cs typeface="Arial MT"/>
              </a:rPr>
              <a:t> </a:t>
            </a:r>
            <a:r>
              <a:rPr sz="1065" spc="-180" dirty="0">
                <a:latin typeface="Arial MT"/>
                <a:cs typeface="Arial MT"/>
              </a:rPr>
              <a:t>ICLR</a:t>
            </a:r>
            <a:r>
              <a:rPr sz="1065" spc="107" dirty="0">
                <a:latin typeface="Arial MT"/>
                <a:cs typeface="Arial MT"/>
              </a:rPr>
              <a:t> </a:t>
            </a:r>
            <a:r>
              <a:rPr sz="1065" spc="-27" dirty="0">
                <a:latin typeface="Arial MT"/>
                <a:cs typeface="Arial MT"/>
              </a:rPr>
              <a:t>2021]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0157533" y="6936889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837" y="2219598"/>
            <a:ext cx="5272627" cy="442020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2183" y="449996"/>
            <a:ext cx="10624158" cy="1247655"/>
          </a:xfrm>
          <a:prstGeom prst="rect">
            <a:avLst/>
          </a:prstGeom>
        </p:spPr>
        <p:txBody>
          <a:bodyPr vert="horz" wrap="square" lIns="0" tIns="184346" rIns="0" bIns="0" rtlCol="0" anchor="t">
            <a:spAutoFit/>
          </a:bodyPr>
          <a:lstStyle/>
          <a:p>
            <a:pPr marL="16913">
              <a:spcBef>
                <a:spcPts val="1452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  <a:p>
            <a:pPr marL="755993">
              <a:spcBef>
                <a:spcPts val="611"/>
              </a:spcBef>
              <a:tabLst>
                <a:tab pos="6938390" algn="l"/>
              </a:tabLst>
            </a:pPr>
            <a:r>
              <a:rPr sz="1998" dirty="0">
                <a:latin typeface="Calibri"/>
                <a:cs typeface="Calibri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5959" y="6620979"/>
            <a:ext cx="4421761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Figures</a:t>
            </a:r>
            <a:r>
              <a:rPr sz="732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copyright</a:t>
            </a:r>
            <a:r>
              <a:rPr sz="732" spc="4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Alex</a:t>
            </a:r>
            <a:r>
              <a:rPr sz="732" spc="24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Krizhevsky,</a:t>
            </a:r>
            <a:r>
              <a:rPr sz="732" spc="15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Ilya</a:t>
            </a:r>
            <a:r>
              <a:rPr sz="732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Sutskever,</a:t>
            </a:r>
            <a:r>
              <a:rPr sz="732" spc="15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732" spc="28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Geoffre</a:t>
            </a:r>
            <a:r>
              <a:rPr sz="732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y</a:t>
            </a:r>
            <a:r>
              <a:rPr sz="732" spc="5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Hinton,</a:t>
            </a:r>
            <a:r>
              <a:rPr sz="732" spc="14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2012.</a:t>
            </a:r>
            <a:r>
              <a:rPr sz="732" spc="15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Re</a:t>
            </a:r>
            <a:r>
              <a:rPr sz="732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produce</a:t>
            </a:r>
            <a:r>
              <a:rPr sz="732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d</a:t>
            </a:r>
            <a:r>
              <a:rPr sz="732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732" spc="28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permission.</a:t>
            </a:r>
            <a:endParaRPr sz="732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13499" y="4272359"/>
            <a:ext cx="166712" cy="20142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13">
              <a:lnSpc>
                <a:spcPts val="1305"/>
              </a:lnSpc>
            </a:pPr>
            <a:r>
              <a:rPr sz="1199" dirty="0">
                <a:latin typeface="Calibri"/>
                <a:cs typeface="Calibri"/>
              </a:rPr>
              <a:t>Slide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inspiration: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Justin</a:t>
            </a:r>
            <a:r>
              <a:rPr sz="1199" spc="2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Johnson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68586" y="2211153"/>
            <a:ext cx="5936271" cy="4122411"/>
            <a:chOff x="4434840" y="1179575"/>
            <a:chExt cx="4457700" cy="30956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1144" y="1299616"/>
              <a:ext cx="969263" cy="970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0992" y="1299616"/>
              <a:ext cx="969263" cy="970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1696" y="1299616"/>
              <a:ext cx="969263" cy="970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1696" y="2681630"/>
              <a:ext cx="969263" cy="970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0992" y="2681630"/>
              <a:ext cx="969263" cy="9701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72400" y="1299616"/>
              <a:ext cx="969263" cy="970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81144" y="2681515"/>
              <a:ext cx="969263" cy="9609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72400" y="2672359"/>
              <a:ext cx="969263" cy="9701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34840" y="1179575"/>
              <a:ext cx="4457700" cy="309524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548392" y="6619096"/>
            <a:ext cx="4422607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Figures</a:t>
            </a:r>
            <a:r>
              <a:rPr sz="732" spc="1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copyright</a:t>
            </a:r>
            <a:r>
              <a:rPr sz="732" spc="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Alex</a:t>
            </a:r>
            <a:r>
              <a:rPr sz="732" spc="2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Krizhevsky,</a:t>
            </a:r>
            <a:r>
              <a:rPr sz="732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Ilya</a:t>
            </a:r>
            <a:r>
              <a:rPr sz="732" spc="1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Sutskever,</a:t>
            </a:r>
            <a:r>
              <a:rPr sz="732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732" spc="27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Geoffre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y</a:t>
            </a:r>
            <a:r>
              <a:rPr sz="732" spc="4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H</a:t>
            </a:r>
            <a:r>
              <a:rPr sz="732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inton,</a:t>
            </a:r>
            <a:r>
              <a:rPr sz="732" spc="14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2012.</a:t>
            </a:r>
            <a:r>
              <a:rPr sz="732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Re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produce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d</a:t>
            </a:r>
            <a:r>
              <a:rPr sz="732" spc="10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732" spc="27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</a:rPr>
              <a:t>permission.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3823" y="2261264"/>
            <a:ext cx="5772220" cy="3910686"/>
          </a:xfrm>
          <a:prstGeom prst="rect">
            <a:avLst/>
          </a:prstGeom>
          <a:ln w="1906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98" dirty="0">
              <a:latin typeface="Times New Roman"/>
              <a:cs typeface="Times New Roman"/>
            </a:endParaRPr>
          </a:p>
          <a:p>
            <a:pPr>
              <a:spcBef>
                <a:spcPts val="286"/>
              </a:spcBef>
            </a:pPr>
            <a:endParaRPr sz="1398" dirty="0">
              <a:latin typeface="Times New Roman"/>
              <a:cs typeface="Times New Roman"/>
            </a:endParaRPr>
          </a:p>
          <a:p>
            <a:pPr marL="1329328"/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All</a:t>
            </a:r>
            <a:r>
              <a:rPr sz="1398" spc="11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photos</a:t>
            </a:r>
            <a:r>
              <a:rPr sz="1398" spc="19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were</a:t>
            </a:r>
            <a:r>
              <a:rPr sz="1398" spc="11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generated</a:t>
            </a:r>
            <a:r>
              <a:rPr sz="1398" spc="19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sz="1398" spc="186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398" spc="67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98" spc="-67" dirty="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1398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61520" y="1846816"/>
            <a:ext cx="1065485" cy="469321"/>
            <a:chOff x="4050791" y="886967"/>
            <a:chExt cx="800100" cy="35242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0791" y="886967"/>
              <a:ext cx="800100" cy="3520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10227" y="928877"/>
              <a:ext cx="685800" cy="2288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10227" y="928877"/>
              <a:ext cx="685800" cy="229235"/>
            </a:xfrm>
            <a:custGeom>
              <a:avLst/>
              <a:gdLst/>
              <a:ahLst/>
              <a:cxnLst/>
              <a:rect l="l" t="t" r="r" b="b"/>
              <a:pathLst>
                <a:path w="685800" h="229234">
                  <a:moveTo>
                    <a:pt x="0" y="57277"/>
                  </a:moveTo>
                  <a:lnTo>
                    <a:pt x="571500" y="57277"/>
                  </a:lnTo>
                  <a:lnTo>
                    <a:pt x="571500" y="0"/>
                  </a:lnTo>
                  <a:lnTo>
                    <a:pt x="685800" y="114427"/>
                  </a:lnTo>
                  <a:lnTo>
                    <a:pt x="571500" y="228854"/>
                  </a:lnTo>
                  <a:lnTo>
                    <a:pt x="571500" y="171704"/>
                  </a:lnTo>
                  <a:lnTo>
                    <a:pt x="0" y="171704"/>
                  </a:lnTo>
                  <a:lnTo>
                    <a:pt x="0" y="57277"/>
                  </a:lnTo>
                  <a:close/>
                </a:path>
              </a:pathLst>
            </a:custGeom>
            <a:ln w="9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00F68E-2691-42FF-E8A1-B1C68E5516E9}"/>
              </a:ext>
            </a:extLst>
          </p:cNvPr>
          <p:cNvSpPr txBox="1"/>
          <p:nvPr/>
        </p:nvSpPr>
        <p:spPr>
          <a:xfrm>
            <a:off x="1695450" y="1866877"/>
            <a:ext cx="328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13" dirty="0">
                <a:latin typeface="Calibri"/>
                <a:cs typeface="Calibri"/>
              </a:rPr>
              <a:t>Image</a:t>
            </a:r>
            <a:r>
              <a:rPr lang="en-US" sz="1800" b="1" spc="-10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Classification</a:t>
            </a:r>
            <a:r>
              <a:rPr lang="en-US" sz="1800" b="1" spc="-6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(circa</a:t>
            </a:r>
            <a:r>
              <a:rPr lang="en-US" sz="1800" b="1" spc="-67" dirty="0">
                <a:latin typeface="Calibri"/>
                <a:cs typeface="Calibri"/>
              </a:rPr>
              <a:t> </a:t>
            </a:r>
            <a:r>
              <a:rPr lang="en-US" sz="1800" b="1" spc="-27" dirty="0">
                <a:latin typeface="Calibri"/>
                <a:cs typeface="Calibri"/>
              </a:rPr>
              <a:t>2012)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646E05-D98D-85BB-8479-83F175E4C5A0}"/>
              </a:ext>
            </a:extLst>
          </p:cNvPr>
          <p:cNvSpPr txBox="1"/>
          <p:nvPr/>
        </p:nvSpPr>
        <p:spPr>
          <a:xfrm>
            <a:off x="7688122" y="1796424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/>
                <a:cs typeface="Calibri"/>
              </a:rPr>
              <a:t>Image</a:t>
            </a:r>
            <a:r>
              <a:rPr lang="en-US" sz="1800" b="1" spc="-13" dirty="0">
                <a:latin typeface="Calibri"/>
                <a:cs typeface="Calibri"/>
              </a:rPr>
              <a:t> Generation</a:t>
            </a:r>
            <a:r>
              <a:rPr lang="en-US" sz="1800" b="1" spc="-67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(2026)</a:t>
            </a:r>
            <a:endParaRPr 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271" y="429852"/>
            <a:ext cx="11131457" cy="952911"/>
          </a:xfrm>
          <a:prstGeom prst="rect">
            <a:avLst/>
          </a:prstGeom>
        </p:spPr>
        <p:txBody>
          <a:bodyPr vert="horz" wrap="square" lIns="0" tIns="273135" rIns="0" bIns="0" rtlCol="0" anchor="t">
            <a:spAutoFit/>
          </a:bodyPr>
          <a:lstStyle/>
          <a:p>
            <a:pPr marL="16913">
              <a:spcBef>
                <a:spcPts val="2149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33" y="2099158"/>
            <a:ext cx="5321334" cy="39696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9560" y="6118504"/>
            <a:ext cx="3829825" cy="55910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2137"/>
              </a:lnSpc>
              <a:spcBef>
                <a:spcPts val="160"/>
              </a:spcBef>
            </a:pPr>
            <a:r>
              <a:rPr sz="1798" spc="-27" dirty="0">
                <a:latin typeface="Calibri"/>
                <a:cs typeface="Calibri"/>
              </a:rPr>
              <a:t>Faster</a:t>
            </a:r>
            <a:r>
              <a:rPr sz="1798" spc="1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R-</a:t>
            </a:r>
            <a:r>
              <a:rPr sz="1798" spc="-33" dirty="0">
                <a:latin typeface="Calibri"/>
                <a:cs typeface="Calibri"/>
              </a:rPr>
              <a:t>CNN</a:t>
            </a:r>
            <a:endParaRPr sz="1798" dirty="0">
              <a:latin typeface="Calibri"/>
              <a:cs typeface="Calibri"/>
            </a:endParaRPr>
          </a:p>
          <a:p>
            <a:pPr algn="ctr">
              <a:lnSpc>
                <a:spcPts val="2137"/>
              </a:lnSpc>
            </a:pPr>
            <a:r>
              <a:rPr sz="1798" dirty="0">
                <a:latin typeface="Calibri"/>
                <a:cs typeface="Calibri"/>
              </a:rPr>
              <a:t>Ren,</a:t>
            </a:r>
            <a:r>
              <a:rPr sz="1798" spc="-60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He,</a:t>
            </a:r>
            <a:r>
              <a:rPr sz="1798" spc="-5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Girshick,</a:t>
            </a:r>
            <a:r>
              <a:rPr sz="1798" spc="-5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and</a:t>
            </a:r>
            <a:r>
              <a:rPr sz="1798" spc="-67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Sun,</a:t>
            </a:r>
            <a:r>
              <a:rPr sz="1798" spc="-3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NeurIPS</a:t>
            </a:r>
            <a:r>
              <a:rPr sz="1798" spc="-13" dirty="0">
                <a:latin typeface="Calibri"/>
                <a:cs typeface="Calibri"/>
              </a:rPr>
              <a:t> </a:t>
            </a:r>
            <a:r>
              <a:rPr sz="1798" spc="-27" dirty="0">
                <a:latin typeface="Calibri"/>
                <a:cs typeface="Calibri"/>
              </a:rPr>
              <a:t>2016</a:t>
            </a:r>
            <a:endParaRPr sz="1798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5546" y="6092796"/>
            <a:ext cx="2176631" cy="55910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5074" algn="ctr">
              <a:lnSpc>
                <a:spcPts val="2137"/>
              </a:lnSpc>
              <a:spcBef>
                <a:spcPts val="160"/>
              </a:spcBef>
            </a:pPr>
            <a:r>
              <a:rPr sz="1798" spc="-13" dirty="0">
                <a:latin typeface="Calibri"/>
                <a:cs typeface="Calibri"/>
              </a:rPr>
              <a:t>Segment</a:t>
            </a:r>
            <a:r>
              <a:rPr sz="1798" spc="-27" dirty="0">
                <a:latin typeface="Calibri"/>
                <a:cs typeface="Calibri"/>
              </a:rPr>
              <a:t> </a:t>
            </a:r>
            <a:r>
              <a:rPr sz="1798" spc="-13" dirty="0">
                <a:latin typeface="Calibri"/>
                <a:cs typeface="Calibri"/>
              </a:rPr>
              <a:t>Anything</a:t>
            </a:r>
            <a:endParaRPr sz="1798">
              <a:latin typeface="Calibri"/>
              <a:cs typeface="Calibri"/>
            </a:endParaRPr>
          </a:p>
          <a:p>
            <a:pPr algn="ctr">
              <a:lnSpc>
                <a:spcPts val="2137"/>
              </a:lnSpc>
            </a:pPr>
            <a:r>
              <a:rPr sz="1798" dirty="0">
                <a:latin typeface="Calibri"/>
                <a:cs typeface="Calibri"/>
              </a:rPr>
              <a:t>Kirillov</a:t>
            </a:r>
            <a:r>
              <a:rPr sz="1798" spc="-3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et</a:t>
            </a:r>
            <a:r>
              <a:rPr sz="1798" spc="-13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al,</a:t>
            </a:r>
            <a:r>
              <a:rPr sz="1798" spc="-47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ICCV</a:t>
            </a:r>
            <a:r>
              <a:rPr sz="1798" spc="-47" dirty="0">
                <a:latin typeface="Calibri"/>
                <a:cs typeface="Calibri"/>
              </a:rPr>
              <a:t> </a:t>
            </a:r>
            <a:r>
              <a:rPr sz="1798" spc="-27" dirty="0">
                <a:latin typeface="Calibri"/>
                <a:cs typeface="Calibri"/>
              </a:rPr>
              <a:t>2023</a:t>
            </a:r>
            <a:endParaRPr sz="179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13499" y="4272359"/>
            <a:ext cx="166712" cy="20142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13">
              <a:lnSpc>
                <a:spcPts val="1305"/>
              </a:lnSpc>
            </a:pPr>
            <a:r>
              <a:rPr sz="1199" dirty="0">
                <a:latin typeface="Calibri"/>
                <a:cs typeface="Calibri"/>
              </a:rPr>
              <a:t>Slide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inspiration: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Justin</a:t>
            </a:r>
            <a:r>
              <a:rPr sz="1199" spc="2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Johnson</a:t>
            </a:r>
            <a:endParaRPr sz="1199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5930" y="2087284"/>
            <a:ext cx="5918006" cy="39488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A99E0-7C3F-33F8-3BC7-3C68CF390CB7}"/>
              </a:ext>
            </a:extLst>
          </p:cNvPr>
          <p:cNvSpPr txBox="1"/>
          <p:nvPr/>
        </p:nvSpPr>
        <p:spPr>
          <a:xfrm>
            <a:off x="1666875" y="1631152"/>
            <a:ext cx="9353550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baseline="1851" dirty="0">
                <a:latin typeface="Calibri"/>
                <a:cs typeface="Calibri"/>
              </a:rPr>
              <a:t>Object</a:t>
            </a:r>
            <a:r>
              <a:rPr lang="en-US" sz="2800" b="1" spc="-49" baseline="1851" dirty="0">
                <a:latin typeface="Calibri"/>
                <a:cs typeface="Calibri"/>
              </a:rPr>
              <a:t> </a:t>
            </a:r>
            <a:r>
              <a:rPr lang="en-US" sz="2800" b="1" spc="-20" baseline="1851" dirty="0">
                <a:latin typeface="Calibri"/>
                <a:cs typeface="Calibri"/>
              </a:rPr>
              <a:t>Detection</a:t>
            </a:r>
            <a:r>
              <a:rPr lang="en-US" sz="2800" b="1" baseline="1851" dirty="0">
                <a:latin typeface="Calibri"/>
                <a:cs typeface="Calibri"/>
              </a:rPr>
              <a:t>						</a:t>
            </a:r>
            <a:r>
              <a:rPr lang="en-US" sz="1800" b="1" spc="-13" dirty="0">
                <a:latin typeface="Calibri"/>
                <a:cs typeface="Calibri"/>
              </a:rPr>
              <a:t>Image</a:t>
            </a:r>
            <a:r>
              <a:rPr lang="en-US" sz="1800" b="1" spc="-60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Segmentation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296" y="6613862"/>
            <a:ext cx="10261631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126377">
              <a:spcBef>
                <a:spcPts val="127"/>
              </a:spcBef>
            </a:pPr>
            <a:r>
              <a:rPr sz="1065" dirty="0">
                <a:latin typeface="Calibri"/>
                <a:cs typeface="Calibri"/>
              </a:rPr>
              <a:t>A.</a:t>
            </a:r>
            <a:r>
              <a:rPr sz="1065" spc="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Gupta,</a:t>
            </a:r>
            <a:r>
              <a:rPr sz="1065" spc="53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J.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Deng</a:t>
            </a:r>
            <a:r>
              <a:rPr sz="1065" spc="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Fei-Fei, </a:t>
            </a:r>
            <a:r>
              <a:rPr sz="1065" i="1" dirty="0">
                <a:latin typeface="Calibri"/>
                <a:cs typeface="Calibri"/>
              </a:rPr>
              <a:t>NeurIPS</a:t>
            </a:r>
            <a:r>
              <a:rPr sz="1065" dirty="0">
                <a:latin typeface="Calibri"/>
                <a:cs typeface="Calibri"/>
              </a:rPr>
              <a:t>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2023,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Z</a:t>
            </a:r>
            <a:r>
              <a:rPr sz="1065" spc="-6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Luo,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Z.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Durante,</a:t>
            </a:r>
            <a:r>
              <a:rPr sz="1065" spc="53" dirty="0">
                <a:latin typeface="Calibri"/>
                <a:cs typeface="Calibri"/>
              </a:rPr>
              <a:t> </a:t>
            </a:r>
            <a:r>
              <a:rPr sz="1065" spc="-47" dirty="0">
                <a:latin typeface="Calibri"/>
                <a:cs typeface="Calibri"/>
              </a:rPr>
              <a:t>L.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Li,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Xie,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R.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Liu,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E.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Jin,</a:t>
            </a:r>
            <a:r>
              <a:rPr sz="1065" spc="5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Z.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Huang,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L.</a:t>
            </a:r>
            <a:r>
              <a:rPr sz="1065" spc="47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Y.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Li,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J.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Wu,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C. Niebles,</a:t>
            </a:r>
            <a:r>
              <a:rPr sz="1065" spc="2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E.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Adeli,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Fei-</a:t>
            </a:r>
            <a:r>
              <a:rPr sz="1065" dirty="0">
                <a:latin typeface="Calibri"/>
                <a:cs typeface="Calibri"/>
              </a:rPr>
              <a:t>Fei,</a:t>
            </a:r>
            <a:r>
              <a:rPr sz="1065" spc="7" dirty="0">
                <a:latin typeface="Calibri"/>
                <a:cs typeface="Calibri"/>
              </a:rPr>
              <a:t> </a:t>
            </a:r>
            <a:r>
              <a:rPr sz="1065" i="1" dirty="0">
                <a:latin typeface="Calibri"/>
                <a:cs typeface="Calibri"/>
              </a:rPr>
              <a:t>NeurIPS</a:t>
            </a:r>
            <a:r>
              <a:rPr sz="1065" dirty="0">
                <a:latin typeface="Calibri"/>
                <a:cs typeface="Calibri"/>
              </a:rPr>
              <a:t>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2022</a:t>
            </a:r>
            <a:endParaRPr sz="1065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4925" y="1622122"/>
            <a:ext cx="4347346" cy="4922370"/>
            <a:chOff x="969263" y="896873"/>
            <a:chExt cx="3264535" cy="3696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7" y="896873"/>
              <a:ext cx="3255264" cy="18304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263" y="2763938"/>
              <a:ext cx="3264408" cy="18288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047889" y="1622122"/>
            <a:ext cx="4383708" cy="4922370"/>
            <a:chOff x="4636008" y="896873"/>
            <a:chExt cx="3291840" cy="36963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6008" y="2763938"/>
              <a:ext cx="3291840" cy="1828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6008" y="896873"/>
              <a:ext cx="3291840" cy="1830451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0" y="244138"/>
            <a:ext cx="14855899" cy="971861"/>
          </a:xfrm>
          <a:prstGeom prst="rect">
            <a:avLst/>
          </a:prstGeom>
        </p:spPr>
        <p:txBody>
          <a:bodyPr vert="horz" wrap="square" lIns="0" tIns="365562" rIns="0" bIns="0" rtlCol="0" anchor="t">
            <a:spAutoFit/>
          </a:bodyPr>
          <a:lstStyle/>
          <a:p>
            <a:pPr marL="584329">
              <a:lnSpc>
                <a:spcPts val="4700"/>
              </a:lnSpc>
              <a:spcBef>
                <a:spcPts val="166"/>
              </a:spcBef>
            </a:pPr>
            <a:r>
              <a:rPr sz="4195" dirty="0">
                <a:latin typeface="Calibri"/>
                <a:cs typeface="Calibri"/>
              </a:rPr>
              <a:t>2012</a:t>
            </a:r>
            <a:r>
              <a:rPr sz="4195" spc="33" dirty="0">
                <a:latin typeface="Calibri"/>
                <a:cs typeface="Calibri"/>
              </a:rPr>
              <a:t> </a:t>
            </a:r>
            <a:r>
              <a:rPr sz="4195" dirty="0">
                <a:latin typeface="Calibri"/>
                <a:cs typeface="Calibri"/>
              </a:rPr>
              <a:t>to</a:t>
            </a:r>
            <a:r>
              <a:rPr sz="4195" spc="53" dirty="0">
                <a:latin typeface="Calibri"/>
                <a:cs typeface="Calibri"/>
              </a:rPr>
              <a:t> </a:t>
            </a:r>
            <a:r>
              <a:rPr sz="4195" dirty="0">
                <a:latin typeface="Calibri"/>
                <a:cs typeface="Calibri"/>
              </a:rPr>
              <a:t>Present:</a:t>
            </a:r>
            <a:r>
              <a:rPr sz="4195" spc="113" dirty="0">
                <a:latin typeface="Calibri"/>
                <a:cs typeface="Calibri"/>
              </a:rPr>
              <a:t> </a:t>
            </a:r>
            <a:r>
              <a:rPr sz="4195" dirty="0">
                <a:latin typeface="Calibri"/>
                <a:cs typeface="Calibri"/>
              </a:rPr>
              <a:t>Deep</a:t>
            </a:r>
            <a:r>
              <a:rPr sz="4195" spc="166" dirty="0">
                <a:latin typeface="Calibri"/>
                <a:cs typeface="Calibri"/>
              </a:rPr>
              <a:t> </a:t>
            </a:r>
            <a:r>
              <a:rPr sz="4195" dirty="0">
                <a:latin typeface="Calibri"/>
                <a:cs typeface="Calibri"/>
              </a:rPr>
              <a:t>Learning</a:t>
            </a:r>
            <a:r>
              <a:rPr sz="4195" spc="107" dirty="0">
                <a:latin typeface="Calibri"/>
                <a:cs typeface="Calibri"/>
              </a:rPr>
              <a:t> </a:t>
            </a:r>
            <a:r>
              <a:rPr sz="4195" dirty="0">
                <a:latin typeface="Calibri"/>
                <a:cs typeface="Calibri"/>
              </a:rPr>
              <a:t>is</a:t>
            </a:r>
            <a:r>
              <a:rPr sz="4195" spc="53" dirty="0">
                <a:latin typeface="Calibri"/>
                <a:cs typeface="Calibri"/>
              </a:rPr>
              <a:t> </a:t>
            </a:r>
            <a:r>
              <a:rPr sz="4195" spc="-13" dirty="0">
                <a:latin typeface="Calibri"/>
                <a:cs typeface="Calibri"/>
              </a:rPr>
              <a:t>Everywhere</a:t>
            </a:r>
            <a:endParaRPr sz="4195" dirty="0">
              <a:latin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5DD7F-C1DA-C01D-31B2-F1762014E726}"/>
              </a:ext>
            </a:extLst>
          </p:cNvPr>
          <p:cNvSpPr txBox="1"/>
          <p:nvPr/>
        </p:nvSpPr>
        <p:spPr>
          <a:xfrm>
            <a:off x="2562225" y="1252790"/>
            <a:ext cx="742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alibri"/>
                <a:cs typeface="Calibri"/>
              </a:rPr>
              <a:t>Video</a:t>
            </a:r>
            <a:r>
              <a:rPr lang="en-US" sz="1800" b="1" spc="-7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Understanding</a:t>
            </a:r>
            <a:r>
              <a:rPr lang="en-US" sz="1800" b="1" spc="13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and</a:t>
            </a:r>
            <a:r>
              <a:rPr lang="en-US" sz="1800" b="1" spc="-87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Activity</a:t>
            </a:r>
            <a:r>
              <a:rPr lang="en-US" sz="1800" b="1" spc="-47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Recognition</a:t>
            </a:r>
            <a:endParaRPr 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909" y="188202"/>
            <a:ext cx="11155680" cy="1210552"/>
          </a:xfrm>
          <a:prstGeom prst="rect">
            <a:avLst/>
          </a:prstGeom>
        </p:spPr>
        <p:txBody>
          <a:bodyPr vert="horz" wrap="square" lIns="0" tIns="528285" rIns="0" bIns="0" rtlCol="0" anchor="t">
            <a:spAutoFit/>
          </a:bodyPr>
          <a:lstStyle/>
          <a:p>
            <a:pPr marL="185193" algn="ctr">
              <a:spcBef>
                <a:spcPts val="1412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3690" y="4156385"/>
            <a:ext cx="6279594" cy="327094"/>
          </a:xfrm>
          <a:prstGeom prst="rect">
            <a:avLst/>
          </a:prstGeom>
        </p:spPr>
        <p:txBody>
          <a:bodyPr vert="horz" wrap="square" lIns="0" tIns="19448" rIns="0" bIns="0" rtlCol="0">
            <a:spAutoFit/>
          </a:bodyPr>
          <a:lstStyle/>
          <a:p>
            <a:pPr marL="16913">
              <a:spcBef>
                <a:spcPts val="152"/>
              </a:spcBef>
            </a:pPr>
            <a:r>
              <a:rPr sz="1998" dirty="0">
                <a:latin typeface="Calibri"/>
                <a:cs typeface="Calibri"/>
              </a:rPr>
              <a:t>Game</a:t>
            </a:r>
            <a:r>
              <a:rPr sz="1998" spc="-33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Playing</a:t>
            </a:r>
            <a:r>
              <a:rPr sz="1998" spc="20" dirty="0">
                <a:latin typeface="Calibri"/>
                <a:cs typeface="Calibri"/>
              </a:rPr>
              <a:t> </a:t>
            </a:r>
            <a:r>
              <a:rPr sz="1998" spc="-27" dirty="0">
                <a:latin typeface="Calibri"/>
                <a:cs typeface="Calibri"/>
              </a:rPr>
              <a:t>(AlphaGo/AlphaZero,</a:t>
            </a:r>
            <a:r>
              <a:rPr sz="1998" spc="-13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Silver</a:t>
            </a:r>
            <a:r>
              <a:rPr sz="1998" spc="-20" dirty="0">
                <a:latin typeface="Calibri"/>
                <a:cs typeface="Calibri"/>
              </a:rPr>
              <a:t> </a:t>
            </a:r>
            <a:r>
              <a:rPr sz="1998" spc="-13" dirty="0">
                <a:latin typeface="Calibri"/>
                <a:cs typeface="Calibri"/>
              </a:rPr>
              <a:t>et</a:t>
            </a:r>
            <a:r>
              <a:rPr sz="1998" spc="-87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al,</a:t>
            </a:r>
            <a:r>
              <a:rPr sz="1998" spc="-13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2016</a:t>
            </a:r>
            <a:r>
              <a:rPr sz="1998" spc="-47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&amp;</a:t>
            </a:r>
            <a:r>
              <a:rPr sz="1998" spc="-13" dirty="0">
                <a:latin typeface="Calibri"/>
                <a:cs typeface="Calibri"/>
              </a:rPr>
              <a:t> 2017)</a:t>
            </a:r>
            <a:endParaRPr sz="1998" dirty="0">
              <a:latin typeface="Calibri"/>
              <a:cs typeface="Calibri"/>
            </a:endParaRPr>
          </a:p>
        </p:txBody>
      </p:sp>
      <p:pic>
        <p:nvPicPr>
          <p:cNvPr id="5" name="object 5" descr="AlphaGo beats a human Go mast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235" y="4739690"/>
            <a:ext cx="3494789" cy="19743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7909" y="6669798"/>
            <a:ext cx="2465836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Source:</a:t>
            </a:r>
            <a:r>
              <a:rPr sz="732" spc="305" dirty="0">
                <a:solidFill>
                  <a:srgbClr val="BEBEBE"/>
                </a:solidFill>
                <a:latin typeface="Calibri"/>
                <a:cs typeface="Calibri"/>
              </a:rPr>
              <a:t> 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  <a:hlinkClick r:id="rId3"/>
              </a:rPr>
              <a:t>https://www.b</a:t>
            </a:r>
            <a:r>
              <a:rPr sz="732" spc="213" dirty="0">
                <a:solidFill>
                  <a:srgbClr val="BEBEBE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732" dirty="0">
                <a:solidFill>
                  <a:srgbClr val="BEBEBE"/>
                </a:solidFill>
                <a:latin typeface="Calibri"/>
                <a:cs typeface="Calibri"/>
                <a:hlinkClick r:id="rId3"/>
              </a:rPr>
              <a:t>bc.com/news/technology-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  <a:hlinkClick r:id="rId3"/>
              </a:rPr>
              <a:t>35785875</a:t>
            </a:r>
            <a:endParaRPr sz="732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2544" y="1876937"/>
            <a:ext cx="10065078" cy="20232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2603" y="4842608"/>
            <a:ext cx="6300986" cy="16154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10361" y="6623690"/>
            <a:ext cx="2315315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1065" spc="-13" dirty="0">
                <a:solidFill>
                  <a:srgbClr val="D9D9D9"/>
                </a:solidFill>
                <a:latin typeface="Calibri"/>
                <a:cs typeface="Calibri"/>
              </a:rPr>
              <a:t>Source:</a:t>
            </a:r>
            <a:r>
              <a:rPr sz="1065" spc="7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65" spc="-13" dirty="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https://arxiv.org/pdf/1712.01815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D3FD0-CE51-F2E7-8DB4-D1FC8EA0FB4B}"/>
              </a:ext>
            </a:extLst>
          </p:cNvPr>
          <p:cNvSpPr txBox="1"/>
          <p:nvPr/>
        </p:nvSpPr>
        <p:spPr>
          <a:xfrm>
            <a:off x="3730071" y="1536331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/>
                <a:cs typeface="Calibri"/>
              </a:rPr>
              <a:t>Human</a:t>
            </a:r>
            <a:r>
              <a:rPr lang="en-US" sz="1800" b="1" spc="-87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Mesh</a:t>
            </a:r>
            <a:r>
              <a:rPr lang="en-US" sz="1800" b="1" spc="-80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Reconstruction</a:t>
            </a:r>
            <a:r>
              <a:rPr lang="en-US" sz="1800" b="1" spc="-8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(Goel</a:t>
            </a:r>
            <a:r>
              <a:rPr lang="en-US" sz="1800" b="1" spc="27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et</a:t>
            </a:r>
            <a:r>
              <a:rPr lang="en-US" sz="1800" b="1" spc="2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al, </a:t>
            </a:r>
            <a:r>
              <a:rPr lang="en-US" sz="1800" b="1" spc="-13" dirty="0">
                <a:latin typeface="Calibri"/>
                <a:cs typeface="Calibri"/>
              </a:rPr>
              <a:t>2023)</a:t>
            </a:r>
            <a:endParaRPr 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9531" y="1541570"/>
            <a:ext cx="2837232" cy="18874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57871" y="3491238"/>
            <a:ext cx="1589771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7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white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teddy</a:t>
            </a:r>
            <a:r>
              <a:rPr sz="1598" i="1" spc="20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bear</a:t>
            </a:r>
            <a:endParaRPr sz="1598">
              <a:latin typeface="Calibri"/>
              <a:cs typeface="Calibri"/>
            </a:endParaRPr>
          </a:p>
          <a:p>
            <a:pPr marL="16913">
              <a:spcBef>
                <a:spcPts val="7"/>
              </a:spcBef>
            </a:pPr>
            <a:r>
              <a:rPr sz="1598" i="1" dirty="0">
                <a:latin typeface="Calibri"/>
                <a:cs typeface="Calibri"/>
              </a:rPr>
              <a:t>sitting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in</a:t>
            </a:r>
            <a:r>
              <a:rPr sz="1598" i="1" spc="-4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the</a:t>
            </a:r>
            <a:r>
              <a:rPr sz="1598" i="1" spc="7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grass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2662" y="4259505"/>
            <a:ext cx="2289268" cy="1716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71786" y="6012327"/>
            <a:ext cx="1778345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man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riding</a:t>
            </a:r>
            <a:r>
              <a:rPr sz="1598" i="1" spc="-4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wave</a:t>
            </a:r>
            <a:endParaRPr sz="1598">
              <a:latin typeface="Calibri"/>
              <a:cs typeface="Calibri"/>
            </a:endParaRPr>
          </a:p>
          <a:p>
            <a:pPr marL="16913"/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top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of</a:t>
            </a:r>
            <a:r>
              <a:rPr sz="1598" i="1" spc="-6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87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surfboard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7719" y="1578102"/>
            <a:ext cx="2715464" cy="18143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48838" y="3491238"/>
            <a:ext cx="1966918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 man</a:t>
            </a:r>
            <a:r>
              <a:rPr sz="1598" i="1" spc="1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in</a:t>
            </a:r>
            <a:r>
              <a:rPr sz="1598" i="1" spc="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73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baseball</a:t>
            </a:r>
            <a:endParaRPr sz="1598">
              <a:latin typeface="Calibri"/>
              <a:cs typeface="Calibri"/>
            </a:endParaRPr>
          </a:p>
          <a:p>
            <a:pPr marL="16913">
              <a:spcBef>
                <a:spcPts val="7"/>
              </a:spcBef>
            </a:pPr>
            <a:r>
              <a:rPr sz="1598" i="1" dirty="0">
                <a:latin typeface="Calibri"/>
                <a:cs typeface="Calibri"/>
              </a:rPr>
              <a:t>uniform</a:t>
            </a:r>
            <a:r>
              <a:rPr sz="1598" i="1" spc="-6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throwing a</a:t>
            </a:r>
            <a:r>
              <a:rPr sz="1598" i="1" spc="-87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ball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1664" y="4247310"/>
            <a:ext cx="2337978" cy="17169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92474" y="6047167"/>
            <a:ext cx="1695473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cat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sitting</a:t>
            </a:r>
            <a:r>
              <a:rPr sz="1598" i="1" spc="-4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spc="-67" dirty="0">
                <a:latin typeface="Calibri"/>
                <a:cs typeface="Calibri"/>
              </a:rPr>
              <a:t>a</a:t>
            </a:r>
            <a:endParaRPr sz="1598">
              <a:latin typeface="Calibri"/>
              <a:cs typeface="Calibri"/>
            </a:endParaRPr>
          </a:p>
          <a:p>
            <a:pPr marL="16913">
              <a:spcBef>
                <a:spcPts val="13"/>
              </a:spcBef>
            </a:pPr>
            <a:r>
              <a:rPr sz="1598" i="1" dirty="0">
                <a:latin typeface="Calibri"/>
                <a:cs typeface="Calibri"/>
              </a:rPr>
              <a:t>suitcase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27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the</a:t>
            </a:r>
            <a:r>
              <a:rPr sz="1598" i="1" spc="-80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floor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98897" y="1541570"/>
            <a:ext cx="2800702" cy="18630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65587" y="3507221"/>
            <a:ext cx="1653192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3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woman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is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holding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cat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in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her</a:t>
            </a:r>
            <a:r>
              <a:rPr sz="1598" i="1" spc="-27" dirty="0">
                <a:latin typeface="Calibri"/>
                <a:cs typeface="Calibri"/>
              </a:rPr>
              <a:t> hand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66046" y="4271681"/>
            <a:ext cx="1132458" cy="171695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923882" y="6070692"/>
            <a:ext cx="2183398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woman</a:t>
            </a:r>
            <a:r>
              <a:rPr sz="1598" i="1" spc="-8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standing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spc="-67" dirty="0">
                <a:latin typeface="Calibri"/>
                <a:cs typeface="Calibri"/>
              </a:rPr>
              <a:t>a</a:t>
            </a:r>
            <a:endParaRPr sz="1598">
              <a:latin typeface="Calibri"/>
              <a:cs typeface="Calibri"/>
            </a:endParaRPr>
          </a:p>
          <a:p>
            <a:pPr marL="16913">
              <a:spcBef>
                <a:spcPts val="7"/>
              </a:spcBef>
            </a:pPr>
            <a:r>
              <a:rPr sz="1598" i="1" dirty="0">
                <a:latin typeface="Calibri"/>
                <a:cs typeface="Calibri"/>
              </a:rPr>
              <a:t>beach</a:t>
            </a:r>
            <a:r>
              <a:rPr sz="1598" i="1" spc="-6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holding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surfboard</a:t>
            </a:r>
            <a:endParaRPr sz="1598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301" y="3094247"/>
            <a:ext cx="2503043" cy="1307130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1019829">
              <a:spcBef>
                <a:spcPts val="140"/>
              </a:spcBef>
            </a:pPr>
            <a:r>
              <a:rPr sz="2397" b="1" dirty="0">
                <a:latin typeface="Calibri"/>
                <a:cs typeface="Calibri"/>
              </a:rPr>
              <a:t>Early</a:t>
            </a:r>
            <a:r>
              <a:rPr sz="2397" b="1" spc="-47" dirty="0">
                <a:latin typeface="Calibri"/>
                <a:cs typeface="Calibri"/>
              </a:rPr>
              <a:t> </a:t>
            </a:r>
            <a:r>
              <a:rPr sz="2397" b="1" spc="-27" dirty="0">
                <a:latin typeface="Calibri"/>
                <a:cs typeface="Calibri"/>
              </a:rPr>
              <a:t>Image </a:t>
            </a:r>
            <a:r>
              <a:rPr sz="2397" b="1" spc="-13" dirty="0">
                <a:latin typeface="Calibri"/>
                <a:cs typeface="Calibri"/>
              </a:rPr>
              <a:t>Captioning</a:t>
            </a:r>
            <a:endParaRPr sz="2397" dirty="0">
              <a:latin typeface="Calibri"/>
              <a:cs typeface="Calibri"/>
            </a:endParaRPr>
          </a:p>
          <a:p>
            <a:pPr marL="16913">
              <a:lnSpc>
                <a:spcPts val="2137"/>
              </a:lnSpc>
              <a:spcBef>
                <a:spcPts val="133"/>
              </a:spcBef>
            </a:pPr>
            <a:r>
              <a:rPr sz="1798" dirty="0">
                <a:latin typeface="Calibri"/>
                <a:cs typeface="Calibri"/>
              </a:rPr>
              <a:t>Vinyals</a:t>
            </a:r>
            <a:r>
              <a:rPr sz="1798" spc="-67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et</a:t>
            </a:r>
            <a:r>
              <a:rPr sz="1798" spc="-27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al,</a:t>
            </a:r>
            <a:r>
              <a:rPr sz="1798" spc="-53" dirty="0">
                <a:latin typeface="Calibri"/>
                <a:cs typeface="Calibri"/>
              </a:rPr>
              <a:t> </a:t>
            </a:r>
            <a:r>
              <a:rPr sz="1798" spc="-27" dirty="0">
                <a:latin typeface="Calibri"/>
                <a:cs typeface="Calibri"/>
              </a:rPr>
              <a:t>2015</a:t>
            </a:r>
            <a:endParaRPr sz="1798" dirty="0">
              <a:latin typeface="Calibri"/>
              <a:cs typeface="Calibri"/>
            </a:endParaRPr>
          </a:p>
          <a:p>
            <a:pPr marL="16913">
              <a:lnSpc>
                <a:spcPts val="2137"/>
              </a:lnSpc>
            </a:pPr>
            <a:r>
              <a:rPr sz="1798" spc="-13" dirty="0">
                <a:latin typeface="Calibri"/>
                <a:cs typeface="Calibri"/>
              </a:rPr>
              <a:t>Karpathy</a:t>
            </a:r>
            <a:r>
              <a:rPr sz="1798" spc="-60" dirty="0">
                <a:latin typeface="Calibri"/>
                <a:cs typeface="Calibri"/>
              </a:rPr>
              <a:t> </a:t>
            </a:r>
            <a:r>
              <a:rPr sz="1798" dirty="0">
                <a:latin typeface="Calibri"/>
                <a:cs typeface="Calibri"/>
              </a:rPr>
              <a:t>and</a:t>
            </a:r>
            <a:r>
              <a:rPr sz="1798" spc="-20" dirty="0">
                <a:latin typeface="Calibri"/>
                <a:cs typeface="Calibri"/>
              </a:rPr>
              <a:t> </a:t>
            </a:r>
            <a:r>
              <a:rPr sz="1798" spc="-13" dirty="0">
                <a:latin typeface="Calibri"/>
                <a:cs typeface="Calibri"/>
              </a:rPr>
              <a:t>Fei-</a:t>
            </a:r>
            <a:r>
              <a:rPr sz="1798" dirty="0">
                <a:latin typeface="Calibri"/>
                <a:cs typeface="Calibri"/>
              </a:rPr>
              <a:t>Fei,</a:t>
            </a:r>
            <a:r>
              <a:rPr sz="1798" spc="-13" dirty="0">
                <a:latin typeface="Calibri"/>
                <a:cs typeface="Calibri"/>
              </a:rPr>
              <a:t> </a:t>
            </a:r>
            <a:r>
              <a:rPr sz="1798" spc="-27" dirty="0">
                <a:latin typeface="Calibri"/>
                <a:cs typeface="Calibri"/>
              </a:rPr>
              <a:t>2015</a:t>
            </a:r>
            <a:endParaRPr sz="1798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638" y="5763748"/>
            <a:ext cx="2219760" cy="654746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All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images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are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CC0</a:t>
            </a:r>
            <a:r>
              <a:rPr sz="533" spc="1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Pu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blic</a:t>
            </a:r>
            <a:r>
              <a:rPr sz="533" spc="6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domain:</a:t>
            </a:r>
            <a:endParaRPr sz="533" dirty="0">
              <a:latin typeface="Calibri"/>
              <a:cs typeface="Calibri"/>
            </a:endParaRPr>
          </a:p>
          <a:p>
            <a:pPr marL="16913">
              <a:spcBef>
                <a:spcPts val="33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http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ay.co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/lu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ggage-antique-cat-1643</a:t>
            </a:r>
            <a:r>
              <a:rPr sz="533" u="sng" spc="1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010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8"/>
              </a:rPr>
              <a:t>/</a:t>
            </a:r>
            <a:endParaRPr sz="533" dirty="0">
              <a:latin typeface="Calibri"/>
              <a:cs typeface="Calibri"/>
            </a:endParaRPr>
          </a:p>
          <a:p>
            <a:pPr marL="16913" marR="6765">
              <a:lnSpc>
                <a:spcPct val="110300"/>
              </a:lnSpc>
              <a:spcBef>
                <a:spcPts val="67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http</a:t>
            </a:r>
            <a:r>
              <a:rPr sz="533" u="sng" spc="6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s://pixab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ay.co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m/en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/ted</a:t>
            </a:r>
            <a:r>
              <a:rPr sz="533" u="sng" spc="6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dy-plush-bear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s-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cute-ted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dy-bear-1623</a:t>
            </a:r>
            <a:r>
              <a:rPr sz="533" u="sng" spc="10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436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9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http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ay.co</a:t>
            </a:r>
            <a:r>
              <a:rPr sz="533" u="sng" spc="5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/su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rf-wave-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su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mmer-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ort-litoral-1668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716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10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http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ay.co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/woman-female-mod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el-po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rtrait-adu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lt-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9839</a:t>
            </a:r>
            <a:r>
              <a:rPr sz="533" u="sng" spc="1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spc="-3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67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  <a:hlinkClick r:id="rId11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http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s://pixab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ay.co</a:t>
            </a:r>
            <a:r>
              <a:rPr sz="533" u="sng" spc="-2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m/en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/han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dstan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d-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lake-medi</a:t>
            </a:r>
            <a:r>
              <a:rPr sz="533" u="sng" spc="-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tatio</a:t>
            </a:r>
            <a:r>
              <a:rPr sz="533" u="sng" spc="-2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n-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4960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-3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08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  <a:hlinkClick r:id="rId12"/>
              </a:rPr>
              <a:t>/</a:t>
            </a:r>
            <a:endParaRPr sz="533" dirty="0">
              <a:latin typeface="Calibri"/>
              <a:cs typeface="Calibri"/>
            </a:endParaRPr>
          </a:p>
          <a:p>
            <a:pPr marL="16913">
              <a:spcBef>
                <a:spcPts val="127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http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s://pixab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ay.co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m/en</a:t>
            </a:r>
            <a:r>
              <a:rPr sz="533" u="sng" spc="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/bas</a:t>
            </a:r>
            <a:r>
              <a:rPr sz="533" u="sng" spc="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eball-playe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r-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sh</a:t>
            </a:r>
            <a:r>
              <a:rPr sz="533" u="sng" spc="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ortstop-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in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field-1045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263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13"/>
              </a:rPr>
              <a:t>/</a:t>
            </a:r>
            <a:endParaRPr sz="533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2638" y="6496462"/>
            <a:ext cx="1744520" cy="104211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Cap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tion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s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ge</a:t>
            </a:r>
            <a:r>
              <a:rPr sz="533" spc="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nerated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533" spc="1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Ju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stin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Jo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hnson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using</a:t>
            </a:r>
            <a:r>
              <a:rPr sz="533" spc="4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spc="-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Neur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altalk2</a:t>
            </a:r>
            <a:endParaRPr sz="533">
              <a:latin typeface="Calibri"/>
              <a:cs typeface="Calibri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30849" y="66973"/>
            <a:ext cx="14855899" cy="1211124"/>
          </a:xfrm>
          <a:prstGeom prst="rect">
            <a:avLst/>
          </a:prstGeom>
        </p:spPr>
        <p:txBody>
          <a:bodyPr vert="horz" wrap="square" lIns="0" tIns="528851" rIns="0" bIns="0" rtlCol="0" anchor="t">
            <a:spAutoFit/>
          </a:bodyPr>
          <a:lstStyle/>
          <a:p>
            <a:pPr marL="431271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164" y="4205375"/>
            <a:ext cx="2289268" cy="17169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5848" y="1250686"/>
            <a:ext cx="2837232" cy="18874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94188" y="3200354"/>
            <a:ext cx="1589771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7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white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teddy</a:t>
            </a:r>
            <a:r>
              <a:rPr sz="1598" i="1" spc="20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bear</a:t>
            </a:r>
            <a:endParaRPr sz="1598">
              <a:latin typeface="Calibri"/>
              <a:cs typeface="Calibri"/>
            </a:endParaRPr>
          </a:p>
          <a:p>
            <a:pPr marL="16913">
              <a:spcBef>
                <a:spcPts val="7"/>
              </a:spcBef>
            </a:pPr>
            <a:r>
              <a:rPr sz="1598" i="1" dirty="0">
                <a:latin typeface="Calibri"/>
                <a:cs typeface="Calibri"/>
              </a:rPr>
              <a:t>sitting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in</a:t>
            </a:r>
            <a:r>
              <a:rPr sz="1598" i="1" spc="-4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the</a:t>
            </a:r>
            <a:r>
              <a:rPr sz="1598" i="1" spc="7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grass</a:t>
            </a:r>
            <a:endParaRPr sz="159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4794" y="5990471"/>
            <a:ext cx="1744520" cy="4382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man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riding</a:t>
            </a:r>
            <a:r>
              <a:rPr sz="1598" i="1" spc="-4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27" dirty="0">
                <a:latin typeface="Calibri"/>
                <a:cs typeface="Calibri"/>
              </a:rPr>
              <a:t>wave</a:t>
            </a: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top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of</a:t>
            </a:r>
            <a:r>
              <a:rPr sz="1598" i="1" spc="-6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87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surfboard</a:t>
            </a:r>
            <a:endParaRPr sz="159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3962" y="3212900"/>
            <a:ext cx="4836116" cy="3012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1"/>
              </a:lnSpc>
              <a:tabLst>
                <a:tab pos="3215929" algn="l"/>
              </a:tabLst>
            </a:pPr>
            <a:r>
              <a:rPr sz="2397" i="1" baseline="4629" dirty="0">
                <a:latin typeface="Calibri"/>
                <a:cs typeface="Calibri"/>
              </a:rPr>
              <a:t>A man</a:t>
            </a:r>
            <a:r>
              <a:rPr sz="2397" i="1" spc="20" baseline="4629" dirty="0">
                <a:latin typeface="Calibri"/>
                <a:cs typeface="Calibri"/>
              </a:rPr>
              <a:t> </a:t>
            </a:r>
            <a:r>
              <a:rPr sz="2397" i="1" baseline="4629" dirty="0">
                <a:latin typeface="Calibri"/>
                <a:cs typeface="Calibri"/>
              </a:rPr>
              <a:t>in</a:t>
            </a:r>
            <a:r>
              <a:rPr sz="2397" i="1" spc="9" baseline="4629" dirty="0">
                <a:latin typeface="Calibri"/>
                <a:cs typeface="Calibri"/>
              </a:rPr>
              <a:t> </a:t>
            </a:r>
            <a:r>
              <a:rPr sz="2397" i="1" baseline="4629" dirty="0">
                <a:latin typeface="Calibri"/>
                <a:cs typeface="Calibri"/>
              </a:rPr>
              <a:t>a</a:t>
            </a:r>
            <a:r>
              <a:rPr sz="2397" i="1" spc="-109" baseline="4629" dirty="0">
                <a:latin typeface="Calibri"/>
                <a:cs typeface="Calibri"/>
              </a:rPr>
              <a:t> </a:t>
            </a:r>
            <a:r>
              <a:rPr sz="2397" i="1" spc="-20" baseline="4629" dirty="0">
                <a:latin typeface="Calibri"/>
                <a:cs typeface="Calibri"/>
              </a:rPr>
              <a:t>baseball</a:t>
            </a:r>
            <a:r>
              <a:rPr sz="2397" i="1" baseline="4629" dirty="0">
                <a:latin typeface="Calibri"/>
                <a:cs typeface="Calibri"/>
              </a:rPr>
              <a:t>	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3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woman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is</a:t>
            </a:r>
            <a:r>
              <a:rPr sz="1598" i="1" spc="-33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holding</a:t>
            </a:r>
            <a:endParaRPr sz="1598">
              <a:latin typeface="Calibri"/>
              <a:cs typeface="Calibri"/>
            </a:endParaRPr>
          </a:p>
          <a:p>
            <a:pPr>
              <a:spcBef>
                <a:spcPts val="7"/>
              </a:spcBef>
              <a:tabLst>
                <a:tab pos="3215929" algn="l"/>
              </a:tabLst>
            </a:pPr>
            <a:r>
              <a:rPr sz="2397" i="1" baseline="4629" dirty="0">
                <a:latin typeface="Calibri"/>
                <a:cs typeface="Calibri"/>
              </a:rPr>
              <a:t>uniform</a:t>
            </a:r>
            <a:r>
              <a:rPr sz="2397" i="1" spc="-100" baseline="4629" dirty="0">
                <a:latin typeface="Calibri"/>
                <a:cs typeface="Calibri"/>
              </a:rPr>
              <a:t> </a:t>
            </a:r>
            <a:r>
              <a:rPr sz="2397" i="1" baseline="4629" dirty="0">
                <a:latin typeface="Calibri"/>
                <a:cs typeface="Calibri"/>
              </a:rPr>
              <a:t>throwing a</a:t>
            </a:r>
            <a:r>
              <a:rPr sz="2397" i="1" spc="-129" baseline="4629" dirty="0">
                <a:latin typeface="Calibri"/>
                <a:cs typeface="Calibri"/>
              </a:rPr>
              <a:t> </a:t>
            </a:r>
            <a:r>
              <a:rPr sz="2397" i="1" spc="-40" baseline="4629" dirty="0">
                <a:latin typeface="Calibri"/>
                <a:cs typeface="Calibri"/>
              </a:rPr>
              <a:t>ball</a:t>
            </a:r>
            <a:r>
              <a:rPr sz="2397" i="1" baseline="4629" dirty="0">
                <a:latin typeface="Calibri"/>
                <a:cs typeface="Calibri"/>
              </a:rPr>
              <a:t>	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cat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in</a:t>
            </a:r>
            <a:r>
              <a:rPr sz="1598" i="1" spc="-2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her</a:t>
            </a:r>
            <a:r>
              <a:rPr sz="1598" i="1" spc="-27" dirty="0">
                <a:latin typeface="Calibri"/>
                <a:cs typeface="Calibri"/>
              </a:rPr>
              <a:t> hand</a:t>
            </a: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98">
              <a:latin typeface="Calibri"/>
              <a:cs typeface="Calibri"/>
            </a:endParaRPr>
          </a:p>
          <a:p>
            <a:pPr>
              <a:spcBef>
                <a:spcPts val="739"/>
              </a:spcBef>
            </a:pPr>
            <a:endParaRPr sz="1598">
              <a:latin typeface="Calibri"/>
              <a:cs typeface="Calibri"/>
            </a:endParaRPr>
          </a:p>
          <a:p>
            <a:pPr marL="43126">
              <a:tabLst>
                <a:tab pos="2674726" algn="l"/>
              </a:tabLst>
            </a:pPr>
            <a:r>
              <a:rPr sz="2397" i="1" baseline="6944" dirty="0">
                <a:latin typeface="Calibri"/>
                <a:cs typeface="Calibri"/>
              </a:rPr>
              <a:t>A</a:t>
            </a:r>
            <a:r>
              <a:rPr sz="2397" i="1" spc="80" baseline="6944" dirty="0">
                <a:latin typeface="Calibri"/>
                <a:cs typeface="Calibri"/>
              </a:rPr>
              <a:t> </a:t>
            </a:r>
            <a:r>
              <a:rPr sz="2397" i="1" baseline="6944" dirty="0">
                <a:latin typeface="Calibri"/>
                <a:cs typeface="Calibri"/>
              </a:rPr>
              <a:t>cat</a:t>
            </a:r>
            <a:r>
              <a:rPr sz="2397" i="1" spc="-49" baseline="6944" dirty="0">
                <a:latin typeface="Calibri"/>
                <a:cs typeface="Calibri"/>
              </a:rPr>
              <a:t> </a:t>
            </a:r>
            <a:r>
              <a:rPr sz="2397" i="1" baseline="6944" dirty="0">
                <a:latin typeface="Calibri"/>
                <a:cs typeface="Calibri"/>
              </a:rPr>
              <a:t>sitting</a:t>
            </a:r>
            <a:r>
              <a:rPr sz="2397" i="1" spc="-59" baseline="6944" dirty="0">
                <a:latin typeface="Calibri"/>
                <a:cs typeface="Calibri"/>
              </a:rPr>
              <a:t> </a:t>
            </a:r>
            <a:r>
              <a:rPr sz="2397" i="1" baseline="6944" dirty="0">
                <a:latin typeface="Calibri"/>
                <a:cs typeface="Calibri"/>
              </a:rPr>
              <a:t>on</a:t>
            </a:r>
            <a:r>
              <a:rPr sz="2397" i="1" spc="-49" baseline="6944" dirty="0">
                <a:latin typeface="Calibri"/>
                <a:cs typeface="Calibri"/>
              </a:rPr>
              <a:t> </a:t>
            </a:r>
            <a:r>
              <a:rPr sz="2397" i="1" spc="-100" baseline="6944" dirty="0">
                <a:latin typeface="Calibri"/>
                <a:cs typeface="Calibri"/>
              </a:rPr>
              <a:t>a</a:t>
            </a:r>
            <a:r>
              <a:rPr sz="2397" i="1" baseline="6944" dirty="0">
                <a:latin typeface="Calibri"/>
                <a:cs typeface="Calibri"/>
              </a:rPr>
              <a:t>	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-2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woman</a:t>
            </a:r>
            <a:r>
              <a:rPr sz="1598" i="1" spc="-87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standing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on</a:t>
            </a:r>
            <a:r>
              <a:rPr sz="1598" i="1" spc="-13" dirty="0">
                <a:latin typeface="Calibri"/>
                <a:cs typeface="Calibri"/>
              </a:rPr>
              <a:t> </a:t>
            </a:r>
            <a:r>
              <a:rPr sz="1598" i="1" spc="-67" dirty="0">
                <a:latin typeface="Calibri"/>
                <a:cs typeface="Calibri"/>
              </a:rPr>
              <a:t>a</a:t>
            </a:r>
            <a:endParaRPr sz="1598">
              <a:latin typeface="Calibri"/>
              <a:cs typeface="Calibri"/>
            </a:endParaRPr>
          </a:p>
          <a:p>
            <a:pPr marL="43126">
              <a:spcBef>
                <a:spcPts val="7"/>
              </a:spcBef>
              <a:tabLst>
                <a:tab pos="2674726" algn="l"/>
              </a:tabLst>
            </a:pPr>
            <a:r>
              <a:rPr sz="2397" i="1" baseline="6944" dirty="0">
                <a:latin typeface="Calibri"/>
                <a:cs typeface="Calibri"/>
              </a:rPr>
              <a:t>suitcase</a:t>
            </a:r>
            <a:r>
              <a:rPr sz="2397" i="1" spc="-29" baseline="6944" dirty="0">
                <a:latin typeface="Calibri"/>
                <a:cs typeface="Calibri"/>
              </a:rPr>
              <a:t> </a:t>
            </a:r>
            <a:r>
              <a:rPr sz="2397" i="1" baseline="6944" dirty="0">
                <a:latin typeface="Calibri"/>
                <a:cs typeface="Calibri"/>
              </a:rPr>
              <a:t>on</a:t>
            </a:r>
            <a:r>
              <a:rPr sz="2397" i="1" spc="40" baseline="6944" dirty="0">
                <a:latin typeface="Calibri"/>
                <a:cs typeface="Calibri"/>
              </a:rPr>
              <a:t> </a:t>
            </a:r>
            <a:r>
              <a:rPr sz="2397" i="1" spc="-20" baseline="6944" dirty="0">
                <a:latin typeface="Calibri"/>
                <a:cs typeface="Calibri"/>
              </a:rPr>
              <a:t>the</a:t>
            </a:r>
            <a:r>
              <a:rPr sz="2397" i="1" spc="-119" baseline="6944" dirty="0">
                <a:latin typeface="Calibri"/>
                <a:cs typeface="Calibri"/>
              </a:rPr>
              <a:t> </a:t>
            </a:r>
            <a:r>
              <a:rPr sz="2397" i="1" spc="-40" baseline="6944" dirty="0">
                <a:latin typeface="Calibri"/>
                <a:cs typeface="Calibri"/>
              </a:rPr>
              <a:t>floor</a:t>
            </a:r>
            <a:r>
              <a:rPr sz="2397" i="1" baseline="6944" dirty="0">
                <a:latin typeface="Calibri"/>
                <a:cs typeface="Calibri"/>
              </a:rPr>
              <a:t>	</a:t>
            </a:r>
            <a:r>
              <a:rPr sz="1598" i="1" dirty="0">
                <a:latin typeface="Calibri"/>
                <a:cs typeface="Calibri"/>
              </a:rPr>
              <a:t>beach</a:t>
            </a:r>
            <a:r>
              <a:rPr sz="1598" i="1" spc="-60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holding</a:t>
            </a:r>
            <a:r>
              <a:rPr sz="1598" i="1" spc="-53" dirty="0">
                <a:latin typeface="Calibri"/>
                <a:cs typeface="Calibri"/>
              </a:rPr>
              <a:t> </a:t>
            </a:r>
            <a:r>
              <a:rPr sz="1598" i="1" dirty="0">
                <a:latin typeface="Calibri"/>
                <a:cs typeface="Calibri"/>
              </a:rPr>
              <a:t>a</a:t>
            </a:r>
            <a:r>
              <a:rPr sz="1598" i="1" spc="40" dirty="0">
                <a:latin typeface="Calibri"/>
                <a:cs typeface="Calibri"/>
              </a:rPr>
              <a:t> </a:t>
            </a:r>
            <a:r>
              <a:rPr sz="1598" i="1" spc="-13" dirty="0">
                <a:latin typeface="Calibri"/>
                <a:cs typeface="Calibri"/>
              </a:rPr>
              <a:t>surfboard</a:t>
            </a:r>
            <a:endParaRPr sz="1598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15930" y="1194357"/>
            <a:ext cx="5772220" cy="4447130"/>
            <a:chOff x="4361688" y="896873"/>
            <a:chExt cx="4334510" cy="333946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688" y="924305"/>
              <a:ext cx="2039112" cy="13624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2272" y="2928683"/>
              <a:ext cx="1755648" cy="12893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896873"/>
              <a:ext cx="2103120" cy="13990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8895" y="2946983"/>
              <a:ext cx="850392" cy="128930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504" y="2711911"/>
            <a:ext cx="2114057" cy="1493464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b="1" dirty="0">
                <a:latin typeface="Calibri"/>
                <a:cs typeface="Calibri"/>
              </a:rPr>
              <a:t>Modern</a:t>
            </a:r>
            <a:r>
              <a:rPr sz="2397" b="1" spc="-67" dirty="0">
                <a:latin typeface="Calibri"/>
                <a:cs typeface="Calibri"/>
              </a:rPr>
              <a:t> </a:t>
            </a:r>
            <a:r>
              <a:rPr sz="2397" b="1" spc="-27" dirty="0">
                <a:latin typeface="Calibri"/>
                <a:cs typeface="Calibri"/>
              </a:rPr>
              <a:t>Image </a:t>
            </a:r>
            <a:r>
              <a:rPr sz="2397" b="1" dirty="0">
                <a:latin typeface="Calibri"/>
                <a:cs typeface="Calibri"/>
              </a:rPr>
              <a:t>Captioning</a:t>
            </a:r>
            <a:r>
              <a:rPr sz="2397" b="1" spc="-53" dirty="0">
                <a:latin typeface="Calibri"/>
                <a:cs typeface="Calibri"/>
              </a:rPr>
              <a:t> </a:t>
            </a:r>
            <a:r>
              <a:rPr sz="2397" dirty="0">
                <a:latin typeface="Calibri"/>
                <a:cs typeface="Calibri"/>
              </a:rPr>
              <a:t>–</a:t>
            </a:r>
            <a:r>
              <a:rPr sz="2397" spc="-40" dirty="0">
                <a:latin typeface="Calibri"/>
                <a:cs typeface="Calibri"/>
              </a:rPr>
              <a:t> </a:t>
            </a:r>
            <a:r>
              <a:rPr sz="2397" spc="-33" dirty="0">
                <a:latin typeface="Calibri"/>
                <a:cs typeface="Calibri"/>
              </a:rPr>
              <a:t>can </a:t>
            </a:r>
            <a:r>
              <a:rPr sz="2397" dirty="0">
                <a:latin typeface="Calibri"/>
                <a:cs typeface="Calibri"/>
              </a:rPr>
              <a:t>be</a:t>
            </a:r>
            <a:r>
              <a:rPr sz="2397" spc="-47" dirty="0">
                <a:latin typeface="Calibri"/>
                <a:cs typeface="Calibri"/>
              </a:rPr>
              <a:t> </a:t>
            </a:r>
            <a:r>
              <a:rPr sz="2397" dirty="0">
                <a:latin typeface="Calibri"/>
                <a:cs typeface="Calibri"/>
              </a:rPr>
              <a:t>much</a:t>
            </a:r>
            <a:r>
              <a:rPr sz="2397" spc="-13" dirty="0">
                <a:latin typeface="Calibri"/>
                <a:cs typeface="Calibri"/>
              </a:rPr>
              <a:t> </a:t>
            </a:r>
            <a:r>
              <a:rPr sz="2397" spc="-27" dirty="0">
                <a:latin typeface="Calibri"/>
                <a:cs typeface="Calibri"/>
              </a:rPr>
              <a:t>more </a:t>
            </a:r>
            <a:r>
              <a:rPr sz="2397" spc="-13" dirty="0">
                <a:latin typeface="Calibri"/>
                <a:cs typeface="Calibri"/>
              </a:rPr>
              <a:t>detailed!</a:t>
            </a:r>
            <a:endParaRPr sz="2397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849" y="5416534"/>
            <a:ext cx="2219760" cy="654746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All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images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are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CC0</a:t>
            </a:r>
            <a:r>
              <a:rPr sz="533" spc="1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Pu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blic</a:t>
            </a:r>
            <a:r>
              <a:rPr sz="533" spc="6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domain:</a:t>
            </a:r>
            <a:endParaRPr sz="533">
              <a:latin typeface="Calibri"/>
              <a:cs typeface="Calibri"/>
            </a:endParaRPr>
          </a:p>
          <a:p>
            <a:pPr marL="16913">
              <a:spcBef>
                <a:spcPts val="33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http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ay.co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/lu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ggage-antique-cat-1643</a:t>
            </a:r>
            <a:r>
              <a:rPr sz="533" u="sng" spc="1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010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8"/>
              </a:rPr>
              <a:t>/</a:t>
            </a:r>
            <a:endParaRPr sz="533">
              <a:latin typeface="Calibri"/>
              <a:cs typeface="Calibri"/>
            </a:endParaRPr>
          </a:p>
          <a:p>
            <a:pPr marL="16913" marR="6765">
              <a:lnSpc>
                <a:spcPct val="110300"/>
              </a:lnSpc>
              <a:spcBef>
                <a:spcPts val="67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http</a:t>
            </a:r>
            <a:r>
              <a:rPr sz="533" u="sng" spc="6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s://pixab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ay.co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m/en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/ted</a:t>
            </a:r>
            <a:r>
              <a:rPr sz="533" u="sng" spc="6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dy-plush-bear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s-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cute-ted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dy-bear-1623</a:t>
            </a:r>
            <a:r>
              <a:rPr sz="533" u="sng" spc="10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436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9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http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ay.co</a:t>
            </a:r>
            <a:r>
              <a:rPr sz="533" u="sng" spc="5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/su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rf-wave-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su</a:t>
            </a:r>
            <a:r>
              <a:rPr sz="533" u="sng" spc="6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mmer-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ort-litoral-1668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716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10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http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s://pixab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ay.co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m/en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/woman-female-mod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el-po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rtrait-adu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lt-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9839</a:t>
            </a:r>
            <a:r>
              <a:rPr sz="533" u="sng" spc="1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33" u="sng" spc="-3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67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  <a:hlinkClick r:id="rId11"/>
              </a:rPr>
              <a:t>/</a:t>
            </a:r>
            <a:r>
              <a:rPr sz="533" spc="66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http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s://pixab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ay.co</a:t>
            </a:r>
            <a:r>
              <a:rPr sz="533" u="sng" spc="-2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m/en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/han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dstan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d-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lake-medi</a:t>
            </a:r>
            <a:r>
              <a:rPr sz="533" u="sng" spc="-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tatio</a:t>
            </a:r>
            <a:r>
              <a:rPr sz="533" u="sng" spc="-2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n-</a:t>
            </a:r>
            <a:r>
              <a:rPr sz="533" u="sng" spc="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4960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33" u="sng" spc="-3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08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  <a:hlinkClick r:id="rId12"/>
              </a:rPr>
              <a:t>/</a:t>
            </a:r>
            <a:endParaRPr sz="533">
              <a:latin typeface="Calibri"/>
              <a:cs typeface="Calibri"/>
            </a:endParaRPr>
          </a:p>
          <a:p>
            <a:pPr marL="16913">
              <a:spcBef>
                <a:spcPts val="127"/>
              </a:spcBef>
            </a:pP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http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s://pixab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ay.co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m/en</a:t>
            </a:r>
            <a:r>
              <a:rPr sz="533" u="sng" spc="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/bas</a:t>
            </a:r>
            <a:r>
              <a:rPr sz="533" u="sng" spc="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eball-playe</a:t>
            </a:r>
            <a:r>
              <a:rPr sz="533" u="sng" spc="8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r-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sh</a:t>
            </a:r>
            <a:r>
              <a:rPr sz="533" u="sng" spc="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ortstop-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in</a:t>
            </a:r>
            <a:r>
              <a:rPr sz="533" u="sng" spc="4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field-1045</a:t>
            </a:r>
            <a:r>
              <a:rPr sz="533" u="sng" spc="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33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263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  <a:hlinkClick r:id="rId13"/>
              </a:rPr>
              <a:t>/</a:t>
            </a:r>
            <a:endParaRPr sz="533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849" y="6149248"/>
            <a:ext cx="1744520" cy="104211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Cap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tion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s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ge</a:t>
            </a:r>
            <a:r>
              <a:rPr sz="533" spc="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nerated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533" spc="1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Ju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stin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Jo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hnson</a:t>
            </a:r>
            <a:r>
              <a:rPr sz="533" spc="1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using</a:t>
            </a:r>
            <a:r>
              <a:rPr sz="533" spc="4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spc="-7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Neur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533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altalk2</a:t>
            </a:r>
            <a:endParaRPr sz="533">
              <a:latin typeface="Calibri"/>
              <a:cs typeface="Calibri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529249" y="565548"/>
            <a:ext cx="10705768" cy="697602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16913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013499" y="4272359"/>
            <a:ext cx="166712" cy="20142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13">
              <a:lnSpc>
                <a:spcPts val="1305"/>
              </a:lnSpc>
            </a:pPr>
            <a:r>
              <a:rPr sz="1199" dirty="0">
                <a:latin typeface="Calibri"/>
                <a:cs typeface="Calibri"/>
              </a:rPr>
              <a:t>Slide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inspiration: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Justin</a:t>
            </a:r>
            <a:r>
              <a:rPr sz="1199" spc="2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Johnson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94159" y="1157825"/>
            <a:ext cx="6088483" cy="5119400"/>
          </a:xfrm>
          <a:custGeom>
            <a:avLst/>
            <a:gdLst/>
            <a:ahLst/>
            <a:cxnLst/>
            <a:rect l="l" t="t" r="r" b="b"/>
            <a:pathLst>
              <a:path w="4572000" h="3844290">
                <a:moveTo>
                  <a:pt x="4572000" y="0"/>
                </a:moveTo>
                <a:lnTo>
                  <a:pt x="0" y="0"/>
                </a:lnTo>
                <a:lnTo>
                  <a:pt x="0" y="3843909"/>
                </a:lnTo>
                <a:lnTo>
                  <a:pt x="4572000" y="3843909"/>
                </a:lnTo>
                <a:lnTo>
                  <a:pt x="457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8" name="object 18"/>
          <p:cNvSpPr txBox="1"/>
          <p:nvPr/>
        </p:nvSpPr>
        <p:spPr>
          <a:xfrm>
            <a:off x="5809502" y="1257947"/>
            <a:ext cx="5267384" cy="1181904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b="1" dirty="0">
                <a:latin typeface="Calibri"/>
                <a:cs typeface="Calibri"/>
              </a:rPr>
              <a:t>Gemini</a:t>
            </a:r>
            <a:r>
              <a:rPr sz="2397" b="1" spc="-7" dirty="0">
                <a:latin typeface="Calibri"/>
                <a:cs typeface="Calibri"/>
              </a:rPr>
              <a:t> </a:t>
            </a:r>
            <a:r>
              <a:rPr sz="2397" b="1" dirty="0">
                <a:latin typeface="Calibri"/>
                <a:cs typeface="Calibri"/>
              </a:rPr>
              <a:t>3</a:t>
            </a:r>
            <a:r>
              <a:rPr sz="2397" b="1" spc="-60" dirty="0">
                <a:latin typeface="Calibri"/>
                <a:cs typeface="Calibri"/>
              </a:rPr>
              <a:t> </a:t>
            </a:r>
            <a:r>
              <a:rPr sz="2397" b="1" spc="-13" dirty="0">
                <a:latin typeface="Calibri"/>
                <a:cs typeface="Calibri"/>
              </a:rPr>
              <a:t>(2026):</a:t>
            </a:r>
            <a:endParaRPr sz="2397">
              <a:latin typeface="Calibri"/>
              <a:cs typeface="Calibri"/>
            </a:endParaRPr>
          </a:p>
          <a:p>
            <a:pPr marL="16913">
              <a:lnSpc>
                <a:spcPts val="2044"/>
              </a:lnSpc>
              <a:spcBef>
                <a:spcPts val="2211"/>
              </a:spcBef>
            </a:pPr>
            <a:r>
              <a:rPr sz="1731" dirty="0">
                <a:latin typeface="Calibri"/>
                <a:cs typeface="Calibri"/>
              </a:rPr>
              <a:t>The</a:t>
            </a:r>
            <a:r>
              <a:rPr sz="1731" spc="60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image</a:t>
            </a:r>
            <a:r>
              <a:rPr sz="1731" spc="-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features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charming,</a:t>
            </a:r>
            <a:r>
              <a:rPr sz="1731" spc="-87" dirty="0">
                <a:latin typeface="Calibri"/>
                <a:cs typeface="Calibri"/>
              </a:rPr>
              <a:t> </a:t>
            </a:r>
            <a:r>
              <a:rPr sz="1731" b="1" spc="-13" dirty="0">
                <a:latin typeface="Calibri"/>
                <a:cs typeface="Calibri"/>
              </a:rPr>
              <a:t>cream-</a:t>
            </a:r>
            <a:r>
              <a:rPr sz="1731" b="1" dirty="0">
                <a:latin typeface="Calibri"/>
                <a:cs typeface="Calibri"/>
              </a:rPr>
              <a:t>colored teddy</a:t>
            </a:r>
            <a:r>
              <a:rPr sz="1731" b="1" spc="13" dirty="0">
                <a:latin typeface="Calibri"/>
                <a:cs typeface="Calibri"/>
              </a:rPr>
              <a:t> </a:t>
            </a:r>
            <a:r>
              <a:rPr sz="1731" b="1" spc="-27" dirty="0">
                <a:latin typeface="Calibri"/>
                <a:cs typeface="Calibri"/>
              </a:rPr>
              <a:t>bear</a:t>
            </a:r>
            <a:endParaRPr sz="1731">
              <a:latin typeface="Calibri"/>
              <a:cs typeface="Calibri"/>
            </a:endParaRPr>
          </a:p>
          <a:p>
            <a:pPr marL="16913">
              <a:lnSpc>
                <a:spcPts val="2044"/>
              </a:lnSpc>
            </a:pPr>
            <a:r>
              <a:rPr sz="1731" dirty="0">
                <a:latin typeface="Calibri"/>
                <a:cs typeface="Calibri"/>
              </a:rPr>
              <a:t>sitting</a:t>
            </a:r>
            <a:r>
              <a:rPr sz="1731" spc="-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peacefully</a:t>
            </a:r>
            <a:r>
              <a:rPr sz="1731" spc="-6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in</a:t>
            </a:r>
            <a:r>
              <a:rPr sz="1731" spc="-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</a:t>
            </a:r>
            <a:r>
              <a:rPr sz="1731" spc="-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sunlit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grassy</a:t>
            </a:r>
            <a:r>
              <a:rPr sz="1731" spc="-60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field.</a:t>
            </a:r>
            <a:endParaRPr sz="173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9502" y="2698974"/>
            <a:ext cx="5425515" cy="3467938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lnSpc>
                <a:spcPts val="2044"/>
              </a:lnSpc>
              <a:spcBef>
                <a:spcPts val="127"/>
              </a:spcBef>
            </a:pPr>
            <a:r>
              <a:rPr sz="1731" b="1" dirty="0">
                <a:latin typeface="Calibri"/>
                <a:cs typeface="Calibri"/>
              </a:rPr>
              <a:t>Key</a:t>
            </a:r>
            <a:r>
              <a:rPr sz="1731" b="1" spc="-60" dirty="0">
                <a:latin typeface="Calibri"/>
                <a:cs typeface="Calibri"/>
              </a:rPr>
              <a:t> </a:t>
            </a:r>
            <a:r>
              <a:rPr sz="1731" b="1" spc="-13" dirty="0">
                <a:latin typeface="Calibri"/>
                <a:cs typeface="Calibri"/>
              </a:rPr>
              <a:t>Details:</a:t>
            </a:r>
            <a:endParaRPr sz="1731" dirty="0">
              <a:latin typeface="Calibri"/>
              <a:cs typeface="Calibri"/>
            </a:endParaRPr>
          </a:p>
          <a:p>
            <a:pPr marL="16913" marR="69340">
              <a:lnSpc>
                <a:spcPts val="2117"/>
              </a:lnSpc>
              <a:spcBef>
                <a:spcPts val="7"/>
              </a:spcBef>
            </a:pPr>
            <a:r>
              <a:rPr sz="1731" b="1" dirty="0">
                <a:latin typeface="Calibri"/>
                <a:cs typeface="Calibri"/>
              </a:rPr>
              <a:t>The</a:t>
            </a:r>
            <a:r>
              <a:rPr sz="1731" b="1" spc="-13" dirty="0">
                <a:latin typeface="Calibri"/>
                <a:cs typeface="Calibri"/>
              </a:rPr>
              <a:t> </a:t>
            </a:r>
            <a:r>
              <a:rPr sz="1731" b="1" dirty="0">
                <a:latin typeface="Calibri"/>
                <a:cs typeface="Calibri"/>
              </a:rPr>
              <a:t>Bear: </a:t>
            </a:r>
            <a:r>
              <a:rPr sz="1731" dirty="0">
                <a:latin typeface="Calibri"/>
                <a:cs typeface="Calibri"/>
              </a:rPr>
              <a:t>It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has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soft,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fluffy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fur</a:t>
            </a:r>
            <a:r>
              <a:rPr sz="1731" spc="-4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is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wearing a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b="1" spc="-13" dirty="0">
                <a:latin typeface="Calibri"/>
                <a:cs typeface="Calibri"/>
              </a:rPr>
              <a:t>hand-</a:t>
            </a:r>
            <a:r>
              <a:rPr sz="1731" b="1" dirty="0">
                <a:latin typeface="Calibri"/>
                <a:cs typeface="Calibri"/>
              </a:rPr>
              <a:t>knitted</a:t>
            </a:r>
            <a:r>
              <a:rPr sz="1731" b="1" spc="-13" dirty="0">
                <a:latin typeface="Calibri"/>
                <a:cs typeface="Calibri"/>
              </a:rPr>
              <a:t> </a:t>
            </a:r>
            <a:r>
              <a:rPr sz="1731" b="1" dirty="0">
                <a:latin typeface="Calibri"/>
                <a:cs typeface="Calibri"/>
              </a:rPr>
              <a:t>white</a:t>
            </a:r>
            <a:r>
              <a:rPr sz="1731" b="1" spc="-47" dirty="0">
                <a:latin typeface="Calibri"/>
                <a:cs typeface="Calibri"/>
              </a:rPr>
              <a:t> </a:t>
            </a:r>
            <a:r>
              <a:rPr sz="1731" b="1" spc="-13" dirty="0">
                <a:latin typeface="Calibri"/>
                <a:cs typeface="Calibri"/>
              </a:rPr>
              <a:t>sweater</a:t>
            </a:r>
            <a:r>
              <a:rPr sz="1731" b="1" spc="-8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or</a:t>
            </a:r>
            <a:r>
              <a:rPr sz="1731" spc="-5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dress.</a:t>
            </a:r>
            <a:r>
              <a:rPr sz="1731" spc="-8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Its</a:t>
            </a:r>
            <a:r>
              <a:rPr sz="173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expression</a:t>
            </a:r>
            <a:r>
              <a:rPr sz="1731" spc="1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is</a:t>
            </a:r>
            <a:r>
              <a:rPr sz="1731" spc="4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neutral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spc="-33" dirty="0">
                <a:latin typeface="Calibri"/>
                <a:cs typeface="Calibri"/>
              </a:rPr>
              <a:t>yet </a:t>
            </a:r>
            <a:r>
              <a:rPr sz="1731" dirty="0">
                <a:latin typeface="Calibri"/>
                <a:cs typeface="Calibri"/>
              </a:rPr>
              <a:t>sweet,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with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dark</a:t>
            </a:r>
            <a:r>
              <a:rPr sz="173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eyes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 stitched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brown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spc="-27" dirty="0">
                <a:latin typeface="Calibri"/>
                <a:cs typeface="Calibri"/>
              </a:rPr>
              <a:t>nose.</a:t>
            </a:r>
            <a:endParaRPr sz="1731" dirty="0">
              <a:latin typeface="Calibri"/>
              <a:cs typeface="Calibri"/>
            </a:endParaRPr>
          </a:p>
          <a:p>
            <a:pPr marL="16913">
              <a:lnSpc>
                <a:spcPts val="1938"/>
              </a:lnSpc>
            </a:pPr>
            <a:r>
              <a:rPr sz="1731" b="1" dirty="0">
                <a:latin typeface="Calibri"/>
                <a:cs typeface="Calibri"/>
              </a:rPr>
              <a:t>The</a:t>
            </a:r>
            <a:r>
              <a:rPr sz="1731" b="1" spc="-40" dirty="0">
                <a:latin typeface="Calibri"/>
                <a:cs typeface="Calibri"/>
              </a:rPr>
              <a:t> </a:t>
            </a:r>
            <a:r>
              <a:rPr sz="1731" b="1" spc="-13" dirty="0">
                <a:latin typeface="Calibri"/>
                <a:cs typeface="Calibri"/>
              </a:rPr>
              <a:t>Setting:</a:t>
            </a:r>
            <a:r>
              <a:rPr sz="1731" b="1" spc="-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4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bear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is</a:t>
            </a:r>
            <a:r>
              <a:rPr sz="1731" spc="47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positioned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in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lush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green</a:t>
            </a:r>
            <a:r>
              <a:rPr sz="1731" spc="13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grass</a:t>
            </a:r>
            <a:endParaRPr sz="1731" dirty="0">
              <a:latin typeface="Calibri"/>
              <a:cs typeface="Calibri"/>
            </a:endParaRPr>
          </a:p>
          <a:p>
            <a:pPr marL="16913" marR="6765">
              <a:lnSpc>
                <a:spcPct val="99500"/>
              </a:lnSpc>
              <a:spcBef>
                <a:spcPts val="53"/>
              </a:spcBef>
            </a:pPr>
            <a:r>
              <a:rPr sz="1731" dirty="0">
                <a:latin typeface="Calibri"/>
                <a:cs typeface="Calibri"/>
              </a:rPr>
              <a:t>dotted</a:t>
            </a:r>
            <a:r>
              <a:rPr sz="1731" spc="1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with</a:t>
            </a:r>
            <a:r>
              <a:rPr sz="1731" spc="-7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small</a:t>
            </a:r>
            <a:r>
              <a:rPr sz="173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white</a:t>
            </a:r>
            <a:r>
              <a:rPr sz="1731" spc="-100" dirty="0">
                <a:latin typeface="Calibri"/>
                <a:cs typeface="Calibri"/>
              </a:rPr>
              <a:t> </a:t>
            </a:r>
            <a:r>
              <a:rPr sz="1731" b="1" dirty="0">
                <a:latin typeface="Calibri"/>
                <a:cs typeface="Calibri"/>
              </a:rPr>
              <a:t>daisies</a:t>
            </a:r>
            <a:r>
              <a:rPr sz="1731" dirty="0">
                <a:latin typeface="Calibri"/>
                <a:cs typeface="Calibri"/>
              </a:rPr>
              <a:t>. One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particular</a:t>
            </a:r>
            <a:r>
              <a:rPr sz="1731" spc="20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daisy </a:t>
            </a:r>
            <a:r>
              <a:rPr sz="1731" dirty="0">
                <a:latin typeface="Calibri"/>
                <a:cs typeface="Calibri"/>
              </a:rPr>
              <a:t>appears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to</a:t>
            </a:r>
            <a:r>
              <a:rPr sz="1731" spc="-8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be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"growing"</a:t>
            </a:r>
            <a:r>
              <a:rPr sz="1731" spc="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or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resting</a:t>
            </a:r>
            <a:r>
              <a:rPr sz="1731" spc="-8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right</a:t>
            </a:r>
            <a:r>
              <a:rPr sz="173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on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top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of</a:t>
            </a:r>
            <a:r>
              <a:rPr sz="1731" spc="-8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bear's </a:t>
            </a:r>
            <a:r>
              <a:rPr sz="1731" dirty="0">
                <a:latin typeface="Calibri"/>
                <a:cs typeface="Calibri"/>
              </a:rPr>
              <a:t>head,</a:t>
            </a:r>
            <a:r>
              <a:rPr sz="1731" spc="-7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giving</a:t>
            </a:r>
            <a:r>
              <a:rPr sz="1731" spc="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it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</a:t>
            </a:r>
            <a:r>
              <a:rPr sz="1731" spc="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whimsical</a:t>
            </a:r>
            <a:r>
              <a:rPr sz="1731" spc="47" dirty="0">
                <a:latin typeface="Calibri"/>
                <a:cs typeface="Calibri"/>
              </a:rPr>
              <a:t> </a:t>
            </a:r>
            <a:r>
              <a:rPr sz="1731" spc="-27" dirty="0">
                <a:latin typeface="Calibri"/>
                <a:cs typeface="Calibri"/>
              </a:rPr>
              <a:t>look.</a:t>
            </a:r>
            <a:endParaRPr sz="1731" dirty="0">
              <a:latin typeface="Calibri"/>
              <a:cs typeface="Calibri"/>
            </a:endParaRPr>
          </a:p>
          <a:p>
            <a:pPr marL="16913" marR="42281">
              <a:lnSpc>
                <a:spcPct val="100299"/>
              </a:lnSpc>
              <a:spcBef>
                <a:spcPts val="33"/>
              </a:spcBef>
            </a:pPr>
            <a:r>
              <a:rPr sz="1731" b="1" dirty="0">
                <a:latin typeface="Calibri"/>
                <a:cs typeface="Calibri"/>
              </a:rPr>
              <a:t>Lighting:</a:t>
            </a:r>
            <a:r>
              <a:rPr sz="1731" b="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scene</a:t>
            </a:r>
            <a:r>
              <a:rPr sz="1731" spc="-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is</a:t>
            </a:r>
            <a:r>
              <a:rPr sz="1731" spc="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bright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 </a:t>
            </a:r>
            <a:r>
              <a:rPr sz="1731" spc="-13" dirty="0">
                <a:latin typeface="Calibri"/>
                <a:cs typeface="Calibri"/>
              </a:rPr>
              <a:t>warm,</a:t>
            </a:r>
            <a:r>
              <a:rPr sz="1731" spc="-8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suggesting</a:t>
            </a:r>
            <a:r>
              <a:rPr sz="1731" spc="-9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</a:t>
            </a:r>
            <a:r>
              <a:rPr sz="1731" spc="-13" dirty="0">
                <a:latin typeface="Calibri"/>
                <a:cs typeface="Calibri"/>
              </a:rPr>
              <a:t> clear, </a:t>
            </a:r>
            <a:r>
              <a:rPr sz="1731" dirty="0">
                <a:latin typeface="Calibri"/>
                <a:cs typeface="Calibri"/>
              </a:rPr>
              <a:t>sunny</a:t>
            </a:r>
            <a:r>
              <a:rPr sz="1731" spc="33" dirty="0">
                <a:latin typeface="Calibri"/>
                <a:cs typeface="Calibri"/>
              </a:rPr>
              <a:t> </a:t>
            </a:r>
            <a:r>
              <a:rPr sz="1731" spc="-33" dirty="0">
                <a:latin typeface="Calibri"/>
                <a:cs typeface="Calibri"/>
              </a:rPr>
              <a:t>day.</a:t>
            </a:r>
            <a:r>
              <a:rPr sz="1731" spc="-6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-2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sunlight</a:t>
            </a:r>
            <a:r>
              <a:rPr sz="1731" spc="53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creates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soft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shadows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</a:t>
            </a:r>
            <a:r>
              <a:rPr sz="1731" spc="20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highlights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-7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texture</a:t>
            </a:r>
            <a:r>
              <a:rPr sz="1731" dirty="0">
                <a:latin typeface="Calibri"/>
                <a:cs typeface="Calibri"/>
              </a:rPr>
              <a:t> of</a:t>
            </a:r>
            <a:r>
              <a:rPr sz="1731" spc="-5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both</a:t>
            </a:r>
            <a:r>
              <a:rPr sz="1731" spc="-4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 bear's</a:t>
            </a:r>
            <a:r>
              <a:rPr sz="1731" spc="-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fur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</a:t>
            </a:r>
            <a:r>
              <a:rPr sz="1731" spc="-4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the</a:t>
            </a:r>
            <a:r>
              <a:rPr sz="1731" spc="-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knitted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yarn</a:t>
            </a:r>
            <a:r>
              <a:rPr sz="1731" spc="4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of</a:t>
            </a:r>
            <a:r>
              <a:rPr sz="1731" spc="-47" dirty="0">
                <a:latin typeface="Calibri"/>
                <a:cs typeface="Calibri"/>
              </a:rPr>
              <a:t> </a:t>
            </a:r>
            <a:r>
              <a:rPr sz="1731" spc="-33" dirty="0">
                <a:latin typeface="Calibri"/>
                <a:cs typeface="Calibri"/>
              </a:rPr>
              <a:t>its </a:t>
            </a:r>
            <a:r>
              <a:rPr sz="1731" spc="-13" dirty="0">
                <a:latin typeface="Calibri"/>
                <a:cs typeface="Calibri"/>
              </a:rPr>
              <a:t>outfit.</a:t>
            </a:r>
            <a:endParaRPr sz="1731" dirty="0">
              <a:latin typeface="Calibri"/>
              <a:cs typeface="Calibri"/>
            </a:endParaRPr>
          </a:p>
          <a:p>
            <a:pPr marL="16913">
              <a:spcBef>
                <a:spcPts val="33"/>
              </a:spcBef>
            </a:pPr>
            <a:r>
              <a:rPr sz="1731" dirty="0">
                <a:latin typeface="Calibri"/>
                <a:cs typeface="Calibri"/>
              </a:rPr>
              <a:t>The</a:t>
            </a:r>
            <a:r>
              <a:rPr sz="1731" spc="67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overall</a:t>
            </a:r>
            <a:r>
              <a:rPr sz="1731" spc="-33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mood</a:t>
            </a:r>
            <a:r>
              <a:rPr sz="1731" spc="-6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is</a:t>
            </a:r>
            <a:r>
              <a:rPr sz="1731" spc="-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serene,</a:t>
            </a:r>
            <a:r>
              <a:rPr sz="1731" spc="-60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nostalgic,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dirty="0">
                <a:latin typeface="Calibri"/>
                <a:cs typeface="Calibri"/>
              </a:rPr>
              <a:t>and</a:t>
            </a:r>
            <a:r>
              <a:rPr sz="1731" spc="27" dirty="0">
                <a:latin typeface="Calibri"/>
                <a:cs typeface="Calibri"/>
              </a:rPr>
              <a:t> </a:t>
            </a:r>
            <a:r>
              <a:rPr sz="1731" spc="-13" dirty="0">
                <a:latin typeface="Calibri"/>
                <a:cs typeface="Calibri"/>
              </a:rPr>
              <a:t>gentle</a:t>
            </a:r>
            <a:r>
              <a:rPr sz="1598" spc="-13" dirty="0">
                <a:latin typeface="Calibri"/>
                <a:cs typeface="Calibri"/>
              </a:rPr>
              <a:t>.</a:t>
            </a:r>
            <a:endParaRPr sz="1598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833" y="1623791"/>
            <a:ext cx="5930183" cy="2532639"/>
          </a:xfrm>
          <a:prstGeom prst="rect">
            <a:avLst/>
          </a:prstGeom>
        </p:spPr>
      </p:pic>
      <p:pic>
        <p:nvPicPr>
          <p:cNvPr id="3" name="object 3" descr="galaxy sequenc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074" y="4987941"/>
            <a:ext cx="5930183" cy="120550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6304" y="153622"/>
            <a:ext cx="14855899" cy="1470169"/>
          </a:xfrm>
          <a:prstGeom prst="rect">
            <a:avLst/>
          </a:prstGeom>
        </p:spPr>
        <p:txBody>
          <a:bodyPr vert="horz" wrap="square" lIns="0" tIns="528851" rIns="0" bIns="0" rtlCol="0" anchor="t">
            <a:spAutoFit/>
          </a:bodyPr>
          <a:lstStyle/>
          <a:p>
            <a:pPr marL="431271">
              <a:lnSpc>
                <a:spcPts val="5060"/>
              </a:lnSpc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2012</a:t>
            </a:r>
            <a:r>
              <a:rPr spc="-1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Present: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Deep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Learning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Everywhere</a:t>
            </a:r>
          </a:p>
          <a:p>
            <a:pPr marL="2224006">
              <a:lnSpc>
                <a:spcPts val="2183"/>
              </a:lnSpc>
            </a:pPr>
            <a:r>
              <a:rPr sz="1998" dirty="0">
                <a:latin typeface="Calibri"/>
                <a:cs typeface="Calibri"/>
              </a:rPr>
              <a:t>Medical</a:t>
            </a:r>
            <a:r>
              <a:rPr sz="1998" spc="-100" dirty="0">
                <a:latin typeface="Calibri"/>
                <a:cs typeface="Calibri"/>
              </a:rPr>
              <a:t> </a:t>
            </a:r>
            <a:r>
              <a:rPr sz="1998" spc="-13" dirty="0">
                <a:latin typeface="Calibri"/>
                <a:cs typeface="Calibri"/>
              </a:rPr>
              <a:t>Imaging</a:t>
            </a:r>
            <a:endParaRPr sz="1998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429" y="3929792"/>
            <a:ext cx="4100492" cy="68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33" dirty="0">
              <a:latin typeface="Times New Roman"/>
              <a:cs typeface="Times New Roman"/>
            </a:endParaRPr>
          </a:p>
          <a:p>
            <a:pPr>
              <a:spcBef>
                <a:spcPts val="280"/>
              </a:spcBef>
            </a:pPr>
            <a:endParaRPr sz="533" dirty="0">
              <a:latin typeface="Times New Roman"/>
              <a:cs typeface="Times New Roman"/>
            </a:endParaRPr>
          </a:p>
          <a:p>
            <a:pPr marL="16913"/>
            <a:r>
              <a:rPr sz="1998" dirty="0">
                <a:latin typeface="Calibri"/>
                <a:cs typeface="Calibri"/>
              </a:rPr>
              <a:t>Levy</a:t>
            </a:r>
            <a:r>
              <a:rPr sz="1998" spc="120" dirty="0">
                <a:latin typeface="Calibri"/>
                <a:cs typeface="Calibri"/>
              </a:rPr>
              <a:t> </a:t>
            </a:r>
            <a:r>
              <a:rPr sz="1998" spc="-13" dirty="0">
                <a:latin typeface="Calibri"/>
                <a:cs typeface="Calibri"/>
              </a:rPr>
              <a:t>et</a:t>
            </a:r>
            <a:r>
              <a:rPr sz="1998" spc="-47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al,</a:t>
            </a:r>
            <a:r>
              <a:rPr sz="1998" spc="40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2016</a:t>
            </a:r>
            <a:r>
              <a:rPr sz="1998" spc="53" dirty="0"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Figu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re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r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epro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duced</a:t>
            </a:r>
            <a:r>
              <a:rPr sz="533" spc="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p</a:t>
            </a:r>
            <a:r>
              <a:rPr sz="533" spc="-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ermission</a:t>
            </a:r>
            <a:endParaRPr sz="533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33" dirty="0">
              <a:latin typeface="Calibri"/>
              <a:cs typeface="Calibri"/>
            </a:endParaRPr>
          </a:p>
          <a:p>
            <a:pPr>
              <a:spcBef>
                <a:spcPts val="80"/>
              </a:spcBef>
            </a:pPr>
            <a:endParaRPr sz="533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575" y="6239902"/>
            <a:ext cx="2166485" cy="327094"/>
          </a:xfrm>
          <a:prstGeom prst="rect">
            <a:avLst/>
          </a:prstGeom>
        </p:spPr>
        <p:txBody>
          <a:bodyPr vert="horz" wrap="square" lIns="0" tIns="19448" rIns="0" bIns="0" rtlCol="0">
            <a:spAutoFit/>
          </a:bodyPr>
          <a:lstStyle/>
          <a:p>
            <a:pPr marL="16913">
              <a:spcBef>
                <a:spcPts val="152"/>
              </a:spcBef>
            </a:pPr>
            <a:r>
              <a:rPr sz="1998" dirty="0">
                <a:latin typeface="Calibri"/>
                <a:cs typeface="Calibri"/>
              </a:rPr>
              <a:t>Dieleman</a:t>
            </a:r>
            <a:r>
              <a:rPr sz="1998" spc="-40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et</a:t>
            </a:r>
            <a:r>
              <a:rPr sz="1998" spc="-33" dirty="0">
                <a:latin typeface="Calibri"/>
                <a:cs typeface="Calibri"/>
              </a:rPr>
              <a:t> </a:t>
            </a:r>
            <a:r>
              <a:rPr sz="1998" dirty="0">
                <a:latin typeface="Calibri"/>
                <a:cs typeface="Calibri"/>
              </a:rPr>
              <a:t>al,</a:t>
            </a:r>
            <a:r>
              <a:rPr sz="1998" spc="-53" dirty="0">
                <a:latin typeface="Calibri"/>
                <a:cs typeface="Calibri"/>
              </a:rPr>
              <a:t> </a:t>
            </a:r>
            <a:r>
              <a:rPr sz="1998" spc="-27" dirty="0">
                <a:latin typeface="Calibri"/>
                <a:cs typeface="Calibri"/>
              </a:rPr>
              <a:t>2014</a:t>
            </a:r>
            <a:endParaRPr sz="1998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3134" y="6193443"/>
            <a:ext cx="718779" cy="12684"/>
          </a:xfrm>
          <a:custGeom>
            <a:avLst/>
            <a:gdLst/>
            <a:ahLst/>
            <a:cxnLst/>
            <a:rect l="l" t="t" r="r" b="b"/>
            <a:pathLst>
              <a:path w="539750" h="9525">
                <a:moveTo>
                  <a:pt x="539496" y="0"/>
                </a:moveTo>
                <a:lnTo>
                  <a:pt x="0" y="0"/>
                </a:lnTo>
                <a:lnTo>
                  <a:pt x="0" y="9156"/>
                </a:lnTo>
                <a:lnTo>
                  <a:pt x="539496" y="9156"/>
                </a:lnTo>
                <a:lnTo>
                  <a:pt x="53949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/>
          <p:nvPr/>
        </p:nvSpPr>
        <p:spPr>
          <a:xfrm>
            <a:off x="5962053" y="6193448"/>
            <a:ext cx="438878" cy="12684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184" y="0"/>
                </a:moveTo>
                <a:lnTo>
                  <a:pt x="0" y="0"/>
                </a:lnTo>
                <a:lnTo>
                  <a:pt x="0" y="9152"/>
                </a:lnTo>
                <a:lnTo>
                  <a:pt x="329184" y="9152"/>
                </a:lnTo>
                <a:lnTo>
                  <a:pt x="32918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4401222" y="6298790"/>
            <a:ext cx="1959308" cy="186220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R="10148" algn="r">
              <a:spcBef>
                <a:spcPts val="17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Fro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m</a:t>
            </a:r>
            <a:r>
              <a:rPr sz="533" spc="5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left</a:t>
            </a:r>
            <a:r>
              <a:rPr sz="533" spc="14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to</a:t>
            </a:r>
            <a:r>
              <a:rPr sz="533" spc="1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right</a:t>
            </a:r>
            <a:r>
              <a:rPr sz="533" spc="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: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u="sng" spc="-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pu blic</a:t>
            </a:r>
            <a:r>
              <a:rPr sz="533" u="sng" spc="8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domain</a:t>
            </a:r>
            <a:r>
              <a:rPr sz="533" u="sng" spc="-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b y</a:t>
            </a:r>
            <a:r>
              <a:rPr sz="533" u="sng" spc="6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NASA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,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usage</a:t>
            </a:r>
            <a:r>
              <a:rPr sz="533" u="sng" spc="-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per</a:t>
            </a:r>
            <a:r>
              <a:rPr sz="533" u="sng" spc="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533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mitted</a:t>
            </a:r>
            <a:r>
              <a:rPr sz="533" spc="14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endParaRPr sz="533">
              <a:latin typeface="Calibri"/>
              <a:cs typeface="Calibri"/>
            </a:endParaRPr>
          </a:p>
          <a:p>
            <a:pPr marR="6765" algn="r">
              <a:spcBef>
                <a:spcPts val="3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ESA/Hub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ble,</a:t>
            </a:r>
            <a:r>
              <a:rPr sz="533" spc="152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pu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blic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domain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</a:t>
            </a:r>
            <a:r>
              <a:rPr sz="533" spc="-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y</a:t>
            </a:r>
            <a:r>
              <a:rPr sz="533" spc="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NASA,</a:t>
            </a:r>
            <a:r>
              <a:rPr sz="533" spc="10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533" spc="1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pu blic</a:t>
            </a:r>
            <a:r>
              <a:rPr sz="533" spc="87" dirty="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domain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.</a:t>
            </a:r>
            <a:endParaRPr sz="533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13499" y="4272359"/>
            <a:ext cx="166712" cy="20142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13">
              <a:lnSpc>
                <a:spcPts val="1305"/>
              </a:lnSpc>
            </a:pPr>
            <a:r>
              <a:rPr sz="1199" dirty="0">
                <a:latin typeface="Calibri"/>
                <a:cs typeface="Calibri"/>
              </a:rPr>
              <a:t>Slide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inspiration: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Justin</a:t>
            </a:r>
            <a:r>
              <a:rPr sz="1199" spc="2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Johnson</a:t>
            </a:r>
            <a:endParaRPr sz="1199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0306" y="1430201"/>
            <a:ext cx="3519143" cy="399759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680918" y="5446980"/>
            <a:ext cx="2236672" cy="944550"/>
          </a:xfrm>
          <a:prstGeom prst="rect">
            <a:avLst/>
          </a:prstGeom>
        </p:spPr>
        <p:txBody>
          <a:bodyPr vert="horz" wrap="square" lIns="0" tIns="37207" rIns="0" bIns="0" rtlCol="0">
            <a:spAutoFit/>
          </a:bodyPr>
          <a:lstStyle/>
          <a:p>
            <a:pPr marR="32980" algn="ctr">
              <a:spcBef>
                <a:spcPts val="293"/>
              </a:spcBef>
            </a:pPr>
            <a:r>
              <a:rPr sz="2397" b="1" spc="-13" dirty="0">
                <a:latin typeface="Calibri"/>
                <a:cs typeface="Calibri"/>
              </a:rPr>
              <a:t>Protein</a:t>
            </a:r>
            <a:r>
              <a:rPr sz="2397" b="1" spc="-67" dirty="0">
                <a:latin typeface="Calibri"/>
                <a:cs typeface="Calibri"/>
              </a:rPr>
              <a:t> </a:t>
            </a:r>
            <a:r>
              <a:rPr sz="2397" b="1" spc="-13" dirty="0">
                <a:latin typeface="Calibri"/>
                <a:cs typeface="Calibri"/>
              </a:rPr>
              <a:t>Folding</a:t>
            </a:r>
            <a:endParaRPr sz="2397" dirty="0">
              <a:latin typeface="Calibri"/>
              <a:cs typeface="Calibri"/>
            </a:endParaRPr>
          </a:p>
          <a:p>
            <a:pPr marR="32134" algn="ctr">
              <a:spcBef>
                <a:spcPts val="140"/>
              </a:spcBef>
            </a:pPr>
            <a:r>
              <a:rPr sz="1398" dirty="0">
                <a:latin typeface="Calibri"/>
                <a:cs typeface="Calibri"/>
              </a:rPr>
              <a:t>(Jumper</a:t>
            </a:r>
            <a:r>
              <a:rPr sz="1398" spc="173" dirty="0">
                <a:latin typeface="Calibri"/>
                <a:cs typeface="Calibri"/>
              </a:rPr>
              <a:t> </a:t>
            </a:r>
            <a:r>
              <a:rPr sz="1398" dirty="0">
                <a:latin typeface="Calibri"/>
                <a:cs typeface="Calibri"/>
              </a:rPr>
              <a:t>et</a:t>
            </a:r>
            <a:r>
              <a:rPr sz="1398" spc="73" dirty="0">
                <a:latin typeface="Calibri"/>
                <a:cs typeface="Calibri"/>
              </a:rPr>
              <a:t> </a:t>
            </a:r>
            <a:r>
              <a:rPr sz="1398" dirty="0">
                <a:latin typeface="Calibri"/>
                <a:cs typeface="Calibri"/>
              </a:rPr>
              <a:t>al</a:t>
            </a:r>
            <a:r>
              <a:rPr sz="1398" spc="146" dirty="0">
                <a:latin typeface="Calibri"/>
                <a:cs typeface="Calibri"/>
              </a:rPr>
              <a:t> </a:t>
            </a:r>
            <a:r>
              <a:rPr sz="1398" spc="-13" dirty="0">
                <a:latin typeface="Calibri"/>
                <a:cs typeface="Calibri"/>
              </a:rPr>
              <a:t>2021)</a:t>
            </a:r>
            <a:endParaRPr sz="1398" dirty="0">
              <a:latin typeface="Calibri"/>
              <a:cs typeface="Calibri"/>
            </a:endParaRPr>
          </a:p>
          <a:p>
            <a:pPr marL="16913">
              <a:spcBef>
                <a:spcPts val="446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This</a:t>
            </a:r>
            <a:r>
              <a:rPr sz="533" spc="1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image</a:t>
            </a:r>
            <a:r>
              <a:rPr sz="533" spc="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533" spc="1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from</a:t>
            </a:r>
            <a:r>
              <a:rPr sz="533" spc="20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sz="533" spc="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AlphaFold</a:t>
            </a:r>
            <a:r>
              <a:rPr sz="533" spc="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P</a:t>
            </a:r>
            <a:r>
              <a:rPr sz="533" spc="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rotein</a:t>
            </a:r>
            <a:r>
              <a:rPr sz="533" spc="166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</a:rPr>
              <a:t>St</a:t>
            </a:r>
            <a:r>
              <a:rPr sz="533" spc="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ructure</a:t>
            </a:r>
            <a:r>
              <a:rPr sz="533" spc="1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Database</a:t>
            </a:r>
            <a:endParaRPr sz="533" dirty="0">
              <a:latin typeface="Calibri"/>
              <a:cs typeface="Calibri"/>
            </a:endParaRPr>
          </a:p>
          <a:p>
            <a:pPr marL="16913">
              <a:spcBef>
                <a:spcPts val="33"/>
              </a:spcBef>
            </a:pP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(alp</a:t>
            </a:r>
            <a:r>
              <a:rPr sz="533" spc="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hafold</a:t>
            </a:r>
            <a:r>
              <a:rPr sz="533" spc="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.eb</a:t>
            </a:r>
            <a:r>
              <a:rPr sz="533" spc="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i.ac.uk)</a:t>
            </a:r>
            <a:r>
              <a:rPr sz="533" spc="6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533" spc="2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</a:rPr>
              <a:t>De</a:t>
            </a:r>
            <a:r>
              <a:rPr sz="533" spc="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epMi</a:t>
            </a:r>
            <a:r>
              <a:rPr sz="533" spc="-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nd</a:t>
            </a:r>
            <a:r>
              <a:rPr sz="533" spc="18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Technologie</a:t>
            </a:r>
            <a:r>
              <a:rPr sz="533" spc="4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s</a:t>
            </a:r>
            <a:r>
              <a:rPr sz="533" spc="-2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Limited</a:t>
            </a:r>
            <a:r>
              <a:rPr sz="533" spc="1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533" spc="17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EMBL-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</a:rPr>
              <a:t>EBI,</a:t>
            </a:r>
            <a:endParaRPr sz="533" dirty="0">
              <a:latin typeface="Calibri"/>
              <a:cs typeface="Calibri"/>
            </a:endParaRPr>
          </a:p>
          <a:p>
            <a:pPr marL="16913">
              <a:spcBef>
                <a:spcPts val="127"/>
              </a:spcBef>
            </a:pP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li</a:t>
            </a:r>
            <a:r>
              <a:rPr sz="533" spc="-6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13" dirty="0">
                <a:solidFill>
                  <a:srgbClr val="BEBEBE"/>
                </a:solidFill>
                <a:latin typeface="Calibri"/>
                <a:cs typeface="Calibri"/>
              </a:rPr>
              <a:t>ce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nsed</a:t>
            </a:r>
            <a:r>
              <a:rPr sz="533" spc="8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un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der</a:t>
            </a:r>
            <a:r>
              <a:rPr sz="533" spc="8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dirty="0">
                <a:solidFill>
                  <a:srgbClr val="BEBEBE"/>
                </a:solidFill>
                <a:latin typeface="Calibri"/>
                <a:cs typeface="Calibri"/>
              </a:rPr>
              <a:t>CC-BY</a:t>
            </a:r>
            <a:r>
              <a:rPr sz="533" spc="9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533" spc="-27" dirty="0">
                <a:solidFill>
                  <a:srgbClr val="BEBEBE"/>
                </a:solidFill>
                <a:latin typeface="Calibri"/>
                <a:cs typeface="Calibri"/>
              </a:rPr>
              <a:t>4.0.</a:t>
            </a:r>
            <a:endParaRPr sz="533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34BB0-5A7C-6018-F807-5C545CC1BD97}"/>
              </a:ext>
            </a:extLst>
          </p:cNvPr>
          <p:cNvSpPr txBox="1"/>
          <p:nvPr/>
        </p:nvSpPr>
        <p:spPr>
          <a:xfrm>
            <a:off x="925059" y="4644039"/>
            <a:ext cx="7529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2871"/>
            <a:r>
              <a:rPr lang="en-US" sz="1800" b="1" dirty="0">
                <a:latin typeface="Calibri"/>
                <a:cs typeface="Calibri"/>
              </a:rPr>
              <a:t>Galaxy</a:t>
            </a:r>
            <a:r>
              <a:rPr lang="en-US" sz="1800" b="1" spc="-67" dirty="0">
                <a:latin typeface="Calibri"/>
                <a:cs typeface="Calibri"/>
              </a:rPr>
              <a:t> </a:t>
            </a:r>
            <a:r>
              <a:rPr lang="en-US" sz="1800" b="1" spc="-13" dirty="0">
                <a:latin typeface="Calibri"/>
                <a:cs typeface="Calibri"/>
              </a:rPr>
              <a:t>Classification</a:t>
            </a:r>
            <a:endParaRPr lang="en-US" sz="18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385" y="2608229"/>
            <a:ext cx="3348666" cy="18263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9204" y="252542"/>
            <a:ext cx="14855899" cy="1530942"/>
          </a:xfrm>
          <a:prstGeom prst="rect">
            <a:avLst/>
          </a:prstGeom>
        </p:spPr>
        <p:txBody>
          <a:bodyPr vert="horz" wrap="square" lIns="0" tIns="694255" rIns="0" bIns="0" rtlCol="0" anchor="t">
            <a:spAutoFit/>
          </a:bodyPr>
          <a:lstStyle/>
          <a:p>
            <a:pPr marL="1160202">
              <a:spcBef>
                <a:spcPts val="127"/>
              </a:spcBef>
            </a:pPr>
            <a:r>
              <a:rPr sz="5393" dirty="0">
                <a:solidFill>
                  <a:srgbClr val="666666"/>
                </a:solidFill>
                <a:latin typeface="Calibri"/>
                <a:cs typeface="Calibri"/>
              </a:rPr>
              <a:t>AI’s</a:t>
            </a:r>
            <a:r>
              <a:rPr sz="5393" spc="-10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666666"/>
                </a:solidFill>
                <a:latin typeface="Calibri"/>
                <a:cs typeface="Calibri"/>
              </a:rPr>
              <a:t>Explosive</a:t>
            </a:r>
            <a:r>
              <a:rPr sz="5393" spc="-8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666666"/>
                </a:solidFill>
                <a:latin typeface="Calibri"/>
                <a:cs typeface="Calibri"/>
              </a:rPr>
              <a:t>Growth</a:t>
            </a:r>
            <a:r>
              <a:rPr sz="5393" spc="-8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5393" spc="-113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5393" spc="-13" dirty="0">
                <a:solidFill>
                  <a:srgbClr val="666666"/>
                </a:solidFill>
                <a:latin typeface="Calibri"/>
                <a:cs typeface="Calibri"/>
              </a:rPr>
              <a:t>Impact</a:t>
            </a:r>
            <a:endParaRPr sz="5393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0716" y="5572738"/>
            <a:ext cx="1780036" cy="2672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dirty="0">
                <a:solidFill>
                  <a:srgbClr val="666666"/>
                </a:solidFill>
                <a:latin typeface="Calibri"/>
                <a:cs typeface="Calibri"/>
              </a:rPr>
              <a:t>Source: The</a:t>
            </a:r>
            <a:r>
              <a:rPr sz="1598" spc="-53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13" dirty="0">
                <a:solidFill>
                  <a:srgbClr val="666666"/>
                </a:solidFill>
                <a:latin typeface="Calibri"/>
                <a:cs typeface="Calibri"/>
              </a:rPr>
              <a:t>Gradient</a:t>
            </a:r>
            <a:endParaRPr sz="1598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5100" y="2425414"/>
            <a:ext cx="3665266" cy="21309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75955" y="4469284"/>
            <a:ext cx="3253956" cy="828791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3183"/>
              </a:lnSpc>
              <a:spcBef>
                <a:spcPts val="160"/>
              </a:spcBef>
            </a:pP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Startups</a:t>
            </a:r>
            <a:r>
              <a:rPr sz="2663" b="1" spc="-1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Developing</a:t>
            </a:r>
            <a:r>
              <a:rPr sz="2663" b="1" spc="-53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spc="-33" dirty="0">
                <a:solidFill>
                  <a:srgbClr val="666666"/>
                </a:solidFill>
                <a:latin typeface="Calibri"/>
                <a:cs typeface="Calibri"/>
              </a:rPr>
              <a:t>AI</a:t>
            </a:r>
            <a:endParaRPr sz="2663">
              <a:latin typeface="Calibri"/>
              <a:cs typeface="Calibri"/>
            </a:endParaRPr>
          </a:p>
          <a:p>
            <a:pPr marL="2537" algn="ctr">
              <a:lnSpc>
                <a:spcPts val="3183"/>
              </a:lnSpc>
            </a:pPr>
            <a:r>
              <a:rPr sz="2663" b="1" spc="-13" dirty="0">
                <a:solidFill>
                  <a:srgbClr val="666666"/>
                </a:solidFill>
                <a:latin typeface="Calibri"/>
                <a:cs typeface="Calibri"/>
              </a:rPr>
              <a:t>Systems</a:t>
            </a:r>
            <a:endParaRPr sz="2663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4186" y="5572738"/>
            <a:ext cx="3489039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029131" marR="6765" indent="-1013064">
              <a:spcBef>
                <a:spcPts val="166"/>
              </a:spcBef>
            </a:pPr>
            <a:r>
              <a:rPr sz="1598" dirty="0">
                <a:solidFill>
                  <a:srgbClr val="666666"/>
                </a:solidFill>
                <a:latin typeface="Calibri"/>
                <a:cs typeface="Calibri"/>
              </a:rPr>
              <a:t>Source:</a:t>
            </a:r>
            <a:r>
              <a:rPr sz="1598" spc="8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13" dirty="0">
                <a:solidFill>
                  <a:srgbClr val="666666"/>
                </a:solidFill>
                <a:latin typeface="Calibri"/>
                <a:cs typeface="Calibri"/>
              </a:rPr>
              <a:t>Crunchbase,</a:t>
            </a:r>
            <a:r>
              <a:rPr sz="1598" spc="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13" dirty="0">
                <a:solidFill>
                  <a:srgbClr val="666666"/>
                </a:solidFill>
                <a:latin typeface="Calibri"/>
                <a:cs typeface="Calibri"/>
              </a:rPr>
              <a:t>VentureSource,</a:t>
            </a:r>
            <a:r>
              <a:rPr sz="1598" spc="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27" dirty="0">
                <a:solidFill>
                  <a:srgbClr val="666666"/>
                </a:solidFill>
                <a:latin typeface="Calibri"/>
                <a:cs typeface="Calibri"/>
              </a:rPr>
              <a:t>Sand </a:t>
            </a:r>
            <a:r>
              <a:rPr sz="1598" dirty="0">
                <a:solidFill>
                  <a:srgbClr val="666666"/>
                </a:solidFill>
                <a:latin typeface="Calibri"/>
                <a:cs typeface="Calibri"/>
              </a:rPr>
              <a:t>Hill</a:t>
            </a:r>
            <a:r>
              <a:rPr sz="1598" spc="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13" dirty="0">
                <a:solidFill>
                  <a:srgbClr val="666666"/>
                </a:solidFill>
                <a:latin typeface="Calibri"/>
                <a:cs typeface="Calibri"/>
              </a:rPr>
              <a:t>Econometrics</a:t>
            </a:r>
            <a:endParaRPr sz="159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8640" y="4469284"/>
            <a:ext cx="3533857" cy="828791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3183"/>
              </a:lnSpc>
              <a:spcBef>
                <a:spcPts val="160"/>
              </a:spcBef>
            </a:pP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Enterprise</a:t>
            </a:r>
            <a:r>
              <a:rPr sz="2663" b="1" spc="-113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Application</a:t>
            </a:r>
            <a:r>
              <a:rPr sz="2663" b="1" spc="-10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spc="-33" dirty="0">
                <a:solidFill>
                  <a:srgbClr val="666666"/>
                </a:solidFill>
                <a:latin typeface="Calibri"/>
                <a:cs typeface="Calibri"/>
              </a:rPr>
              <a:t>AI</a:t>
            </a:r>
            <a:endParaRPr sz="2663">
              <a:latin typeface="Calibri"/>
              <a:cs typeface="Calibri"/>
            </a:endParaRPr>
          </a:p>
          <a:p>
            <a:pPr marL="5919" algn="ctr">
              <a:lnSpc>
                <a:spcPts val="3183"/>
              </a:lnSpc>
            </a:pPr>
            <a:r>
              <a:rPr sz="2663" b="1" spc="-13" dirty="0">
                <a:solidFill>
                  <a:srgbClr val="666666"/>
                </a:solidFill>
                <a:latin typeface="Calibri"/>
                <a:cs typeface="Calibri"/>
              </a:rPr>
              <a:t>Revenue</a:t>
            </a:r>
            <a:endParaRPr sz="266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47588" y="5572738"/>
            <a:ext cx="1314098" cy="2672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dirty="0">
                <a:solidFill>
                  <a:srgbClr val="666666"/>
                </a:solidFill>
                <a:latin typeface="Calibri"/>
                <a:cs typeface="Calibri"/>
              </a:rPr>
              <a:t>Source:</a:t>
            </a:r>
            <a:r>
              <a:rPr sz="1598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598" spc="-13" dirty="0">
                <a:solidFill>
                  <a:srgbClr val="666666"/>
                </a:solidFill>
                <a:latin typeface="Calibri"/>
                <a:cs typeface="Calibri"/>
              </a:rPr>
              <a:t>Statista</a:t>
            </a:r>
            <a:endParaRPr sz="159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411" y="4466342"/>
            <a:ext cx="3227742" cy="828791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3183"/>
              </a:lnSpc>
              <a:spcBef>
                <a:spcPts val="160"/>
              </a:spcBef>
            </a:pP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Number</a:t>
            </a:r>
            <a:r>
              <a:rPr sz="2663" b="1" spc="-53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of</a:t>
            </a:r>
            <a:r>
              <a:rPr sz="2663" b="1" spc="-2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spc="-13" dirty="0">
                <a:solidFill>
                  <a:srgbClr val="666666"/>
                </a:solidFill>
                <a:latin typeface="Calibri"/>
                <a:cs typeface="Calibri"/>
              </a:rPr>
              <a:t>attendance</a:t>
            </a:r>
            <a:endParaRPr sz="2663">
              <a:latin typeface="Calibri"/>
              <a:cs typeface="Calibri"/>
            </a:endParaRPr>
          </a:p>
          <a:p>
            <a:pPr algn="ctr">
              <a:lnSpc>
                <a:spcPts val="3183"/>
              </a:lnSpc>
            </a:pP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At</a:t>
            </a:r>
            <a:r>
              <a:rPr sz="2663" b="1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dirty="0">
                <a:solidFill>
                  <a:srgbClr val="666666"/>
                </a:solidFill>
                <a:latin typeface="Calibri"/>
                <a:cs typeface="Calibri"/>
              </a:rPr>
              <a:t>AI</a:t>
            </a:r>
            <a:r>
              <a:rPr sz="2663" b="1" spc="-7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663" b="1" spc="-13" dirty="0">
                <a:solidFill>
                  <a:srgbClr val="666666"/>
                </a:solidFill>
                <a:latin typeface="Calibri"/>
                <a:cs typeface="Calibri"/>
              </a:rPr>
              <a:t>conferences</a:t>
            </a:r>
            <a:endParaRPr sz="2663">
              <a:latin typeface="Calibri"/>
              <a:cs typeface="Calibri"/>
            </a:endParaRPr>
          </a:p>
        </p:txBody>
      </p:sp>
      <p:pic>
        <p:nvPicPr>
          <p:cNvPr id="11" name="object 11" descr="Image result for NeurIPS attendance 2019&quot;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826" y="2279121"/>
            <a:ext cx="4237584" cy="22060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FCD5F-032D-9974-2DB9-23BEC89A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117661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Convolutional Neural Networks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92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7409" y="6472697"/>
            <a:ext cx="1497598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CS231n: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1398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398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67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921" y="6472697"/>
            <a:ext cx="3565991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Fei-Fei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Adeli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Durante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Johnson</a:t>
            </a:r>
            <a:r>
              <a:rPr sz="1398" spc="15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Xiang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8780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" name="object 5"/>
          <p:cNvSpPr txBox="1"/>
          <p:nvPr/>
        </p:nvSpPr>
        <p:spPr>
          <a:xfrm>
            <a:off x="493402" y="5139826"/>
            <a:ext cx="1175416" cy="35597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15221" rIns="0" bIns="0" rtlCol="0">
            <a:spAutoFit/>
          </a:bodyPr>
          <a:lstStyle/>
          <a:p>
            <a:pPr marL="8456" algn="ctr">
              <a:spcBef>
                <a:spcPts val="120"/>
              </a:spcBef>
            </a:pPr>
            <a:r>
              <a:rPr sz="1065" spc="-27" dirty="0">
                <a:latin typeface="Calibri"/>
                <a:cs typeface="Calibri"/>
              </a:rPr>
              <a:t>1959</a:t>
            </a:r>
            <a:endParaRPr sz="1065">
              <a:latin typeface="Calibri"/>
              <a:cs typeface="Calibri"/>
            </a:endParaRPr>
          </a:p>
          <a:p>
            <a:pPr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Hubel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Wiesel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9398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1864497" y="5139826"/>
            <a:ext cx="887904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R="13530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1963</a:t>
            </a:r>
            <a:endParaRPr sz="1199">
              <a:latin typeface="Calibri"/>
              <a:cs typeface="Calibri"/>
            </a:endParaRPr>
          </a:p>
          <a:p>
            <a:pPr marR="11839" algn="ctr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Roberts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1252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2974459" y="5139826"/>
            <a:ext cx="1178798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" algn="ctr">
              <a:spcBef>
                <a:spcPts val="20"/>
              </a:spcBef>
            </a:pPr>
            <a:r>
              <a:rPr sz="1199" spc="-13" dirty="0">
                <a:latin typeface="Calibri"/>
                <a:cs typeface="Calibri"/>
              </a:rPr>
              <a:t>1970s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David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Marr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1870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4237820" y="5139826"/>
            <a:ext cx="138851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7611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1979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Gen.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Cylinders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70453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 txBox="1"/>
          <p:nvPr/>
        </p:nvSpPr>
        <p:spPr>
          <a:xfrm>
            <a:off x="5772116" y="5139826"/>
            <a:ext cx="75514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224092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1986</a:t>
            </a:r>
            <a:endParaRPr sz="1199">
              <a:latin typeface="Calibri"/>
              <a:cs typeface="Calibri"/>
            </a:endParaRPr>
          </a:p>
          <a:p>
            <a:pPr marL="185193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Canny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30944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5" name="object 15"/>
          <p:cNvSpPr txBox="1"/>
          <p:nvPr/>
        </p:nvSpPr>
        <p:spPr>
          <a:xfrm>
            <a:off x="7026344" y="5139826"/>
            <a:ext cx="100967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3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1997</a:t>
            </a:r>
            <a:endParaRPr sz="1199">
              <a:latin typeface="Calibri"/>
              <a:cs typeface="Calibri"/>
            </a:endParaRPr>
          </a:p>
          <a:p>
            <a:pPr marL="8456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Norm.</a:t>
            </a:r>
            <a:r>
              <a:rPr sz="1199" spc="-20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Cuts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38138" y="5122491"/>
            <a:ext cx="607157" cy="631680"/>
            <a:chOff x="6355778" y="3853763"/>
            <a:chExt cx="455930" cy="474345"/>
          </a:xfrm>
        </p:grpSpPr>
        <p:sp>
          <p:nvSpPr>
            <p:cNvPr id="17" name="object 17"/>
            <p:cNvSpPr/>
            <p:nvPr/>
          </p:nvSpPr>
          <p:spPr>
            <a:xfrm>
              <a:off x="6455663" y="413675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8795" y="3866781"/>
              <a:ext cx="429895" cy="274955"/>
            </a:xfrm>
            <a:custGeom>
              <a:avLst/>
              <a:gdLst/>
              <a:ahLst/>
              <a:cxnLst/>
              <a:rect l="l" t="t" r="r" b="b"/>
              <a:pathLst>
                <a:path w="429895" h="274954">
                  <a:moveTo>
                    <a:pt x="0" y="274561"/>
                  </a:moveTo>
                  <a:lnTo>
                    <a:pt x="429768" y="274561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772402" y="5119382"/>
            <a:ext cx="563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16697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2001</a:t>
            </a:r>
            <a:endParaRPr sz="1199">
              <a:latin typeface="Calibri"/>
              <a:cs typeface="Calibri"/>
            </a:endParaRPr>
          </a:p>
          <a:p>
            <a:pPr marL="149676">
              <a:spcBef>
                <a:spcPts val="7"/>
              </a:spcBef>
            </a:pPr>
            <a:r>
              <a:rPr sz="1199" spc="-33" dirty="0">
                <a:latin typeface="Calibri"/>
                <a:cs typeface="Calibri"/>
              </a:rPr>
              <a:t>V&amp;J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44960" y="5499350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 txBox="1"/>
          <p:nvPr/>
        </p:nvSpPr>
        <p:spPr>
          <a:xfrm>
            <a:off x="8110095" y="5139826"/>
            <a:ext cx="54204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31918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1999</a:t>
            </a:r>
            <a:endParaRPr sz="1199">
              <a:latin typeface="Calibri"/>
              <a:cs typeface="Calibri"/>
            </a:endParaRPr>
          </a:p>
          <a:p>
            <a:pPr marL="158133">
              <a:lnSpc>
                <a:spcPts val="1412"/>
              </a:lnSpc>
              <a:spcBef>
                <a:spcPts val="7"/>
              </a:spcBef>
            </a:pPr>
            <a:r>
              <a:rPr sz="1199" spc="-27" dirty="0">
                <a:latin typeface="Calibri"/>
                <a:cs typeface="Calibri"/>
              </a:rPr>
              <a:t>SIFT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880405" y="5122491"/>
            <a:ext cx="1315789" cy="631680"/>
            <a:chOff x="7213536" y="3853763"/>
            <a:chExt cx="988060" cy="474345"/>
          </a:xfrm>
        </p:grpSpPr>
        <p:sp>
          <p:nvSpPr>
            <p:cNvPr id="23" name="object 23"/>
            <p:cNvSpPr/>
            <p:nvPr/>
          </p:nvSpPr>
          <p:spPr>
            <a:xfrm>
              <a:off x="7232903" y="4136758"/>
              <a:ext cx="274320" cy="172085"/>
            </a:xfrm>
            <a:custGeom>
              <a:avLst/>
              <a:gdLst/>
              <a:ahLst/>
              <a:cxnLst/>
              <a:rect l="l" t="t" r="r" b="b"/>
              <a:pathLst>
                <a:path w="274320" h="172085">
                  <a:moveTo>
                    <a:pt x="0" y="171602"/>
                  </a:moveTo>
                  <a:lnTo>
                    <a:pt x="0" y="0"/>
                  </a:lnTo>
                </a:path>
                <a:path w="274320" h="172085">
                  <a:moveTo>
                    <a:pt x="274320" y="171602"/>
                  </a:moveTo>
                  <a:lnTo>
                    <a:pt x="27432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2651" y="3866781"/>
              <a:ext cx="685800" cy="274955"/>
            </a:xfrm>
            <a:custGeom>
              <a:avLst/>
              <a:gdLst/>
              <a:ahLst/>
              <a:cxnLst/>
              <a:rect l="l" t="t" r="r" b="b"/>
              <a:pathLst>
                <a:path w="685800" h="274954">
                  <a:moveTo>
                    <a:pt x="0" y="274561"/>
                  </a:moveTo>
                  <a:lnTo>
                    <a:pt x="685800" y="274561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265267" y="5119382"/>
            <a:ext cx="897206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26215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2009</a:t>
            </a:r>
            <a:endParaRPr sz="1199">
              <a:latin typeface="Calibri"/>
              <a:cs typeface="Calibri"/>
            </a:endParaRPr>
          </a:p>
          <a:p>
            <a:pPr marL="14376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ImageNet</a:t>
            </a:r>
            <a:endParaRPr sz="1199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613" y="434060"/>
            <a:ext cx="11032332" cy="74345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477" y="1773660"/>
            <a:ext cx="6527362" cy="1569534"/>
          </a:xfrm>
          <a:prstGeom prst="rect">
            <a:avLst/>
          </a:prstGeom>
          <a:solidFill>
            <a:srgbClr val="FFFFFF">
              <a:alpha val="94900"/>
            </a:srgbClr>
          </a:solidFill>
        </p:spPr>
        <p:txBody>
          <a:bodyPr vert="horz" wrap="square" lIns="0" tIns="16067" rIns="0" bIns="0" rtlCol="0">
            <a:spAutoFit/>
          </a:bodyPr>
          <a:lstStyle/>
          <a:p>
            <a:pPr marL="762758" marR="749228" algn="ctr">
              <a:lnSpc>
                <a:spcPct val="120300"/>
              </a:lnSpc>
              <a:spcBef>
                <a:spcPts val="127"/>
              </a:spcBef>
            </a:pPr>
            <a:r>
              <a:rPr sz="2797" spc="-326" dirty="0">
                <a:latin typeface="Arial MT"/>
                <a:cs typeface="Arial MT"/>
              </a:rPr>
              <a:t>The</a:t>
            </a:r>
            <a:r>
              <a:rPr sz="2797" spc="-60" dirty="0">
                <a:latin typeface="Arial MT"/>
                <a:cs typeface="Arial MT"/>
              </a:rPr>
              <a:t> </a:t>
            </a:r>
            <a:r>
              <a:rPr sz="2797" spc="-180" dirty="0">
                <a:latin typeface="Arial MT"/>
                <a:cs typeface="Arial MT"/>
              </a:rPr>
              <a:t>Image</a:t>
            </a:r>
            <a:r>
              <a:rPr sz="2797" spc="-53" dirty="0">
                <a:latin typeface="Arial MT"/>
                <a:cs typeface="Arial MT"/>
              </a:rPr>
              <a:t> </a:t>
            </a:r>
            <a:r>
              <a:rPr sz="2797" spc="-140" dirty="0">
                <a:latin typeface="Arial MT"/>
                <a:cs typeface="Arial MT"/>
              </a:rPr>
              <a:t>Classification</a:t>
            </a:r>
            <a:r>
              <a:rPr sz="2797" spc="13" dirty="0">
                <a:latin typeface="Arial MT"/>
                <a:cs typeface="Arial MT"/>
              </a:rPr>
              <a:t> </a:t>
            </a:r>
            <a:r>
              <a:rPr sz="2797" spc="-146" dirty="0">
                <a:latin typeface="Arial MT"/>
                <a:cs typeface="Arial MT"/>
              </a:rPr>
              <a:t>Challenge: </a:t>
            </a:r>
            <a:r>
              <a:rPr sz="2797" dirty="0">
                <a:latin typeface="Arial MT"/>
                <a:cs typeface="Arial MT"/>
              </a:rPr>
              <a:t>1,000</a:t>
            </a:r>
            <a:r>
              <a:rPr sz="2797" spc="-146" dirty="0">
                <a:latin typeface="Arial MT"/>
                <a:cs typeface="Arial MT"/>
              </a:rPr>
              <a:t> </a:t>
            </a:r>
            <a:r>
              <a:rPr sz="2797" spc="-107" dirty="0">
                <a:latin typeface="Arial MT"/>
                <a:cs typeface="Arial MT"/>
              </a:rPr>
              <a:t>object</a:t>
            </a:r>
            <a:r>
              <a:rPr sz="2797" spc="-87" dirty="0">
                <a:latin typeface="Arial MT"/>
                <a:cs typeface="Arial MT"/>
              </a:rPr>
              <a:t> classes</a:t>
            </a:r>
            <a:endParaRPr sz="2797" dirty="0">
              <a:latin typeface="Arial MT"/>
              <a:cs typeface="Arial MT"/>
            </a:endParaRPr>
          </a:p>
          <a:p>
            <a:pPr marL="11839" algn="ctr">
              <a:spcBef>
                <a:spcPts val="686"/>
              </a:spcBef>
            </a:pPr>
            <a:r>
              <a:rPr sz="2797" spc="-33" dirty="0">
                <a:latin typeface="Arial MT"/>
                <a:cs typeface="Arial MT"/>
              </a:rPr>
              <a:t>1,431,167</a:t>
            </a:r>
            <a:r>
              <a:rPr sz="2797" spc="-87" dirty="0">
                <a:latin typeface="Arial MT"/>
                <a:cs typeface="Arial MT"/>
              </a:rPr>
              <a:t> </a:t>
            </a:r>
            <a:r>
              <a:rPr sz="2797" spc="-13" dirty="0">
                <a:latin typeface="Arial MT"/>
                <a:cs typeface="Arial MT"/>
              </a:rPr>
              <a:t>images</a:t>
            </a:r>
            <a:endParaRPr sz="2797" dirty="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5503" y="1817160"/>
            <a:ext cx="2471923" cy="185259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339639" y="1774710"/>
            <a:ext cx="1692937" cy="1899384"/>
          </a:xfrm>
          <a:prstGeom prst="rect">
            <a:avLst/>
          </a:prstGeom>
          <a:solidFill>
            <a:srgbClr val="FFFFFF">
              <a:alpha val="89019"/>
            </a:srgbClr>
          </a:solidFill>
          <a:ln w="9533">
            <a:solidFill>
              <a:srgbClr val="000000"/>
            </a:solidFill>
          </a:ln>
        </p:spPr>
        <p:txBody>
          <a:bodyPr vert="horz" wrap="square" lIns="0" tIns="54120" rIns="0" bIns="0" rtlCol="0">
            <a:spAutoFit/>
          </a:bodyPr>
          <a:lstStyle/>
          <a:p>
            <a:pPr marL="551350" marR="432962" indent="-100630">
              <a:spcBef>
                <a:spcPts val="426"/>
              </a:spcBef>
            </a:pPr>
            <a:r>
              <a:rPr sz="1998" b="1" spc="-146" dirty="0">
                <a:latin typeface="Arial"/>
                <a:cs typeface="Arial"/>
              </a:rPr>
              <a:t>Output: </a:t>
            </a:r>
            <a:r>
              <a:rPr sz="1998" spc="-13" dirty="0">
                <a:latin typeface="Arial MT"/>
                <a:cs typeface="Arial MT"/>
              </a:rPr>
              <a:t>Scale </a:t>
            </a:r>
            <a:r>
              <a:rPr sz="1998" spc="-253" dirty="0">
                <a:latin typeface="Arial MT"/>
                <a:cs typeface="Arial MT"/>
              </a:rPr>
              <a:t>T-</a:t>
            </a:r>
            <a:r>
              <a:rPr sz="1998" spc="-13" dirty="0">
                <a:latin typeface="Arial MT"/>
                <a:cs typeface="Arial MT"/>
              </a:rPr>
              <a:t>shirt</a:t>
            </a:r>
            <a:endParaRPr sz="1998">
              <a:latin typeface="Arial MT"/>
              <a:cs typeface="Arial MT"/>
            </a:endParaRPr>
          </a:p>
          <a:p>
            <a:pPr marL="326413" marR="294278" indent="-22832" algn="just">
              <a:spcBef>
                <a:spcPts val="20"/>
              </a:spcBef>
            </a:pPr>
            <a:r>
              <a:rPr sz="1998" u="sng" spc="-13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Steel</a:t>
            </a:r>
            <a:r>
              <a:rPr sz="1998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998" u="sng" spc="-1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drum</a:t>
            </a:r>
            <a:r>
              <a:rPr sz="1998" spc="-140" dirty="0">
                <a:latin typeface="Arial MT"/>
                <a:cs typeface="Arial MT"/>
              </a:rPr>
              <a:t> </a:t>
            </a:r>
            <a:r>
              <a:rPr sz="1998" spc="-73" dirty="0">
                <a:latin typeface="Arial MT"/>
                <a:cs typeface="Arial MT"/>
              </a:rPr>
              <a:t>Drumstick </a:t>
            </a:r>
            <a:r>
              <a:rPr sz="1998" spc="-120" dirty="0">
                <a:latin typeface="Arial MT"/>
                <a:cs typeface="Arial MT"/>
              </a:rPr>
              <a:t>Mud</a:t>
            </a:r>
            <a:r>
              <a:rPr sz="1998" spc="-7" dirty="0">
                <a:latin typeface="Arial MT"/>
                <a:cs typeface="Arial MT"/>
              </a:rPr>
              <a:t> </a:t>
            </a:r>
            <a:r>
              <a:rPr sz="1998" spc="-47" dirty="0">
                <a:latin typeface="Arial MT"/>
                <a:cs typeface="Arial MT"/>
              </a:rPr>
              <a:t>turtle</a:t>
            </a:r>
            <a:endParaRPr sz="1998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08879" y="4314484"/>
            <a:ext cx="3275942" cy="561818"/>
          </a:xfrm>
          <a:prstGeom prst="rect">
            <a:avLst/>
          </a:prstGeom>
          <a:solidFill>
            <a:srgbClr val="FFFFFF">
              <a:alpha val="81959"/>
            </a:srgbClr>
          </a:solidFill>
        </p:spPr>
        <p:txBody>
          <a:bodyPr vert="horz" wrap="square" lIns="0" tIns="69340" rIns="0" bIns="0" rtlCol="0">
            <a:spAutoFit/>
          </a:bodyPr>
          <a:lstStyle/>
          <a:p>
            <a:pPr marL="133609">
              <a:spcBef>
                <a:spcPts val="545"/>
              </a:spcBef>
            </a:pPr>
            <a:r>
              <a:rPr sz="1598" spc="-113" dirty="0">
                <a:latin typeface="Arial MT"/>
                <a:cs typeface="Arial MT"/>
              </a:rPr>
              <a:t>Deng</a:t>
            </a:r>
            <a:r>
              <a:rPr sz="1598" spc="-107" dirty="0">
                <a:latin typeface="Arial MT"/>
                <a:cs typeface="Arial MT"/>
              </a:rPr>
              <a:t> </a:t>
            </a:r>
            <a:r>
              <a:rPr sz="1598" dirty="0">
                <a:latin typeface="Arial MT"/>
                <a:cs typeface="Arial MT"/>
              </a:rPr>
              <a:t>et</a:t>
            </a:r>
            <a:r>
              <a:rPr sz="1598" spc="-73" dirty="0">
                <a:latin typeface="Arial MT"/>
                <a:cs typeface="Arial MT"/>
              </a:rPr>
              <a:t> </a:t>
            </a:r>
            <a:r>
              <a:rPr sz="1598" spc="-13" dirty="0">
                <a:latin typeface="Arial MT"/>
                <a:cs typeface="Arial MT"/>
              </a:rPr>
              <a:t>al,</a:t>
            </a:r>
            <a:r>
              <a:rPr sz="1598" spc="-60" dirty="0">
                <a:latin typeface="Arial MT"/>
                <a:cs typeface="Arial MT"/>
              </a:rPr>
              <a:t> </a:t>
            </a:r>
            <a:r>
              <a:rPr sz="1598" spc="-27" dirty="0">
                <a:latin typeface="Arial MT"/>
                <a:cs typeface="Arial MT"/>
              </a:rPr>
              <a:t>2009</a:t>
            </a:r>
            <a:endParaRPr sz="1598">
              <a:latin typeface="Arial MT"/>
              <a:cs typeface="Arial MT"/>
            </a:endParaRPr>
          </a:p>
          <a:p>
            <a:pPr marL="133609">
              <a:spcBef>
                <a:spcPts val="7"/>
              </a:spcBef>
            </a:pPr>
            <a:r>
              <a:rPr sz="1598" spc="-160" dirty="0">
                <a:latin typeface="Arial MT"/>
                <a:cs typeface="Arial MT"/>
              </a:rPr>
              <a:t>Russakovsky</a:t>
            </a:r>
            <a:r>
              <a:rPr sz="1598" spc="-67" dirty="0">
                <a:latin typeface="Arial MT"/>
                <a:cs typeface="Arial MT"/>
              </a:rPr>
              <a:t> </a:t>
            </a:r>
            <a:r>
              <a:rPr sz="1598" spc="-60" dirty="0">
                <a:latin typeface="Arial MT"/>
                <a:cs typeface="Arial MT"/>
              </a:rPr>
              <a:t>et</a:t>
            </a:r>
            <a:r>
              <a:rPr sz="1598" spc="-33" dirty="0">
                <a:latin typeface="Arial MT"/>
                <a:cs typeface="Arial MT"/>
              </a:rPr>
              <a:t> </a:t>
            </a:r>
            <a:r>
              <a:rPr sz="1598" spc="-13" dirty="0">
                <a:latin typeface="Arial MT"/>
                <a:cs typeface="Arial MT"/>
              </a:rPr>
              <a:t>al.</a:t>
            </a:r>
            <a:r>
              <a:rPr sz="1598" spc="-40" dirty="0">
                <a:latin typeface="Arial MT"/>
                <a:cs typeface="Arial MT"/>
              </a:rPr>
              <a:t> </a:t>
            </a:r>
            <a:r>
              <a:rPr sz="1598" spc="-133" dirty="0">
                <a:latin typeface="Arial MT"/>
                <a:cs typeface="Arial MT"/>
              </a:rPr>
              <a:t>IJCV</a:t>
            </a:r>
            <a:r>
              <a:rPr sz="1598" spc="-93" dirty="0">
                <a:latin typeface="Arial MT"/>
                <a:cs typeface="Arial MT"/>
              </a:rPr>
              <a:t> </a:t>
            </a:r>
            <a:r>
              <a:rPr sz="1598" spc="-27" dirty="0">
                <a:latin typeface="Arial MT"/>
                <a:cs typeface="Arial MT"/>
              </a:rPr>
              <a:t>2015</a:t>
            </a:r>
            <a:endParaRPr sz="1598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76499" y="5139826"/>
            <a:ext cx="840549" cy="366155"/>
          </a:xfrm>
          <a:custGeom>
            <a:avLst/>
            <a:gdLst/>
            <a:ahLst/>
            <a:cxnLst/>
            <a:rect l="l" t="t" r="r" b="b"/>
            <a:pathLst>
              <a:path w="631190" h="274954">
                <a:moveTo>
                  <a:pt x="0" y="274561"/>
                </a:moveTo>
                <a:lnTo>
                  <a:pt x="630935" y="274561"/>
                </a:lnTo>
                <a:lnTo>
                  <a:pt x="630935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4" name="object 34"/>
          <p:cNvSpPr txBox="1"/>
          <p:nvPr/>
        </p:nvSpPr>
        <p:spPr>
          <a:xfrm>
            <a:off x="9369073" y="5131136"/>
            <a:ext cx="862535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algn="ctr">
              <a:spcBef>
                <a:spcPts val="166"/>
              </a:spcBef>
            </a:pPr>
            <a:r>
              <a:rPr sz="732" dirty="0">
                <a:latin typeface="Calibri"/>
                <a:cs typeface="Calibri"/>
              </a:rPr>
              <a:t>2004</a:t>
            </a:r>
            <a:r>
              <a:rPr sz="732" spc="-60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,</a:t>
            </a:r>
            <a:r>
              <a:rPr sz="732" spc="80" dirty="0">
                <a:latin typeface="Calibri"/>
                <a:cs typeface="Calibri"/>
              </a:rPr>
              <a:t> </a:t>
            </a:r>
            <a:r>
              <a:rPr sz="732" spc="-27" dirty="0">
                <a:latin typeface="Calibri"/>
                <a:cs typeface="Calibri"/>
              </a:rPr>
              <a:t>2007</a:t>
            </a:r>
            <a:endParaRPr sz="732">
              <a:latin typeface="Calibri"/>
              <a:cs typeface="Calibri"/>
            </a:endParaRPr>
          </a:p>
          <a:p>
            <a:pPr algn="ctr">
              <a:spcBef>
                <a:spcPts val="87"/>
              </a:spcBef>
            </a:pPr>
            <a:r>
              <a:rPr sz="732" spc="-13" dirty="0">
                <a:latin typeface="Calibri"/>
                <a:cs typeface="Calibri"/>
              </a:rPr>
              <a:t>Caltech101;</a:t>
            </a:r>
            <a:endParaRPr sz="732">
              <a:latin typeface="Calibri"/>
              <a:cs typeface="Calibri"/>
            </a:endParaRPr>
          </a:p>
          <a:p>
            <a:pPr algn="ctr">
              <a:spcBef>
                <a:spcPts val="80"/>
              </a:spcBef>
            </a:pPr>
            <a:r>
              <a:rPr sz="732" spc="-13" dirty="0">
                <a:latin typeface="Calibri"/>
                <a:cs typeface="Calibri"/>
              </a:rPr>
              <a:t>PASCAL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03085" y="5968587"/>
            <a:ext cx="730618" cy="366155"/>
          </a:xfrm>
          <a:custGeom>
            <a:avLst/>
            <a:gdLst/>
            <a:ahLst/>
            <a:cxnLst/>
            <a:rect l="l" t="t" r="r" b="b"/>
            <a:pathLst>
              <a:path w="548639" h="274954">
                <a:moveTo>
                  <a:pt x="0" y="274561"/>
                </a:moveTo>
                <a:lnTo>
                  <a:pt x="548639" y="274561"/>
                </a:lnTo>
                <a:lnTo>
                  <a:pt x="548639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6" name="object 36"/>
          <p:cNvSpPr txBox="1"/>
          <p:nvPr/>
        </p:nvSpPr>
        <p:spPr>
          <a:xfrm>
            <a:off x="7920013" y="5953301"/>
            <a:ext cx="71539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94495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1998</a:t>
            </a:r>
            <a:endParaRPr sz="1199">
              <a:latin typeface="Calibri"/>
              <a:cs typeface="Calibri"/>
            </a:endParaRPr>
          </a:p>
          <a:p>
            <a:pPr marL="165743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LeNet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69978" y="5705125"/>
            <a:ext cx="7818627" cy="635061"/>
            <a:chOff x="147002" y="4291279"/>
            <a:chExt cx="5871210" cy="476884"/>
          </a:xfrm>
        </p:grpSpPr>
        <p:sp>
          <p:nvSpPr>
            <p:cNvPr id="38" name="object 38"/>
            <p:cNvSpPr/>
            <p:nvPr/>
          </p:nvSpPr>
          <p:spPr>
            <a:xfrm>
              <a:off x="512064" y="4310646"/>
              <a:ext cx="5486400" cy="172085"/>
            </a:xfrm>
            <a:custGeom>
              <a:avLst/>
              <a:gdLst/>
              <a:ahLst/>
              <a:cxnLst/>
              <a:rect l="l" t="t" r="r" b="b"/>
              <a:pathLst>
                <a:path w="5486400" h="172085">
                  <a:moveTo>
                    <a:pt x="5486400" y="171602"/>
                  </a:moveTo>
                  <a:lnTo>
                    <a:pt x="5486400" y="0"/>
                  </a:lnTo>
                </a:path>
                <a:path w="5486400"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9" name="object 39"/>
            <p:cNvSpPr/>
            <p:nvPr/>
          </p:nvSpPr>
          <p:spPr>
            <a:xfrm>
              <a:off x="160019" y="4479975"/>
              <a:ext cx="822960" cy="274955"/>
            </a:xfrm>
            <a:custGeom>
              <a:avLst/>
              <a:gdLst/>
              <a:ahLst/>
              <a:cxnLst/>
              <a:rect l="l" t="t" r="r" b="b"/>
              <a:pathLst>
                <a:path w="822960" h="274954">
                  <a:moveTo>
                    <a:pt x="0" y="274561"/>
                  </a:moveTo>
                  <a:lnTo>
                    <a:pt x="822960" y="274561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10330" y="5941953"/>
            <a:ext cx="1056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1958</a:t>
            </a:r>
            <a:endParaRPr sz="1199">
              <a:latin typeface="Calibri"/>
              <a:cs typeface="Calibri"/>
            </a:endParaRPr>
          </a:p>
          <a:p>
            <a:pPr marR="16913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Perceptron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760737" y="5705126"/>
            <a:ext cx="1678561" cy="646901"/>
            <a:chOff x="1116266" y="4291279"/>
            <a:chExt cx="1260475" cy="485775"/>
          </a:xfrm>
        </p:grpSpPr>
        <p:sp>
          <p:nvSpPr>
            <p:cNvPr id="42" name="object 42"/>
            <p:cNvSpPr/>
            <p:nvPr/>
          </p:nvSpPr>
          <p:spPr>
            <a:xfrm>
              <a:off x="202082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3" name="object 43"/>
            <p:cNvSpPr/>
            <p:nvPr/>
          </p:nvSpPr>
          <p:spPr>
            <a:xfrm>
              <a:off x="1129283" y="4489119"/>
              <a:ext cx="1234440" cy="274955"/>
            </a:xfrm>
            <a:custGeom>
              <a:avLst/>
              <a:gdLst/>
              <a:ahLst/>
              <a:cxnLst/>
              <a:rect l="l" t="t" r="r" b="b"/>
              <a:pathLst>
                <a:path w="1234439" h="274954">
                  <a:moveTo>
                    <a:pt x="0" y="274561"/>
                  </a:moveTo>
                  <a:lnTo>
                    <a:pt x="1234440" y="274561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94999" y="5953301"/>
            <a:ext cx="1610066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1969</a:t>
            </a:r>
            <a:endParaRPr sz="1199">
              <a:latin typeface="Calibri"/>
              <a:cs typeface="Calibri"/>
            </a:endParaRPr>
          </a:p>
          <a:p>
            <a:pPr marL="1014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Minsky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&amp;</a:t>
            </a:r>
            <a:r>
              <a:rPr sz="1199" spc="6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Papert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33405" y="5705125"/>
            <a:ext cx="1350458" cy="635061"/>
            <a:chOff x="2597594" y="4291279"/>
            <a:chExt cx="1014094" cy="476884"/>
          </a:xfrm>
        </p:grpSpPr>
        <p:sp>
          <p:nvSpPr>
            <p:cNvPr id="46" name="object 46"/>
            <p:cNvSpPr/>
            <p:nvPr/>
          </p:nvSpPr>
          <p:spPr>
            <a:xfrm>
              <a:off x="3529584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7" name="object 47"/>
            <p:cNvSpPr/>
            <p:nvPr/>
          </p:nvSpPr>
          <p:spPr>
            <a:xfrm>
              <a:off x="2610612" y="4479975"/>
              <a:ext cx="988060" cy="274955"/>
            </a:xfrm>
            <a:custGeom>
              <a:avLst/>
              <a:gdLst/>
              <a:ahLst/>
              <a:cxnLst/>
              <a:rect l="l" t="t" r="r" b="b"/>
              <a:pathLst>
                <a:path w="988060" h="274954">
                  <a:moveTo>
                    <a:pt x="0" y="274561"/>
                  </a:moveTo>
                  <a:lnTo>
                    <a:pt x="987551" y="274561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67668" y="5941953"/>
            <a:ext cx="1281964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422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1980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Neocognitron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58110" y="5705126"/>
            <a:ext cx="1021512" cy="646901"/>
            <a:chOff x="3667442" y="4291279"/>
            <a:chExt cx="767080" cy="485775"/>
          </a:xfrm>
        </p:grpSpPr>
        <p:sp>
          <p:nvSpPr>
            <p:cNvPr id="50" name="object 50"/>
            <p:cNvSpPr/>
            <p:nvPr/>
          </p:nvSpPr>
          <p:spPr>
            <a:xfrm>
              <a:off x="421538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0459" y="4489119"/>
              <a:ext cx="741045" cy="274955"/>
            </a:xfrm>
            <a:custGeom>
              <a:avLst/>
              <a:gdLst/>
              <a:ahLst/>
              <a:cxnLst/>
              <a:rect l="l" t="t" r="r" b="b"/>
              <a:pathLst>
                <a:path w="741045" h="274954">
                  <a:moveTo>
                    <a:pt x="0" y="274561"/>
                  </a:moveTo>
                  <a:lnTo>
                    <a:pt x="740663" y="274561"/>
                  </a:lnTo>
                  <a:lnTo>
                    <a:pt x="740663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92373" y="5953301"/>
            <a:ext cx="95301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3383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1985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Backprop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986836" y="5968587"/>
            <a:ext cx="1120450" cy="366155"/>
          </a:xfrm>
          <a:custGeom>
            <a:avLst/>
            <a:gdLst/>
            <a:ahLst/>
            <a:cxnLst/>
            <a:rect l="l" t="t" r="r" b="b"/>
            <a:pathLst>
              <a:path w="841375" h="274954">
                <a:moveTo>
                  <a:pt x="0" y="274561"/>
                </a:moveTo>
                <a:lnTo>
                  <a:pt x="841248" y="274561"/>
                </a:lnTo>
                <a:lnTo>
                  <a:pt x="841248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4" name="object 54"/>
          <p:cNvSpPr txBox="1"/>
          <p:nvPr/>
        </p:nvSpPr>
        <p:spPr>
          <a:xfrm>
            <a:off x="9003764" y="5963783"/>
            <a:ext cx="1086625" cy="366223"/>
          </a:xfrm>
          <a:prstGeom prst="rect">
            <a:avLst/>
          </a:prstGeom>
        </p:spPr>
        <p:txBody>
          <a:bodyPr vert="horz" wrap="square" lIns="0" tIns="25369" rIns="0" bIns="0" rtlCol="0">
            <a:spAutoFit/>
          </a:bodyPr>
          <a:lstStyle/>
          <a:p>
            <a:pPr marL="16067" algn="ctr">
              <a:spcBef>
                <a:spcPts val="200"/>
              </a:spcBef>
            </a:pPr>
            <a:r>
              <a:rPr sz="1065" spc="-27" dirty="0">
                <a:latin typeface="Calibri"/>
                <a:cs typeface="Calibri"/>
              </a:rPr>
              <a:t>2006</a:t>
            </a:r>
            <a:endParaRPr sz="1065">
              <a:latin typeface="Calibri"/>
              <a:cs typeface="Calibri"/>
            </a:endParaRPr>
          </a:p>
          <a:p>
            <a:pPr marL="9302"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Deep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Learning</a:t>
            </a:r>
            <a:endParaRPr sz="1065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08164" y="5573835"/>
            <a:ext cx="10423991" cy="385604"/>
            <a:chOff x="100584" y="4192690"/>
            <a:chExt cx="7827645" cy="289560"/>
          </a:xfrm>
        </p:grpSpPr>
        <p:sp>
          <p:nvSpPr>
            <p:cNvPr id="56" name="object 56"/>
            <p:cNvSpPr/>
            <p:nvPr/>
          </p:nvSpPr>
          <p:spPr>
            <a:xfrm>
              <a:off x="709574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object 57"/>
            <p:cNvSpPr/>
            <p:nvPr/>
          </p:nvSpPr>
          <p:spPr>
            <a:xfrm>
              <a:off x="100584" y="4310652"/>
              <a:ext cx="7827645" cy="0"/>
            </a:xfrm>
            <a:custGeom>
              <a:avLst/>
              <a:gdLst/>
              <a:ahLst/>
              <a:cxnLst/>
              <a:rect l="l" t="t" r="r" b="b"/>
              <a:pathLst>
                <a:path w="7827645">
                  <a:moveTo>
                    <a:pt x="0" y="0"/>
                  </a:moveTo>
                  <a:lnTo>
                    <a:pt x="4393692" y="0"/>
                  </a:lnTo>
                </a:path>
                <a:path w="7827645">
                  <a:moveTo>
                    <a:pt x="5216652" y="0"/>
                  </a:moveTo>
                  <a:lnTo>
                    <a:pt x="7827645" y="0"/>
                  </a:lnTo>
                </a:path>
              </a:pathLst>
            </a:custGeom>
            <a:ln w="38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object 58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822960" y="0"/>
                  </a:moveTo>
                  <a:lnTo>
                    <a:pt x="0" y="0"/>
                  </a:lnTo>
                  <a:lnTo>
                    <a:pt x="0" y="210502"/>
                  </a:lnTo>
                  <a:lnTo>
                    <a:pt x="822960" y="210502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9" name="object 59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0" y="210502"/>
                  </a:moveTo>
                  <a:lnTo>
                    <a:pt x="822960" y="210502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10502"/>
                  </a:lnTo>
                  <a:close/>
                </a:path>
              </a:pathLst>
            </a:custGeom>
            <a:ln w="2542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450813" y="5606035"/>
            <a:ext cx="7314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39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3" dirty="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452808" y="6437011"/>
            <a:ext cx="1221079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794509" y="6454229"/>
            <a:ext cx="2291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-33" dirty="0">
                <a:solidFill>
                  <a:srgbClr val="FFFFFF"/>
                </a:solidFill>
                <a:latin typeface="Calibri"/>
                <a:cs typeface="Calibri"/>
              </a:rPr>
              <a:t>52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9079" y="6501272"/>
            <a:ext cx="1497598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CS231n: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1398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398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67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5591" y="6501272"/>
            <a:ext cx="3565991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Fei-Fei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Adeli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Durante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Johnson</a:t>
            </a:r>
            <a:r>
              <a:rPr sz="1398" spc="15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Xiang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0450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" name="object 5"/>
          <p:cNvSpPr txBox="1"/>
          <p:nvPr/>
        </p:nvSpPr>
        <p:spPr>
          <a:xfrm>
            <a:off x="665072" y="5168401"/>
            <a:ext cx="1175416" cy="35597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15221" rIns="0" bIns="0" rtlCol="0">
            <a:spAutoFit/>
          </a:bodyPr>
          <a:lstStyle/>
          <a:p>
            <a:pPr marL="8456" algn="ctr">
              <a:spcBef>
                <a:spcPts val="120"/>
              </a:spcBef>
            </a:pPr>
            <a:r>
              <a:rPr sz="1065" spc="-27" dirty="0">
                <a:latin typeface="Calibri"/>
                <a:cs typeface="Calibri"/>
              </a:rPr>
              <a:t>1959</a:t>
            </a:r>
            <a:endParaRPr sz="1065">
              <a:latin typeface="Calibri"/>
              <a:cs typeface="Calibri"/>
            </a:endParaRPr>
          </a:p>
          <a:p>
            <a:pPr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Hubel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Wiesel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1068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2036167" y="5168401"/>
            <a:ext cx="887904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R="13530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1963</a:t>
            </a:r>
            <a:endParaRPr sz="1199">
              <a:latin typeface="Calibri"/>
              <a:cs typeface="Calibri"/>
            </a:endParaRPr>
          </a:p>
          <a:p>
            <a:pPr marR="11839" algn="ctr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Roberts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32922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3146129" y="5168401"/>
            <a:ext cx="1178798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" algn="ctr">
              <a:spcBef>
                <a:spcPts val="20"/>
              </a:spcBef>
            </a:pPr>
            <a:r>
              <a:rPr sz="1199" spc="-13" dirty="0">
                <a:latin typeface="Calibri"/>
                <a:cs typeface="Calibri"/>
              </a:rPr>
              <a:t>1970s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David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Marr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63540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4409490" y="5168401"/>
            <a:ext cx="138851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7611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1979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Gen.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Cylinders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42123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 txBox="1"/>
          <p:nvPr/>
        </p:nvSpPr>
        <p:spPr>
          <a:xfrm>
            <a:off x="5943786" y="5168401"/>
            <a:ext cx="75514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224092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1986</a:t>
            </a:r>
            <a:endParaRPr sz="1199">
              <a:latin typeface="Calibri"/>
              <a:cs typeface="Calibri"/>
            </a:endParaRPr>
          </a:p>
          <a:p>
            <a:pPr marL="185193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Canny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02614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5" name="object 15"/>
          <p:cNvSpPr txBox="1"/>
          <p:nvPr/>
        </p:nvSpPr>
        <p:spPr>
          <a:xfrm>
            <a:off x="7198014" y="5168401"/>
            <a:ext cx="100967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3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1997</a:t>
            </a:r>
            <a:endParaRPr sz="1199">
              <a:latin typeface="Calibri"/>
              <a:cs typeface="Calibri"/>
            </a:endParaRPr>
          </a:p>
          <a:p>
            <a:pPr marL="8456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Norm.</a:t>
            </a:r>
            <a:r>
              <a:rPr sz="1199" spc="-20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Cuts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09808" y="5151066"/>
            <a:ext cx="607157" cy="631680"/>
            <a:chOff x="6355778" y="3853763"/>
            <a:chExt cx="455930" cy="474345"/>
          </a:xfrm>
        </p:grpSpPr>
        <p:sp>
          <p:nvSpPr>
            <p:cNvPr id="17" name="object 17"/>
            <p:cNvSpPr/>
            <p:nvPr/>
          </p:nvSpPr>
          <p:spPr>
            <a:xfrm>
              <a:off x="6455663" y="413675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8795" y="3866781"/>
              <a:ext cx="429895" cy="274955"/>
            </a:xfrm>
            <a:custGeom>
              <a:avLst/>
              <a:gdLst/>
              <a:ahLst/>
              <a:cxnLst/>
              <a:rect l="l" t="t" r="r" b="b"/>
              <a:pathLst>
                <a:path w="429895" h="274954">
                  <a:moveTo>
                    <a:pt x="0" y="274561"/>
                  </a:moveTo>
                  <a:lnTo>
                    <a:pt x="429768" y="274561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44072" y="5147957"/>
            <a:ext cx="563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16697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2001</a:t>
            </a:r>
            <a:endParaRPr sz="1199">
              <a:latin typeface="Calibri"/>
              <a:cs typeface="Calibri"/>
            </a:endParaRPr>
          </a:p>
          <a:p>
            <a:pPr marL="149676">
              <a:spcBef>
                <a:spcPts val="7"/>
              </a:spcBef>
            </a:pPr>
            <a:r>
              <a:rPr sz="1199" spc="-33" dirty="0">
                <a:latin typeface="Calibri"/>
                <a:cs typeface="Calibri"/>
              </a:rPr>
              <a:t>V&amp;J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16630" y="5527925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 txBox="1"/>
          <p:nvPr/>
        </p:nvSpPr>
        <p:spPr>
          <a:xfrm>
            <a:off x="8281765" y="5168401"/>
            <a:ext cx="54204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31918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1999</a:t>
            </a:r>
            <a:endParaRPr sz="1199">
              <a:latin typeface="Calibri"/>
              <a:cs typeface="Calibri"/>
            </a:endParaRPr>
          </a:p>
          <a:p>
            <a:pPr marL="158133">
              <a:lnSpc>
                <a:spcPts val="1412"/>
              </a:lnSpc>
              <a:spcBef>
                <a:spcPts val="7"/>
              </a:spcBef>
            </a:pPr>
            <a:r>
              <a:rPr sz="1199" spc="-27" dirty="0">
                <a:latin typeface="Calibri"/>
                <a:cs typeface="Calibri"/>
              </a:rPr>
              <a:t>SIFT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052075" y="5151066"/>
            <a:ext cx="1315789" cy="631680"/>
            <a:chOff x="7213536" y="3853763"/>
            <a:chExt cx="988060" cy="474345"/>
          </a:xfrm>
        </p:grpSpPr>
        <p:sp>
          <p:nvSpPr>
            <p:cNvPr id="23" name="object 23"/>
            <p:cNvSpPr/>
            <p:nvPr/>
          </p:nvSpPr>
          <p:spPr>
            <a:xfrm>
              <a:off x="7232903" y="4136758"/>
              <a:ext cx="274320" cy="172085"/>
            </a:xfrm>
            <a:custGeom>
              <a:avLst/>
              <a:gdLst/>
              <a:ahLst/>
              <a:cxnLst/>
              <a:rect l="l" t="t" r="r" b="b"/>
              <a:pathLst>
                <a:path w="274320" h="172085">
                  <a:moveTo>
                    <a:pt x="0" y="171602"/>
                  </a:moveTo>
                  <a:lnTo>
                    <a:pt x="0" y="0"/>
                  </a:lnTo>
                </a:path>
                <a:path w="274320" h="172085">
                  <a:moveTo>
                    <a:pt x="274320" y="171602"/>
                  </a:moveTo>
                  <a:lnTo>
                    <a:pt x="27432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2651" y="3866781"/>
              <a:ext cx="685800" cy="274955"/>
            </a:xfrm>
            <a:custGeom>
              <a:avLst/>
              <a:gdLst/>
              <a:ahLst/>
              <a:cxnLst/>
              <a:rect l="l" t="t" r="r" b="b"/>
              <a:pathLst>
                <a:path w="685800" h="274954">
                  <a:moveTo>
                    <a:pt x="0" y="274561"/>
                  </a:moveTo>
                  <a:lnTo>
                    <a:pt x="685800" y="274561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514900" y="5147957"/>
            <a:ext cx="81856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41436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2009</a:t>
            </a:r>
            <a:endParaRPr sz="1199">
              <a:latin typeface="Calibri"/>
              <a:cs typeface="Calibri"/>
            </a:endParaRPr>
          </a:p>
          <a:p>
            <a:pPr marR="52429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ImageNet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9834" y="317977"/>
            <a:ext cx="11032332" cy="4484812"/>
            <a:chOff x="429767" y="183019"/>
            <a:chExt cx="8284464" cy="3367762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7" y="183019"/>
              <a:ext cx="8284464" cy="55827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067" y="832600"/>
              <a:ext cx="6044184" cy="2718181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9548169" y="5168401"/>
            <a:ext cx="950480" cy="366155"/>
          </a:xfrm>
          <a:custGeom>
            <a:avLst/>
            <a:gdLst/>
            <a:ahLst/>
            <a:cxnLst/>
            <a:rect l="l" t="t" r="r" b="b"/>
            <a:pathLst>
              <a:path w="713740" h="274954">
                <a:moveTo>
                  <a:pt x="0" y="274561"/>
                </a:moveTo>
                <a:lnTo>
                  <a:pt x="713231" y="274561"/>
                </a:lnTo>
                <a:lnTo>
                  <a:pt x="713231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1" name="object 31"/>
          <p:cNvSpPr txBox="1"/>
          <p:nvPr/>
        </p:nvSpPr>
        <p:spPr>
          <a:xfrm>
            <a:off x="9540743" y="5159711"/>
            <a:ext cx="877756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92174" algn="ctr">
              <a:spcBef>
                <a:spcPts val="166"/>
              </a:spcBef>
            </a:pPr>
            <a:r>
              <a:rPr sz="732" dirty="0">
                <a:latin typeface="Calibri"/>
                <a:cs typeface="Calibri"/>
              </a:rPr>
              <a:t>2004</a:t>
            </a:r>
            <a:r>
              <a:rPr sz="732" spc="-67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,</a:t>
            </a:r>
            <a:r>
              <a:rPr sz="732" spc="60" dirty="0">
                <a:latin typeface="Calibri"/>
                <a:cs typeface="Calibri"/>
              </a:rPr>
              <a:t> </a:t>
            </a:r>
            <a:r>
              <a:rPr sz="732" spc="-27" dirty="0">
                <a:latin typeface="Calibri"/>
                <a:cs typeface="Calibri"/>
              </a:rPr>
              <a:t>2007</a:t>
            </a:r>
            <a:endParaRPr sz="732">
              <a:latin typeface="Calibri"/>
              <a:cs typeface="Calibri"/>
            </a:endParaRPr>
          </a:p>
          <a:p>
            <a:pPr marL="97247" algn="ctr">
              <a:spcBef>
                <a:spcPts val="87"/>
              </a:spcBef>
            </a:pPr>
            <a:r>
              <a:rPr sz="732" spc="-13" dirty="0">
                <a:latin typeface="Calibri"/>
                <a:cs typeface="Calibri"/>
              </a:rPr>
              <a:t>Caltech101;</a:t>
            </a:r>
            <a:endParaRPr sz="732">
              <a:latin typeface="Calibri"/>
              <a:cs typeface="Calibri"/>
            </a:endParaRPr>
          </a:p>
          <a:p>
            <a:pPr marL="90482" algn="ctr">
              <a:spcBef>
                <a:spcPts val="80"/>
              </a:spcBef>
            </a:pPr>
            <a:r>
              <a:rPr sz="732" spc="-13" dirty="0">
                <a:latin typeface="Calibri"/>
                <a:cs typeface="Calibri"/>
              </a:rPr>
              <a:t>PASCAL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074755" y="5997162"/>
            <a:ext cx="730618" cy="366155"/>
          </a:xfrm>
          <a:custGeom>
            <a:avLst/>
            <a:gdLst/>
            <a:ahLst/>
            <a:cxnLst/>
            <a:rect l="l" t="t" r="r" b="b"/>
            <a:pathLst>
              <a:path w="548639" h="274954">
                <a:moveTo>
                  <a:pt x="0" y="274561"/>
                </a:moveTo>
                <a:lnTo>
                  <a:pt x="548639" y="274561"/>
                </a:lnTo>
                <a:lnTo>
                  <a:pt x="548639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3" name="object 33"/>
          <p:cNvSpPr txBox="1"/>
          <p:nvPr/>
        </p:nvSpPr>
        <p:spPr>
          <a:xfrm>
            <a:off x="8091683" y="5981876"/>
            <a:ext cx="71539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94495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1998</a:t>
            </a:r>
            <a:endParaRPr sz="1199">
              <a:latin typeface="Calibri"/>
              <a:cs typeface="Calibri"/>
            </a:endParaRPr>
          </a:p>
          <a:p>
            <a:pPr marL="165743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LeNet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1648" y="5733700"/>
            <a:ext cx="7818627" cy="635061"/>
            <a:chOff x="147002" y="4291279"/>
            <a:chExt cx="5871210" cy="476884"/>
          </a:xfrm>
        </p:grpSpPr>
        <p:sp>
          <p:nvSpPr>
            <p:cNvPr id="35" name="object 35"/>
            <p:cNvSpPr/>
            <p:nvPr/>
          </p:nvSpPr>
          <p:spPr>
            <a:xfrm>
              <a:off x="512064" y="4310646"/>
              <a:ext cx="5486400" cy="172085"/>
            </a:xfrm>
            <a:custGeom>
              <a:avLst/>
              <a:gdLst/>
              <a:ahLst/>
              <a:cxnLst/>
              <a:rect l="l" t="t" r="r" b="b"/>
              <a:pathLst>
                <a:path w="5486400" h="172085">
                  <a:moveTo>
                    <a:pt x="5486400" y="171602"/>
                  </a:moveTo>
                  <a:lnTo>
                    <a:pt x="5486400" y="0"/>
                  </a:lnTo>
                </a:path>
                <a:path w="5486400"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6" name="object 36"/>
            <p:cNvSpPr/>
            <p:nvPr/>
          </p:nvSpPr>
          <p:spPr>
            <a:xfrm>
              <a:off x="160019" y="4479975"/>
              <a:ext cx="822960" cy="274955"/>
            </a:xfrm>
            <a:custGeom>
              <a:avLst/>
              <a:gdLst/>
              <a:ahLst/>
              <a:cxnLst/>
              <a:rect l="l" t="t" r="r" b="b"/>
              <a:pathLst>
                <a:path w="822960" h="274954">
                  <a:moveTo>
                    <a:pt x="0" y="274561"/>
                  </a:moveTo>
                  <a:lnTo>
                    <a:pt x="822960" y="274561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82000" y="5970528"/>
            <a:ext cx="1056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1958</a:t>
            </a:r>
            <a:endParaRPr sz="1199">
              <a:latin typeface="Calibri"/>
              <a:cs typeface="Calibri"/>
            </a:endParaRPr>
          </a:p>
          <a:p>
            <a:pPr marR="16913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Perceptron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932407" y="5733701"/>
            <a:ext cx="1678561" cy="646901"/>
            <a:chOff x="1116266" y="4291279"/>
            <a:chExt cx="1260475" cy="485775"/>
          </a:xfrm>
        </p:grpSpPr>
        <p:sp>
          <p:nvSpPr>
            <p:cNvPr id="39" name="object 39"/>
            <p:cNvSpPr/>
            <p:nvPr/>
          </p:nvSpPr>
          <p:spPr>
            <a:xfrm>
              <a:off x="202082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0" name="object 40"/>
            <p:cNvSpPr/>
            <p:nvPr/>
          </p:nvSpPr>
          <p:spPr>
            <a:xfrm>
              <a:off x="1129283" y="4489119"/>
              <a:ext cx="1234440" cy="274955"/>
            </a:xfrm>
            <a:custGeom>
              <a:avLst/>
              <a:gdLst/>
              <a:ahLst/>
              <a:cxnLst/>
              <a:rect l="l" t="t" r="r" b="b"/>
              <a:pathLst>
                <a:path w="1234439" h="274954">
                  <a:moveTo>
                    <a:pt x="0" y="274561"/>
                  </a:moveTo>
                  <a:lnTo>
                    <a:pt x="1234440" y="274561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966669" y="5981876"/>
            <a:ext cx="1610066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1969</a:t>
            </a:r>
            <a:endParaRPr sz="1199">
              <a:latin typeface="Calibri"/>
              <a:cs typeface="Calibri"/>
            </a:endParaRPr>
          </a:p>
          <a:p>
            <a:pPr marL="1014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Minsky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&amp;</a:t>
            </a:r>
            <a:r>
              <a:rPr sz="1199" spc="6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Papert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905075" y="5733700"/>
            <a:ext cx="1350458" cy="635061"/>
            <a:chOff x="2597594" y="4291279"/>
            <a:chExt cx="1014094" cy="476884"/>
          </a:xfrm>
        </p:grpSpPr>
        <p:sp>
          <p:nvSpPr>
            <p:cNvPr id="43" name="object 43"/>
            <p:cNvSpPr/>
            <p:nvPr/>
          </p:nvSpPr>
          <p:spPr>
            <a:xfrm>
              <a:off x="3529584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2610612" y="4479975"/>
              <a:ext cx="988060" cy="274955"/>
            </a:xfrm>
            <a:custGeom>
              <a:avLst/>
              <a:gdLst/>
              <a:ahLst/>
              <a:cxnLst/>
              <a:rect l="l" t="t" r="r" b="b"/>
              <a:pathLst>
                <a:path w="988060" h="274954">
                  <a:moveTo>
                    <a:pt x="0" y="274561"/>
                  </a:moveTo>
                  <a:lnTo>
                    <a:pt x="987551" y="274561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39338" y="5970528"/>
            <a:ext cx="1281964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422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1980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Neocognitron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329780" y="5733701"/>
            <a:ext cx="1021512" cy="646901"/>
            <a:chOff x="3667442" y="4291279"/>
            <a:chExt cx="767080" cy="485775"/>
          </a:xfrm>
        </p:grpSpPr>
        <p:sp>
          <p:nvSpPr>
            <p:cNvPr id="47" name="object 47"/>
            <p:cNvSpPr/>
            <p:nvPr/>
          </p:nvSpPr>
          <p:spPr>
            <a:xfrm>
              <a:off x="421538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object 48"/>
            <p:cNvSpPr/>
            <p:nvPr/>
          </p:nvSpPr>
          <p:spPr>
            <a:xfrm>
              <a:off x="3680459" y="4489119"/>
              <a:ext cx="741045" cy="274955"/>
            </a:xfrm>
            <a:custGeom>
              <a:avLst/>
              <a:gdLst/>
              <a:ahLst/>
              <a:cxnLst/>
              <a:rect l="l" t="t" r="r" b="b"/>
              <a:pathLst>
                <a:path w="741045" h="274954">
                  <a:moveTo>
                    <a:pt x="0" y="274561"/>
                  </a:moveTo>
                  <a:lnTo>
                    <a:pt x="740663" y="274561"/>
                  </a:lnTo>
                  <a:lnTo>
                    <a:pt x="740663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364043" y="5981876"/>
            <a:ext cx="95301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3383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1985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Backprop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158506" y="5997162"/>
            <a:ext cx="1120450" cy="366155"/>
          </a:xfrm>
          <a:custGeom>
            <a:avLst/>
            <a:gdLst/>
            <a:ahLst/>
            <a:cxnLst/>
            <a:rect l="l" t="t" r="r" b="b"/>
            <a:pathLst>
              <a:path w="841375" h="274954">
                <a:moveTo>
                  <a:pt x="0" y="274561"/>
                </a:moveTo>
                <a:lnTo>
                  <a:pt x="841248" y="274561"/>
                </a:lnTo>
                <a:lnTo>
                  <a:pt x="841248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1" name="object 51"/>
          <p:cNvSpPr txBox="1"/>
          <p:nvPr/>
        </p:nvSpPr>
        <p:spPr>
          <a:xfrm>
            <a:off x="9175434" y="5992358"/>
            <a:ext cx="1086625" cy="366223"/>
          </a:xfrm>
          <a:prstGeom prst="rect">
            <a:avLst/>
          </a:prstGeom>
        </p:spPr>
        <p:txBody>
          <a:bodyPr vert="horz" wrap="square" lIns="0" tIns="25369" rIns="0" bIns="0" rtlCol="0">
            <a:spAutoFit/>
          </a:bodyPr>
          <a:lstStyle/>
          <a:p>
            <a:pPr marL="16067" algn="ctr">
              <a:spcBef>
                <a:spcPts val="200"/>
              </a:spcBef>
            </a:pPr>
            <a:r>
              <a:rPr sz="1065" spc="-27" dirty="0">
                <a:latin typeface="Calibri"/>
                <a:cs typeface="Calibri"/>
              </a:rPr>
              <a:t>2006</a:t>
            </a:r>
            <a:endParaRPr sz="1065">
              <a:latin typeface="Calibri"/>
              <a:cs typeface="Calibri"/>
            </a:endParaRPr>
          </a:p>
          <a:p>
            <a:pPr marL="9302"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Deep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Learning</a:t>
            </a:r>
            <a:endParaRPr sz="1065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9834" y="5602410"/>
            <a:ext cx="10423991" cy="385604"/>
            <a:chOff x="100584" y="4192690"/>
            <a:chExt cx="7827645" cy="289560"/>
          </a:xfrm>
        </p:grpSpPr>
        <p:sp>
          <p:nvSpPr>
            <p:cNvPr id="53" name="object 53"/>
            <p:cNvSpPr/>
            <p:nvPr/>
          </p:nvSpPr>
          <p:spPr>
            <a:xfrm>
              <a:off x="709574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4" name="object 54"/>
            <p:cNvSpPr/>
            <p:nvPr/>
          </p:nvSpPr>
          <p:spPr>
            <a:xfrm>
              <a:off x="100584" y="4310652"/>
              <a:ext cx="7827645" cy="0"/>
            </a:xfrm>
            <a:custGeom>
              <a:avLst/>
              <a:gdLst/>
              <a:ahLst/>
              <a:cxnLst/>
              <a:rect l="l" t="t" r="r" b="b"/>
              <a:pathLst>
                <a:path w="7827645">
                  <a:moveTo>
                    <a:pt x="0" y="0"/>
                  </a:moveTo>
                  <a:lnTo>
                    <a:pt x="4393692" y="0"/>
                  </a:lnTo>
                </a:path>
                <a:path w="7827645">
                  <a:moveTo>
                    <a:pt x="5216652" y="0"/>
                  </a:moveTo>
                  <a:lnTo>
                    <a:pt x="7827645" y="0"/>
                  </a:lnTo>
                </a:path>
              </a:pathLst>
            </a:custGeom>
            <a:ln w="38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object 55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822960" y="0"/>
                  </a:moveTo>
                  <a:lnTo>
                    <a:pt x="0" y="0"/>
                  </a:lnTo>
                  <a:lnTo>
                    <a:pt x="0" y="210502"/>
                  </a:lnTo>
                  <a:lnTo>
                    <a:pt x="822960" y="210502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object 56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0" y="210502"/>
                  </a:moveTo>
                  <a:lnTo>
                    <a:pt x="822960" y="210502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10502"/>
                  </a:lnTo>
                  <a:close/>
                </a:path>
              </a:pathLst>
            </a:custGeom>
            <a:ln w="2542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622483" y="5634610"/>
            <a:ext cx="7314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39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3" dirty="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624478" y="6465586"/>
            <a:ext cx="1221079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66179" y="6482804"/>
            <a:ext cx="2291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-33" dirty="0">
                <a:solidFill>
                  <a:srgbClr val="FFFFFF"/>
                </a:solidFill>
                <a:latin typeface="Calibri"/>
                <a:cs typeface="Calibri"/>
              </a:rPr>
              <a:t>53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0943" y="6546855"/>
            <a:ext cx="1497598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CS231n: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1398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398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67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398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7455" y="6546855"/>
            <a:ext cx="3565991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Fei-Fei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Adeli</a:t>
            </a:r>
            <a:r>
              <a:rPr sz="1398" spc="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Durante</a:t>
            </a:r>
            <a:r>
              <a:rPr sz="1398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Johnson</a:t>
            </a:r>
            <a:r>
              <a:rPr sz="1398" spc="15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98" spc="1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Xiang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2314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" name="object 5"/>
          <p:cNvSpPr txBox="1"/>
          <p:nvPr/>
        </p:nvSpPr>
        <p:spPr>
          <a:xfrm>
            <a:off x="566936" y="5213984"/>
            <a:ext cx="1175416" cy="35597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15221" rIns="0" bIns="0" rtlCol="0">
            <a:spAutoFit/>
          </a:bodyPr>
          <a:lstStyle/>
          <a:p>
            <a:pPr marL="8456" algn="ctr">
              <a:spcBef>
                <a:spcPts val="120"/>
              </a:spcBef>
            </a:pPr>
            <a:r>
              <a:rPr sz="1065" spc="-27" dirty="0">
                <a:latin typeface="Calibri"/>
                <a:cs typeface="Calibri"/>
              </a:rPr>
              <a:t>1959</a:t>
            </a:r>
            <a:endParaRPr sz="1065">
              <a:latin typeface="Calibri"/>
              <a:cs typeface="Calibri"/>
            </a:endParaRPr>
          </a:p>
          <a:p>
            <a:pPr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Hubel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&amp;</a:t>
            </a:r>
            <a:r>
              <a:rPr sz="1065" spc="-13" dirty="0">
                <a:latin typeface="Calibri"/>
                <a:cs typeface="Calibri"/>
              </a:rPr>
              <a:t> Wiesel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2932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1938031" y="5213984"/>
            <a:ext cx="887904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R="13530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1963</a:t>
            </a:r>
            <a:endParaRPr sz="1199">
              <a:latin typeface="Calibri"/>
              <a:cs typeface="Calibri"/>
            </a:endParaRPr>
          </a:p>
          <a:p>
            <a:pPr marR="11839" algn="ctr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Roberts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34786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3047993" y="5213984"/>
            <a:ext cx="1178798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" algn="ctr">
              <a:spcBef>
                <a:spcPts val="20"/>
              </a:spcBef>
            </a:pPr>
            <a:r>
              <a:rPr sz="1199" spc="-13" dirty="0">
                <a:latin typeface="Calibri"/>
                <a:cs typeface="Calibri"/>
              </a:rPr>
              <a:t>1970s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David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Marr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65404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4311354" y="5213984"/>
            <a:ext cx="138851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7611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1979</a:t>
            </a:r>
            <a:endParaRPr sz="1199">
              <a:latin typeface="Calibri"/>
              <a:cs typeface="Calibri"/>
            </a:endParaRPr>
          </a:p>
          <a:p>
            <a:pPr marL="5919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Gen.</a:t>
            </a:r>
            <a:r>
              <a:rPr sz="1199" spc="7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Cylinders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43987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 txBox="1"/>
          <p:nvPr/>
        </p:nvSpPr>
        <p:spPr>
          <a:xfrm>
            <a:off x="5845650" y="5213984"/>
            <a:ext cx="755141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224092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1986</a:t>
            </a:r>
            <a:endParaRPr sz="1199">
              <a:latin typeface="Calibri"/>
              <a:cs typeface="Calibri"/>
            </a:endParaRPr>
          </a:p>
          <a:p>
            <a:pPr marL="185193">
              <a:lnSpc>
                <a:spcPts val="1412"/>
              </a:lnSpc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Canny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04478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5" name="object 15"/>
          <p:cNvSpPr txBox="1"/>
          <p:nvPr/>
        </p:nvSpPr>
        <p:spPr>
          <a:xfrm>
            <a:off x="7099878" y="5213984"/>
            <a:ext cx="100967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6913" algn="ctr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1997</a:t>
            </a:r>
            <a:endParaRPr sz="1199">
              <a:latin typeface="Calibri"/>
              <a:cs typeface="Calibri"/>
            </a:endParaRPr>
          </a:p>
          <a:p>
            <a:pPr marL="8456" algn="ctr">
              <a:lnSpc>
                <a:spcPts val="1412"/>
              </a:lnSpc>
              <a:spcBef>
                <a:spcPts val="7"/>
              </a:spcBef>
            </a:pPr>
            <a:r>
              <a:rPr sz="1199" dirty="0">
                <a:latin typeface="Calibri"/>
                <a:cs typeface="Calibri"/>
              </a:rPr>
              <a:t>Norm.</a:t>
            </a:r>
            <a:r>
              <a:rPr sz="1199" spc="-20" dirty="0">
                <a:latin typeface="Calibri"/>
                <a:cs typeface="Calibri"/>
              </a:rPr>
              <a:t> </a:t>
            </a:r>
            <a:r>
              <a:rPr sz="1199" spc="-27" dirty="0">
                <a:latin typeface="Calibri"/>
                <a:cs typeface="Calibri"/>
              </a:rPr>
              <a:t>Cuts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11672" y="5196649"/>
            <a:ext cx="607157" cy="631680"/>
            <a:chOff x="6355778" y="3853763"/>
            <a:chExt cx="455930" cy="474345"/>
          </a:xfrm>
        </p:grpSpPr>
        <p:sp>
          <p:nvSpPr>
            <p:cNvPr id="17" name="object 17"/>
            <p:cNvSpPr/>
            <p:nvPr/>
          </p:nvSpPr>
          <p:spPr>
            <a:xfrm>
              <a:off x="6455663" y="413675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8795" y="3866781"/>
              <a:ext cx="429895" cy="274955"/>
            </a:xfrm>
            <a:custGeom>
              <a:avLst/>
              <a:gdLst/>
              <a:ahLst/>
              <a:cxnLst/>
              <a:rect l="l" t="t" r="r" b="b"/>
              <a:pathLst>
                <a:path w="429895" h="274954">
                  <a:moveTo>
                    <a:pt x="0" y="274561"/>
                  </a:moveTo>
                  <a:lnTo>
                    <a:pt x="429768" y="274561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45936" y="5193540"/>
            <a:ext cx="563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16697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2001</a:t>
            </a:r>
            <a:endParaRPr sz="1199">
              <a:latin typeface="Calibri"/>
              <a:cs typeface="Calibri"/>
            </a:endParaRPr>
          </a:p>
          <a:p>
            <a:pPr marL="149676">
              <a:spcBef>
                <a:spcPts val="7"/>
              </a:spcBef>
            </a:pPr>
            <a:r>
              <a:rPr sz="1199" spc="-33" dirty="0">
                <a:latin typeface="Calibri"/>
                <a:cs typeface="Calibri"/>
              </a:rPr>
              <a:t>V&amp;J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518494" y="5573508"/>
            <a:ext cx="0" cy="229164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1602"/>
                </a:moveTo>
                <a:lnTo>
                  <a:pt x="0" y="0"/>
                </a:lnTo>
              </a:path>
            </a:pathLst>
          </a:custGeom>
          <a:ln w="38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 txBox="1"/>
          <p:nvPr/>
        </p:nvSpPr>
        <p:spPr>
          <a:xfrm>
            <a:off x="8183629" y="5213984"/>
            <a:ext cx="542043" cy="36663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537" rIns="0" bIns="0" rtlCol="0">
            <a:spAutoFit/>
          </a:bodyPr>
          <a:lstStyle/>
          <a:p>
            <a:pPr marL="131918">
              <a:spcBef>
                <a:spcPts val="20"/>
              </a:spcBef>
            </a:pPr>
            <a:r>
              <a:rPr sz="1199" spc="-27" dirty="0">
                <a:latin typeface="Calibri"/>
                <a:cs typeface="Calibri"/>
              </a:rPr>
              <a:t>1999</a:t>
            </a:r>
            <a:endParaRPr sz="1199">
              <a:latin typeface="Calibri"/>
              <a:cs typeface="Calibri"/>
            </a:endParaRPr>
          </a:p>
          <a:p>
            <a:pPr marL="158133">
              <a:lnSpc>
                <a:spcPts val="1412"/>
              </a:lnSpc>
              <a:spcBef>
                <a:spcPts val="7"/>
              </a:spcBef>
            </a:pPr>
            <a:r>
              <a:rPr sz="1199" spc="-27" dirty="0">
                <a:latin typeface="Calibri"/>
                <a:cs typeface="Calibri"/>
              </a:rPr>
              <a:t>SIFT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953939" y="5196649"/>
            <a:ext cx="1315789" cy="631680"/>
            <a:chOff x="7213536" y="3853763"/>
            <a:chExt cx="988060" cy="474345"/>
          </a:xfrm>
        </p:grpSpPr>
        <p:sp>
          <p:nvSpPr>
            <p:cNvPr id="23" name="object 23"/>
            <p:cNvSpPr/>
            <p:nvPr/>
          </p:nvSpPr>
          <p:spPr>
            <a:xfrm>
              <a:off x="7232903" y="4136758"/>
              <a:ext cx="274320" cy="172085"/>
            </a:xfrm>
            <a:custGeom>
              <a:avLst/>
              <a:gdLst/>
              <a:ahLst/>
              <a:cxnLst/>
              <a:rect l="l" t="t" r="r" b="b"/>
              <a:pathLst>
                <a:path w="274320" h="172085">
                  <a:moveTo>
                    <a:pt x="0" y="171602"/>
                  </a:moveTo>
                  <a:lnTo>
                    <a:pt x="0" y="0"/>
                  </a:lnTo>
                </a:path>
                <a:path w="274320" h="172085">
                  <a:moveTo>
                    <a:pt x="274320" y="171602"/>
                  </a:moveTo>
                  <a:lnTo>
                    <a:pt x="27432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2651" y="3866781"/>
              <a:ext cx="685800" cy="274955"/>
            </a:xfrm>
            <a:custGeom>
              <a:avLst/>
              <a:gdLst/>
              <a:ahLst/>
              <a:cxnLst/>
              <a:rect l="l" t="t" r="r" b="b"/>
              <a:pathLst>
                <a:path w="685800" h="274954">
                  <a:moveTo>
                    <a:pt x="0" y="274561"/>
                  </a:moveTo>
                  <a:lnTo>
                    <a:pt x="685800" y="274561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416764" y="5193540"/>
            <a:ext cx="803342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26215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2009</a:t>
            </a:r>
            <a:endParaRPr sz="1199">
              <a:latin typeface="Calibri"/>
              <a:cs typeface="Calibri"/>
            </a:endParaRPr>
          </a:p>
          <a:p>
            <a:pPr marR="3720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ImageNet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1698" y="876546"/>
            <a:ext cx="10047435" cy="4139890"/>
            <a:chOff x="429767" y="183019"/>
            <a:chExt cx="8284464" cy="3422891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7" y="183019"/>
              <a:ext cx="8284464" cy="55827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3664" y="887729"/>
              <a:ext cx="6044184" cy="2718181"/>
            </a:xfrm>
            <a:prstGeom prst="rect">
              <a:avLst/>
            </a:prstGeom>
          </p:spPr>
        </p:pic>
      </p:grp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4007681" y="2014699"/>
            <a:ext cx="1837969" cy="325708"/>
          </a:xfrm>
          <a:prstGeom prst="rect">
            <a:avLst/>
          </a:prstGeom>
        </p:spPr>
        <p:txBody>
          <a:bodyPr vert="horz" wrap="square" lIns="0" tIns="17758" rIns="0" bIns="0" rtlCol="0" anchor="t">
            <a:spAutoFit/>
          </a:bodyPr>
          <a:lstStyle/>
          <a:p>
            <a:pPr marL="16913">
              <a:spcBef>
                <a:spcPts val="140"/>
              </a:spcBef>
            </a:pPr>
            <a:r>
              <a:rPr sz="2000" dirty="0">
                <a:latin typeface="Calibri"/>
                <a:cs typeface="Calibri"/>
              </a:rPr>
              <a:t>AlexNet,</a:t>
            </a:r>
            <a:r>
              <a:rPr sz="2000" spc="-107" dirty="0">
                <a:latin typeface="Calibri"/>
                <a:cs typeface="Calibri"/>
              </a:rPr>
              <a:t> </a:t>
            </a:r>
            <a:r>
              <a:rPr sz="2000" spc="-27" dirty="0">
                <a:latin typeface="Calibri"/>
                <a:cs typeface="Calibri"/>
              </a:rPr>
              <a:t>2012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256324" y="2327687"/>
            <a:ext cx="152212" cy="421120"/>
          </a:xfrm>
          <a:custGeom>
            <a:avLst/>
            <a:gdLst/>
            <a:ahLst/>
            <a:cxnLst/>
            <a:rect l="l" t="t" r="r" b="b"/>
            <a:pathLst>
              <a:path w="114300" h="316230">
                <a:moveTo>
                  <a:pt x="38100" y="201549"/>
                </a:moveTo>
                <a:lnTo>
                  <a:pt x="0" y="201549"/>
                </a:lnTo>
                <a:lnTo>
                  <a:pt x="57150" y="315849"/>
                </a:lnTo>
                <a:lnTo>
                  <a:pt x="104775" y="220599"/>
                </a:lnTo>
                <a:lnTo>
                  <a:pt x="38100" y="220599"/>
                </a:lnTo>
                <a:lnTo>
                  <a:pt x="38100" y="201549"/>
                </a:lnTo>
                <a:close/>
              </a:path>
              <a:path w="114300" h="316230">
                <a:moveTo>
                  <a:pt x="76200" y="0"/>
                </a:moveTo>
                <a:lnTo>
                  <a:pt x="38100" y="0"/>
                </a:lnTo>
                <a:lnTo>
                  <a:pt x="38100" y="220599"/>
                </a:lnTo>
                <a:lnTo>
                  <a:pt x="76200" y="220599"/>
                </a:lnTo>
                <a:lnTo>
                  <a:pt x="76200" y="0"/>
                </a:lnTo>
                <a:close/>
              </a:path>
              <a:path w="114300" h="316230">
                <a:moveTo>
                  <a:pt x="114300" y="201549"/>
                </a:moveTo>
                <a:lnTo>
                  <a:pt x="76200" y="201549"/>
                </a:lnTo>
                <a:lnTo>
                  <a:pt x="76200" y="220599"/>
                </a:lnTo>
                <a:lnTo>
                  <a:pt x="104775" y="220599"/>
                </a:lnTo>
                <a:lnTo>
                  <a:pt x="114300" y="2015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32" name="object 32"/>
          <p:cNvGrpSpPr/>
          <p:nvPr/>
        </p:nvGrpSpPr>
        <p:grpSpPr>
          <a:xfrm>
            <a:off x="10272909" y="5779284"/>
            <a:ext cx="936104" cy="646901"/>
            <a:chOff x="7453058" y="4291279"/>
            <a:chExt cx="702945" cy="485775"/>
          </a:xfrm>
        </p:grpSpPr>
        <p:sp>
          <p:nvSpPr>
            <p:cNvPr id="33" name="object 33"/>
            <p:cNvSpPr/>
            <p:nvPr/>
          </p:nvSpPr>
          <p:spPr>
            <a:xfrm>
              <a:off x="791870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4" name="object 34"/>
            <p:cNvSpPr/>
            <p:nvPr/>
          </p:nvSpPr>
          <p:spPr>
            <a:xfrm>
              <a:off x="7466075" y="4489119"/>
              <a:ext cx="676910" cy="274955"/>
            </a:xfrm>
            <a:custGeom>
              <a:avLst/>
              <a:gdLst/>
              <a:ahLst/>
              <a:cxnLst/>
              <a:rect l="l" t="t" r="r" b="b"/>
              <a:pathLst>
                <a:path w="676909" h="274954">
                  <a:moveTo>
                    <a:pt x="676655" y="0"/>
                  </a:moveTo>
                  <a:lnTo>
                    <a:pt x="0" y="0"/>
                  </a:lnTo>
                  <a:lnTo>
                    <a:pt x="0" y="274561"/>
                  </a:lnTo>
                  <a:lnTo>
                    <a:pt x="676655" y="274561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5" name="object 35"/>
            <p:cNvSpPr/>
            <p:nvPr/>
          </p:nvSpPr>
          <p:spPr>
            <a:xfrm>
              <a:off x="7466075" y="4489119"/>
              <a:ext cx="676910" cy="274955"/>
            </a:xfrm>
            <a:custGeom>
              <a:avLst/>
              <a:gdLst/>
              <a:ahLst/>
              <a:cxnLst/>
              <a:rect l="l" t="t" r="r" b="b"/>
              <a:pathLst>
                <a:path w="676909" h="274954">
                  <a:moveTo>
                    <a:pt x="0" y="274561"/>
                  </a:moveTo>
                  <a:lnTo>
                    <a:pt x="676655" y="274561"/>
                  </a:lnTo>
                  <a:lnTo>
                    <a:pt x="676655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307171" y="6027459"/>
            <a:ext cx="91327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21141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2012</a:t>
            </a:r>
            <a:endParaRPr sz="1199">
              <a:latin typeface="Calibri"/>
              <a:cs typeface="Calibri"/>
            </a:endParaRPr>
          </a:p>
          <a:p>
            <a:pPr marR="25369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AlexNet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450033" y="5213984"/>
            <a:ext cx="950480" cy="366155"/>
          </a:xfrm>
          <a:custGeom>
            <a:avLst/>
            <a:gdLst/>
            <a:ahLst/>
            <a:cxnLst/>
            <a:rect l="l" t="t" r="r" b="b"/>
            <a:pathLst>
              <a:path w="713740" h="274954">
                <a:moveTo>
                  <a:pt x="0" y="274561"/>
                </a:moveTo>
                <a:lnTo>
                  <a:pt x="713231" y="274561"/>
                </a:lnTo>
                <a:lnTo>
                  <a:pt x="713231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8" name="object 38"/>
          <p:cNvSpPr txBox="1"/>
          <p:nvPr/>
        </p:nvSpPr>
        <p:spPr>
          <a:xfrm>
            <a:off x="9442607" y="5205294"/>
            <a:ext cx="877756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92174" algn="ctr">
              <a:spcBef>
                <a:spcPts val="166"/>
              </a:spcBef>
            </a:pPr>
            <a:r>
              <a:rPr sz="732" dirty="0">
                <a:latin typeface="Calibri"/>
                <a:cs typeface="Calibri"/>
              </a:rPr>
              <a:t>2004</a:t>
            </a:r>
            <a:r>
              <a:rPr sz="732" spc="-67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,</a:t>
            </a:r>
            <a:r>
              <a:rPr sz="732" spc="60" dirty="0">
                <a:latin typeface="Calibri"/>
                <a:cs typeface="Calibri"/>
              </a:rPr>
              <a:t> </a:t>
            </a:r>
            <a:r>
              <a:rPr sz="732" spc="-27" dirty="0">
                <a:latin typeface="Calibri"/>
                <a:cs typeface="Calibri"/>
              </a:rPr>
              <a:t>2007</a:t>
            </a:r>
            <a:endParaRPr sz="732">
              <a:latin typeface="Calibri"/>
              <a:cs typeface="Calibri"/>
            </a:endParaRPr>
          </a:p>
          <a:p>
            <a:pPr marL="97247" algn="ctr">
              <a:spcBef>
                <a:spcPts val="87"/>
              </a:spcBef>
            </a:pPr>
            <a:r>
              <a:rPr sz="732" spc="-13" dirty="0">
                <a:latin typeface="Calibri"/>
                <a:cs typeface="Calibri"/>
              </a:rPr>
              <a:t>Caltech101;</a:t>
            </a:r>
            <a:endParaRPr sz="732">
              <a:latin typeface="Calibri"/>
              <a:cs typeface="Calibri"/>
            </a:endParaRPr>
          </a:p>
          <a:p>
            <a:pPr marL="90482" algn="ctr">
              <a:spcBef>
                <a:spcPts val="80"/>
              </a:spcBef>
            </a:pPr>
            <a:r>
              <a:rPr sz="732" spc="-13" dirty="0">
                <a:latin typeface="Calibri"/>
                <a:cs typeface="Calibri"/>
              </a:rPr>
              <a:t>PASCAL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976619" y="6042745"/>
            <a:ext cx="730618" cy="366155"/>
          </a:xfrm>
          <a:custGeom>
            <a:avLst/>
            <a:gdLst/>
            <a:ahLst/>
            <a:cxnLst/>
            <a:rect l="l" t="t" r="r" b="b"/>
            <a:pathLst>
              <a:path w="548639" h="274954">
                <a:moveTo>
                  <a:pt x="0" y="274561"/>
                </a:moveTo>
                <a:lnTo>
                  <a:pt x="548639" y="274561"/>
                </a:lnTo>
                <a:lnTo>
                  <a:pt x="548639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40" name="object 40"/>
          <p:cNvSpPr txBox="1"/>
          <p:nvPr/>
        </p:nvSpPr>
        <p:spPr>
          <a:xfrm>
            <a:off x="7993547" y="6027459"/>
            <a:ext cx="71539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94495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1998</a:t>
            </a:r>
            <a:endParaRPr sz="1199">
              <a:latin typeface="Calibri"/>
              <a:cs typeface="Calibri"/>
            </a:endParaRPr>
          </a:p>
          <a:p>
            <a:pPr marL="165743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LeNet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43512" y="5779283"/>
            <a:ext cx="7818627" cy="635061"/>
            <a:chOff x="147002" y="4291279"/>
            <a:chExt cx="5871210" cy="476884"/>
          </a:xfrm>
        </p:grpSpPr>
        <p:sp>
          <p:nvSpPr>
            <p:cNvPr id="42" name="object 42"/>
            <p:cNvSpPr/>
            <p:nvPr/>
          </p:nvSpPr>
          <p:spPr>
            <a:xfrm>
              <a:off x="512064" y="4310646"/>
              <a:ext cx="5486400" cy="172085"/>
            </a:xfrm>
            <a:custGeom>
              <a:avLst/>
              <a:gdLst/>
              <a:ahLst/>
              <a:cxnLst/>
              <a:rect l="l" t="t" r="r" b="b"/>
              <a:pathLst>
                <a:path w="5486400" h="172085">
                  <a:moveTo>
                    <a:pt x="5486400" y="171602"/>
                  </a:moveTo>
                  <a:lnTo>
                    <a:pt x="5486400" y="0"/>
                  </a:lnTo>
                </a:path>
                <a:path w="5486400"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3" name="object 43"/>
            <p:cNvSpPr/>
            <p:nvPr/>
          </p:nvSpPr>
          <p:spPr>
            <a:xfrm>
              <a:off x="160019" y="4479975"/>
              <a:ext cx="822960" cy="274955"/>
            </a:xfrm>
            <a:custGeom>
              <a:avLst/>
              <a:gdLst/>
              <a:ahLst/>
              <a:cxnLst/>
              <a:rect l="l" t="t" r="r" b="b"/>
              <a:pathLst>
                <a:path w="822960" h="274954">
                  <a:moveTo>
                    <a:pt x="0" y="274561"/>
                  </a:moveTo>
                  <a:lnTo>
                    <a:pt x="822960" y="274561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3864" y="6016111"/>
            <a:ext cx="1056183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R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1958</a:t>
            </a:r>
            <a:endParaRPr sz="1199">
              <a:latin typeface="Calibri"/>
              <a:cs typeface="Calibri"/>
            </a:endParaRPr>
          </a:p>
          <a:p>
            <a:pPr marR="16913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Perceptron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34271" y="5779284"/>
            <a:ext cx="1678561" cy="646901"/>
            <a:chOff x="1116266" y="4291279"/>
            <a:chExt cx="1260475" cy="485775"/>
          </a:xfrm>
        </p:grpSpPr>
        <p:sp>
          <p:nvSpPr>
            <p:cNvPr id="46" name="object 46"/>
            <p:cNvSpPr/>
            <p:nvPr/>
          </p:nvSpPr>
          <p:spPr>
            <a:xfrm>
              <a:off x="202082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7" name="object 47"/>
            <p:cNvSpPr/>
            <p:nvPr/>
          </p:nvSpPr>
          <p:spPr>
            <a:xfrm>
              <a:off x="1129283" y="4489119"/>
              <a:ext cx="1234440" cy="274955"/>
            </a:xfrm>
            <a:custGeom>
              <a:avLst/>
              <a:gdLst/>
              <a:ahLst/>
              <a:cxnLst/>
              <a:rect l="l" t="t" r="r" b="b"/>
              <a:pathLst>
                <a:path w="1234439" h="274954">
                  <a:moveTo>
                    <a:pt x="0" y="274561"/>
                  </a:moveTo>
                  <a:lnTo>
                    <a:pt x="1234440" y="274561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868533" y="6027459"/>
            <a:ext cx="1610066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014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1969</a:t>
            </a:r>
            <a:endParaRPr sz="1199">
              <a:latin typeface="Calibri"/>
              <a:cs typeface="Calibri"/>
            </a:endParaRPr>
          </a:p>
          <a:p>
            <a:pPr marL="10148"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Minsky</a:t>
            </a:r>
            <a:r>
              <a:rPr sz="1199" spc="-40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&amp;</a:t>
            </a:r>
            <a:r>
              <a:rPr sz="1199" spc="60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Papert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806939" y="5779283"/>
            <a:ext cx="1350458" cy="635061"/>
            <a:chOff x="2597594" y="4291279"/>
            <a:chExt cx="1014094" cy="476884"/>
          </a:xfrm>
        </p:grpSpPr>
        <p:sp>
          <p:nvSpPr>
            <p:cNvPr id="50" name="object 50"/>
            <p:cNvSpPr/>
            <p:nvPr/>
          </p:nvSpPr>
          <p:spPr>
            <a:xfrm>
              <a:off x="3529584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1" name="object 51"/>
            <p:cNvSpPr/>
            <p:nvPr/>
          </p:nvSpPr>
          <p:spPr>
            <a:xfrm>
              <a:off x="2610612" y="4479975"/>
              <a:ext cx="988060" cy="274955"/>
            </a:xfrm>
            <a:custGeom>
              <a:avLst/>
              <a:gdLst/>
              <a:ahLst/>
              <a:cxnLst/>
              <a:rect l="l" t="t" r="r" b="b"/>
              <a:pathLst>
                <a:path w="988060" h="274954">
                  <a:moveTo>
                    <a:pt x="0" y="274561"/>
                  </a:moveTo>
                  <a:lnTo>
                    <a:pt x="987551" y="274561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841202" y="6016111"/>
            <a:ext cx="1281964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4228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1980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Neocognitron</a:t>
            </a:r>
            <a:endParaRPr sz="1199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231644" y="5779284"/>
            <a:ext cx="1021512" cy="646901"/>
            <a:chOff x="3667442" y="4291279"/>
            <a:chExt cx="767080" cy="485775"/>
          </a:xfrm>
        </p:grpSpPr>
        <p:sp>
          <p:nvSpPr>
            <p:cNvPr id="54" name="object 54"/>
            <p:cNvSpPr/>
            <p:nvPr/>
          </p:nvSpPr>
          <p:spPr>
            <a:xfrm>
              <a:off x="421538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0459" y="4489119"/>
              <a:ext cx="741045" cy="274955"/>
            </a:xfrm>
            <a:custGeom>
              <a:avLst/>
              <a:gdLst/>
              <a:ahLst/>
              <a:cxnLst/>
              <a:rect l="l" t="t" r="r" b="b"/>
              <a:pathLst>
                <a:path w="741045" h="274954">
                  <a:moveTo>
                    <a:pt x="0" y="274561"/>
                  </a:moveTo>
                  <a:lnTo>
                    <a:pt x="740663" y="274561"/>
                  </a:lnTo>
                  <a:lnTo>
                    <a:pt x="740663" y="0"/>
                  </a:lnTo>
                  <a:lnTo>
                    <a:pt x="0" y="0"/>
                  </a:lnTo>
                  <a:lnTo>
                    <a:pt x="0" y="274561"/>
                  </a:lnTo>
                  <a:close/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265907" y="6027459"/>
            <a:ext cx="953017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3383" algn="ctr">
              <a:spcBef>
                <a:spcPts val="180"/>
              </a:spcBef>
            </a:pPr>
            <a:r>
              <a:rPr sz="1199" spc="-27" dirty="0">
                <a:latin typeface="Calibri"/>
                <a:cs typeface="Calibri"/>
              </a:rPr>
              <a:t>1985</a:t>
            </a:r>
            <a:endParaRPr sz="1199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199" spc="-13" dirty="0">
                <a:latin typeface="Calibri"/>
                <a:cs typeface="Calibri"/>
              </a:rPr>
              <a:t>Backprop</a:t>
            </a:r>
            <a:endParaRPr sz="1199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9060370" y="6042745"/>
            <a:ext cx="1120450" cy="366155"/>
          </a:xfrm>
          <a:custGeom>
            <a:avLst/>
            <a:gdLst/>
            <a:ahLst/>
            <a:cxnLst/>
            <a:rect l="l" t="t" r="r" b="b"/>
            <a:pathLst>
              <a:path w="841375" h="274954">
                <a:moveTo>
                  <a:pt x="0" y="274561"/>
                </a:moveTo>
                <a:lnTo>
                  <a:pt x="841248" y="274561"/>
                </a:lnTo>
                <a:lnTo>
                  <a:pt x="841248" y="0"/>
                </a:lnTo>
                <a:lnTo>
                  <a:pt x="0" y="0"/>
                </a:lnTo>
                <a:lnTo>
                  <a:pt x="0" y="274561"/>
                </a:lnTo>
                <a:close/>
              </a:path>
            </a:pathLst>
          </a:custGeom>
          <a:ln w="2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8" name="object 58"/>
          <p:cNvSpPr txBox="1"/>
          <p:nvPr/>
        </p:nvSpPr>
        <p:spPr>
          <a:xfrm>
            <a:off x="9077298" y="6037941"/>
            <a:ext cx="1086625" cy="366223"/>
          </a:xfrm>
          <a:prstGeom prst="rect">
            <a:avLst/>
          </a:prstGeom>
        </p:spPr>
        <p:txBody>
          <a:bodyPr vert="horz" wrap="square" lIns="0" tIns="25369" rIns="0" bIns="0" rtlCol="0">
            <a:spAutoFit/>
          </a:bodyPr>
          <a:lstStyle/>
          <a:p>
            <a:pPr marL="16067" algn="ctr">
              <a:spcBef>
                <a:spcPts val="200"/>
              </a:spcBef>
            </a:pPr>
            <a:r>
              <a:rPr sz="1065" spc="-27" dirty="0">
                <a:latin typeface="Calibri"/>
                <a:cs typeface="Calibri"/>
              </a:rPr>
              <a:t>2006</a:t>
            </a:r>
            <a:endParaRPr sz="1065">
              <a:latin typeface="Calibri"/>
              <a:cs typeface="Calibri"/>
            </a:endParaRPr>
          </a:p>
          <a:p>
            <a:pPr marL="9302" algn="ctr">
              <a:spcBef>
                <a:spcPts val="67"/>
              </a:spcBef>
            </a:pPr>
            <a:r>
              <a:rPr sz="1065" spc="-13" dirty="0">
                <a:latin typeface="Calibri"/>
                <a:cs typeface="Calibri"/>
              </a:rPr>
              <a:t>Deep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Learning</a:t>
            </a:r>
            <a:endParaRPr sz="1065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81698" y="5647993"/>
            <a:ext cx="10423991" cy="385604"/>
            <a:chOff x="100584" y="4192690"/>
            <a:chExt cx="7827645" cy="289560"/>
          </a:xfrm>
        </p:grpSpPr>
        <p:sp>
          <p:nvSpPr>
            <p:cNvPr id="60" name="object 60"/>
            <p:cNvSpPr/>
            <p:nvPr/>
          </p:nvSpPr>
          <p:spPr>
            <a:xfrm>
              <a:off x="7095743" y="431064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1602"/>
                  </a:moveTo>
                  <a:lnTo>
                    <a:pt x="0" y="0"/>
                  </a:lnTo>
                </a:path>
              </a:pathLst>
            </a:custGeom>
            <a:ln w="38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1" name="object 61"/>
            <p:cNvSpPr/>
            <p:nvPr/>
          </p:nvSpPr>
          <p:spPr>
            <a:xfrm>
              <a:off x="100584" y="4310652"/>
              <a:ext cx="7827645" cy="0"/>
            </a:xfrm>
            <a:custGeom>
              <a:avLst/>
              <a:gdLst/>
              <a:ahLst/>
              <a:cxnLst/>
              <a:rect l="l" t="t" r="r" b="b"/>
              <a:pathLst>
                <a:path w="7827645">
                  <a:moveTo>
                    <a:pt x="0" y="0"/>
                  </a:moveTo>
                  <a:lnTo>
                    <a:pt x="4393692" y="0"/>
                  </a:lnTo>
                </a:path>
                <a:path w="7827645">
                  <a:moveTo>
                    <a:pt x="5216652" y="0"/>
                  </a:moveTo>
                  <a:lnTo>
                    <a:pt x="7827645" y="0"/>
                  </a:lnTo>
                </a:path>
              </a:pathLst>
            </a:custGeom>
            <a:ln w="38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2" name="object 62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822960" y="0"/>
                  </a:moveTo>
                  <a:lnTo>
                    <a:pt x="0" y="0"/>
                  </a:lnTo>
                  <a:lnTo>
                    <a:pt x="0" y="210502"/>
                  </a:lnTo>
                  <a:lnTo>
                    <a:pt x="822960" y="210502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3" name="object 63"/>
            <p:cNvSpPr/>
            <p:nvPr/>
          </p:nvSpPr>
          <p:spPr>
            <a:xfrm>
              <a:off x="4494275" y="4205401"/>
              <a:ext cx="822960" cy="210820"/>
            </a:xfrm>
            <a:custGeom>
              <a:avLst/>
              <a:gdLst/>
              <a:ahLst/>
              <a:cxnLst/>
              <a:rect l="l" t="t" r="r" b="b"/>
              <a:pathLst>
                <a:path w="822960" h="210820">
                  <a:moveTo>
                    <a:pt x="0" y="210502"/>
                  </a:moveTo>
                  <a:lnTo>
                    <a:pt x="822960" y="210502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10502"/>
                  </a:lnTo>
                  <a:close/>
                </a:path>
              </a:pathLst>
            </a:custGeom>
            <a:ln w="2542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24347" y="5680193"/>
            <a:ext cx="7314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39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3" dirty="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526342" y="6511169"/>
            <a:ext cx="1221079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68043" y="6528387"/>
            <a:ext cx="229164" cy="23732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1398" spc="-33" dirty="0">
                <a:solidFill>
                  <a:srgbClr val="FFFFFF"/>
                </a:solidFill>
                <a:latin typeface="Calibri"/>
                <a:cs typeface="Calibri"/>
              </a:rPr>
              <a:t>54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0690" y="5468733"/>
            <a:ext cx="5861856" cy="695844"/>
          </a:xfrm>
          <a:prstGeom prst="rect">
            <a:avLst/>
          </a:prstGeom>
        </p:spPr>
        <p:txBody>
          <a:bodyPr vert="horz" wrap="square" lIns="0" tIns="24523" rIns="0" bIns="0" rtlCol="0">
            <a:spAutoFit/>
          </a:bodyPr>
          <a:lstStyle/>
          <a:p>
            <a:pPr marL="16913">
              <a:spcBef>
                <a:spcPts val="193"/>
              </a:spcBef>
            </a:pPr>
            <a:r>
              <a:rPr sz="1065" dirty="0">
                <a:latin typeface="Calibri"/>
                <a:cs typeface="Calibri"/>
              </a:rPr>
              <a:t>Figure copyright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Alex</a:t>
            </a:r>
            <a:r>
              <a:rPr sz="1065" spc="6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Krizhevsky,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Ilya</a:t>
            </a:r>
            <a:r>
              <a:rPr sz="1065" spc="-7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Sutskever,</a:t>
            </a:r>
            <a:r>
              <a:rPr sz="1065" spc="73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and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Geoffrey</a:t>
            </a:r>
            <a:r>
              <a:rPr sz="1065" spc="-4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Hinton,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2012.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Reproduced</a:t>
            </a:r>
            <a:r>
              <a:rPr sz="1065" spc="6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with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permission.</a:t>
            </a:r>
            <a:endParaRPr sz="1065">
              <a:latin typeface="Calibri"/>
              <a:cs typeface="Calibri"/>
            </a:endParaRPr>
          </a:p>
          <a:p>
            <a:pPr marR="267219" algn="ctr">
              <a:spcBef>
                <a:spcPts val="246"/>
              </a:spcBef>
            </a:pPr>
            <a:r>
              <a:rPr sz="3129" spc="-13" dirty="0">
                <a:latin typeface="Tahoma"/>
                <a:cs typeface="Tahoma"/>
              </a:rPr>
              <a:t>“AlexNet”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0242" y="693423"/>
            <a:ext cx="6287205" cy="2601625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26" dirty="0"/>
              <a:t>A</a:t>
            </a:r>
            <a:r>
              <a:rPr sz="3995" spc="-459" dirty="0"/>
              <a:t> </a:t>
            </a:r>
            <a:r>
              <a:rPr sz="3995" dirty="0"/>
              <a:t>bit</a:t>
            </a:r>
            <a:r>
              <a:rPr sz="3995" spc="-386" dirty="0"/>
              <a:t> </a:t>
            </a:r>
            <a:r>
              <a:rPr sz="3995" spc="-87" dirty="0"/>
              <a:t>of</a:t>
            </a:r>
            <a:r>
              <a:rPr sz="3995" spc="-393" dirty="0"/>
              <a:t> </a:t>
            </a:r>
            <a:r>
              <a:rPr sz="3995" spc="-13" dirty="0"/>
              <a:t>history:</a:t>
            </a:r>
            <a:endParaRPr sz="3995" dirty="0"/>
          </a:p>
          <a:p>
            <a:pPr marL="16913" marR="6765">
              <a:lnSpc>
                <a:spcPct val="102400"/>
              </a:lnSpc>
              <a:spcBef>
                <a:spcPts val="20"/>
              </a:spcBef>
            </a:pPr>
            <a:r>
              <a:rPr sz="3129" spc="-107" dirty="0"/>
              <a:t>ImageNet</a:t>
            </a:r>
            <a:r>
              <a:rPr sz="3129" spc="-260" dirty="0"/>
              <a:t> </a:t>
            </a:r>
            <a:r>
              <a:rPr sz="3129" spc="-13" dirty="0"/>
              <a:t>Classification</a:t>
            </a:r>
            <a:r>
              <a:rPr sz="3129" spc="-233" dirty="0"/>
              <a:t> </a:t>
            </a:r>
            <a:r>
              <a:rPr sz="3129" spc="-13" dirty="0"/>
              <a:t>with</a:t>
            </a:r>
            <a:r>
              <a:rPr sz="3129" spc="-226" dirty="0"/>
              <a:t> </a:t>
            </a:r>
            <a:r>
              <a:rPr sz="3129" spc="-27" dirty="0"/>
              <a:t>Deep </a:t>
            </a:r>
            <a:r>
              <a:rPr sz="3129" dirty="0"/>
              <a:t>Convolutional</a:t>
            </a:r>
            <a:r>
              <a:rPr sz="3129" spc="-293" dirty="0"/>
              <a:t> </a:t>
            </a:r>
            <a:r>
              <a:rPr sz="3129" spc="-13" dirty="0"/>
              <a:t>Neural</a:t>
            </a:r>
            <a:r>
              <a:rPr sz="3129" spc="-286" dirty="0"/>
              <a:t> </a:t>
            </a:r>
            <a:r>
              <a:rPr sz="3129" spc="-13" dirty="0"/>
              <a:t>Networks </a:t>
            </a:r>
            <a:r>
              <a:rPr sz="3129" spc="-73" dirty="0"/>
              <a:t>[Krizhevsky,</a:t>
            </a:r>
            <a:r>
              <a:rPr sz="3129" spc="-266" dirty="0"/>
              <a:t> </a:t>
            </a:r>
            <a:r>
              <a:rPr sz="3129" spc="-60" dirty="0"/>
              <a:t>Sutskever,</a:t>
            </a:r>
            <a:r>
              <a:rPr sz="3129" spc="-266" dirty="0"/>
              <a:t> </a:t>
            </a:r>
            <a:r>
              <a:rPr sz="3129" spc="-13" dirty="0"/>
              <a:t>Hinton,</a:t>
            </a:r>
            <a:r>
              <a:rPr sz="3129" spc="-266" dirty="0"/>
              <a:t> </a:t>
            </a:r>
            <a:r>
              <a:rPr sz="3129" spc="-140" dirty="0"/>
              <a:t>2012]</a:t>
            </a:r>
            <a:endParaRPr sz="3129" dirty="0"/>
          </a:p>
        </p:txBody>
      </p:sp>
      <p:grpSp>
        <p:nvGrpSpPr>
          <p:cNvPr id="4" name="object 4"/>
          <p:cNvGrpSpPr/>
          <p:nvPr/>
        </p:nvGrpSpPr>
        <p:grpSpPr>
          <a:xfrm>
            <a:off x="2796696" y="3217557"/>
            <a:ext cx="7003447" cy="2207921"/>
            <a:chOff x="2130230" y="1894009"/>
            <a:chExt cx="5259070" cy="1657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9222" y="1913253"/>
              <a:ext cx="5210932" cy="16286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34996" y="1898776"/>
              <a:ext cx="5249545" cy="1647825"/>
            </a:xfrm>
            <a:custGeom>
              <a:avLst/>
              <a:gdLst/>
              <a:ahLst/>
              <a:cxnLst/>
              <a:rect l="l" t="t" r="r" b="b"/>
              <a:pathLst>
                <a:path w="5249545" h="1647825">
                  <a:moveTo>
                    <a:pt x="0" y="1647825"/>
                  </a:moveTo>
                  <a:lnTo>
                    <a:pt x="5249037" y="1647825"/>
                  </a:lnTo>
                  <a:lnTo>
                    <a:pt x="5249037" y="0"/>
                  </a:lnTo>
                  <a:lnTo>
                    <a:pt x="0" y="0"/>
                  </a:lnTo>
                  <a:lnTo>
                    <a:pt x="0" y="1647825"/>
                  </a:lnTo>
                  <a:close/>
                </a:path>
              </a:pathLst>
            </a:custGeom>
            <a:ln w="953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3836" y="1135285"/>
            <a:ext cx="3689620" cy="147341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5087" y="693108"/>
            <a:ext cx="10767032" cy="1171570"/>
          </a:xfrm>
          <a:prstGeom prst="rect">
            <a:avLst/>
          </a:prstGeom>
        </p:spPr>
        <p:txBody>
          <a:bodyPr vert="horz" wrap="square" lIns="0" tIns="94710" rIns="0" bIns="0" rtlCol="0" anchor="t">
            <a:spAutoFit/>
          </a:bodyPr>
          <a:lstStyle/>
          <a:p>
            <a:pPr marL="16913">
              <a:spcBef>
                <a:spcPts val="746"/>
              </a:spcBef>
            </a:pPr>
            <a:r>
              <a:rPr sz="3995" spc="-346" dirty="0"/>
              <a:t>~2012</a:t>
            </a:r>
            <a:r>
              <a:rPr sz="3995" spc="-446" dirty="0"/>
              <a:t> </a:t>
            </a:r>
            <a:r>
              <a:rPr sz="3995" spc="-272" dirty="0"/>
              <a:t>–</a:t>
            </a:r>
            <a:r>
              <a:rPr sz="3995" spc="-406" dirty="0"/>
              <a:t> </a:t>
            </a:r>
            <a:r>
              <a:rPr sz="3995" spc="-246" dirty="0"/>
              <a:t>2020:</a:t>
            </a:r>
            <a:r>
              <a:rPr sz="3995" spc="-433" dirty="0"/>
              <a:t> </a:t>
            </a:r>
            <a:r>
              <a:rPr sz="3995" spc="-93" dirty="0"/>
              <a:t>ConvNets</a:t>
            </a:r>
            <a:r>
              <a:rPr sz="3995" spc="-373" dirty="0"/>
              <a:t> </a:t>
            </a:r>
            <a:r>
              <a:rPr sz="3995" spc="-47" dirty="0"/>
              <a:t>dominate</a:t>
            </a:r>
            <a:r>
              <a:rPr sz="3995" spc="-406" dirty="0"/>
              <a:t> </a:t>
            </a:r>
            <a:r>
              <a:rPr sz="3995" dirty="0"/>
              <a:t>all</a:t>
            </a:r>
            <a:r>
              <a:rPr sz="3995" spc="-393" dirty="0"/>
              <a:t> </a:t>
            </a:r>
            <a:r>
              <a:rPr sz="3995" spc="-47" dirty="0"/>
              <a:t>vision</a:t>
            </a:r>
            <a:r>
              <a:rPr sz="3995" spc="-419" dirty="0"/>
              <a:t> </a:t>
            </a:r>
            <a:r>
              <a:rPr sz="3995" spc="-13" dirty="0"/>
              <a:t>tasks</a:t>
            </a:r>
            <a:endParaRPr sz="3995" dirty="0"/>
          </a:p>
          <a:p>
            <a:pPr marL="1770748">
              <a:spcBef>
                <a:spcPts val="419"/>
              </a:spcBef>
              <a:tabLst>
                <a:tab pos="7565002" algn="l"/>
              </a:tabLst>
            </a:pPr>
            <a:r>
              <a:rPr sz="3995" spc="-20" baseline="1388" dirty="0"/>
              <a:t>Detection</a:t>
            </a:r>
            <a:r>
              <a:rPr sz="3995" baseline="1388" dirty="0"/>
              <a:t>	</a:t>
            </a:r>
            <a:r>
              <a:rPr sz="2663" spc="-13" dirty="0"/>
              <a:t>Segmentation</a:t>
            </a:r>
            <a:endParaRPr sz="2663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1" y="2181954"/>
            <a:ext cx="5552697" cy="42131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3384" y="2192158"/>
            <a:ext cx="6258961" cy="41401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93947" y="6479669"/>
            <a:ext cx="2046407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40" dirty="0">
                <a:latin typeface="Tahoma"/>
                <a:cs typeface="Tahoma"/>
              </a:rPr>
              <a:t>[Farabet</a:t>
            </a:r>
            <a:r>
              <a:rPr sz="1798" spc="-9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et</a:t>
            </a:r>
            <a:r>
              <a:rPr sz="1798" spc="-186" dirty="0">
                <a:latin typeface="Tahoma"/>
                <a:cs typeface="Tahoma"/>
              </a:rPr>
              <a:t> </a:t>
            </a:r>
            <a:r>
              <a:rPr sz="1798" spc="-40" dirty="0">
                <a:latin typeface="Tahoma"/>
                <a:cs typeface="Tahoma"/>
              </a:rPr>
              <a:t>al.,</a:t>
            </a:r>
            <a:r>
              <a:rPr sz="1798" spc="-213" dirty="0">
                <a:latin typeface="Tahoma"/>
                <a:cs typeface="Tahoma"/>
              </a:rPr>
              <a:t> </a:t>
            </a:r>
            <a:r>
              <a:rPr sz="1798" spc="-40" dirty="0">
                <a:latin typeface="Tahoma"/>
                <a:cs typeface="Tahoma"/>
              </a:rPr>
              <a:t>2012]</a:t>
            </a:r>
            <a:endParaRPr sz="1798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8603" y="6419632"/>
            <a:ext cx="3456060" cy="163930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932" dirty="0">
                <a:latin typeface="Calibri"/>
                <a:cs typeface="Calibri"/>
              </a:rPr>
              <a:t>Figures</a:t>
            </a:r>
            <a:r>
              <a:rPr sz="932" spc="-13" dirty="0">
                <a:latin typeface="Calibri"/>
                <a:cs typeface="Calibri"/>
              </a:rPr>
              <a:t> copyright</a:t>
            </a:r>
            <a:r>
              <a:rPr sz="932" spc="-60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Clement</a:t>
            </a:r>
            <a:r>
              <a:rPr sz="932" spc="53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Farabet,</a:t>
            </a:r>
            <a:r>
              <a:rPr sz="932" spc="2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2012.</a:t>
            </a:r>
            <a:r>
              <a:rPr sz="932" spc="27" dirty="0">
                <a:latin typeface="Calibri"/>
                <a:cs typeface="Calibri"/>
              </a:rPr>
              <a:t> </a:t>
            </a:r>
            <a:r>
              <a:rPr sz="932" spc="-13" dirty="0">
                <a:latin typeface="Calibri"/>
                <a:cs typeface="Calibri"/>
              </a:rPr>
              <a:t>Reproduced</a:t>
            </a:r>
            <a:r>
              <a:rPr sz="932" spc="-4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with</a:t>
            </a:r>
            <a:r>
              <a:rPr sz="932" spc="53" dirty="0">
                <a:latin typeface="Calibri"/>
                <a:cs typeface="Calibri"/>
              </a:rPr>
              <a:t> </a:t>
            </a:r>
            <a:r>
              <a:rPr sz="932" spc="-13" dirty="0">
                <a:latin typeface="Calibri"/>
                <a:cs typeface="Calibri"/>
              </a:rPr>
              <a:t>permission.</a:t>
            </a:r>
            <a:endParaRPr sz="932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434" y="5596668"/>
            <a:ext cx="5095722" cy="163930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932" dirty="0">
                <a:latin typeface="Calibri"/>
                <a:cs typeface="Calibri"/>
              </a:rPr>
              <a:t>Figures</a:t>
            </a:r>
            <a:r>
              <a:rPr sz="932" spc="-20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copyright</a:t>
            </a:r>
            <a:r>
              <a:rPr sz="932" spc="-20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Shaoqing</a:t>
            </a:r>
            <a:r>
              <a:rPr sz="932" spc="-33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Ren,</a:t>
            </a:r>
            <a:r>
              <a:rPr sz="932" spc="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Kaiming</a:t>
            </a:r>
            <a:r>
              <a:rPr sz="932" spc="-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He,</a:t>
            </a:r>
            <a:r>
              <a:rPr sz="932" spc="2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Ross</a:t>
            </a:r>
            <a:r>
              <a:rPr sz="932" spc="-13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Girschick,</a:t>
            </a:r>
            <a:r>
              <a:rPr sz="932" spc="20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Jian</a:t>
            </a:r>
            <a:r>
              <a:rPr sz="932" spc="-4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Sun,</a:t>
            </a:r>
            <a:r>
              <a:rPr sz="932" spc="-67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2015.</a:t>
            </a:r>
            <a:r>
              <a:rPr sz="932" spc="-73" dirty="0">
                <a:latin typeface="Calibri"/>
                <a:cs typeface="Calibri"/>
              </a:rPr>
              <a:t> </a:t>
            </a:r>
            <a:r>
              <a:rPr sz="932" dirty="0">
                <a:latin typeface="Calibri"/>
                <a:cs typeface="Calibri"/>
              </a:rPr>
              <a:t>Reproduced</a:t>
            </a:r>
            <a:r>
              <a:rPr sz="932" spc="53" dirty="0">
                <a:latin typeface="Calibri"/>
                <a:cs typeface="Calibri"/>
              </a:rPr>
              <a:t> </a:t>
            </a:r>
            <a:r>
              <a:rPr sz="932" spc="-27" dirty="0">
                <a:latin typeface="Calibri"/>
                <a:cs typeface="Calibri"/>
              </a:rPr>
              <a:t>with</a:t>
            </a:r>
            <a:r>
              <a:rPr sz="932" spc="-47" dirty="0">
                <a:latin typeface="Calibri"/>
                <a:cs typeface="Calibri"/>
              </a:rPr>
              <a:t> </a:t>
            </a:r>
            <a:r>
              <a:rPr sz="932" spc="-13" dirty="0">
                <a:latin typeface="Calibri"/>
                <a:cs typeface="Calibri"/>
              </a:rPr>
              <a:t>permission.</a:t>
            </a:r>
            <a:endParaRPr sz="932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434" y="6395150"/>
            <a:ext cx="4270395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067">
              <a:spcBef>
                <a:spcPts val="160"/>
              </a:spcBef>
            </a:pPr>
            <a:r>
              <a:rPr sz="1798" spc="-40" dirty="0">
                <a:latin typeface="Tahoma"/>
                <a:cs typeface="Tahoma"/>
              </a:rPr>
              <a:t>[Faster</a:t>
            </a:r>
            <a:r>
              <a:rPr sz="1798" spc="-193" dirty="0">
                <a:latin typeface="Tahoma"/>
                <a:cs typeface="Tahoma"/>
              </a:rPr>
              <a:t> </a:t>
            </a:r>
            <a:r>
              <a:rPr sz="1798" spc="-60" dirty="0">
                <a:latin typeface="Tahoma"/>
                <a:cs typeface="Tahoma"/>
              </a:rPr>
              <a:t>R-</a:t>
            </a:r>
            <a:r>
              <a:rPr sz="1798" spc="-73" dirty="0">
                <a:latin typeface="Tahoma"/>
                <a:cs typeface="Tahoma"/>
              </a:rPr>
              <a:t>CNN: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60" dirty="0">
                <a:latin typeface="Tahoma"/>
                <a:cs typeface="Tahoma"/>
              </a:rPr>
              <a:t>Ren,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67" dirty="0">
                <a:latin typeface="Tahoma"/>
                <a:cs typeface="Tahoma"/>
              </a:rPr>
              <a:t>He,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Girshick,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Sun</a:t>
            </a:r>
            <a:r>
              <a:rPr sz="1798" spc="-180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2015]</a:t>
            </a:r>
            <a:endParaRPr sz="1798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2989" y="5949133"/>
            <a:ext cx="2799011" cy="614867"/>
          </a:xfrm>
          <a:prstGeom prst="rect">
            <a:avLst/>
          </a:prstGeom>
        </p:spPr>
        <p:txBody>
          <a:bodyPr vert="horz" wrap="square" lIns="0" tIns="35516" rIns="0" bIns="0" rtlCol="0">
            <a:spAutoFit/>
          </a:bodyPr>
          <a:lstStyle/>
          <a:p>
            <a:pPr marL="16913">
              <a:spcBef>
                <a:spcPts val="280"/>
              </a:spcBef>
            </a:pPr>
            <a:r>
              <a:rPr sz="1798" spc="-40" dirty="0">
                <a:latin typeface="Tahoma"/>
                <a:cs typeface="Tahoma"/>
              </a:rPr>
              <a:t>[Vinyals</a:t>
            </a:r>
            <a:r>
              <a:rPr sz="1798" spc="-9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et</a:t>
            </a:r>
            <a:r>
              <a:rPr sz="1798" spc="-186" dirty="0">
                <a:latin typeface="Tahoma"/>
                <a:cs typeface="Tahoma"/>
              </a:rPr>
              <a:t> </a:t>
            </a:r>
            <a:r>
              <a:rPr sz="1798" spc="-40" dirty="0">
                <a:latin typeface="Tahoma"/>
                <a:cs typeface="Tahoma"/>
              </a:rPr>
              <a:t>al.,</a:t>
            </a:r>
            <a:r>
              <a:rPr sz="1798" spc="-213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2015]</a:t>
            </a:r>
            <a:endParaRPr sz="1798">
              <a:latin typeface="Tahoma"/>
              <a:cs typeface="Tahoma"/>
            </a:endParaRPr>
          </a:p>
          <a:p>
            <a:pPr marL="16913">
              <a:spcBef>
                <a:spcPts val="153"/>
              </a:spcBef>
            </a:pPr>
            <a:r>
              <a:rPr sz="1798" spc="-33" dirty="0">
                <a:latin typeface="Tahoma"/>
                <a:cs typeface="Tahoma"/>
              </a:rPr>
              <a:t>[Karpathy</a:t>
            </a:r>
            <a:r>
              <a:rPr sz="1798" spc="-67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and</a:t>
            </a:r>
            <a:r>
              <a:rPr sz="1798" spc="-80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Fei-</a:t>
            </a:r>
            <a:r>
              <a:rPr sz="1798" spc="-40" dirty="0">
                <a:latin typeface="Tahoma"/>
                <a:cs typeface="Tahoma"/>
              </a:rPr>
              <a:t>Fei,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2015]</a:t>
            </a:r>
            <a:endParaRPr sz="1798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927" y="1684498"/>
            <a:ext cx="2727641" cy="18143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785" y="3604992"/>
            <a:ext cx="2386347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06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white</a:t>
            </a:r>
            <a:r>
              <a:rPr sz="1598" spc="-113" dirty="0">
                <a:latin typeface="Tahoma"/>
                <a:cs typeface="Tahoma"/>
              </a:rPr>
              <a:t> </a:t>
            </a:r>
            <a:r>
              <a:rPr sz="1598" spc="-40" dirty="0">
                <a:latin typeface="Tahoma"/>
                <a:cs typeface="Tahoma"/>
              </a:rPr>
              <a:t>teddy</a:t>
            </a:r>
            <a:r>
              <a:rPr sz="1598" spc="-173" dirty="0">
                <a:latin typeface="Tahoma"/>
                <a:cs typeface="Tahoma"/>
              </a:rPr>
              <a:t> </a:t>
            </a:r>
            <a:r>
              <a:rPr sz="1598" spc="-40" dirty="0">
                <a:latin typeface="Tahoma"/>
                <a:cs typeface="Tahoma"/>
              </a:rPr>
              <a:t>bear</a:t>
            </a:r>
            <a:r>
              <a:rPr sz="1598" spc="-16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sitting</a:t>
            </a:r>
            <a:r>
              <a:rPr sz="1598" spc="-240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in</a:t>
            </a:r>
            <a:endParaRPr sz="1598">
              <a:latin typeface="Tahoma"/>
              <a:cs typeface="Tahoma"/>
            </a:endParaRPr>
          </a:p>
          <a:p>
            <a:pPr marL="16913">
              <a:spcBef>
                <a:spcPts val="7"/>
              </a:spcBef>
            </a:pPr>
            <a:r>
              <a:rPr sz="1598" spc="-27" dirty="0">
                <a:latin typeface="Tahoma"/>
                <a:cs typeface="Tahoma"/>
              </a:rPr>
              <a:t>the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grass</a:t>
            </a:r>
            <a:endParaRPr sz="1598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881" y="4292686"/>
            <a:ext cx="2204031" cy="16560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2924" y="6052630"/>
            <a:ext cx="2327154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2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man</a:t>
            </a:r>
            <a:r>
              <a:rPr sz="1598" spc="-22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riding</a:t>
            </a:r>
            <a:r>
              <a:rPr sz="1598" spc="-253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</a:t>
            </a:r>
            <a:r>
              <a:rPr sz="1598" spc="-146" dirty="0">
                <a:latin typeface="Tahoma"/>
                <a:cs typeface="Tahoma"/>
              </a:rPr>
              <a:t> </a:t>
            </a:r>
            <a:r>
              <a:rPr sz="1598" spc="-60" dirty="0">
                <a:latin typeface="Tahoma"/>
                <a:cs typeface="Tahoma"/>
              </a:rPr>
              <a:t>wave</a:t>
            </a:r>
            <a:r>
              <a:rPr sz="1598" spc="-127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on</a:t>
            </a:r>
            <a:r>
              <a:rPr sz="1598" spc="-226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top</a:t>
            </a:r>
            <a:endParaRPr sz="1598">
              <a:latin typeface="Tahoma"/>
              <a:cs typeface="Tahoma"/>
            </a:endParaRPr>
          </a:p>
          <a:p>
            <a:pPr marL="16913"/>
            <a:r>
              <a:rPr sz="1598" spc="-33" dirty="0">
                <a:latin typeface="Tahoma"/>
                <a:cs typeface="Tahoma"/>
              </a:rPr>
              <a:t>of</a:t>
            </a:r>
            <a:r>
              <a:rPr sz="1598" spc="-20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a</a:t>
            </a:r>
            <a:r>
              <a:rPr sz="1598" spc="-16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surfboard</a:t>
            </a:r>
            <a:endParaRPr sz="1598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6346" y="1721029"/>
            <a:ext cx="2618048" cy="17413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44664" y="3604993"/>
            <a:ext cx="2031186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dirty="0">
                <a:latin typeface="Tahoma"/>
                <a:cs typeface="Tahoma"/>
              </a:rPr>
              <a:t>man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dirty="0">
                <a:latin typeface="Tahoma"/>
                <a:cs typeface="Tahoma"/>
              </a:rPr>
              <a:t>in</a:t>
            </a:r>
            <a:r>
              <a:rPr sz="1598" spc="-140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</a:t>
            </a:r>
            <a:r>
              <a:rPr sz="1598" spc="-26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baseball</a:t>
            </a:r>
            <a:endParaRPr sz="1598">
              <a:latin typeface="Tahoma"/>
              <a:cs typeface="Tahoma"/>
            </a:endParaRPr>
          </a:p>
          <a:p>
            <a:pPr marL="16913">
              <a:spcBef>
                <a:spcPts val="7"/>
              </a:spcBef>
            </a:pPr>
            <a:r>
              <a:rPr sz="1598" spc="-27" dirty="0">
                <a:latin typeface="Tahoma"/>
                <a:cs typeface="Tahoma"/>
              </a:rPr>
              <a:t>uniform</a:t>
            </a:r>
            <a:r>
              <a:rPr sz="1598" spc="-180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throwing</a:t>
            </a:r>
            <a:r>
              <a:rPr sz="1598" spc="-12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a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ball</a:t>
            </a:r>
            <a:endParaRPr sz="1598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50292" y="4280493"/>
            <a:ext cx="2240561" cy="165606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53967" y="6052630"/>
            <a:ext cx="2157183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cat</a:t>
            </a:r>
            <a:r>
              <a:rPr sz="1598" spc="-17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sitting</a:t>
            </a:r>
            <a:r>
              <a:rPr sz="1598" spc="-26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on</a:t>
            </a:r>
            <a:r>
              <a:rPr sz="1598" spc="-133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</a:t>
            </a:r>
            <a:r>
              <a:rPr sz="1598" spc="-16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suitcase</a:t>
            </a:r>
            <a:endParaRPr sz="1598">
              <a:latin typeface="Tahoma"/>
              <a:cs typeface="Tahoma"/>
            </a:endParaRPr>
          </a:p>
          <a:p>
            <a:pPr marL="16913"/>
            <a:r>
              <a:rPr sz="1598" spc="-13" dirty="0">
                <a:latin typeface="Tahoma"/>
                <a:cs typeface="Tahoma"/>
              </a:rPr>
              <a:t>on</a:t>
            </a:r>
            <a:r>
              <a:rPr sz="1598" spc="-133" dirty="0">
                <a:latin typeface="Tahoma"/>
                <a:cs typeface="Tahoma"/>
              </a:rPr>
              <a:t> </a:t>
            </a:r>
            <a:r>
              <a:rPr sz="1598" spc="-60" dirty="0">
                <a:latin typeface="Tahoma"/>
                <a:cs typeface="Tahoma"/>
              </a:rPr>
              <a:t>the</a:t>
            </a:r>
            <a:r>
              <a:rPr sz="1598" spc="-152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floor</a:t>
            </a:r>
            <a:endParaRPr sz="1598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77932" y="1684498"/>
            <a:ext cx="2691110" cy="17900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89799" y="3643722"/>
            <a:ext cx="2124204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woman</a:t>
            </a:r>
            <a:r>
              <a:rPr sz="1598" spc="-23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is</a:t>
            </a:r>
            <a:r>
              <a:rPr sz="1598" spc="-21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holding</a:t>
            </a:r>
            <a:r>
              <a:rPr sz="1598" spc="-166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</a:t>
            </a:r>
            <a:r>
              <a:rPr sz="1598" spc="-160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cat </a:t>
            </a:r>
            <a:r>
              <a:rPr sz="1598" dirty="0">
                <a:latin typeface="Tahoma"/>
                <a:cs typeface="Tahoma"/>
              </a:rPr>
              <a:t>in</a:t>
            </a:r>
            <a:r>
              <a:rPr sz="1598" spc="-140" dirty="0">
                <a:latin typeface="Tahoma"/>
                <a:cs typeface="Tahoma"/>
              </a:rPr>
              <a:t> </a:t>
            </a:r>
            <a:r>
              <a:rPr sz="1598" spc="-60" dirty="0">
                <a:latin typeface="Tahoma"/>
                <a:cs typeface="Tahoma"/>
              </a:rPr>
              <a:t>her</a:t>
            </a:r>
            <a:r>
              <a:rPr sz="1598" spc="-193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hand</a:t>
            </a:r>
            <a:endParaRPr sz="1598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08551" y="4304864"/>
            <a:ext cx="1095927" cy="165606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921977" y="4601478"/>
            <a:ext cx="3013799" cy="1137872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25369">
              <a:spcBef>
                <a:spcPts val="166"/>
              </a:spcBef>
            </a:pPr>
            <a:r>
              <a:rPr sz="732" dirty="0">
                <a:latin typeface="Tahoma"/>
                <a:cs typeface="Tahoma"/>
              </a:rPr>
              <a:t>All</a:t>
            </a:r>
            <a:r>
              <a:rPr sz="732" spc="-80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ima</a:t>
            </a:r>
            <a:r>
              <a:rPr sz="732" spc="-80" dirty="0">
                <a:latin typeface="Tahoma"/>
                <a:cs typeface="Tahoma"/>
              </a:rPr>
              <a:t> </a:t>
            </a:r>
            <a:r>
              <a:rPr sz="732" spc="-13" dirty="0">
                <a:latin typeface="Tahoma"/>
                <a:cs typeface="Tahoma"/>
              </a:rPr>
              <a:t>ges</a:t>
            </a:r>
            <a:r>
              <a:rPr sz="732" spc="2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are</a:t>
            </a:r>
            <a:r>
              <a:rPr sz="732" spc="8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CC0</a:t>
            </a:r>
            <a:r>
              <a:rPr sz="732" spc="-6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Public</a:t>
            </a:r>
            <a:r>
              <a:rPr sz="732" spc="-27" dirty="0">
                <a:latin typeface="Tahoma"/>
                <a:cs typeface="Tahoma"/>
              </a:rPr>
              <a:t> </a:t>
            </a:r>
            <a:r>
              <a:rPr sz="732" spc="-13" dirty="0">
                <a:latin typeface="Tahoma"/>
                <a:cs typeface="Tahoma"/>
              </a:rPr>
              <a:t>domain: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732" u="sng" spc="-9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https://pixabay.</a:t>
            </a:r>
            <a:r>
              <a:rPr sz="732" u="sng" spc="-4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com/en/luggage-antique-cat-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1643 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010/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0"/>
              </a:spcBef>
            </a:pP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https://pixabay.</a:t>
            </a:r>
            <a:r>
              <a:rPr sz="732" u="sng" spc="4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com/en/teddy-plush-bears-cute-teddy-bear-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1623</a:t>
            </a:r>
            <a:r>
              <a:rPr sz="732" u="sng" spc="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9"/>
              </a:rPr>
              <a:t>436/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732" u="sng" spc="-8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https://pixabay.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com/en/surf-wave-summer-sport-litoral-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1668</a:t>
            </a:r>
            <a:r>
              <a:rPr sz="732" u="sng" spc="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716/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0"/>
              </a:spcBef>
            </a:pPr>
            <a:r>
              <a:rPr sz="732" u="sng" spc="-5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https://pixabay.</a:t>
            </a:r>
            <a:r>
              <a:rPr sz="732" u="sng" spc="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com/en/woman-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fe</a:t>
            </a:r>
            <a:r>
              <a:rPr sz="732" u="sng" spc="4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male-model-portrait-adult-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9839</a:t>
            </a:r>
            <a:r>
              <a:rPr sz="732" u="sng" spc="4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67/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0"/>
              </a:spcBef>
            </a:pP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https://pixabay.</a:t>
            </a:r>
            <a:r>
              <a:rPr sz="732" u="sng" spc="6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com/en/handstand-lake-meditation-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4960</a:t>
            </a:r>
            <a:r>
              <a:rPr sz="732" u="sng" spc="8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08/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732" u="sng" spc="-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https://pixabay.</a:t>
            </a:r>
            <a:r>
              <a:rPr sz="732" u="sng" spc="9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com/en/baseball-player-shortstop-infield-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1045</a:t>
            </a:r>
            <a:r>
              <a:rPr sz="732" u="sng" spc="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3"/>
              </a:rPr>
              <a:t>263/</a:t>
            </a:r>
            <a:endParaRPr sz="732" dirty="0">
              <a:latin typeface="Tahoma"/>
              <a:cs typeface="Tahoma"/>
            </a:endParaRPr>
          </a:p>
          <a:p>
            <a:pPr>
              <a:spcBef>
                <a:spcPts val="160"/>
              </a:spcBef>
            </a:pPr>
            <a:endParaRPr sz="732" dirty="0">
              <a:latin typeface="Tahoma"/>
              <a:cs typeface="Tahoma"/>
            </a:endParaRPr>
          </a:p>
          <a:p>
            <a:pPr marL="25369"/>
            <a:r>
              <a:rPr sz="732" dirty="0">
                <a:latin typeface="Tahoma"/>
                <a:cs typeface="Tahoma"/>
              </a:rPr>
              <a:t>Captions</a:t>
            </a:r>
            <a:r>
              <a:rPr sz="732" spc="160" dirty="0">
                <a:latin typeface="Tahoma"/>
                <a:cs typeface="Tahoma"/>
              </a:rPr>
              <a:t> </a:t>
            </a:r>
            <a:r>
              <a:rPr sz="732" spc="-27" dirty="0">
                <a:latin typeface="Tahoma"/>
                <a:cs typeface="Tahoma"/>
              </a:rPr>
              <a:t>gene</a:t>
            </a:r>
            <a:r>
              <a:rPr sz="732" spc="-80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rated</a:t>
            </a:r>
            <a:r>
              <a:rPr sz="732" spc="-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by</a:t>
            </a:r>
            <a:r>
              <a:rPr sz="732" spc="-4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Justin</a:t>
            </a:r>
            <a:r>
              <a:rPr sz="732" spc="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Johnson using</a:t>
            </a:r>
            <a:r>
              <a:rPr sz="732" spc="-13" dirty="0">
                <a:latin typeface="Tahoma"/>
                <a:cs typeface="Tahoma"/>
              </a:rPr>
              <a:t> </a:t>
            </a:r>
            <a:r>
              <a:rPr sz="732" u="sng" spc="-16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4"/>
              </a:rPr>
              <a:t>Ne</a:t>
            </a:r>
            <a:r>
              <a:rPr sz="732" u="sng" spc="-8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4"/>
              </a:rPr>
              <a:t>uraltalk2</a:t>
            </a:r>
            <a:endParaRPr sz="732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0269" y="6751176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6133" y="6052630"/>
            <a:ext cx="2569002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1598" spc="-87" dirty="0">
                <a:latin typeface="Tahoma"/>
                <a:cs typeface="Tahoma"/>
              </a:rPr>
              <a:t>A</a:t>
            </a:r>
            <a:r>
              <a:rPr sz="1598" spc="-22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woman</a:t>
            </a:r>
            <a:r>
              <a:rPr sz="1598" spc="-226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standing</a:t>
            </a:r>
            <a:r>
              <a:rPr sz="1598" spc="-25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on</a:t>
            </a:r>
            <a:r>
              <a:rPr sz="1598" spc="-133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</a:t>
            </a:r>
            <a:r>
              <a:rPr sz="1598" spc="-25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beach</a:t>
            </a:r>
            <a:endParaRPr sz="1598">
              <a:latin typeface="Tahoma"/>
              <a:cs typeface="Tahoma"/>
            </a:endParaRPr>
          </a:p>
          <a:p>
            <a:pPr marL="16913"/>
            <a:r>
              <a:rPr sz="1598" spc="-13" dirty="0">
                <a:latin typeface="Tahoma"/>
                <a:cs typeface="Tahoma"/>
              </a:rPr>
              <a:t>holding</a:t>
            </a:r>
            <a:r>
              <a:rPr sz="1598" spc="-266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a</a:t>
            </a:r>
            <a:r>
              <a:rPr sz="1598" spc="-160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surfboard</a:t>
            </a:r>
            <a:endParaRPr sz="1598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94594" y="722057"/>
            <a:ext cx="14855899" cy="1003047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lnSpc>
                <a:spcPts val="4588"/>
              </a:lnSpc>
              <a:spcBef>
                <a:spcPts val="173"/>
              </a:spcBef>
            </a:pPr>
            <a:r>
              <a:rPr sz="3995" spc="-346" dirty="0"/>
              <a:t>~2012</a:t>
            </a:r>
            <a:r>
              <a:rPr sz="3995" spc="-446" dirty="0"/>
              <a:t> </a:t>
            </a:r>
            <a:r>
              <a:rPr sz="3995" spc="-272" dirty="0"/>
              <a:t>–</a:t>
            </a:r>
            <a:r>
              <a:rPr sz="3995" spc="-406" dirty="0"/>
              <a:t> </a:t>
            </a:r>
            <a:r>
              <a:rPr sz="3995" spc="-246" dirty="0"/>
              <a:t>2020:</a:t>
            </a:r>
            <a:r>
              <a:rPr sz="3995" spc="-433" dirty="0"/>
              <a:t> </a:t>
            </a:r>
            <a:r>
              <a:rPr sz="3995" spc="-93" dirty="0"/>
              <a:t>ConvNets</a:t>
            </a:r>
            <a:r>
              <a:rPr sz="3995" spc="-373" dirty="0"/>
              <a:t> </a:t>
            </a:r>
            <a:r>
              <a:rPr sz="3995" spc="-47" dirty="0"/>
              <a:t>dominate</a:t>
            </a:r>
            <a:r>
              <a:rPr sz="3995" spc="-406" dirty="0"/>
              <a:t> </a:t>
            </a:r>
            <a:r>
              <a:rPr sz="3995" dirty="0"/>
              <a:t>all</a:t>
            </a:r>
            <a:r>
              <a:rPr sz="3995" spc="-393" dirty="0"/>
              <a:t> </a:t>
            </a:r>
            <a:r>
              <a:rPr sz="3995" spc="-47" dirty="0"/>
              <a:t>vision</a:t>
            </a:r>
            <a:r>
              <a:rPr sz="3995" spc="-419" dirty="0"/>
              <a:t> </a:t>
            </a:r>
            <a:r>
              <a:rPr sz="3995" spc="-13" dirty="0"/>
              <a:t>tasks</a:t>
            </a:r>
            <a:endParaRPr sz="3995" dirty="0"/>
          </a:p>
          <a:p>
            <a:pPr marL="2875140">
              <a:lnSpc>
                <a:spcPts val="2990"/>
              </a:lnSpc>
            </a:pPr>
            <a:r>
              <a:rPr sz="2663" spc="-113" dirty="0"/>
              <a:t>Image</a:t>
            </a:r>
            <a:r>
              <a:rPr sz="2663" spc="-305" dirty="0"/>
              <a:t> </a:t>
            </a:r>
            <a:r>
              <a:rPr sz="2663" spc="-13" dirty="0"/>
              <a:t>Captioning</a:t>
            </a:r>
            <a:endParaRPr sz="266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943" y="660059"/>
            <a:ext cx="11062307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346" dirty="0"/>
              <a:t>~2012</a:t>
            </a:r>
            <a:r>
              <a:rPr sz="3995" spc="-446" dirty="0"/>
              <a:t> </a:t>
            </a:r>
            <a:r>
              <a:rPr sz="3995" spc="-272" dirty="0"/>
              <a:t>–</a:t>
            </a:r>
            <a:r>
              <a:rPr sz="3995" spc="-406" dirty="0"/>
              <a:t> </a:t>
            </a:r>
            <a:r>
              <a:rPr sz="3995" spc="-246" dirty="0"/>
              <a:t>2020:</a:t>
            </a:r>
            <a:r>
              <a:rPr sz="3995" spc="-433" dirty="0"/>
              <a:t> </a:t>
            </a:r>
            <a:r>
              <a:rPr sz="3995" spc="-93" dirty="0"/>
              <a:t>ConvNets</a:t>
            </a:r>
            <a:r>
              <a:rPr sz="3995" spc="-373" dirty="0"/>
              <a:t> </a:t>
            </a:r>
            <a:r>
              <a:rPr sz="3995" spc="-47" dirty="0"/>
              <a:t>dominate</a:t>
            </a:r>
            <a:r>
              <a:rPr sz="3995" spc="-406" dirty="0"/>
              <a:t> </a:t>
            </a:r>
            <a:r>
              <a:rPr sz="3995" dirty="0"/>
              <a:t>all</a:t>
            </a:r>
            <a:r>
              <a:rPr sz="3995" spc="-393" dirty="0"/>
              <a:t> </a:t>
            </a:r>
            <a:r>
              <a:rPr sz="3995" spc="-47" dirty="0"/>
              <a:t>vision</a:t>
            </a:r>
            <a:r>
              <a:rPr sz="3995" spc="-419" dirty="0"/>
              <a:t> </a:t>
            </a:r>
            <a:r>
              <a:rPr sz="3995" spc="-13" dirty="0"/>
              <a:t>tasks</a:t>
            </a:r>
            <a:endParaRPr sz="3995" dirty="0"/>
          </a:p>
        </p:txBody>
      </p:sp>
      <p:sp>
        <p:nvSpPr>
          <p:cNvPr id="3" name="object 3"/>
          <p:cNvSpPr txBox="1"/>
          <p:nvPr/>
        </p:nvSpPr>
        <p:spPr>
          <a:xfrm>
            <a:off x="8152062" y="1557446"/>
            <a:ext cx="3173622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 marR="6765">
              <a:spcBef>
                <a:spcPts val="180"/>
              </a:spcBef>
            </a:pPr>
            <a:r>
              <a:rPr sz="1199" spc="-33" dirty="0">
                <a:latin typeface="Tahoma"/>
                <a:cs typeface="Tahoma"/>
              </a:rPr>
              <a:t>Rombach</a:t>
            </a:r>
            <a:r>
              <a:rPr sz="1199" spc="-107" dirty="0">
                <a:latin typeface="Tahoma"/>
                <a:cs typeface="Tahoma"/>
              </a:rPr>
              <a:t> </a:t>
            </a:r>
            <a:r>
              <a:rPr sz="1199" spc="-33" dirty="0">
                <a:latin typeface="Tahoma"/>
                <a:cs typeface="Tahoma"/>
              </a:rPr>
              <a:t>et</a:t>
            </a:r>
            <a:r>
              <a:rPr sz="1199" spc="-80" dirty="0">
                <a:latin typeface="Tahoma"/>
                <a:cs typeface="Tahoma"/>
              </a:rPr>
              <a:t> </a:t>
            </a:r>
            <a:r>
              <a:rPr sz="1199" spc="-47" dirty="0">
                <a:latin typeface="Tahoma"/>
                <a:cs typeface="Tahoma"/>
              </a:rPr>
              <a:t>al,</a:t>
            </a:r>
            <a:r>
              <a:rPr sz="1199" spc="-53" dirty="0">
                <a:latin typeface="Tahoma"/>
                <a:cs typeface="Tahoma"/>
              </a:rPr>
              <a:t> </a:t>
            </a:r>
            <a:r>
              <a:rPr sz="1199" spc="-40" dirty="0">
                <a:latin typeface="Tahoma"/>
                <a:cs typeface="Tahoma"/>
              </a:rPr>
              <a:t>“High-</a:t>
            </a:r>
            <a:r>
              <a:rPr sz="1199" spc="-13" dirty="0">
                <a:latin typeface="Tahoma"/>
                <a:cs typeface="Tahoma"/>
              </a:rPr>
              <a:t>Resolution</a:t>
            </a:r>
            <a:r>
              <a:rPr sz="1199" spc="-40" dirty="0">
                <a:latin typeface="Tahoma"/>
                <a:cs typeface="Tahoma"/>
              </a:rPr>
              <a:t> </a:t>
            </a:r>
            <a:r>
              <a:rPr sz="1199" spc="-67" dirty="0">
                <a:latin typeface="Tahoma"/>
                <a:cs typeface="Tahoma"/>
              </a:rPr>
              <a:t>Image</a:t>
            </a:r>
            <a:r>
              <a:rPr sz="1199" spc="-193" dirty="0">
                <a:latin typeface="Tahoma"/>
                <a:cs typeface="Tahoma"/>
              </a:rPr>
              <a:t> </a:t>
            </a:r>
            <a:r>
              <a:rPr sz="1199" spc="-13" dirty="0">
                <a:latin typeface="Tahoma"/>
                <a:cs typeface="Tahoma"/>
              </a:rPr>
              <a:t>Synthesis with</a:t>
            </a:r>
            <a:r>
              <a:rPr sz="1199" spc="-40" dirty="0">
                <a:latin typeface="Tahoma"/>
                <a:cs typeface="Tahoma"/>
              </a:rPr>
              <a:t> </a:t>
            </a:r>
            <a:r>
              <a:rPr sz="1199" spc="-33" dirty="0">
                <a:latin typeface="Tahoma"/>
                <a:cs typeface="Tahoma"/>
              </a:rPr>
              <a:t>Latent</a:t>
            </a:r>
            <a:r>
              <a:rPr sz="1199" spc="-73" dirty="0">
                <a:latin typeface="Tahoma"/>
                <a:cs typeface="Tahoma"/>
              </a:rPr>
              <a:t> </a:t>
            </a:r>
            <a:r>
              <a:rPr sz="1199" spc="-27" dirty="0">
                <a:latin typeface="Tahoma"/>
                <a:cs typeface="Tahoma"/>
              </a:rPr>
              <a:t>Diffusion</a:t>
            </a:r>
            <a:r>
              <a:rPr sz="1199" spc="-160" dirty="0">
                <a:latin typeface="Tahoma"/>
                <a:cs typeface="Tahoma"/>
              </a:rPr>
              <a:t> </a:t>
            </a:r>
            <a:r>
              <a:rPr sz="1199" spc="-33" dirty="0">
                <a:latin typeface="Tahoma"/>
                <a:cs typeface="Tahoma"/>
              </a:rPr>
              <a:t>Models”,</a:t>
            </a:r>
            <a:r>
              <a:rPr sz="1199" spc="-53" dirty="0">
                <a:latin typeface="Tahoma"/>
                <a:cs typeface="Tahoma"/>
              </a:rPr>
              <a:t> </a:t>
            </a:r>
            <a:r>
              <a:rPr sz="1199" spc="-47" dirty="0">
                <a:latin typeface="Tahoma"/>
                <a:cs typeface="Tahoma"/>
              </a:rPr>
              <a:t>CVPR</a:t>
            </a:r>
            <a:r>
              <a:rPr sz="1199" spc="-186" dirty="0">
                <a:latin typeface="Tahoma"/>
                <a:cs typeface="Tahoma"/>
              </a:rPr>
              <a:t> </a:t>
            </a:r>
            <a:r>
              <a:rPr sz="1199" spc="-27" dirty="0">
                <a:latin typeface="Tahoma"/>
                <a:cs typeface="Tahoma"/>
              </a:rPr>
              <a:t>2022</a:t>
            </a:r>
            <a:endParaRPr sz="119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6256" y="5771891"/>
            <a:ext cx="1509436" cy="100495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067" marR="6765" indent="-3383" algn="ctr">
              <a:spcBef>
                <a:spcPts val="166"/>
              </a:spcBef>
            </a:pPr>
            <a:r>
              <a:rPr sz="1598" i="1" spc="-286" dirty="0">
                <a:latin typeface="Verdana"/>
                <a:cs typeface="Verdana"/>
              </a:rPr>
              <a:t>A</a:t>
            </a:r>
            <a:r>
              <a:rPr sz="1598" i="1" spc="-220" dirty="0">
                <a:latin typeface="Verdana"/>
                <a:cs typeface="Verdana"/>
              </a:rPr>
              <a:t> </a:t>
            </a:r>
            <a:r>
              <a:rPr sz="1598" i="1" spc="-152" dirty="0">
                <a:latin typeface="Verdana"/>
                <a:cs typeface="Verdana"/>
              </a:rPr>
              <a:t>shirt</a:t>
            </a:r>
            <a:r>
              <a:rPr sz="1598" i="1" spc="-305" dirty="0">
                <a:latin typeface="Verdana"/>
                <a:cs typeface="Verdana"/>
              </a:rPr>
              <a:t> </a:t>
            </a:r>
            <a:r>
              <a:rPr sz="1598" i="1" spc="-146" dirty="0">
                <a:latin typeface="Verdana"/>
                <a:cs typeface="Verdana"/>
              </a:rPr>
              <a:t>with</a:t>
            </a:r>
            <a:r>
              <a:rPr sz="1598" i="1" spc="-233" dirty="0">
                <a:latin typeface="Verdana"/>
                <a:cs typeface="Verdana"/>
              </a:rPr>
              <a:t> </a:t>
            </a:r>
            <a:r>
              <a:rPr sz="1598" i="1" spc="-33" dirty="0">
                <a:latin typeface="Verdana"/>
                <a:cs typeface="Verdana"/>
              </a:rPr>
              <a:t>the </a:t>
            </a:r>
            <a:r>
              <a:rPr sz="1598" i="1" spc="-160" dirty="0">
                <a:latin typeface="Verdana"/>
                <a:cs typeface="Verdana"/>
              </a:rPr>
              <a:t>inscription:</a:t>
            </a:r>
            <a:r>
              <a:rPr sz="1598" i="1" spc="-200" dirty="0">
                <a:latin typeface="Verdana"/>
                <a:cs typeface="Verdana"/>
              </a:rPr>
              <a:t> </a:t>
            </a:r>
            <a:r>
              <a:rPr sz="1598" i="1" spc="-173" dirty="0">
                <a:latin typeface="Verdana"/>
                <a:cs typeface="Verdana"/>
              </a:rPr>
              <a:t>“I</a:t>
            </a:r>
            <a:r>
              <a:rPr sz="1598" i="1" spc="-226" dirty="0">
                <a:latin typeface="Verdana"/>
                <a:cs typeface="Verdana"/>
              </a:rPr>
              <a:t> </a:t>
            </a:r>
            <a:r>
              <a:rPr sz="1598" i="1" spc="-152" dirty="0">
                <a:latin typeface="Verdana"/>
                <a:cs typeface="Verdana"/>
              </a:rPr>
              <a:t>love </a:t>
            </a:r>
            <a:r>
              <a:rPr sz="1598" i="1" spc="-33" dirty="0">
                <a:latin typeface="Verdana"/>
                <a:cs typeface="Verdana"/>
              </a:rPr>
              <a:t>generative </a:t>
            </a:r>
            <a:r>
              <a:rPr sz="1598" i="1" spc="-13" dirty="0">
                <a:latin typeface="Verdana"/>
                <a:cs typeface="Verdana"/>
              </a:rPr>
              <a:t>models!”</a:t>
            </a:r>
            <a:endParaRPr sz="1598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7869" y="1518730"/>
            <a:ext cx="3694526" cy="430285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2663" spc="-107" dirty="0">
                <a:latin typeface="Tahoma"/>
                <a:cs typeface="Tahoma"/>
              </a:rPr>
              <a:t>Text-</a:t>
            </a:r>
            <a:r>
              <a:rPr sz="2663" spc="-60" dirty="0">
                <a:latin typeface="Tahoma"/>
                <a:cs typeface="Tahoma"/>
              </a:rPr>
              <a:t>to-</a:t>
            </a:r>
            <a:r>
              <a:rPr sz="2663" spc="-120" dirty="0">
                <a:latin typeface="Tahoma"/>
                <a:cs typeface="Tahoma"/>
              </a:rPr>
              <a:t>Image</a:t>
            </a:r>
            <a:r>
              <a:rPr sz="2663" spc="-226" dirty="0">
                <a:latin typeface="Tahoma"/>
                <a:cs typeface="Tahoma"/>
              </a:rPr>
              <a:t> </a:t>
            </a:r>
            <a:r>
              <a:rPr sz="2663" spc="-33" dirty="0">
                <a:latin typeface="Tahoma"/>
                <a:cs typeface="Tahoma"/>
              </a:rPr>
              <a:t>Generation</a:t>
            </a:r>
            <a:endParaRPr sz="266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4510" y="5766428"/>
            <a:ext cx="1542416" cy="100495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 algn="ctr">
              <a:spcBef>
                <a:spcPts val="166"/>
              </a:spcBef>
            </a:pPr>
            <a:r>
              <a:rPr sz="1598" i="1" spc="-286" dirty="0">
                <a:latin typeface="Verdana"/>
                <a:cs typeface="Verdana"/>
              </a:rPr>
              <a:t>A</a:t>
            </a:r>
            <a:r>
              <a:rPr sz="1598" i="1" spc="-246" dirty="0">
                <a:latin typeface="Verdana"/>
                <a:cs typeface="Verdana"/>
              </a:rPr>
              <a:t> </a:t>
            </a:r>
            <a:r>
              <a:rPr sz="1598" i="1" spc="-13" dirty="0">
                <a:latin typeface="Verdana"/>
                <a:cs typeface="Verdana"/>
              </a:rPr>
              <a:t>watercolor </a:t>
            </a:r>
            <a:r>
              <a:rPr sz="1598" i="1" spc="-127" dirty="0">
                <a:latin typeface="Verdana"/>
                <a:cs typeface="Verdana"/>
              </a:rPr>
              <a:t>painting</a:t>
            </a:r>
            <a:r>
              <a:rPr sz="1598" i="1" spc="-260" dirty="0">
                <a:latin typeface="Verdana"/>
                <a:cs typeface="Verdana"/>
              </a:rPr>
              <a:t> </a:t>
            </a:r>
            <a:r>
              <a:rPr sz="1598" i="1" spc="-166" dirty="0">
                <a:latin typeface="Verdana"/>
                <a:cs typeface="Verdana"/>
              </a:rPr>
              <a:t>of</a:t>
            </a:r>
            <a:r>
              <a:rPr sz="1598" i="1" spc="-233" dirty="0">
                <a:latin typeface="Verdana"/>
                <a:cs typeface="Verdana"/>
              </a:rPr>
              <a:t> </a:t>
            </a:r>
            <a:r>
              <a:rPr sz="1598" i="1" spc="-100" dirty="0">
                <a:latin typeface="Verdana"/>
                <a:cs typeface="Verdana"/>
              </a:rPr>
              <a:t>a</a:t>
            </a:r>
            <a:r>
              <a:rPr sz="1598" i="1" spc="-260" dirty="0">
                <a:latin typeface="Verdana"/>
                <a:cs typeface="Verdana"/>
              </a:rPr>
              <a:t> </a:t>
            </a:r>
            <a:r>
              <a:rPr sz="1598" i="1" spc="-127" dirty="0">
                <a:latin typeface="Verdana"/>
                <a:cs typeface="Verdana"/>
              </a:rPr>
              <a:t>chair </a:t>
            </a:r>
            <a:r>
              <a:rPr sz="1598" i="1" spc="-146" dirty="0">
                <a:latin typeface="Verdana"/>
                <a:cs typeface="Verdana"/>
              </a:rPr>
              <a:t>that</a:t>
            </a:r>
            <a:r>
              <a:rPr sz="1598" i="1" spc="-200" dirty="0">
                <a:latin typeface="Verdana"/>
                <a:cs typeface="Verdana"/>
              </a:rPr>
              <a:t> </a:t>
            </a:r>
            <a:r>
              <a:rPr sz="1598" i="1" spc="-152" dirty="0">
                <a:latin typeface="Verdana"/>
                <a:cs typeface="Verdana"/>
              </a:rPr>
              <a:t>looks</a:t>
            </a:r>
            <a:r>
              <a:rPr sz="1598" i="1" spc="-233" dirty="0">
                <a:latin typeface="Verdana"/>
                <a:cs typeface="Verdana"/>
              </a:rPr>
              <a:t> </a:t>
            </a:r>
            <a:r>
              <a:rPr sz="1598" i="1" spc="-120" dirty="0">
                <a:latin typeface="Verdana"/>
                <a:cs typeface="Verdana"/>
              </a:rPr>
              <a:t>like</a:t>
            </a:r>
            <a:r>
              <a:rPr sz="1598" i="1" spc="-266" dirty="0">
                <a:latin typeface="Verdana"/>
                <a:cs typeface="Verdana"/>
              </a:rPr>
              <a:t> </a:t>
            </a:r>
            <a:r>
              <a:rPr sz="1598" i="1" spc="-33" dirty="0">
                <a:latin typeface="Verdana"/>
                <a:cs typeface="Verdana"/>
              </a:rPr>
              <a:t>an </a:t>
            </a:r>
            <a:r>
              <a:rPr sz="1598" i="1" spc="-13" dirty="0">
                <a:latin typeface="Verdana"/>
                <a:cs typeface="Verdana"/>
              </a:rPr>
              <a:t>octopus</a:t>
            </a:r>
            <a:endParaRPr sz="1598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3418" y="5928501"/>
            <a:ext cx="1392739" cy="75905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 indent="4228" algn="ctr">
              <a:spcBef>
                <a:spcPts val="166"/>
              </a:spcBef>
            </a:pPr>
            <a:r>
              <a:rPr sz="1598" i="1" spc="-286" dirty="0">
                <a:latin typeface="Verdana"/>
                <a:cs typeface="Verdana"/>
              </a:rPr>
              <a:t>A</a:t>
            </a:r>
            <a:r>
              <a:rPr sz="1598" i="1" spc="-220" dirty="0">
                <a:latin typeface="Verdana"/>
                <a:cs typeface="Verdana"/>
              </a:rPr>
              <a:t> </a:t>
            </a:r>
            <a:r>
              <a:rPr sz="1598" i="1" spc="-146" dirty="0">
                <a:latin typeface="Verdana"/>
                <a:cs typeface="Verdana"/>
              </a:rPr>
              <a:t>painting</a:t>
            </a:r>
            <a:r>
              <a:rPr sz="1598" i="1" spc="-246" dirty="0">
                <a:latin typeface="Verdana"/>
                <a:cs typeface="Verdana"/>
              </a:rPr>
              <a:t> </a:t>
            </a:r>
            <a:r>
              <a:rPr sz="1598" i="1" spc="-120" dirty="0">
                <a:latin typeface="Verdana"/>
                <a:cs typeface="Verdana"/>
              </a:rPr>
              <a:t>of</a:t>
            </a:r>
            <a:r>
              <a:rPr sz="1598" i="1" spc="-220" dirty="0">
                <a:latin typeface="Verdana"/>
                <a:cs typeface="Verdana"/>
              </a:rPr>
              <a:t> </a:t>
            </a:r>
            <a:r>
              <a:rPr sz="1598" i="1" spc="-67" dirty="0">
                <a:latin typeface="Verdana"/>
                <a:cs typeface="Verdana"/>
              </a:rPr>
              <a:t>a </a:t>
            </a:r>
            <a:r>
              <a:rPr sz="1598" i="1" spc="-140" dirty="0">
                <a:latin typeface="Verdana"/>
                <a:cs typeface="Verdana"/>
              </a:rPr>
              <a:t>squirrel</a:t>
            </a:r>
            <a:r>
              <a:rPr sz="1598" i="1" spc="-240" dirty="0">
                <a:latin typeface="Verdana"/>
                <a:cs typeface="Verdana"/>
              </a:rPr>
              <a:t> </a:t>
            </a:r>
            <a:r>
              <a:rPr sz="1598" i="1" spc="-146" dirty="0">
                <a:latin typeface="Verdana"/>
                <a:cs typeface="Verdana"/>
              </a:rPr>
              <a:t>eating</a:t>
            </a:r>
            <a:r>
              <a:rPr sz="1598" i="1" spc="-213" dirty="0">
                <a:latin typeface="Verdana"/>
                <a:cs typeface="Verdana"/>
              </a:rPr>
              <a:t> </a:t>
            </a:r>
            <a:r>
              <a:rPr sz="1598" i="1" spc="-67" dirty="0">
                <a:latin typeface="Verdana"/>
                <a:cs typeface="Verdana"/>
              </a:rPr>
              <a:t>a </a:t>
            </a:r>
            <a:r>
              <a:rPr sz="1598" i="1" spc="-13" dirty="0">
                <a:latin typeface="Verdana"/>
                <a:cs typeface="Verdana"/>
              </a:rPr>
              <a:t>burger</a:t>
            </a:r>
            <a:endParaRPr sz="1598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894" y="2092976"/>
            <a:ext cx="9059663" cy="35954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85502" y="5928501"/>
            <a:ext cx="1516201" cy="75905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 algn="ctr">
              <a:spcBef>
                <a:spcPts val="166"/>
              </a:spcBef>
            </a:pPr>
            <a:r>
              <a:rPr sz="1598" i="1" spc="-213" dirty="0">
                <a:latin typeface="Verdana"/>
                <a:cs typeface="Verdana"/>
              </a:rPr>
              <a:t>An</a:t>
            </a:r>
            <a:r>
              <a:rPr sz="1598" i="1" spc="-353" dirty="0">
                <a:latin typeface="Verdana"/>
                <a:cs typeface="Verdana"/>
              </a:rPr>
              <a:t> </a:t>
            </a:r>
            <a:r>
              <a:rPr sz="1598" i="1" spc="-146" dirty="0">
                <a:latin typeface="Verdana"/>
                <a:cs typeface="Verdana"/>
              </a:rPr>
              <a:t>image</a:t>
            </a:r>
            <a:r>
              <a:rPr sz="1598" i="1" spc="-280" dirty="0">
                <a:latin typeface="Verdana"/>
                <a:cs typeface="Verdana"/>
              </a:rPr>
              <a:t> </a:t>
            </a:r>
            <a:r>
              <a:rPr sz="1598" i="1" spc="-166" dirty="0">
                <a:latin typeface="Verdana"/>
                <a:cs typeface="Verdana"/>
              </a:rPr>
              <a:t>of</a:t>
            </a:r>
            <a:r>
              <a:rPr sz="1598" i="1" spc="-240" dirty="0">
                <a:latin typeface="Verdana"/>
                <a:cs typeface="Verdana"/>
              </a:rPr>
              <a:t> </a:t>
            </a:r>
            <a:r>
              <a:rPr sz="1598" i="1" spc="-107" dirty="0">
                <a:latin typeface="Verdana"/>
                <a:cs typeface="Verdana"/>
              </a:rPr>
              <a:t>a</a:t>
            </a:r>
            <a:r>
              <a:rPr sz="1598" i="1" spc="-272" dirty="0">
                <a:latin typeface="Verdana"/>
                <a:cs typeface="Verdana"/>
              </a:rPr>
              <a:t> </a:t>
            </a:r>
            <a:r>
              <a:rPr sz="1598" i="1" spc="-107" dirty="0">
                <a:latin typeface="Verdana"/>
                <a:cs typeface="Verdana"/>
              </a:rPr>
              <a:t>half </a:t>
            </a:r>
            <a:r>
              <a:rPr sz="1598" i="1" spc="-193" dirty="0">
                <a:latin typeface="Verdana"/>
                <a:cs typeface="Verdana"/>
              </a:rPr>
              <a:t>mouse</a:t>
            </a:r>
            <a:r>
              <a:rPr sz="1598" i="1" spc="-253" dirty="0">
                <a:latin typeface="Verdana"/>
                <a:cs typeface="Verdana"/>
              </a:rPr>
              <a:t> </a:t>
            </a:r>
            <a:r>
              <a:rPr sz="1598" i="1" spc="-27" dirty="0">
                <a:latin typeface="Verdana"/>
                <a:cs typeface="Verdana"/>
              </a:rPr>
              <a:t>half </a:t>
            </a:r>
            <a:r>
              <a:rPr sz="1598" i="1" spc="-13" dirty="0">
                <a:latin typeface="Verdana"/>
                <a:cs typeface="Verdana"/>
              </a:rPr>
              <a:t>octopus</a:t>
            </a:r>
            <a:endParaRPr sz="1598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9257" y="6050693"/>
            <a:ext cx="1290420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 indent="3383">
              <a:spcBef>
                <a:spcPts val="166"/>
              </a:spcBef>
            </a:pPr>
            <a:r>
              <a:rPr sz="1598" i="1" spc="-286" dirty="0">
                <a:latin typeface="Verdana"/>
                <a:cs typeface="Verdana"/>
              </a:rPr>
              <a:t>A</a:t>
            </a:r>
            <a:r>
              <a:rPr sz="1598" i="1" spc="-220" dirty="0">
                <a:latin typeface="Verdana"/>
                <a:cs typeface="Verdana"/>
              </a:rPr>
              <a:t> </a:t>
            </a:r>
            <a:r>
              <a:rPr sz="1598" i="1" spc="-180" dirty="0">
                <a:latin typeface="Verdana"/>
                <a:cs typeface="Verdana"/>
              </a:rPr>
              <a:t>zombie</a:t>
            </a:r>
            <a:r>
              <a:rPr sz="1598" i="1" spc="-266" dirty="0">
                <a:latin typeface="Verdana"/>
                <a:cs typeface="Verdana"/>
              </a:rPr>
              <a:t> </a:t>
            </a:r>
            <a:r>
              <a:rPr sz="1598" i="1" spc="-120" dirty="0">
                <a:latin typeface="Verdana"/>
                <a:cs typeface="Verdana"/>
              </a:rPr>
              <a:t>in</a:t>
            </a:r>
            <a:r>
              <a:rPr sz="1598" i="1" spc="-240" dirty="0">
                <a:latin typeface="Verdana"/>
                <a:cs typeface="Verdana"/>
              </a:rPr>
              <a:t> </a:t>
            </a:r>
            <a:r>
              <a:rPr sz="1598" i="1" spc="-152" dirty="0">
                <a:latin typeface="Verdana"/>
                <a:cs typeface="Verdana"/>
              </a:rPr>
              <a:t>the </a:t>
            </a:r>
            <a:r>
              <a:rPr sz="1598" i="1" spc="-160" dirty="0">
                <a:latin typeface="Verdana"/>
                <a:cs typeface="Verdana"/>
              </a:rPr>
              <a:t>style</a:t>
            </a:r>
            <a:r>
              <a:rPr sz="1598" i="1" spc="-266" dirty="0">
                <a:latin typeface="Verdana"/>
                <a:cs typeface="Verdana"/>
              </a:rPr>
              <a:t> </a:t>
            </a:r>
            <a:r>
              <a:rPr sz="1598" i="1" spc="-152" dirty="0">
                <a:latin typeface="Verdana"/>
                <a:cs typeface="Verdana"/>
              </a:rPr>
              <a:t>of</a:t>
            </a:r>
            <a:r>
              <a:rPr sz="1598" i="1" spc="-226" dirty="0">
                <a:latin typeface="Verdana"/>
                <a:cs typeface="Verdana"/>
              </a:rPr>
              <a:t> </a:t>
            </a:r>
            <a:r>
              <a:rPr sz="1598" i="1" spc="-133" dirty="0">
                <a:latin typeface="Verdana"/>
                <a:cs typeface="Verdana"/>
              </a:rPr>
              <a:t>Picasso</a:t>
            </a:r>
            <a:endParaRPr sz="1598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16F10-53A5-3BFB-2B33-88518F54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60124-C2EE-59DC-BEBA-CB9458F6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7473605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Our Computer Vision Task for Today: </a:t>
            </a:r>
            <a:br>
              <a:rPr lang="en-US" sz="4600"/>
            </a:br>
            <a:r>
              <a:rPr lang="en-US" sz="4600"/>
              <a:t>Image Classification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6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629" y="696297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33" dirty="0"/>
              <a:t>Image</a:t>
            </a:r>
            <a:r>
              <a:rPr sz="3129" spc="-293" dirty="0"/>
              <a:t> </a:t>
            </a:r>
            <a:r>
              <a:rPr sz="3129" spc="-40" dirty="0"/>
              <a:t>Classification:</a:t>
            </a:r>
            <a:r>
              <a:rPr sz="3129" spc="-280" dirty="0"/>
              <a:t> </a:t>
            </a:r>
            <a:r>
              <a:rPr sz="3129" spc="-180" dirty="0"/>
              <a:t>A</a:t>
            </a:r>
            <a:r>
              <a:rPr sz="3129" spc="-246" dirty="0"/>
              <a:t> </a:t>
            </a:r>
            <a:r>
              <a:rPr sz="3129" spc="-27" dirty="0"/>
              <a:t>core</a:t>
            </a:r>
            <a:r>
              <a:rPr sz="3129" spc="-293" dirty="0"/>
              <a:t> </a:t>
            </a:r>
            <a:r>
              <a:rPr sz="3129" spc="-33" dirty="0"/>
              <a:t>task</a:t>
            </a:r>
            <a:r>
              <a:rPr sz="3129" spc="-286" dirty="0"/>
              <a:t> </a:t>
            </a:r>
            <a:r>
              <a:rPr sz="3129" dirty="0"/>
              <a:t>in</a:t>
            </a:r>
            <a:r>
              <a:rPr sz="3129" spc="-253" dirty="0"/>
              <a:t> </a:t>
            </a:r>
            <a:r>
              <a:rPr sz="3129" spc="-27" dirty="0"/>
              <a:t>Computer</a:t>
            </a:r>
            <a:r>
              <a:rPr sz="3129" spc="-300" dirty="0"/>
              <a:t> </a:t>
            </a:r>
            <a:r>
              <a:rPr sz="3129" spc="-13" dirty="0"/>
              <a:t>Vision</a:t>
            </a:r>
            <a:endParaRPr sz="3129" dirty="0"/>
          </a:p>
        </p:txBody>
      </p:sp>
      <p:sp>
        <p:nvSpPr>
          <p:cNvPr id="3" name="object 3"/>
          <p:cNvSpPr/>
          <p:nvPr/>
        </p:nvSpPr>
        <p:spPr>
          <a:xfrm>
            <a:off x="4888912" y="4431626"/>
            <a:ext cx="1807096" cy="102320"/>
          </a:xfrm>
          <a:custGeom>
            <a:avLst/>
            <a:gdLst/>
            <a:ahLst/>
            <a:cxnLst/>
            <a:rect l="l" t="t" r="r" b="b"/>
            <a:pathLst>
              <a:path w="1356995" h="76835">
                <a:moveTo>
                  <a:pt x="1280414" y="0"/>
                </a:moveTo>
                <a:lnTo>
                  <a:pt x="1280414" y="76326"/>
                </a:lnTo>
                <a:lnTo>
                  <a:pt x="1337564" y="47751"/>
                </a:lnTo>
                <a:lnTo>
                  <a:pt x="1293114" y="47751"/>
                </a:lnTo>
                <a:lnTo>
                  <a:pt x="1293114" y="28575"/>
                </a:lnTo>
                <a:lnTo>
                  <a:pt x="1337374" y="28575"/>
                </a:lnTo>
                <a:lnTo>
                  <a:pt x="1280414" y="0"/>
                </a:lnTo>
                <a:close/>
              </a:path>
              <a:path w="1356995" h="76835">
                <a:moveTo>
                  <a:pt x="1280414" y="28575"/>
                </a:moveTo>
                <a:lnTo>
                  <a:pt x="0" y="28575"/>
                </a:lnTo>
                <a:lnTo>
                  <a:pt x="0" y="47751"/>
                </a:lnTo>
                <a:lnTo>
                  <a:pt x="1280414" y="47751"/>
                </a:lnTo>
                <a:lnTo>
                  <a:pt x="1280414" y="28575"/>
                </a:lnTo>
                <a:close/>
              </a:path>
              <a:path w="1356995" h="76835">
                <a:moveTo>
                  <a:pt x="1337374" y="28575"/>
                </a:moveTo>
                <a:lnTo>
                  <a:pt x="1293114" y="28575"/>
                </a:lnTo>
                <a:lnTo>
                  <a:pt x="1293114" y="47751"/>
                </a:lnTo>
                <a:lnTo>
                  <a:pt x="1337564" y="47751"/>
                </a:lnTo>
                <a:lnTo>
                  <a:pt x="1356614" y="38226"/>
                </a:lnTo>
                <a:lnTo>
                  <a:pt x="133737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4" name="object 4"/>
          <p:cNvSpPr txBox="1"/>
          <p:nvPr/>
        </p:nvSpPr>
        <p:spPr>
          <a:xfrm>
            <a:off x="5004254" y="2681018"/>
            <a:ext cx="4847109" cy="2039126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00" dirty="0">
                <a:latin typeface="Tahoma"/>
                <a:cs typeface="Tahoma"/>
              </a:rPr>
              <a:t>(assume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87" dirty="0">
                <a:latin typeface="Tahoma"/>
                <a:cs typeface="Tahoma"/>
              </a:rPr>
              <a:t>given</a:t>
            </a:r>
            <a:r>
              <a:rPr sz="2397" spc="-20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a</a:t>
            </a:r>
            <a:r>
              <a:rPr sz="2397" spc="-200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set</a:t>
            </a:r>
            <a:r>
              <a:rPr sz="2397" spc="-286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possible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labels)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7"/>
              </a:spcBef>
            </a:pPr>
            <a:r>
              <a:rPr sz="2397" spc="-146" dirty="0">
                <a:latin typeface="Tahoma"/>
                <a:cs typeface="Tahoma"/>
              </a:rPr>
              <a:t>{dog,</a:t>
            </a:r>
            <a:r>
              <a:rPr sz="2397" spc="-253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cat,</a:t>
            </a:r>
            <a:r>
              <a:rPr sz="2397" spc="-246" dirty="0">
                <a:latin typeface="Tahoma"/>
                <a:cs typeface="Tahoma"/>
              </a:rPr>
              <a:t> </a:t>
            </a:r>
            <a:r>
              <a:rPr sz="2397" spc="-60" dirty="0">
                <a:latin typeface="Tahoma"/>
                <a:cs typeface="Tahoma"/>
              </a:rPr>
              <a:t>truck,</a:t>
            </a:r>
            <a:r>
              <a:rPr sz="2397" spc="-146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plane,</a:t>
            </a:r>
            <a:r>
              <a:rPr sz="2397" spc="-25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...}</a:t>
            </a:r>
            <a:endParaRPr sz="2397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397">
              <a:latin typeface="Tahoma"/>
              <a:cs typeface="Tahoma"/>
            </a:endParaRPr>
          </a:p>
          <a:p>
            <a:pPr>
              <a:spcBef>
                <a:spcPts val="539"/>
              </a:spcBef>
            </a:pPr>
            <a:endParaRPr sz="2397">
              <a:latin typeface="Tahoma"/>
              <a:cs typeface="Tahoma"/>
            </a:endParaRPr>
          </a:p>
          <a:p>
            <a:pPr marL="764449" algn="ctr">
              <a:spcBef>
                <a:spcPts val="7"/>
              </a:spcBef>
            </a:pPr>
            <a:r>
              <a:rPr sz="3129" spc="-33" dirty="0">
                <a:latin typeface="Tahoma"/>
                <a:cs typeface="Tahoma"/>
              </a:rPr>
              <a:t>cat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1025" y="5801866"/>
            <a:ext cx="1084934" cy="25949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732" u="sng" spc="-4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spc="-5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Nik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ita</a:t>
            </a:r>
            <a:r>
              <a:rPr sz="732" spc="6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732" dirty="0">
              <a:latin typeface="Tahoma"/>
              <a:cs typeface="Tahoma"/>
            </a:endParaRPr>
          </a:p>
          <a:p>
            <a:pPr marL="16913">
              <a:spcBef>
                <a:spcPts val="80"/>
              </a:spcBef>
            </a:pP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732" spc="8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unde</a:t>
            </a:r>
            <a:r>
              <a:rPr sz="732" spc="-10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r</a:t>
            </a:r>
            <a:r>
              <a:rPr sz="732" spc="-10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732" u="sng" spc="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7467" y="2037543"/>
            <a:ext cx="2691110" cy="37383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34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86076" y="5674737"/>
            <a:ext cx="463401" cy="12684"/>
          </a:xfrm>
          <a:custGeom>
            <a:avLst/>
            <a:gdLst/>
            <a:ahLst/>
            <a:cxnLst/>
            <a:rect l="l" t="t" r="r" b="b"/>
            <a:pathLst>
              <a:path w="347980" h="9525">
                <a:moveTo>
                  <a:pt x="347472" y="0"/>
                </a:moveTo>
                <a:lnTo>
                  <a:pt x="0" y="0"/>
                </a:lnTo>
                <a:lnTo>
                  <a:pt x="0" y="9156"/>
                </a:lnTo>
                <a:lnTo>
                  <a:pt x="347472" y="9156"/>
                </a:lnTo>
                <a:lnTo>
                  <a:pt x="347472" y="0"/>
                </a:lnTo>
                <a:close/>
              </a:path>
            </a:pathLst>
          </a:custGeom>
          <a:solidFill>
            <a:srgbClr val="0096A7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" name="object 3"/>
          <p:cNvSpPr/>
          <p:nvPr/>
        </p:nvSpPr>
        <p:spPr>
          <a:xfrm>
            <a:off x="2494925" y="5674744"/>
            <a:ext cx="243539" cy="12684"/>
          </a:xfrm>
          <a:custGeom>
            <a:avLst/>
            <a:gdLst/>
            <a:ahLst/>
            <a:cxnLst/>
            <a:rect l="l" t="t" r="r" b="b"/>
            <a:pathLst>
              <a:path w="182880" h="9525">
                <a:moveTo>
                  <a:pt x="182880" y="0"/>
                </a:moveTo>
                <a:lnTo>
                  <a:pt x="0" y="0"/>
                </a:lnTo>
                <a:lnTo>
                  <a:pt x="0" y="9152"/>
                </a:lnTo>
                <a:lnTo>
                  <a:pt x="182880" y="9152"/>
                </a:lnTo>
                <a:lnTo>
                  <a:pt x="182880" y="0"/>
                </a:lnTo>
                <a:close/>
              </a:path>
            </a:pathLst>
          </a:custGeom>
          <a:solidFill>
            <a:srgbClr val="0096A7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4" name="object 4"/>
          <p:cNvSpPr txBox="1"/>
          <p:nvPr/>
        </p:nvSpPr>
        <p:spPr>
          <a:xfrm>
            <a:off x="1871025" y="5557651"/>
            <a:ext cx="979231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This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 </a:t>
            </a:r>
            <a:r>
              <a:rPr sz="732" dirty="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spc="-5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0096A7"/>
                </a:solidFill>
                <a:latin typeface="Tahoma"/>
                <a:cs typeface="Tahoma"/>
                <a:hlinkClick r:id="rId3"/>
              </a:rPr>
              <a:t>Nik</a:t>
            </a:r>
            <a:r>
              <a:rPr sz="732" spc="-113" dirty="0">
                <a:solidFill>
                  <a:srgbClr val="0096A7"/>
                </a:solidFill>
                <a:latin typeface="Tahoma"/>
                <a:cs typeface="Tahoma"/>
                <a:hlinkClick r:id="rId3"/>
              </a:rPr>
              <a:t> </a:t>
            </a:r>
            <a:r>
              <a:rPr sz="732" dirty="0">
                <a:solidFill>
                  <a:srgbClr val="0096A7"/>
                </a:solidFill>
                <a:latin typeface="Tahoma"/>
                <a:cs typeface="Tahoma"/>
                <a:hlinkClick r:id="rId3"/>
              </a:rPr>
              <a:t>ita</a:t>
            </a:r>
            <a:r>
              <a:rPr sz="732" spc="6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732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1025" y="5679001"/>
            <a:ext cx="1084934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732" spc="8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unde</a:t>
            </a:r>
            <a:r>
              <a:rPr sz="732" spc="-10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r</a:t>
            </a:r>
            <a:r>
              <a:rPr sz="732" spc="-10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732" u="sng" spc="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7467" y="1793328"/>
            <a:ext cx="2691110" cy="373832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9499" y="696515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7" dirty="0"/>
              <a:t>The</a:t>
            </a:r>
            <a:r>
              <a:rPr sz="3129" spc="-293" dirty="0"/>
              <a:t> </a:t>
            </a:r>
            <a:r>
              <a:rPr sz="3129" spc="-33" dirty="0"/>
              <a:t>Problem:</a:t>
            </a:r>
            <a:r>
              <a:rPr sz="3129" spc="-260" dirty="0"/>
              <a:t> </a:t>
            </a:r>
            <a:r>
              <a:rPr sz="3129" spc="-33" dirty="0"/>
              <a:t>Semantic</a:t>
            </a:r>
            <a:r>
              <a:rPr sz="3129" spc="-253" dirty="0"/>
              <a:t> </a:t>
            </a:r>
            <a:r>
              <a:rPr sz="3129" spc="-33" dirty="0"/>
              <a:t>Gap</a:t>
            </a:r>
            <a:endParaRPr sz="3129" dirty="0"/>
          </a:p>
        </p:txBody>
      </p:sp>
      <p:sp>
        <p:nvSpPr>
          <p:cNvPr id="8" name="object 8"/>
          <p:cNvSpPr/>
          <p:nvPr/>
        </p:nvSpPr>
        <p:spPr>
          <a:xfrm>
            <a:off x="2750471" y="3402075"/>
            <a:ext cx="524286" cy="524286"/>
          </a:xfrm>
          <a:custGeom>
            <a:avLst/>
            <a:gdLst/>
            <a:ahLst/>
            <a:cxnLst/>
            <a:rect l="l" t="t" r="r" b="b"/>
            <a:pathLst>
              <a:path w="393700" h="393700">
                <a:moveTo>
                  <a:pt x="0" y="393547"/>
                </a:moveTo>
                <a:lnTo>
                  <a:pt x="393192" y="393547"/>
                </a:lnTo>
                <a:lnTo>
                  <a:pt x="393192" y="0"/>
                </a:lnTo>
                <a:lnTo>
                  <a:pt x="0" y="0"/>
                </a:lnTo>
                <a:lnTo>
                  <a:pt x="0" y="393547"/>
                </a:lnTo>
                <a:close/>
              </a:path>
            </a:pathLst>
          </a:custGeom>
          <a:ln w="19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9" name="object 9"/>
          <p:cNvGrpSpPr/>
          <p:nvPr/>
        </p:nvGrpSpPr>
        <p:grpSpPr>
          <a:xfrm>
            <a:off x="3249209" y="987946"/>
            <a:ext cx="6918885" cy="2968136"/>
            <a:chOff x="2377050" y="374514"/>
            <a:chExt cx="5195570" cy="22288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0912" y="393572"/>
              <a:ext cx="2542032" cy="18470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01387" y="384047"/>
              <a:ext cx="2561590" cy="1868170"/>
            </a:xfrm>
            <a:custGeom>
              <a:avLst/>
              <a:gdLst/>
              <a:ahLst/>
              <a:cxnLst/>
              <a:rect l="l" t="t" r="r" b="b"/>
              <a:pathLst>
                <a:path w="2561590" h="1868170">
                  <a:moveTo>
                    <a:pt x="0" y="1867789"/>
                  </a:moveTo>
                  <a:lnTo>
                    <a:pt x="2561082" y="1867789"/>
                  </a:lnTo>
                  <a:lnTo>
                    <a:pt x="2561082" y="0"/>
                  </a:lnTo>
                  <a:lnTo>
                    <a:pt x="0" y="0"/>
                  </a:lnTo>
                  <a:lnTo>
                    <a:pt x="0" y="1867789"/>
                  </a:lnTo>
                  <a:close/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6584" y="384428"/>
              <a:ext cx="2607945" cy="2209165"/>
            </a:xfrm>
            <a:custGeom>
              <a:avLst/>
              <a:gdLst/>
              <a:ahLst/>
              <a:cxnLst/>
              <a:rect l="l" t="t" r="r" b="b"/>
              <a:pathLst>
                <a:path w="2607945" h="2209165">
                  <a:moveTo>
                    <a:pt x="0" y="1821052"/>
                  </a:moveTo>
                  <a:lnTo>
                    <a:pt x="2607945" y="0"/>
                  </a:lnTo>
                </a:path>
                <a:path w="2607945" h="2209165">
                  <a:moveTo>
                    <a:pt x="9143" y="2209037"/>
                  </a:moveTo>
                  <a:lnTo>
                    <a:pt x="2603881" y="18670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21096" y="3611925"/>
            <a:ext cx="4175685" cy="1519112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097627">
              <a:spcBef>
                <a:spcPts val="140"/>
              </a:spcBef>
            </a:pPr>
            <a:r>
              <a:rPr sz="2397" spc="-100" dirty="0">
                <a:latin typeface="Tahoma"/>
                <a:cs typeface="Tahoma"/>
              </a:rPr>
              <a:t>What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the</a:t>
            </a:r>
            <a:r>
              <a:rPr sz="2397" spc="-160" dirty="0">
                <a:latin typeface="Tahoma"/>
                <a:cs typeface="Tahoma"/>
              </a:rPr>
              <a:t> </a:t>
            </a:r>
            <a:r>
              <a:rPr sz="2397" spc="-40" dirty="0">
                <a:latin typeface="Tahoma"/>
                <a:cs typeface="Tahoma"/>
              </a:rPr>
              <a:t>computer</a:t>
            </a:r>
            <a:r>
              <a:rPr sz="2397" spc="-293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sees</a:t>
            </a:r>
            <a:endParaRPr sz="2397">
              <a:latin typeface="Tahoma"/>
              <a:cs typeface="Tahoma"/>
            </a:endParaRPr>
          </a:p>
          <a:p>
            <a:pPr>
              <a:spcBef>
                <a:spcPts val="226"/>
              </a:spcBef>
            </a:pPr>
            <a:endParaRPr sz="2397">
              <a:latin typeface="Tahoma"/>
              <a:cs typeface="Tahoma"/>
            </a:endParaRPr>
          </a:p>
          <a:p>
            <a:pPr marL="16913" marR="211407"/>
            <a:r>
              <a:rPr sz="2397" spc="-73" dirty="0">
                <a:solidFill>
                  <a:srgbClr val="0000FF"/>
                </a:solidFill>
                <a:latin typeface="Tahoma"/>
                <a:cs typeface="Tahoma"/>
              </a:rPr>
              <a:t>An</a:t>
            </a:r>
            <a:r>
              <a:rPr sz="2397" spc="-31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73" dirty="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r>
              <a:rPr sz="2397" spc="-18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33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2397" spc="-29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73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2397" spc="-2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0" dirty="0">
                <a:solidFill>
                  <a:srgbClr val="0000FF"/>
                </a:solidFill>
                <a:latin typeface="Tahoma"/>
                <a:cs typeface="Tahoma"/>
              </a:rPr>
              <a:t>tensor</a:t>
            </a:r>
            <a:r>
              <a:rPr sz="2397" spc="-21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27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2397" spc="-272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integers </a:t>
            </a:r>
            <a:r>
              <a:rPr sz="2397" spc="-73" dirty="0">
                <a:solidFill>
                  <a:srgbClr val="0000FF"/>
                </a:solidFill>
                <a:latin typeface="Tahoma"/>
                <a:cs typeface="Tahoma"/>
              </a:rPr>
              <a:t>between</a:t>
            </a:r>
            <a:r>
              <a:rPr sz="2397" spc="-19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66" dirty="0">
                <a:solidFill>
                  <a:srgbClr val="0000FF"/>
                </a:solidFill>
                <a:latin typeface="Tahoma"/>
                <a:cs typeface="Tahoma"/>
              </a:rPr>
              <a:t>[0,</a:t>
            </a:r>
            <a:r>
              <a:rPr sz="2397" spc="-23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255]: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35</a:t>
            </a:fld>
            <a:endParaRPr sz="2397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1097" y="5472820"/>
            <a:ext cx="2182552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46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2397" spc="-17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0000FF"/>
                </a:solidFill>
                <a:latin typeface="Tahoma"/>
                <a:cs typeface="Tahoma"/>
              </a:rPr>
              <a:t>800</a:t>
            </a:r>
            <a:r>
              <a:rPr sz="2397" spc="-29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27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2397" spc="-272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0000FF"/>
                </a:solidFill>
                <a:latin typeface="Tahoma"/>
                <a:cs typeface="Tahoma"/>
              </a:rPr>
              <a:t>600</a:t>
            </a:r>
            <a:r>
              <a:rPr sz="2397" spc="-19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27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2397" spc="-272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80" dirty="0">
                <a:solidFill>
                  <a:srgbClr val="0000FF"/>
                </a:solidFill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7"/>
              </a:spcBef>
            </a:pPr>
            <a:r>
              <a:rPr sz="2397" spc="-152" dirty="0">
                <a:solidFill>
                  <a:srgbClr val="0000FF"/>
                </a:solidFill>
                <a:latin typeface="Tahoma"/>
                <a:cs typeface="Tahoma"/>
              </a:rPr>
              <a:t>(3</a:t>
            </a:r>
            <a:r>
              <a:rPr sz="2397" spc="-25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47" dirty="0">
                <a:solidFill>
                  <a:srgbClr val="0000FF"/>
                </a:solidFill>
                <a:latin typeface="Tahoma"/>
                <a:cs typeface="Tahoma"/>
              </a:rPr>
              <a:t>channels</a:t>
            </a:r>
            <a:r>
              <a:rPr sz="2397" spc="-2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0" dirty="0">
                <a:solidFill>
                  <a:srgbClr val="0000FF"/>
                </a:solidFill>
                <a:latin typeface="Tahoma"/>
                <a:cs typeface="Tahoma"/>
              </a:rPr>
              <a:t>RGB)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6321" y="1426058"/>
            <a:ext cx="4994248" cy="2715294"/>
            <a:chOff x="2935223" y="1070863"/>
            <a:chExt cx="3750310" cy="20389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5223" y="1070863"/>
              <a:ext cx="1463039" cy="20389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76471" y="1180591"/>
              <a:ext cx="1109980" cy="1308735"/>
            </a:xfrm>
            <a:custGeom>
              <a:avLst/>
              <a:gdLst/>
              <a:ahLst/>
              <a:cxnLst/>
              <a:rect l="l" t="t" r="r" b="b"/>
              <a:pathLst>
                <a:path w="1109979" h="1308735">
                  <a:moveTo>
                    <a:pt x="0" y="1162303"/>
                  </a:moveTo>
                  <a:lnTo>
                    <a:pt x="274320" y="1162303"/>
                  </a:lnTo>
                  <a:lnTo>
                    <a:pt x="274320" y="887742"/>
                  </a:lnTo>
                  <a:lnTo>
                    <a:pt x="0" y="887742"/>
                  </a:lnTo>
                  <a:lnTo>
                    <a:pt x="0" y="1162303"/>
                  </a:lnTo>
                  <a:close/>
                </a:path>
                <a:path w="1109979" h="1308735">
                  <a:moveTo>
                    <a:pt x="274319" y="895476"/>
                  </a:moveTo>
                  <a:lnTo>
                    <a:pt x="1109599" y="0"/>
                  </a:lnTo>
                </a:path>
                <a:path w="1109979" h="1308735">
                  <a:moveTo>
                    <a:pt x="274319" y="1171447"/>
                  </a:moveTo>
                  <a:lnTo>
                    <a:pt x="1109599" y="130860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1183" y="1198879"/>
              <a:ext cx="1755647" cy="12801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91658" y="1189354"/>
              <a:ext cx="1784350" cy="1300480"/>
            </a:xfrm>
            <a:custGeom>
              <a:avLst/>
              <a:gdLst/>
              <a:ahLst/>
              <a:cxnLst/>
              <a:rect l="l" t="t" r="r" b="b"/>
              <a:pathLst>
                <a:path w="1784350" h="1300480">
                  <a:moveTo>
                    <a:pt x="0" y="1300352"/>
                  </a:moveTo>
                  <a:lnTo>
                    <a:pt x="1783841" y="1300352"/>
                  </a:lnTo>
                  <a:lnTo>
                    <a:pt x="1783841" y="0"/>
                  </a:lnTo>
                  <a:lnTo>
                    <a:pt x="0" y="0"/>
                  </a:lnTo>
                  <a:lnTo>
                    <a:pt x="0" y="1300352"/>
                  </a:lnTo>
                  <a:close/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20629" y="703891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33" dirty="0"/>
              <a:t> </a:t>
            </a:r>
            <a:r>
              <a:rPr sz="3129" spc="-27" dirty="0"/>
              <a:t>Viewpoint</a:t>
            </a:r>
            <a:r>
              <a:rPr sz="3129" spc="-220" dirty="0"/>
              <a:t> </a:t>
            </a:r>
            <a:r>
              <a:rPr sz="3129" spc="-13" dirty="0"/>
              <a:t>variation</a:t>
            </a:r>
            <a:endParaRPr sz="3129" dirty="0"/>
          </a:p>
        </p:txBody>
      </p:sp>
      <p:sp>
        <p:nvSpPr>
          <p:cNvPr id="8" name="object 8"/>
          <p:cNvSpPr/>
          <p:nvPr/>
        </p:nvSpPr>
        <p:spPr>
          <a:xfrm>
            <a:off x="738033" y="1365143"/>
            <a:ext cx="1228690" cy="952171"/>
          </a:xfrm>
          <a:custGeom>
            <a:avLst/>
            <a:gdLst/>
            <a:ahLst/>
            <a:cxnLst/>
            <a:rect l="l" t="t" r="r" b="b"/>
            <a:pathLst>
              <a:path w="922655" h="715010">
                <a:moveTo>
                  <a:pt x="66103" y="213001"/>
                </a:moveTo>
                <a:lnTo>
                  <a:pt x="742645" y="426742"/>
                </a:lnTo>
                <a:lnTo>
                  <a:pt x="676579" y="636292"/>
                </a:lnTo>
                <a:lnTo>
                  <a:pt x="0" y="422551"/>
                </a:lnTo>
                <a:lnTo>
                  <a:pt x="66103" y="213001"/>
                </a:lnTo>
                <a:close/>
              </a:path>
              <a:path w="922655" h="715010">
                <a:moveTo>
                  <a:pt x="841070" y="714397"/>
                </a:moveTo>
                <a:lnTo>
                  <a:pt x="709637" y="531517"/>
                </a:lnTo>
                <a:lnTo>
                  <a:pt x="922096" y="457222"/>
                </a:lnTo>
                <a:lnTo>
                  <a:pt x="841070" y="714397"/>
                </a:lnTo>
                <a:close/>
              </a:path>
              <a:path w="922655" h="715010">
                <a:moveTo>
                  <a:pt x="137972" y="94256"/>
                </a:moveTo>
                <a:lnTo>
                  <a:pt x="157336" y="55696"/>
                </a:lnTo>
                <a:lnTo>
                  <a:pt x="186701" y="26170"/>
                </a:lnTo>
                <a:lnTo>
                  <a:pt x="223285" y="7123"/>
                </a:lnTo>
                <a:lnTo>
                  <a:pt x="264303" y="0"/>
                </a:lnTo>
                <a:lnTo>
                  <a:pt x="306971" y="6245"/>
                </a:lnTo>
                <a:lnTo>
                  <a:pt x="345504" y="25655"/>
                </a:lnTo>
                <a:lnTo>
                  <a:pt x="375006" y="55056"/>
                </a:lnTo>
                <a:lnTo>
                  <a:pt x="394032" y="91668"/>
                </a:lnTo>
                <a:lnTo>
                  <a:pt x="401135" y="132712"/>
                </a:lnTo>
                <a:lnTo>
                  <a:pt x="394868" y="175409"/>
                </a:lnTo>
                <a:lnTo>
                  <a:pt x="375506" y="213981"/>
                </a:lnTo>
                <a:lnTo>
                  <a:pt x="346144" y="243532"/>
                </a:lnTo>
                <a:lnTo>
                  <a:pt x="309564" y="262597"/>
                </a:lnTo>
                <a:lnTo>
                  <a:pt x="268549" y="269714"/>
                </a:lnTo>
                <a:lnTo>
                  <a:pt x="225882" y="263420"/>
                </a:lnTo>
                <a:lnTo>
                  <a:pt x="187348" y="244059"/>
                </a:lnTo>
                <a:lnTo>
                  <a:pt x="157842" y="214664"/>
                </a:lnTo>
                <a:lnTo>
                  <a:pt x="138813" y="178033"/>
                </a:lnTo>
                <a:lnTo>
                  <a:pt x="131707" y="136964"/>
                </a:lnTo>
                <a:lnTo>
                  <a:pt x="137972" y="94256"/>
                </a:lnTo>
                <a:close/>
              </a:path>
              <a:path w="922655" h="715010">
                <a:moveTo>
                  <a:pt x="490016" y="205508"/>
                </a:moveTo>
                <a:lnTo>
                  <a:pt x="509380" y="166948"/>
                </a:lnTo>
                <a:lnTo>
                  <a:pt x="538745" y="137422"/>
                </a:lnTo>
                <a:lnTo>
                  <a:pt x="575329" y="118375"/>
                </a:lnTo>
                <a:lnTo>
                  <a:pt x="616347" y="111251"/>
                </a:lnTo>
                <a:lnTo>
                  <a:pt x="659015" y="117497"/>
                </a:lnTo>
                <a:lnTo>
                  <a:pt x="697544" y="136907"/>
                </a:lnTo>
                <a:lnTo>
                  <a:pt x="727052" y="166308"/>
                </a:lnTo>
                <a:lnTo>
                  <a:pt x="746089" y="202920"/>
                </a:lnTo>
                <a:lnTo>
                  <a:pt x="753209" y="243964"/>
                </a:lnTo>
                <a:lnTo>
                  <a:pt x="746963" y="286661"/>
                </a:lnTo>
                <a:lnTo>
                  <a:pt x="727561" y="325221"/>
                </a:lnTo>
                <a:lnTo>
                  <a:pt x="698182" y="354747"/>
                </a:lnTo>
                <a:lnTo>
                  <a:pt x="661600" y="373794"/>
                </a:lnTo>
                <a:lnTo>
                  <a:pt x="620589" y="380917"/>
                </a:lnTo>
                <a:lnTo>
                  <a:pt x="577926" y="374672"/>
                </a:lnTo>
                <a:lnTo>
                  <a:pt x="539392" y="355262"/>
                </a:lnTo>
                <a:lnTo>
                  <a:pt x="509886" y="325861"/>
                </a:lnTo>
                <a:lnTo>
                  <a:pt x="490857" y="289249"/>
                </a:lnTo>
                <a:lnTo>
                  <a:pt x="483751" y="248204"/>
                </a:lnTo>
                <a:lnTo>
                  <a:pt x="490016" y="205508"/>
                </a:lnTo>
                <a:close/>
              </a:path>
            </a:pathLst>
          </a:custGeom>
          <a:ln w="28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8155936" y="4044782"/>
            <a:ext cx="2911479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241004" marR="6765" indent="-224937">
              <a:spcBef>
                <a:spcPts val="140"/>
              </a:spcBef>
            </a:pP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All</a:t>
            </a:r>
            <a:r>
              <a:rPr sz="2397" spc="-2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pixels</a:t>
            </a:r>
            <a:r>
              <a:rPr sz="2397" spc="-17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0000FF"/>
                </a:solidFill>
                <a:latin typeface="Tahoma"/>
                <a:cs typeface="Tahoma"/>
              </a:rPr>
              <a:t>change</a:t>
            </a:r>
            <a:r>
              <a:rPr sz="2397" spc="-26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27" dirty="0">
                <a:solidFill>
                  <a:srgbClr val="0000FF"/>
                </a:solidFill>
                <a:latin typeface="Tahoma"/>
                <a:cs typeface="Tahoma"/>
              </a:rPr>
              <a:t>when </a:t>
            </a:r>
            <a:r>
              <a:rPr sz="2397" spc="-47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2397" spc="-28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0" dirty="0">
                <a:solidFill>
                  <a:srgbClr val="0000FF"/>
                </a:solidFill>
                <a:latin typeface="Tahoma"/>
                <a:cs typeface="Tahoma"/>
              </a:rPr>
              <a:t>camera</a:t>
            </a:r>
            <a:r>
              <a:rPr sz="2397" spc="-2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moves!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373" y="5717172"/>
            <a:ext cx="1084934" cy="247255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16913" marR="6765">
              <a:lnSpc>
                <a:spcPct val="109500"/>
              </a:lnSpc>
              <a:spcBef>
                <a:spcPts val="87"/>
              </a:spcBef>
            </a:pP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This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image</a:t>
            </a:r>
            <a:r>
              <a:rPr sz="732" spc="-3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by</a:t>
            </a:r>
            <a:r>
              <a:rPr sz="732" spc="-47" dirty="0">
                <a:latin typeface="Tahoma"/>
                <a:cs typeface="Tahoma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Nik</a:t>
            </a:r>
            <a:r>
              <a:rPr sz="732" u="sng" spc="-10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ita</a:t>
            </a:r>
            <a:r>
              <a:rPr sz="732" spc="5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-33" dirty="0">
                <a:latin typeface="Tahoma"/>
                <a:cs typeface="Tahoma"/>
              </a:rPr>
              <a:t>is</a:t>
            </a:r>
            <a:r>
              <a:rPr sz="732" spc="666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licensed</a:t>
            </a:r>
            <a:r>
              <a:rPr sz="732" spc="67" dirty="0">
                <a:latin typeface="Tahoma"/>
                <a:cs typeface="Tahoma"/>
              </a:rPr>
              <a:t> </a:t>
            </a:r>
            <a:r>
              <a:rPr sz="732" spc="-13" dirty="0">
                <a:latin typeface="Tahoma"/>
                <a:cs typeface="Tahoma"/>
              </a:rPr>
              <a:t>unde</a:t>
            </a:r>
            <a:r>
              <a:rPr sz="732" spc="-107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r</a:t>
            </a:r>
            <a:r>
              <a:rPr sz="732" spc="-87" dirty="0">
                <a:latin typeface="Tahoma"/>
                <a:cs typeface="Tahoma"/>
              </a:rPr>
              <a:t> </a:t>
            </a:r>
            <a:r>
              <a:rPr sz="732" u="sng" spc="-2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CC-BY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57271" y="4080467"/>
            <a:ext cx="1215158" cy="1069713"/>
          </a:xfrm>
          <a:custGeom>
            <a:avLst/>
            <a:gdLst/>
            <a:ahLst/>
            <a:cxnLst/>
            <a:rect l="l" t="t" r="r" b="b"/>
            <a:pathLst>
              <a:path w="912494" h="803275">
                <a:moveTo>
                  <a:pt x="109865" y="647319"/>
                </a:moveTo>
                <a:lnTo>
                  <a:pt x="611515" y="145161"/>
                </a:lnTo>
                <a:lnTo>
                  <a:pt x="766836" y="300609"/>
                </a:lnTo>
                <a:lnTo>
                  <a:pt x="265186" y="802767"/>
                </a:lnTo>
                <a:lnTo>
                  <a:pt x="109865" y="647319"/>
                </a:lnTo>
                <a:close/>
              </a:path>
              <a:path w="912494" h="803275">
                <a:moveTo>
                  <a:pt x="911997" y="190626"/>
                </a:moveTo>
                <a:lnTo>
                  <a:pt x="689239" y="222885"/>
                </a:lnTo>
                <a:lnTo>
                  <a:pt x="721497" y="0"/>
                </a:lnTo>
                <a:lnTo>
                  <a:pt x="911997" y="190626"/>
                </a:lnTo>
                <a:close/>
              </a:path>
              <a:path w="912494" h="803275">
                <a:moveTo>
                  <a:pt x="37856" y="528701"/>
                </a:moveTo>
                <a:lnTo>
                  <a:pt x="12618" y="493745"/>
                </a:lnTo>
                <a:lnTo>
                  <a:pt x="0" y="454065"/>
                </a:lnTo>
                <a:lnTo>
                  <a:pt x="0" y="412800"/>
                </a:lnTo>
                <a:lnTo>
                  <a:pt x="12618" y="373090"/>
                </a:lnTo>
                <a:lnTo>
                  <a:pt x="37856" y="338074"/>
                </a:lnTo>
                <a:lnTo>
                  <a:pt x="72810" y="312775"/>
                </a:lnTo>
                <a:lnTo>
                  <a:pt x="112483" y="300126"/>
                </a:lnTo>
                <a:lnTo>
                  <a:pt x="153728" y="300126"/>
                </a:lnTo>
                <a:lnTo>
                  <a:pt x="193401" y="312775"/>
                </a:lnTo>
                <a:lnTo>
                  <a:pt x="228356" y="338074"/>
                </a:lnTo>
                <a:lnTo>
                  <a:pt x="253593" y="373090"/>
                </a:lnTo>
                <a:lnTo>
                  <a:pt x="266212" y="412800"/>
                </a:lnTo>
                <a:lnTo>
                  <a:pt x="266212" y="454065"/>
                </a:lnTo>
                <a:lnTo>
                  <a:pt x="253593" y="493745"/>
                </a:lnTo>
                <a:lnTo>
                  <a:pt x="228356" y="528701"/>
                </a:lnTo>
                <a:lnTo>
                  <a:pt x="193401" y="553999"/>
                </a:lnTo>
                <a:lnTo>
                  <a:pt x="153728" y="566648"/>
                </a:lnTo>
                <a:lnTo>
                  <a:pt x="112483" y="566648"/>
                </a:lnTo>
                <a:lnTo>
                  <a:pt x="72810" y="553999"/>
                </a:lnTo>
                <a:lnTo>
                  <a:pt x="37856" y="528701"/>
                </a:lnTo>
                <a:close/>
              </a:path>
              <a:path w="912494" h="803275">
                <a:moveTo>
                  <a:pt x="298841" y="267462"/>
                </a:moveTo>
                <a:lnTo>
                  <a:pt x="273603" y="232445"/>
                </a:lnTo>
                <a:lnTo>
                  <a:pt x="260985" y="192735"/>
                </a:lnTo>
                <a:lnTo>
                  <a:pt x="260985" y="151470"/>
                </a:lnTo>
                <a:lnTo>
                  <a:pt x="273603" y="111790"/>
                </a:lnTo>
                <a:lnTo>
                  <a:pt x="298841" y="76835"/>
                </a:lnTo>
                <a:lnTo>
                  <a:pt x="333844" y="51536"/>
                </a:lnTo>
                <a:lnTo>
                  <a:pt x="373523" y="38887"/>
                </a:lnTo>
                <a:lnTo>
                  <a:pt x="414750" y="38887"/>
                </a:lnTo>
                <a:lnTo>
                  <a:pt x="454398" y="51536"/>
                </a:lnTo>
                <a:lnTo>
                  <a:pt x="489341" y="76835"/>
                </a:lnTo>
                <a:lnTo>
                  <a:pt x="514639" y="111790"/>
                </a:lnTo>
                <a:lnTo>
                  <a:pt x="527288" y="151470"/>
                </a:lnTo>
                <a:lnTo>
                  <a:pt x="527288" y="192735"/>
                </a:lnTo>
                <a:lnTo>
                  <a:pt x="514639" y="232445"/>
                </a:lnTo>
                <a:lnTo>
                  <a:pt x="489341" y="267462"/>
                </a:lnTo>
                <a:lnTo>
                  <a:pt x="454398" y="292760"/>
                </a:lnTo>
                <a:lnTo>
                  <a:pt x="414750" y="305409"/>
                </a:lnTo>
                <a:lnTo>
                  <a:pt x="373523" y="305409"/>
                </a:lnTo>
                <a:lnTo>
                  <a:pt x="333844" y="292760"/>
                </a:lnTo>
                <a:lnTo>
                  <a:pt x="298841" y="267462"/>
                </a:lnTo>
                <a:close/>
              </a:path>
            </a:pathLst>
          </a:custGeom>
          <a:ln w="28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2" name="object 12"/>
          <p:cNvSpPr/>
          <p:nvPr/>
        </p:nvSpPr>
        <p:spPr>
          <a:xfrm>
            <a:off x="6193247" y="4298299"/>
            <a:ext cx="1215158" cy="1069713"/>
          </a:xfrm>
          <a:custGeom>
            <a:avLst/>
            <a:gdLst/>
            <a:ahLst/>
            <a:cxnLst/>
            <a:rect l="l" t="t" r="r" b="b"/>
            <a:pathLst>
              <a:path w="912495" h="803275">
                <a:moveTo>
                  <a:pt x="802132" y="647319"/>
                </a:moveTo>
                <a:lnTo>
                  <a:pt x="300354" y="145161"/>
                </a:lnTo>
                <a:lnTo>
                  <a:pt x="145161" y="300609"/>
                </a:lnTo>
                <a:lnTo>
                  <a:pt x="646811" y="802728"/>
                </a:lnTo>
                <a:lnTo>
                  <a:pt x="802132" y="647319"/>
                </a:lnTo>
                <a:close/>
              </a:path>
              <a:path w="912495" h="803275">
                <a:moveTo>
                  <a:pt x="0" y="190627"/>
                </a:moveTo>
                <a:lnTo>
                  <a:pt x="222758" y="222885"/>
                </a:lnTo>
                <a:lnTo>
                  <a:pt x="190500" y="0"/>
                </a:lnTo>
                <a:lnTo>
                  <a:pt x="0" y="190627"/>
                </a:lnTo>
                <a:close/>
              </a:path>
              <a:path w="912495" h="803275">
                <a:moveTo>
                  <a:pt x="874140" y="528701"/>
                </a:moveTo>
                <a:lnTo>
                  <a:pt x="899378" y="493745"/>
                </a:lnTo>
                <a:lnTo>
                  <a:pt x="911997" y="454065"/>
                </a:lnTo>
                <a:lnTo>
                  <a:pt x="911997" y="412800"/>
                </a:lnTo>
                <a:lnTo>
                  <a:pt x="899378" y="373090"/>
                </a:lnTo>
                <a:lnTo>
                  <a:pt x="874140" y="338074"/>
                </a:lnTo>
                <a:lnTo>
                  <a:pt x="839137" y="312775"/>
                </a:lnTo>
                <a:lnTo>
                  <a:pt x="799458" y="300126"/>
                </a:lnTo>
                <a:lnTo>
                  <a:pt x="758231" y="300126"/>
                </a:lnTo>
                <a:lnTo>
                  <a:pt x="718583" y="312775"/>
                </a:lnTo>
                <a:lnTo>
                  <a:pt x="683640" y="338074"/>
                </a:lnTo>
                <a:lnTo>
                  <a:pt x="658342" y="373090"/>
                </a:lnTo>
                <a:lnTo>
                  <a:pt x="645693" y="412800"/>
                </a:lnTo>
                <a:lnTo>
                  <a:pt x="645693" y="454065"/>
                </a:lnTo>
                <a:lnTo>
                  <a:pt x="658342" y="493745"/>
                </a:lnTo>
                <a:lnTo>
                  <a:pt x="683640" y="528701"/>
                </a:lnTo>
                <a:lnTo>
                  <a:pt x="718583" y="553999"/>
                </a:lnTo>
                <a:lnTo>
                  <a:pt x="758231" y="566648"/>
                </a:lnTo>
                <a:lnTo>
                  <a:pt x="799458" y="566648"/>
                </a:lnTo>
                <a:lnTo>
                  <a:pt x="839137" y="553999"/>
                </a:lnTo>
                <a:lnTo>
                  <a:pt x="874140" y="528701"/>
                </a:lnTo>
                <a:close/>
              </a:path>
              <a:path w="912495" h="803275">
                <a:moveTo>
                  <a:pt x="613028" y="267462"/>
                </a:moveTo>
                <a:lnTo>
                  <a:pt x="638266" y="232445"/>
                </a:lnTo>
                <a:lnTo>
                  <a:pt x="650885" y="192735"/>
                </a:lnTo>
                <a:lnTo>
                  <a:pt x="650885" y="151470"/>
                </a:lnTo>
                <a:lnTo>
                  <a:pt x="638266" y="111790"/>
                </a:lnTo>
                <a:lnTo>
                  <a:pt x="613028" y="76835"/>
                </a:lnTo>
                <a:lnTo>
                  <a:pt x="578074" y="51536"/>
                </a:lnTo>
                <a:lnTo>
                  <a:pt x="538401" y="38887"/>
                </a:lnTo>
                <a:lnTo>
                  <a:pt x="497156" y="38887"/>
                </a:lnTo>
                <a:lnTo>
                  <a:pt x="457483" y="51536"/>
                </a:lnTo>
                <a:lnTo>
                  <a:pt x="422528" y="76835"/>
                </a:lnTo>
                <a:lnTo>
                  <a:pt x="397291" y="111790"/>
                </a:lnTo>
                <a:lnTo>
                  <a:pt x="384672" y="151470"/>
                </a:lnTo>
                <a:lnTo>
                  <a:pt x="384672" y="192735"/>
                </a:lnTo>
                <a:lnTo>
                  <a:pt x="397291" y="232445"/>
                </a:lnTo>
                <a:lnTo>
                  <a:pt x="422528" y="267462"/>
                </a:lnTo>
                <a:lnTo>
                  <a:pt x="457483" y="292760"/>
                </a:lnTo>
                <a:lnTo>
                  <a:pt x="497156" y="305409"/>
                </a:lnTo>
                <a:lnTo>
                  <a:pt x="538401" y="305409"/>
                </a:lnTo>
                <a:lnTo>
                  <a:pt x="578074" y="292760"/>
                </a:lnTo>
                <a:lnTo>
                  <a:pt x="613028" y="267462"/>
                </a:lnTo>
                <a:close/>
              </a:path>
            </a:pathLst>
          </a:custGeom>
          <a:ln w="28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4" name="object 14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36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00" dirty="0"/>
              <a:t> </a:t>
            </a:r>
            <a:r>
              <a:rPr sz="3129" spc="-13" dirty="0"/>
              <a:t>Illumination</a:t>
            </a:r>
            <a:endParaRPr sz="312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4" y="1864766"/>
            <a:ext cx="3007711" cy="2776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2504" y="4721536"/>
            <a:ext cx="1552563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0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6183" y="1864766"/>
            <a:ext cx="2788525" cy="27763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72302" y="4721536"/>
            <a:ext cx="1560174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1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This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ge</a:t>
            </a:r>
            <a:r>
              <a:rPr sz="732" spc="-6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6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8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732" u="sng" spc="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0</a:t>
            </a:r>
            <a:r>
              <a:rPr sz="732" spc="-5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4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90830" y="1864766"/>
            <a:ext cx="3202542" cy="27763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10917" y="4721536"/>
            <a:ext cx="1563556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1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image</a:t>
            </a:r>
            <a:r>
              <a:rPr sz="732" spc="-3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8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4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0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5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00381" y="1876943"/>
            <a:ext cx="2130969" cy="275199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85525" y="4721536"/>
            <a:ext cx="1566093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1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12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732" u="sng" spc="-1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0</a:t>
            </a:r>
            <a:r>
              <a:rPr sz="732" spc="-7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37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8761" y="5421057"/>
            <a:ext cx="1552563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0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26" dirty="0"/>
              <a:t> </a:t>
            </a:r>
            <a:r>
              <a:rPr sz="3129" spc="-27" dirty="0"/>
              <a:t>Background</a:t>
            </a:r>
            <a:r>
              <a:rPr sz="3129" spc="-220" dirty="0"/>
              <a:t> </a:t>
            </a:r>
            <a:r>
              <a:rPr sz="3129" spc="-13" dirty="0"/>
              <a:t>Clutter</a:t>
            </a:r>
            <a:endParaRPr sz="3129" dirty="0"/>
          </a:p>
        </p:txBody>
      </p:sp>
      <p:sp>
        <p:nvSpPr>
          <p:cNvPr id="4" name="object 4"/>
          <p:cNvSpPr txBox="1"/>
          <p:nvPr/>
        </p:nvSpPr>
        <p:spPr>
          <a:xfrm>
            <a:off x="6608785" y="5421057"/>
            <a:ext cx="1564402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166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This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ima</a:t>
            </a:r>
            <a:r>
              <a:rPr sz="732" u="sng" spc="-1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ge</a:t>
            </a:r>
            <a:r>
              <a:rPr sz="732" spc="-5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</a:t>
            </a:r>
            <a:r>
              <a:rPr sz="732" u="sng" spc="-1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0</a:t>
            </a:r>
            <a:r>
              <a:rPr sz="732" spc="-4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5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06439" y="1881970"/>
            <a:ext cx="2264914" cy="34004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14233" y="1881970"/>
            <a:ext cx="3494789" cy="34004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38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00" dirty="0"/>
              <a:t> </a:t>
            </a:r>
            <a:r>
              <a:rPr sz="3129" spc="-13" dirty="0"/>
              <a:t>Occlusion</a:t>
            </a:r>
            <a:endParaRPr sz="3129"/>
          </a:p>
        </p:txBody>
      </p:sp>
      <p:sp>
        <p:nvSpPr>
          <p:cNvPr id="3" name="object 3"/>
          <p:cNvSpPr txBox="1"/>
          <p:nvPr/>
        </p:nvSpPr>
        <p:spPr>
          <a:xfrm>
            <a:off x="1521536" y="4727455"/>
            <a:ext cx="1553409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0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84309" y="4666990"/>
            <a:ext cx="1444324" cy="25949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algn="ctr">
              <a:spcBef>
                <a:spcPts val="166"/>
              </a:spcBef>
            </a:pPr>
            <a:r>
              <a:rPr sz="732" u="sng" spc="-152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This image</a:t>
            </a:r>
            <a:r>
              <a:rPr sz="732" spc="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spc="-11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66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jonsson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</a:t>
            </a:r>
            <a:r>
              <a:rPr sz="732" spc="-9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67" dirty="0">
                <a:solidFill>
                  <a:srgbClr val="999999"/>
                </a:solidFill>
                <a:latin typeface="Tahoma"/>
                <a:cs typeface="Tahoma"/>
              </a:rPr>
              <a:t>d</a:t>
            </a:r>
            <a:endParaRPr sz="732">
              <a:latin typeface="Tahoma"/>
              <a:cs typeface="Tahoma"/>
            </a:endParaRPr>
          </a:p>
          <a:p>
            <a:pPr marL="6765" algn="ctr">
              <a:spcBef>
                <a:spcPts val="80"/>
              </a:spcBef>
            </a:pP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732" spc="-13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sz="732" u="sng" spc="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018" y="1803712"/>
            <a:ext cx="2995534" cy="27885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79792" y="1803712"/>
            <a:ext cx="3908806" cy="27885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55378" y="4727455"/>
            <a:ext cx="1556791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2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This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image</a:t>
            </a:r>
            <a:r>
              <a:rPr sz="732" spc="-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</a:t>
            </a:r>
            <a:r>
              <a:rPr sz="732" u="sng" spc="-10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0</a:t>
            </a:r>
            <a:r>
              <a:rPr sz="732" spc="-4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73836" y="1828235"/>
            <a:ext cx="3653090" cy="2739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39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00" dirty="0"/>
              <a:t> </a:t>
            </a:r>
            <a:r>
              <a:rPr sz="3129" spc="-13" dirty="0"/>
              <a:t>Deformation</a:t>
            </a:r>
            <a:endParaRPr sz="3129"/>
          </a:p>
        </p:txBody>
      </p:sp>
      <p:sp>
        <p:nvSpPr>
          <p:cNvPr id="3" name="object 3"/>
          <p:cNvSpPr txBox="1"/>
          <p:nvPr/>
        </p:nvSpPr>
        <p:spPr>
          <a:xfrm>
            <a:off x="849554" y="4986555"/>
            <a:ext cx="1551718" cy="247255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252843" marR="6765" indent="-236776">
              <a:lnSpc>
                <a:spcPct val="109500"/>
              </a:lnSpc>
              <a:spcBef>
                <a:spcPts val="87"/>
              </a:spcBef>
            </a:pPr>
            <a:r>
              <a:rPr sz="732" u="sng" spc="-186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</a:t>
            </a:r>
            <a:r>
              <a:rPr sz="732" u="sng" spc="-9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ge</a:t>
            </a:r>
            <a:r>
              <a:rPr sz="732" spc="-1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spc="-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Umberto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Salvagnin</a:t>
            </a:r>
            <a:r>
              <a:rPr sz="732" spc="2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666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732" spc="6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unde</a:t>
            </a:r>
            <a:r>
              <a:rPr sz="732" spc="-10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r</a:t>
            </a:r>
            <a:r>
              <a:rPr sz="732" spc="-7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0122" y="4945795"/>
            <a:ext cx="1522121" cy="247255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427889" marR="6765" indent="-411822">
              <a:lnSpc>
                <a:spcPct val="109500"/>
              </a:lnSpc>
              <a:spcBef>
                <a:spcPts val="87"/>
              </a:spcBef>
            </a:pPr>
            <a:r>
              <a:rPr sz="732" u="sng" spc="-10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This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image</a:t>
            </a:r>
            <a:r>
              <a:rPr sz="732" spc="-33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13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u="sng" spc="-1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spc="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Tom</a:t>
            </a:r>
            <a:r>
              <a:rPr sz="732" u="sng" spc="4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Thai</a:t>
            </a:r>
            <a:r>
              <a:rPr sz="732" spc="-2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</a:t>
            </a:r>
            <a:r>
              <a:rPr sz="732" spc="-11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67" dirty="0">
                <a:solidFill>
                  <a:srgbClr val="999999"/>
                </a:solidFill>
                <a:latin typeface="Tahoma"/>
                <a:cs typeface="Tahoma"/>
              </a:rPr>
              <a:t>d</a:t>
            </a:r>
            <a:r>
              <a:rPr sz="732" spc="666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732" spc="-6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9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CC-BY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6773" y="4966848"/>
            <a:ext cx="1136517" cy="25949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8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This</a:t>
            </a:r>
            <a:r>
              <a:rPr sz="732" u="sng" spc="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image</a:t>
            </a:r>
            <a:r>
              <a:rPr sz="732" spc="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u="sng" spc="-1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sare</a:t>
            </a:r>
            <a:r>
              <a:rPr sz="732" u="sng" spc="-7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bea</a:t>
            </a:r>
            <a:r>
              <a:rPr sz="732" dirty="0">
                <a:solidFill>
                  <a:srgbClr val="0096A7"/>
                </a:solidFill>
                <a:latin typeface="Tahoma"/>
                <a:cs typeface="Tahoma"/>
                <a:hlinkClick r:id="rId8"/>
              </a:rPr>
              <a:t>r</a:t>
            </a:r>
            <a:r>
              <a:rPr sz="732" spc="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732">
              <a:latin typeface="Tahoma"/>
              <a:cs typeface="Tahoma"/>
            </a:endParaRPr>
          </a:p>
          <a:p>
            <a:pPr marL="49892">
              <a:spcBef>
                <a:spcPts val="80"/>
              </a:spcBef>
            </a:pP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732" spc="10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unde</a:t>
            </a:r>
            <a:r>
              <a:rPr sz="732" spc="-9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r</a:t>
            </a:r>
            <a:r>
              <a:rPr sz="732" u="sng" spc="-10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732" u="sng" spc="6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1463" y="1742827"/>
            <a:ext cx="2971180" cy="31660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3007" y="1742827"/>
            <a:ext cx="2666756" cy="31660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58767" y="1742827"/>
            <a:ext cx="2898118" cy="31660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33404" y="5007607"/>
            <a:ext cx="1554255" cy="259490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algn="ctr">
              <a:spcBef>
                <a:spcPts val="166"/>
              </a:spcBef>
            </a:pPr>
            <a:r>
              <a:rPr sz="732" u="sng" spc="-16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This</a:t>
            </a:r>
            <a:r>
              <a:rPr sz="732" u="sng" spc="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image</a:t>
            </a:r>
            <a:r>
              <a:rPr sz="732" spc="2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732" spc="-6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8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Umberto</a:t>
            </a:r>
            <a:r>
              <a:rPr sz="732" u="sng" spc="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S</a:t>
            </a:r>
            <a:r>
              <a:rPr sz="732" u="sng" spc="-1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alvagnin</a:t>
            </a:r>
            <a:r>
              <a:rPr sz="732" spc="-53" dirty="0">
                <a:solidFill>
                  <a:srgbClr val="0096A7"/>
                </a:solidFill>
                <a:latin typeface="Tahoma"/>
                <a:cs typeface="Tahoma"/>
                <a:hlinkClick r:id="rId3"/>
              </a:rPr>
              <a:t> 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732">
              <a:latin typeface="Tahoma"/>
              <a:cs typeface="Tahoma"/>
            </a:endParaRPr>
          </a:p>
          <a:p>
            <a:pPr marL="9302" algn="ctr">
              <a:spcBef>
                <a:spcPts val="80"/>
              </a:spcBef>
            </a:pP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732" spc="7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unde</a:t>
            </a:r>
            <a:r>
              <a:rPr sz="732" spc="-107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r</a:t>
            </a:r>
            <a:r>
              <a:rPr sz="732" spc="-3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732" u="sng" spc="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67178" y="1742827"/>
            <a:ext cx="3019888" cy="3166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40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226" dirty="0"/>
              <a:t> </a:t>
            </a:r>
            <a:r>
              <a:rPr sz="3129" spc="-60" dirty="0"/>
              <a:t>Intraclass</a:t>
            </a:r>
            <a:r>
              <a:rPr sz="3129" spc="-180" dirty="0"/>
              <a:t> </a:t>
            </a:r>
            <a:r>
              <a:rPr sz="3129" spc="-13" dirty="0"/>
              <a:t>variation</a:t>
            </a:r>
            <a:endParaRPr sz="312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2852" y="1938847"/>
            <a:ext cx="7294003" cy="40427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25171" y="6128974"/>
            <a:ext cx="1556791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2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This</a:t>
            </a:r>
            <a:r>
              <a:rPr sz="732" u="sng" spc="-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image</a:t>
            </a:r>
            <a:r>
              <a:rPr sz="732" spc="-2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u="sng" spc="-2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732" u="sng" spc="-10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spc="-20" dirty="0">
                <a:solidFill>
                  <a:srgbClr val="0096A7"/>
                </a:solidFill>
                <a:latin typeface="Tahoma"/>
                <a:cs typeface="Tahoma"/>
                <a:hlinkClick r:id="rId4"/>
              </a:rPr>
              <a:t>0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732" spc="6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732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41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No alternative text description for this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125" y="1852421"/>
            <a:ext cx="5126503" cy="279106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73" dirty="0"/>
              <a:t>Challenges:</a:t>
            </a:r>
            <a:r>
              <a:rPr sz="3129" spc="-173" dirty="0"/>
              <a:t> </a:t>
            </a:r>
            <a:r>
              <a:rPr sz="3129" spc="-13" dirty="0"/>
              <a:t>Context</a:t>
            </a:r>
            <a:endParaRPr sz="3129"/>
          </a:p>
        </p:txBody>
      </p:sp>
      <p:pic>
        <p:nvPicPr>
          <p:cNvPr id="4" name="object 4" descr="No alternative text description for this imag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8653" y="1950005"/>
            <a:ext cx="5601405" cy="23442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88566" y="5705419"/>
            <a:ext cx="8912018" cy="392130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 marR="6765">
              <a:spcBef>
                <a:spcPts val="180"/>
              </a:spcBef>
            </a:pPr>
            <a:r>
              <a:rPr sz="1199" spc="-73" dirty="0">
                <a:latin typeface="Tahoma"/>
                <a:cs typeface="Tahoma"/>
              </a:rPr>
              <a:t>Image</a:t>
            </a:r>
            <a:r>
              <a:rPr sz="1199" spc="-47" dirty="0">
                <a:latin typeface="Tahoma"/>
                <a:cs typeface="Tahoma"/>
              </a:rPr>
              <a:t> source: </a:t>
            </a:r>
            <a:r>
              <a:rPr sz="1199" spc="-33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https://www.linkedin.com/posts/ralph-aboujaoude-diaz-</a:t>
            </a:r>
            <a:r>
              <a:rPr sz="1199" spc="-47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40838313_technology-</a:t>
            </a:r>
            <a:r>
              <a:rPr sz="1199" spc="-13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artificialintelligence-</a:t>
            </a:r>
            <a:r>
              <a:rPr sz="1199" spc="-27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computervision-</a:t>
            </a:r>
            <a:r>
              <a:rPr sz="1199" spc="-13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activity-</a:t>
            </a:r>
            <a:r>
              <a:rPr sz="1199" spc="-67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6912446088364875776-</a:t>
            </a:r>
            <a:r>
              <a:rPr sz="1199" spc="-60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h-</a:t>
            </a:r>
            <a:r>
              <a:rPr sz="1199" spc="-13" dirty="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Iq?utm_source=linkedin_share&amp;utm_medium=member_desktop_web</a:t>
            </a:r>
            <a:endParaRPr sz="1199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42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146" dirty="0"/>
              <a:t>An</a:t>
            </a:r>
            <a:r>
              <a:rPr spc="-400" dirty="0"/>
              <a:t> </a:t>
            </a:r>
            <a:r>
              <a:rPr spc="-93" dirty="0"/>
              <a:t>image</a:t>
            </a:r>
            <a:r>
              <a:rPr spc="-313" dirty="0"/>
              <a:t> </a:t>
            </a:r>
            <a:r>
              <a:rPr spc="-33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8168" y="1893333"/>
            <a:ext cx="4408062" cy="15356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24250" y="3581211"/>
            <a:ext cx="7883740" cy="194003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dirty="0">
                <a:latin typeface="Tahoma"/>
                <a:cs typeface="Tahoma"/>
              </a:rPr>
              <a:t>Unlike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133" dirty="0">
                <a:latin typeface="Tahoma"/>
                <a:cs typeface="Tahoma"/>
              </a:rPr>
              <a:t>e.g.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sorting</a:t>
            </a:r>
            <a:r>
              <a:rPr sz="3129" spc="-346" dirty="0">
                <a:latin typeface="Tahoma"/>
                <a:cs typeface="Tahoma"/>
              </a:rPr>
              <a:t> </a:t>
            </a:r>
            <a:r>
              <a:rPr sz="3129" spc="-73" dirty="0">
                <a:latin typeface="Tahoma"/>
                <a:cs typeface="Tahoma"/>
              </a:rPr>
              <a:t>a</a:t>
            </a:r>
            <a:r>
              <a:rPr sz="3129" spc="-240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list</a:t>
            </a:r>
            <a:r>
              <a:rPr sz="3129" spc="-286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of</a:t>
            </a:r>
            <a:r>
              <a:rPr sz="3129" spc="-226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numbers,</a:t>
            </a:r>
            <a:endParaRPr sz="3129">
              <a:latin typeface="Tahoma"/>
              <a:cs typeface="Tahoma"/>
            </a:endParaRPr>
          </a:p>
          <a:p>
            <a:pPr>
              <a:spcBef>
                <a:spcPts val="67"/>
              </a:spcBef>
            </a:pPr>
            <a:endParaRPr sz="3129">
              <a:latin typeface="Tahoma"/>
              <a:cs typeface="Tahoma"/>
            </a:endParaRPr>
          </a:p>
          <a:p>
            <a:pPr marL="16913" marR="6765">
              <a:lnSpc>
                <a:spcPct val="102400"/>
              </a:lnSpc>
            </a:pPr>
            <a:r>
              <a:rPr sz="3129" dirty="0">
                <a:latin typeface="Tahoma"/>
                <a:cs typeface="Tahoma"/>
              </a:rPr>
              <a:t>no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obvious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73" dirty="0">
                <a:latin typeface="Tahoma"/>
                <a:cs typeface="Tahoma"/>
              </a:rPr>
              <a:t>way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to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hard-</a:t>
            </a:r>
            <a:r>
              <a:rPr sz="3129" spc="-13" dirty="0">
                <a:latin typeface="Tahoma"/>
                <a:cs typeface="Tahoma"/>
              </a:rPr>
              <a:t>code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the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algorithm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for </a:t>
            </a:r>
            <a:r>
              <a:rPr sz="3129" spc="-40" dirty="0">
                <a:latin typeface="Tahoma"/>
                <a:cs typeface="Tahoma"/>
              </a:rPr>
              <a:t>recognizing</a:t>
            </a:r>
            <a:r>
              <a:rPr sz="3129" spc="-240" dirty="0">
                <a:latin typeface="Tahoma"/>
                <a:cs typeface="Tahoma"/>
              </a:rPr>
              <a:t> </a:t>
            </a:r>
            <a:r>
              <a:rPr sz="3129" spc="-73" dirty="0">
                <a:latin typeface="Tahoma"/>
                <a:cs typeface="Tahoma"/>
              </a:rPr>
              <a:t>a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cat,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or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other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classes.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43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6"/>
            <a:ext cx="14855899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73" dirty="0"/>
              <a:t>Attempts</a:t>
            </a:r>
            <a:r>
              <a:rPr spc="-373" dirty="0"/>
              <a:t> </a:t>
            </a:r>
            <a:r>
              <a:rPr spc="-113" dirty="0"/>
              <a:t>have</a:t>
            </a:r>
            <a:r>
              <a:rPr spc="-373" dirty="0"/>
              <a:t> </a:t>
            </a:r>
            <a:r>
              <a:rPr spc="-93" dirty="0"/>
              <a:t>been</a:t>
            </a:r>
            <a:r>
              <a:rPr spc="-373" dirty="0"/>
              <a:t> </a:t>
            </a:r>
            <a:r>
              <a:rPr spc="-27" dirty="0"/>
              <a:t>made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6615" y="2068775"/>
            <a:ext cx="8520494" cy="3738498"/>
            <a:chOff x="246888" y="1061592"/>
            <a:chExt cx="6398260" cy="2807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888" y="1061592"/>
              <a:ext cx="2029968" cy="2807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7288" y="1061592"/>
              <a:ext cx="2020824" cy="28072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1428" y="2432811"/>
              <a:ext cx="4363720" cy="122555"/>
            </a:xfrm>
            <a:custGeom>
              <a:avLst/>
              <a:gdLst/>
              <a:ahLst/>
              <a:cxnLst/>
              <a:rect l="l" t="t" r="r" b="b"/>
              <a:pathLst>
                <a:path w="4363720" h="122555">
                  <a:moveTo>
                    <a:pt x="1172083" y="42799"/>
                  </a:moveTo>
                  <a:lnTo>
                    <a:pt x="1143584" y="28575"/>
                  </a:lnTo>
                  <a:lnTo>
                    <a:pt x="1086358" y="0"/>
                  </a:lnTo>
                  <a:lnTo>
                    <a:pt x="1086358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1086358" y="57150"/>
                  </a:lnTo>
                  <a:lnTo>
                    <a:pt x="1086358" y="85725"/>
                  </a:lnTo>
                  <a:lnTo>
                    <a:pt x="1143419" y="57150"/>
                  </a:lnTo>
                  <a:lnTo>
                    <a:pt x="1172083" y="42799"/>
                  </a:lnTo>
                  <a:close/>
                </a:path>
                <a:path w="4363720" h="122555">
                  <a:moveTo>
                    <a:pt x="4363339" y="79502"/>
                  </a:moveTo>
                  <a:lnTo>
                    <a:pt x="4334675" y="65151"/>
                  </a:lnTo>
                  <a:lnTo>
                    <a:pt x="4277614" y="36576"/>
                  </a:lnTo>
                  <a:lnTo>
                    <a:pt x="4277614" y="65151"/>
                  </a:lnTo>
                  <a:lnTo>
                    <a:pt x="3191256" y="65151"/>
                  </a:lnTo>
                  <a:lnTo>
                    <a:pt x="3191256" y="93726"/>
                  </a:lnTo>
                  <a:lnTo>
                    <a:pt x="4277614" y="93726"/>
                  </a:lnTo>
                  <a:lnTo>
                    <a:pt x="4277614" y="122301"/>
                  </a:lnTo>
                  <a:lnTo>
                    <a:pt x="4334840" y="93726"/>
                  </a:lnTo>
                  <a:lnTo>
                    <a:pt x="4363339" y="7950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6615" y="6161006"/>
            <a:ext cx="3330062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John</a:t>
            </a:r>
            <a:r>
              <a:rPr sz="732" spc="-27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Canny,</a:t>
            </a:r>
            <a:r>
              <a:rPr sz="732" spc="27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“A</a:t>
            </a:r>
            <a:r>
              <a:rPr sz="732" spc="113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Computational</a:t>
            </a:r>
            <a:r>
              <a:rPr sz="732" spc="2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Approach</a:t>
            </a:r>
            <a:r>
              <a:rPr sz="732" spc="-27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to</a:t>
            </a:r>
            <a:r>
              <a:rPr sz="732" spc="-2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Edge</a:t>
            </a:r>
            <a:r>
              <a:rPr sz="732" spc="33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spc="-40" dirty="0">
                <a:solidFill>
                  <a:srgbClr val="B7B7B7"/>
                </a:solidFill>
                <a:latin typeface="Tahoma"/>
                <a:cs typeface="Tahoma"/>
              </a:rPr>
              <a:t>D</a:t>
            </a:r>
            <a:r>
              <a:rPr sz="732" spc="-10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dirty="0">
                <a:solidFill>
                  <a:srgbClr val="B7B7B7"/>
                </a:solidFill>
                <a:latin typeface="Tahoma"/>
                <a:cs typeface="Tahoma"/>
              </a:rPr>
              <a:t>etection”,</a:t>
            </a:r>
            <a:r>
              <a:rPr sz="732" spc="27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spc="-27" dirty="0">
                <a:solidFill>
                  <a:srgbClr val="B7B7B7"/>
                </a:solidFill>
                <a:latin typeface="Tahoma"/>
                <a:cs typeface="Tahoma"/>
              </a:rPr>
              <a:t>IEEE</a:t>
            </a:r>
            <a:r>
              <a:rPr sz="732" spc="-7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spc="-13" dirty="0">
                <a:solidFill>
                  <a:srgbClr val="B7B7B7"/>
                </a:solidFill>
                <a:latin typeface="Tahoma"/>
                <a:cs typeface="Tahoma"/>
              </a:rPr>
              <a:t>TPAM</a:t>
            </a:r>
            <a:r>
              <a:rPr sz="732" spc="-8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spc="-67" dirty="0">
                <a:solidFill>
                  <a:srgbClr val="B7B7B7"/>
                </a:solidFill>
                <a:latin typeface="Tahoma"/>
                <a:cs typeface="Tahoma"/>
              </a:rPr>
              <a:t>I</a:t>
            </a:r>
            <a:r>
              <a:rPr sz="732" spc="13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732" spc="-27" dirty="0">
                <a:solidFill>
                  <a:srgbClr val="B7B7B7"/>
                </a:solidFill>
                <a:latin typeface="Tahoma"/>
                <a:cs typeface="Tahoma"/>
              </a:rPr>
              <a:t>1986</a:t>
            </a:r>
            <a:endParaRPr sz="732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49524" y="3805684"/>
            <a:ext cx="574178" cy="408436"/>
            <a:chOff x="6857220" y="2365882"/>
            <a:chExt cx="431165" cy="306705"/>
          </a:xfrm>
        </p:grpSpPr>
        <p:sp>
          <p:nvSpPr>
            <p:cNvPr id="9" name="object 9"/>
            <p:cNvSpPr/>
            <p:nvPr/>
          </p:nvSpPr>
          <p:spPr>
            <a:xfrm>
              <a:off x="6876288" y="2443606"/>
              <a:ext cx="392430" cy="210185"/>
            </a:xfrm>
            <a:custGeom>
              <a:avLst/>
              <a:gdLst/>
              <a:ahLst/>
              <a:cxnLst/>
              <a:rect l="l" t="t" r="r" b="b"/>
              <a:pathLst>
                <a:path w="392429" h="210185">
                  <a:moveTo>
                    <a:pt x="0" y="0"/>
                  </a:moveTo>
                  <a:lnTo>
                    <a:pt x="207009" y="207137"/>
                  </a:lnTo>
                </a:path>
                <a:path w="392429" h="210185">
                  <a:moveTo>
                    <a:pt x="392429" y="9143"/>
                  </a:moveTo>
                  <a:lnTo>
                    <a:pt x="192023" y="209803"/>
                  </a:lnTo>
                </a:path>
              </a:pathLst>
            </a:custGeom>
            <a:ln w="3813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7072884" y="2365882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0"/>
                  </a:moveTo>
                  <a:lnTo>
                    <a:pt x="0" y="295656"/>
                  </a:lnTo>
                </a:path>
              </a:pathLst>
            </a:custGeom>
            <a:ln w="953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0686406" y="3774205"/>
            <a:ext cx="570795" cy="425348"/>
            <a:chOff x="7936212" y="2342243"/>
            <a:chExt cx="428625" cy="319405"/>
          </a:xfrm>
        </p:grpSpPr>
        <p:sp>
          <p:nvSpPr>
            <p:cNvPr id="12" name="object 12"/>
            <p:cNvSpPr/>
            <p:nvPr/>
          </p:nvSpPr>
          <p:spPr>
            <a:xfrm>
              <a:off x="7955279" y="2361310"/>
              <a:ext cx="389890" cy="207645"/>
            </a:xfrm>
            <a:custGeom>
              <a:avLst/>
              <a:gdLst/>
              <a:ahLst/>
              <a:cxnLst/>
              <a:rect l="l" t="t" r="r" b="b"/>
              <a:pathLst>
                <a:path w="389890" h="207644">
                  <a:moveTo>
                    <a:pt x="389890" y="207137"/>
                  </a:moveTo>
                  <a:lnTo>
                    <a:pt x="182879" y="0"/>
                  </a:lnTo>
                </a:path>
                <a:path w="389890" h="207644">
                  <a:moveTo>
                    <a:pt x="0" y="200533"/>
                  </a:moveTo>
                  <a:lnTo>
                    <a:pt x="200405" y="0"/>
                  </a:lnTo>
                </a:path>
              </a:pathLst>
            </a:custGeom>
            <a:ln w="3813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8151875" y="2365882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295656"/>
                  </a:moveTo>
                  <a:lnTo>
                    <a:pt x="0" y="0"/>
                  </a:lnTo>
                </a:path>
              </a:pathLst>
            </a:custGeom>
            <a:ln w="953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0028851" y="3713151"/>
            <a:ext cx="425348" cy="562339"/>
            <a:chOff x="7442437" y="2296396"/>
            <a:chExt cx="319405" cy="422275"/>
          </a:xfrm>
        </p:grpSpPr>
        <p:sp>
          <p:nvSpPr>
            <p:cNvPr id="15" name="object 15"/>
            <p:cNvSpPr/>
            <p:nvPr/>
          </p:nvSpPr>
          <p:spPr>
            <a:xfrm>
              <a:off x="7461504" y="2315463"/>
              <a:ext cx="209550" cy="384175"/>
            </a:xfrm>
            <a:custGeom>
              <a:avLst/>
              <a:gdLst/>
              <a:ahLst/>
              <a:cxnLst/>
              <a:rect l="l" t="t" r="r" b="b"/>
              <a:pathLst>
                <a:path w="209550" h="384175">
                  <a:moveTo>
                    <a:pt x="207010" y="0"/>
                  </a:moveTo>
                  <a:lnTo>
                    <a:pt x="0" y="207263"/>
                  </a:lnTo>
                </a:path>
                <a:path w="209550" h="384175">
                  <a:moveTo>
                    <a:pt x="209550" y="383666"/>
                  </a:moveTo>
                  <a:lnTo>
                    <a:pt x="9144" y="183006"/>
                  </a:lnTo>
                </a:path>
              </a:pathLst>
            </a:custGeom>
            <a:ln w="3813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7466076" y="2512313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09">
                  <a:moveTo>
                    <a:pt x="295528" y="0"/>
                  </a:moveTo>
                  <a:lnTo>
                    <a:pt x="0" y="0"/>
                  </a:lnTo>
                </a:path>
              </a:pathLst>
            </a:custGeom>
            <a:ln w="953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1497213" y="3713150"/>
            <a:ext cx="416892" cy="558955"/>
            <a:chOff x="8545068" y="2296396"/>
            <a:chExt cx="313055" cy="419734"/>
          </a:xfrm>
        </p:grpSpPr>
        <p:sp>
          <p:nvSpPr>
            <p:cNvPr id="18" name="object 18"/>
            <p:cNvSpPr/>
            <p:nvPr/>
          </p:nvSpPr>
          <p:spPr>
            <a:xfrm>
              <a:off x="8631936" y="2315463"/>
              <a:ext cx="207010" cy="381635"/>
            </a:xfrm>
            <a:custGeom>
              <a:avLst/>
              <a:gdLst/>
              <a:ahLst/>
              <a:cxnLst/>
              <a:rect l="l" t="t" r="r" b="b"/>
              <a:pathLst>
                <a:path w="207009" h="381635">
                  <a:moveTo>
                    <a:pt x="0" y="381126"/>
                  </a:moveTo>
                  <a:lnTo>
                    <a:pt x="207010" y="173862"/>
                  </a:lnTo>
                </a:path>
                <a:path w="207009" h="381635">
                  <a:moveTo>
                    <a:pt x="0" y="0"/>
                  </a:moveTo>
                  <a:lnTo>
                    <a:pt x="200406" y="200659"/>
                  </a:lnTo>
                </a:path>
              </a:pathLst>
            </a:custGeom>
            <a:ln w="3813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8545068" y="2512313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09">
                  <a:moveTo>
                    <a:pt x="0" y="0"/>
                  </a:moveTo>
                  <a:lnTo>
                    <a:pt x="295528" y="0"/>
                  </a:lnTo>
                </a:path>
              </a:pathLst>
            </a:custGeom>
            <a:ln w="953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13951" y="3476991"/>
            <a:ext cx="1103538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dirty="0">
                <a:latin typeface="Tahoma"/>
                <a:cs typeface="Tahoma"/>
              </a:rPr>
              <a:t>Find</a:t>
            </a:r>
            <a:r>
              <a:rPr sz="1798" spc="-12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edges</a:t>
            </a:r>
            <a:endParaRPr sz="1798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77630" y="3566880"/>
            <a:ext cx="1262515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dirty="0">
                <a:latin typeface="Tahoma"/>
                <a:cs typeface="Tahoma"/>
              </a:rPr>
              <a:t>Find</a:t>
            </a:r>
            <a:r>
              <a:rPr sz="1798" spc="-12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corners</a:t>
            </a:r>
            <a:endParaRPr sz="1798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93842" y="5689072"/>
            <a:ext cx="251996" cy="63698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113" dirty="0">
                <a:latin typeface="Tahoma"/>
                <a:cs typeface="Tahoma"/>
              </a:rPr>
              <a:t>?</a:t>
            </a:r>
            <a:endParaRPr sz="3995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490244" y="4390685"/>
            <a:ext cx="114159" cy="1226153"/>
          </a:xfrm>
          <a:custGeom>
            <a:avLst/>
            <a:gdLst/>
            <a:ahLst/>
            <a:cxnLst/>
            <a:rect l="l" t="t" r="r" b="b"/>
            <a:pathLst>
              <a:path w="85725" h="920750">
                <a:moveTo>
                  <a:pt x="28575" y="834516"/>
                </a:moveTo>
                <a:lnTo>
                  <a:pt x="0" y="834516"/>
                </a:lnTo>
                <a:lnTo>
                  <a:pt x="42925" y="920241"/>
                </a:lnTo>
                <a:lnTo>
                  <a:pt x="78623" y="848740"/>
                </a:lnTo>
                <a:lnTo>
                  <a:pt x="28575" y="848740"/>
                </a:lnTo>
                <a:lnTo>
                  <a:pt x="28575" y="834516"/>
                </a:lnTo>
                <a:close/>
              </a:path>
              <a:path w="85725" h="920750">
                <a:moveTo>
                  <a:pt x="57150" y="0"/>
                </a:moveTo>
                <a:lnTo>
                  <a:pt x="28575" y="0"/>
                </a:lnTo>
                <a:lnTo>
                  <a:pt x="28575" y="848740"/>
                </a:lnTo>
                <a:lnTo>
                  <a:pt x="57150" y="848740"/>
                </a:lnTo>
                <a:lnTo>
                  <a:pt x="57150" y="0"/>
                </a:lnTo>
                <a:close/>
              </a:path>
              <a:path w="85725" h="920750">
                <a:moveTo>
                  <a:pt x="85725" y="834516"/>
                </a:moveTo>
                <a:lnTo>
                  <a:pt x="57150" y="834516"/>
                </a:lnTo>
                <a:lnTo>
                  <a:pt x="57150" y="848740"/>
                </a:lnTo>
                <a:lnTo>
                  <a:pt x="78623" y="848740"/>
                </a:lnTo>
                <a:lnTo>
                  <a:pt x="85725" y="834516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5" name="object 2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44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920" y="698554"/>
            <a:ext cx="14855899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73" dirty="0"/>
              <a:t>Machine</a:t>
            </a:r>
            <a:r>
              <a:rPr spc="-353" dirty="0"/>
              <a:t> </a:t>
            </a:r>
            <a:r>
              <a:rPr spc="-120" dirty="0"/>
              <a:t>Learning:</a:t>
            </a:r>
            <a:r>
              <a:rPr spc="-286" dirty="0"/>
              <a:t> </a:t>
            </a:r>
            <a:r>
              <a:rPr spc="-127" dirty="0"/>
              <a:t>Data-</a:t>
            </a:r>
            <a:r>
              <a:rPr spc="-100" dirty="0"/>
              <a:t>Driven</a:t>
            </a:r>
            <a:r>
              <a:rPr spc="-353" dirty="0"/>
              <a:t> </a:t>
            </a:r>
            <a:r>
              <a:rPr spc="-13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794" y="1536182"/>
            <a:ext cx="9361043" cy="189739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524290" indent="-507378">
              <a:spcBef>
                <a:spcPts val="173"/>
              </a:spcBef>
              <a:buAutoNum type="arabicPeriod"/>
              <a:tabLst>
                <a:tab pos="524290" algn="l"/>
              </a:tabLst>
            </a:pPr>
            <a:r>
              <a:rPr sz="3129" dirty="0">
                <a:latin typeface="Tahoma"/>
                <a:cs typeface="Tahoma"/>
              </a:rPr>
              <a:t>Collect</a:t>
            </a:r>
            <a:r>
              <a:rPr sz="3129" spc="-286" dirty="0">
                <a:latin typeface="Tahoma"/>
                <a:cs typeface="Tahoma"/>
              </a:rPr>
              <a:t> </a:t>
            </a:r>
            <a:r>
              <a:rPr sz="3129" spc="-73" dirty="0">
                <a:latin typeface="Tahoma"/>
                <a:cs typeface="Tahoma"/>
              </a:rPr>
              <a:t>a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dataset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of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images</a:t>
            </a:r>
            <a:r>
              <a:rPr sz="3129" spc="-25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and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labels</a:t>
            </a:r>
            <a:endParaRPr sz="3129" dirty="0">
              <a:latin typeface="Tahoma"/>
              <a:cs typeface="Tahoma"/>
            </a:endParaRPr>
          </a:p>
          <a:p>
            <a:pPr marL="524290" indent="-507378">
              <a:spcBef>
                <a:spcPts val="93"/>
              </a:spcBef>
              <a:buAutoNum type="arabicPeriod"/>
              <a:tabLst>
                <a:tab pos="524290" algn="l"/>
              </a:tabLst>
            </a:pPr>
            <a:r>
              <a:rPr sz="3129" spc="-73" dirty="0">
                <a:latin typeface="Tahoma"/>
                <a:cs typeface="Tahoma"/>
              </a:rPr>
              <a:t>Use</a:t>
            </a:r>
            <a:r>
              <a:rPr sz="3129" spc="-213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Machine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Learning</a:t>
            </a:r>
            <a:r>
              <a:rPr sz="3129" spc="-246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algorithms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to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train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spc="-73" dirty="0">
                <a:latin typeface="Tahoma"/>
                <a:cs typeface="Tahoma"/>
              </a:rPr>
              <a:t>a</a:t>
            </a:r>
            <a:r>
              <a:rPr sz="3129" spc="-338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classifier</a:t>
            </a:r>
            <a:endParaRPr sz="3129" dirty="0">
              <a:latin typeface="Tahoma"/>
              <a:cs typeface="Tahoma"/>
            </a:endParaRPr>
          </a:p>
          <a:p>
            <a:pPr marL="524290" indent="-507378">
              <a:spcBef>
                <a:spcPts val="87"/>
              </a:spcBef>
              <a:buAutoNum type="arabicPeriod"/>
              <a:tabLst>
                <a:tab pos="524290" algn="l"/>
              </a:tabLst>
            </a:pPr>
            <a:r>
              <a:rPr sz="3129" spc="-40" dirty="0">
                <a:latin typeface="Tahoma"/>
                <a:cs typeface="Tahoma"/>
              </a:rPr>
              <a:t>Evaluate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the</a:t>
            </a:r>
            <a:r>
              <a:rPr sz="3129" spc="-28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classifier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on</a:t>
            </a:r>
            <a:r>
              <a:rPr sz="3129" spc="-253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new</a:t>
            </a:r>
            <a:r>
              <a:rPr sz="3129" spc="-220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images</a:t>
            </a:r>
            <a:endParaRPr sz="3129" dirty="0">
              <a:latin typeface="Tahoma"/>
              <a:cs typeface="Tahoma"/>
            </a:endParaRPr>
          </a:p>
          <a:p>
            <a:pPr marL="4587540">
              <a:spcBef>
                <a:spcPts val="1005"/>
              </a:spcBef>
            </a:pPr>
            <a:r>
              <a:rPr sz="1798" spc="-13" dirty="0">
                <a:latin typeface="Tahoma"/>
                <a:cs typeface="Tahoma"/>
              </a:rPr>
              <a:t>Example</a:t>
            </a:r>
            <a:r>
              <a:rPr sz="1798" spc="-17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training</a:t>
            </a:r>
            <a:r>
              <a:rPr sz="1798" spc="-73" dirty="0">
                <a:latin typeface="Tahoma"/>
                <a:cs typeface="Tahoma"/>
              </a:rPr>
              <a:t> </a:t>
            </a:r>
            <a:r>
              <a:rPr sz="1798" spc="-33" dirty="0">
                <a:latin typeface="Tahoma"/>
                <a:cs typeface="Tahoma"/>
              </a:rPr>
              <a:t>set</a:t>
            </a:r>
            <a:endParaRPr sz="1798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920" y="3488807"/>
            <a:ext cx="4030576" cy="12541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1753" y="3622977"/>
            <a:ext cx="6368552" cy="23500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390" y="4914818"/>
            <a:ext cx="4067107" cy="13394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48595" y="6395150"/>
            <a:ext cx="385604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50738">
              <a:spcBef>
                <a:spcPts val="100"/>
              </a:spcBef>
            </a:pPr>
            <a:fld id="{81D60167-4931-47E6-BA6A-407CBD079E47}" type="slidenum">
              <a:rPr sz="2397" spc="-33" dirty="0">
                <a:solidFill>
                  <a:srgbClr val="FFFFFF"/>
                </a:solidFill>
                <a:latin typeface="Tahoma"/>
                <a:cs typeface="Tahoma"/>
              </a:rPr>
              <a:pPr marL="50738">
                <a:spcBef>
                  <a:spcPts val="100"/>
                </a:spcBef>
              </a:pPr>
              <a:t>45</a:t>
            </a:fld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9272" y="971998"/>
            <a:ext cx="5411140" cy="1990388"/>
          </a:xfrm>
          <a:prstGeom prst="rect">
            <a:avLst/>
          </a:prstGeom>
        </p:spPr>
        <p:txBody>
          <a:bodyPr vert="horz" wrap="square" lIns="0" tIns="22832" rIns="0" bIns="0" rtlCol="0" anchor="t">
            <a:spAutoFit/>
          </a:bodyPr>
          <a:lstStyle/>
          <a:p>
            <a:pPr marL="16913">
              <a:spcBef>
                <a:spcPts val="180"/>
              </a:spcBef>
            </a:pPr>
            <a:r>
              <a:rPr sz="6392" spc="-100" dirty="0"/>
              <a:t>Linear</a:t>
            </a:r>
            <a:r>
              <a:rPr sz="6392" spc="-712" dirty="0"/>
              <a:t> </a:t>
            </a:r>
            <a:r>
              <a:rPr sz="6392" spc="-60" dirty="0"/>
              <a:t>Classifier</a:t>
            </a:r>
            <a:endParaRPr sz="6392" dirty="0"/>
          </a:p>
        </p:txBody>
      </p:sp>
      <p:sp>
        <p:nvSpPr>
          <p:cNvPr id="4" name="object 4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065" y="182924"/>
            <a:ext cx="4234878" cy="1982355"/>
          </a:xfrm>
          <a:prstGeom prst="rect">
            <a:avLst/>
          </a:prstGeom>
        </p:spPr>
        <p:txBody>
          <a:bodyPr vert="horz" wrap="square" lIns="0" tIns="19448" rIns="0" bIns="0" rtlCol="0">
            <a:spAutoFit/>
          </a:bodyPr>
          <a:lstStyle/>
          <a:p>
            <a:pPr marL="16913">
              <a:spcBef>
                <a:spcPts val="152"/>
              </a:spcBef>
            </a:pPr>
            <a:r>
              <a:rPr sz="3729" spc="-47" dirty="0">
                <a:latin typeface="Tahoma"/>
                <a:cs typeface="Tahoma"/>
              </a:rPr>
              <a:t>Parametric</a:t>
            </a:r>
            <a:r>
              <a:rPr sz="3729" spc="-380" dirty="0">
                <a:latin typeface="Tahoma"/>
                <a:cs typeface="Tahoma"/>
              </a:rPr>
              <a:t> </a:t>
            </a:r>
            <a:r>
              <a:rPr sz="3729" spc="-40" dirty="0">
                <a:latin typeface="Tahoma"/>
                <a:cs typeface="Tahoma"/>
              </a:rPr>
              <a:t>Approach</a:t>
            </a:r>
            <a:endParaRPr sz="3729" dirty="0">
              <a:latin typeface="Tahoma"/>
              <a:cs typeface="Tahoma"/>
            </a:endParaRPr>
          </a:p>
          <a:p>
            <a:pPr>
              <a:spcBef>
                <a:spcPts val="2637"/>
              </a:spcBef>
            </a:pPr>
            <a:endParaRPr sz="3729" dirty="0">
              <a:latin typeface="Tahoma"/>
              <a:cs typeface="Tahoma"/>
            </a:endParaRPr>
          </a:p>
          <a:p>
            <a:pPr marL="314574"/>
            <a:r>
              <a:rPr lang="en-US" sz="3129" spc="-13" dirty="0">
                <a:solidFill>
                  <a:srgbClr val="0000FF"/>
                </a:solidFill>
                <a:latin typeface="Tahoma"/>
                <a:cs typeface="Tahoma"/>
              </a:rPr>
              <a:t>  </a:t>
            </a:r>
            <a:r>
              <a:rPr sz="3129" spc="-13" dirty="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endParaRPr sz="3129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742" y="2193854"/>
            <a:ext cx="1558652" cy="15342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97704" y="2642643"/>
            <a:ext cx="1245602" cy="63698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60" dirty="0">
                <a:latin typeface="Tahoma"/>
                <a:cs typeface="Tahoma"/>
              </a:rPr>
              <a:t>f(</a:t>
            </a:r>
            <a:r>
              <a:rPr sz="3995" spc="-260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3995" spc="-260" dirty="0">
                <a:latin typeface="Tahoma"/>
                <a:cs typeface="Tahoma"/>
              </a:rPr>
              <a:t>,</a:t>
            </a:r>
            <a:r>
              <a:rPr sz="3995" spc="-260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3995" spc="-260" dirty="0">
                <a:latin typeface="Tahoma"/>
                <a:cs typeface="Tahoma"/>
              </a:rPr>
              <a:t>)</a:t>
            </a:r>
            <a:endParaRPr sz="3995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36845" y="2910604"/>
            <a:ext cx="2158029" cy="115005"/>
          </a:xfrm>
          <a:custGeom>
            <a:avLst/>
            <a:gdLst/>
            <a:ahLst/>
            <a:cxnLst/>
            <a:rect l="l" t="t" r="r" b="b"/>
            <a:pathLst>
              <a:path w="1620520" h="86360">
                <a:moveTo>
                  <a:pt x="1534287" y="0"/>
                </a:moveTo>
                <a:lnTo>
                  <a:pt x="1534287" y="85851"/>
                </a:lnTo>
                <a:lnTo>
                  <a:pt x="1591606" y="57150"/>
                </a:lnTo>
                <a:lnTo>
                  <a:pt x="1548511" y="57150"/>
                </a:lnTo>
                <a:lnTo>
                  <a:pt x="1548511" y="28575"/>
                </a:lnTo>
                <a:lnTo>
                  <a:pt x="1591352" y="28575"/>
                </a:lnTo>
                <a:lnTo>
                  <a:pt x="1534287" y="0"/>
                </a:lnTo>
                <a:close/>
              </a:path>
              <a:path w="1620520" h="86360">
                <a:moveTo>
                  <a:pt x="153428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534287" y="57150"/>
                </a:lnTo>
                <a:lnTo>
                  <a:pt x="1534287" y="28575"/>
                </a:lnTo>
                <a:close/>
              </a:path>
              <a:path w="1620520" h="86360">
                <a:moveTo>
                  <a:pt x="1591352" y="28575"/>
                </a:moveTo>
                <a:lnTo>
                  <a:pt x="1548511" y="28575"/>
                </a:lnTo>
                <a:lnTo>
                  <a:pt x="1548511" y="57150"/>
                </a:lnTo>
                <a:lnTo>
                  <a:pt x="1591606" y="57150"/>
                </a:lnTo>
                <a:lnTo>
                  <a:pt x="1620012" y="42925"/>
                </a:lnTo>
                <a:lnTo>
                  <a:pt x="159135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" name="object 6"/>
          <p:cNvSpPr/>
          <p:nvPr/>
        </p:nvSpPr>
        <p:spPr>
          <a:xfrm>
            <a:off x="5648279" y="3369946"/>
            <a:ext cx="114159" cy="740765"/>
          </a:xfrm>
          <a:custGeom>
            <a:avLst/>
            <a:gdLst/>
            <a:ahLst/>
            <a:cxnLst/>
            <a:rect l="l" t="t" r="r" b="b"/>
            <a:pathLst>
              <a:path w="85725" h="556260">
                <a:moveTo>
                  <a:pt x="57150" y="71500"/>
                </a:moveTo>
                <a:lnTo>
                  <a:pt x="28575" y="71500"/>
                </a:lnTo>
                <a:lnTo>
                  <a:pt x="28575" y="555751"/>
                </a:lnTo>
                <a:lnTo>
                  <a:pt x="57150" y="555751"/>
                </a:lnTo>
                <a:lnTo>
                  <a:pt x="57150" y="71500"/>
                </a:lnTo>
                <a:close/>
              </a:path>
              <a:path w="85725" h="556260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556260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/>
          <p:nvPr/>
        </p:nvSpPr>
        <p:spPr>
          <a:xfrm>
            <a:off x="6411706" y="2910604"/>
            <a:ext cx="1651501" cy="115005"/>
          </a:xfrm>
          <a:custGeom>
            <a:avLst/>
            <a:gdLst/>
            <a:ahLst/>
            <a:cxnLst/>
            <a:rect l="l" t="t" r="r" b="b"/>
            <a:pathLst>
              <a:path w="1240154" h="86360">
                <a:moveTo>
                  <a:pt x="1154430" y="0"/>
                </a:moveTo>
                <a:lnTo>
                  <a:pt x="1154430" y="85851"/>
                </a:lnTo>
                <a:lnTo>
                  <a:pt x="1211749" y="57150"/>
                </a:lnTo>
                <a:lnTo>
                  <a:pt x="1168781" y="57150"/>
                </a:lnTo>
                <a:lnTo>
                  <a:pt x="1168781" y="28575"/>
                </a:lnTo>
                <a:lnTo>
                  <a:pt x="1211495" y="28575"/>
                </a:lnTo>
                <a:lnTo>
                  <a:pt x="1154430" y="0"/>
                </a:lnTo>
                <a:close/>
              </a:path>
              <a:path w="1240154" h="86360">
                <a:moveTo>
                  <a:pt x="115443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154430" y="57150"/>
                </a:lnTo>
                <a:lnTo>
                  <a:pt x="1154430" y="28575"/>
                </a:lnTo>
                <a:close/>
              </a:path>
              <a:path w="1240154" h="86360">
                <a:moveTo>
                  <a:pt x="1211495" y="28575"/>
                </a:moveTo>
                <a:lnTo>
                  <a:pt x="1168781" y="28575"/>
                </a:lnTo>
                <a:lnTo>
                  <a:pt x="1168781" y="57150"/>
                </a:lnTo>
                <a:lnTo>
                  <a:pt x="1211749" y="57150"/>
                </a:lnTo>
                <a:lnTo>
                  <a:pt x="1240155" y="42925"/>
                </a:lnTo>
                <a:lnTo>
                  <a:pt x="121149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 txBox="1"/>
          <p:nvPr/>
        </p:nvSpPr>
        <p:spPr>
          <a:xfrm>
            <a:off x="8412618" y="2493205"/>
            <a:ext cx="3133032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86" dirty="0">
                <a:latin typeface="Tahoma"/>
                <a:cs typeface="Tahoma"/>
              </a:rPr>
              <a:t>10</a:t>
            </a:r>
            <a:r>
              <a:rPr sz="3129" spc="-2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numbers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giving class</a:t>
            </a:r>
            <a:r>
              <a:rPr sz="3129" spc="-37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scores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532" y="3833010"/>
            <a:ext cx="3322452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73" dirty="0">
                <a:latin typeface="Tahoma"/>
                <a:cs typeface="Tahoma"/>
              </a:rPr>
              <a:t>Array</a:t>
            </a:r>
            <a:r>
              <a:rPr sz="2397" spc="-305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140" dirty="0">
                <a:latin typeface="Tahoma"/>
                <a:cs typeface="Tahoma"/>
              </a:rPr>
              <a:t>32x32x3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numbers </a:t>
            </a:r>
            <a:r>
              <a:rPr sz="2397" spc="-152" dirty="0">
                <a:latin typeface="Tahoma"/>
                <a:cs typeface="Tahoma"/>
              </a:rPr>
              <a:t>(3072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numbers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total)</a:t>
            </a:r>
            <a:endParaRPr sz="2397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1965" y="4919347"/>
            <a:ext cx="1992287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40" dirty="0">
                <a:solidFill>
                  <a:srgbClr val="FF0000"/>
                </a:solidFill>
                <a:latin typeface="Tahoma"/>
                <a:cs typeface="Tahoma"/>
              </a:rPr>
              <a:t>parameters </a:t>
            </a:r>
            <a:r>
              <a:rPr sz="3129" spc="-27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3129" spc="-33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FF0000"/>
                </a:solidFill>
                <a:latin typeface="Tahoma"/>
                <a:cs typeface="Tahoma"/>
              </a:rPr>
              <a:t>weights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0349" y="4062783"/>
            <a:ext cx="677342" cy="1006722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6392" spc="-819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endParaRPr sz="6392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965" y="632851"/>
            <a:ext cx="7583544" cy="593513"/>
          </a:xfrm>
          <a:prstGeom prst="rect">
            <a:avLst/>
          </a:prstGeom>
        </p:spPr>
        <p:txBody>
          <a:bodyPr vert="horz" wrap="square" lIns="0" tIns="19448" rIns="0" bIns="0" rtlCol="0">
            <a:spAutoFit/>
          </a:bodyPr>
          <a:lstStyle/>
          <a:p>
            <a:pPr marL="16913">
              <a:spcBef>
                <a:spcPts val="152"/>
              </a:spcBef>
            </a:pPr>
            <a:r>
              <a:rPr sz="3729" spc="-47" dirty="0">
                <a:latin typeface="Tahoma"/>
                <a:cs typeface="Tahoma"/>
              </a:rPr>
              <a:t>Parametric</a:t>
            </a:r>
            <a:r>
              <a:rPr sz="3729" spc="-406" dirty="0">
                <a:latin typeface="Tahoma"/>
                <a:cs typeface="Tahoma"/>
              </a:rPr>
              <a:t> </a:t>
            </a:r>
            <a:r>
              <a:rPr sz="3729" spc="-113" dirty="0">
                <a:latin typeface="Tahoma"/>
                <a:cs typeface="Tahoma"/>
              </a:rPr>
              <a:t>Approach:</a:t>
            </a:r>
            <a:r>
              <a:rPr sz="3729" spc="-286" dirty="0">
                <a:latin typeface="Tahoma"/>
                <a:cs typeface="Tahoma"/>
              </a:rPr>
              <a:t> </a:t>
            </a:r>
            <a:r>
              <a:rPr sz="3729" spc="-60" dirty="0">
                <a:latin typeface="Tahoma"/>
                <a:cs typeface="Tahoma"/>
              </a:rPr>
              <a:t>Linear</a:t>
            </a:r>
            <a:r>
              <a:rPr sz="3729" spc="-380" dirty="0">
                <a:latin typeface="Tahoma"/>
                <a:cs typeface="Tahoma"/>
              </a:rPr>
              <a:t> </a:t>
            </a:r>
            <a:r>
              <a:rPr sz="3729" spc="-13" dirty="0">
                <a:latin typeface="Tahoma"/>
                <a:cs typeface="Tahoma"/>
              </a:rPr>
              <a:t>Classifier</a:t>
            </a:r>
            <a:endParaRPr sz="3729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717" y="2218236"/>
            <a:ext cx="1558652" cy="15342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5775" y="1654646"/>
            <a:ext cx="1086625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93" dirty="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1940" y="4943729"/>
            <a:ext cx="1992287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40" dirty="0">
                <a:solidFill>
                  <a:srgbClr val="FF0000"/>
                </a:solidFill>
                <a:latin typeface="Tahoma"/>
                <a:cs typeface="Tahoma"/>
              </a:rPr>
              <a:t>parameters </a:t>
            </a:r>
            <a:r>
              <a:rPr sz="3129" spc="-27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3129" spc="-33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FF0000"/>
                </a:solidFill>
                <a:latin typeface="Tahoma"/>
                <a:cs typeface="Tahoma"/>
              </a:rPr>
              <a:t>weights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0324" y="4087165"/>
            <a:ext cx="677342" cy="1006722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6392" spc="-819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endParaRPr sz="6392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7679" y="2667025"/>
            <a:ext cx="1245602" cy="63698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60" dirty="0">
                <a:latin typeface="Tahoma"/>
                <a:cs typeface="Tahoma"/>
              </a:rPr>
              <a:t>f(</a:t>
            </a:r>
            <a:r>
              <a:rPr sz="3995" spc="-260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3995" spc="-260" dirty="0">
                <a:latin typeface="Tahoma"/>
                <a:cs typeface="Tahoma"/>
              </a:rPr>
              <a:t>,</a:t>
            </a:r>
            <a:r>
              <a:rPr sz="3995" spc="-260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3995" spc="-260" dirty="0">
                <a:latin typeface="Tahoma"/>
                <a:cs typeface="Tahoma"/>
              </a:rPr>
              <a:t>)</a:t>
            </a:r>
            <a:endParaRPr sz="3995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6820" y="2934986"/>
            <a:ext cx="2158029" cy="115005"/>
          </a:xfrm>
          <a:custGeom>
            <a:avLst/>
            <a:gdLst/>
            <a:ahLst/>
            <a:cxnLst/>
            <a:rect l="l" t="t" r="r" b="b"/>
            <a:pathLst>
              <a:path w="1620520" h="86360">
                <a:moveTo>
                  <a:pt x="1534287" y="0"/>
                </a:moveTo>
                <a:lnTo>
                  <a:pt x="1534287" y="85851"/>
                </a:lnTo>
                <a:lnTo>
                  <a:pt x="1591606" y="57150"/>
                </a:lnTo>
                <a:lnTo>
                  <a:pt x="1548511" y="57150"/>
                </a:lnTo>
                <a:lnTo>
                  <a:pt x="1548511" y="28575"/>
                </a:lnTo>
                <a:lnTo>
                  <a:pt x="1591352" y="28575"/>
                </a:lnTo>
                <a:lnTo>
                  <a:pt x="1534287" y="0"/>
                </a:lnTo>
                <a:close/>
              </a:path>
              <a:path w="1620520" h="86360">
                <a:moveTo>
                  <a:pt x="153428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534287" y="57150"/>
                </a:lnTo>
                <a:lnTo>
                  <a:pt x="1534287" y="28575"/>
                </a:lnTo>
                <a:close/>
              </a:path>
              <a:path w="1620520" h="86360">
                <a:moveTo>
                  <a:pt x="1591352" y="28575"/>
                </a:moveTo>
                <a:lnTo>
                  <a:pt x="1548511" y="28575"/>
                </a:lnTo>
                <a:lnTo>
                  <a:pt x="1548511" y="57150"/>
                </a:lnTo>
                <a:lnTo>
                  <a:pt x="1591606" y="57150"/>
                </a:lnTo>
                <a:lnTo>
                  <a:pt x="1620012" y="42925"/>
                </a:lnTo>
                <a:lnTo>
                  <a:pt x="159135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/>
          <p:nvPr/>
        </p:nvSpPr>
        <p:spPr>
          <a:xfrm>
            <a:off x="5448254" y="3394329"/>
            <a:ext cx="114159" cy="629989"/>
          </a:xfrm>
          <a:custGeom>
            <a:avLst/>
            <a:gdLst/>
            <a:ahLst/>
            <a:cxnLst/>
            <a:rect l="l" t="t" r="r" b="b"/>
            <a:pathLst>
              <a:path w="85725" h="473075">
                <a:moveTo>
                  <a:pt x="57150" y="71500"/>
                </a:moveTo>
                <a:lnTo>
                  <a:pt x="28575" y="71500"/>
                </a:lnTo>
                <a:lnTo>
                  <a:pt x="28575" y="472948"/>
                </a:lnTo>
                <a:lnTo>
                  <a:pt x="57150" y="472948"/>
                </a:lnTo>
                <a:lnTo>
                  <a:pt x="57150" y="71500"/>
                </a:lnTo>
                <a:close/>
              </a:path>
              <a:path w="85725" h="47307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473075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0" name="object 10"/>
          <p:cNvSpPr/>
          <p:nvPr/>
        </p:nvSpPr>
        <p:spPr>
          <a:xfrm>
            <a:off x="6211681" y="2934986"/>
            <a:ext cx="1651501" cy="115005"/>
          </a:xfrm>
          <a:custGeom>
            <a:avLst/>
            <a:gdLst/>
            <a:ahLst/>
            <a:cxnLst/>
            <a:rect l="l" t="t" r="r" b="b"/>
            <a:pathLst>
              <a:path w="1240154" h="86360">
                <a:moveTo>
                  <a:pt x="1154430" y="0"/>
                </a:moveTo>
                <a:lnTo>
                  <a:pt x="1154430" y="85851"/>
                </a:lnTo>
                <a:lnTo>
                  <a:pt x="1211749" y="57150"/>
                </a:lnTo>
                <a:lnTo>
                  <a:pt x="1168781" y="57150"/>
                </a:lnTo>
                <a:lnTo>
                  <a:pt x="1168781" y="28575"/>
                </a:lnTo>
                <a:lnTo>
                  <a:pt x="1211495" y="28575"/>
                </a:lnTo>
                <a:lnTo>
                  <a:pt x="1154430" y="0"/>
                </a:lnTo>
                <a:close/>
              </a:path>
              <a:path w="1240154" h="86360">
                <a:moveTo>
                  <a:pt x="115443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154430" y="57150"/>
                </a:lnTo>
                <a:lnTo>
                  <a:pt x="1154430" y="28575"/>
                </a:lnTo>
                <a:close/>
              </a:path>
              <a:path w="1240154" h="86360">
                <a:moveTo>
                  <a:pt x="1211495" y="28575"/>
                </a:moveTo>
                <a:lnTo>
                  <a:pt x="1168781" y="28575"/>
                </a:lnTo>
                <a:lnTo>
                  <a:pt x="1168781" y="57150"/>
                </a:lnTo>
                <a:lnTo>
                  <a:pt x="1211749" y="57150"/>
                </a:lnTo>
                <a:lnTo>
                  <a:pt x="1240155" y="42925"/>
                </a:lnTo>
                <a:lnTo>
                  <a:pt x="121149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8212593" y="2517587"/>
            <a:ext cx="3133032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86" dirty="0">
                <a:latin typeface="Tahoma"/>
                <a:cs typeface="Tahoma"/>
              </a:rPr>
              <a:t>10</a:t>
            </a:r>
            <a:r>
              <a:rPr sz="3129" spc="-2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numbers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giving class</a:t>
            </a:r>
            <a:r>
              <a:rPr sz="3129" spc="-37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scores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507" y="3857392"/>
            <a:ext cx="3322452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73" dirty="0">
                <a:latin typeface="Tahoma"/>
                <a:cs typeface="Tahoma"/>
              </a:rPr>
              <a:t>Array</a:t>
            </a:r>
            <a:r>
              <a:rPr sz="2397" spc="-305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140" dirty="0">
                <a:latin typeface="Tahoma"/>
                <a:cs typeface="Tahoma"/>
              </a:rPr>
              <a:t>32x32x3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numbers </a:t>
            </a:r>
            <a:r>
              <a:rPr sz="2397" spc="-152" dirty="0">
                <a:latin typeface="Tahoma"/>
                <a:cs typeface="Tahoma"/>
              </a:rPr>
              <a:t>(3072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numbers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total)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3810534" y="1324123"/>
            <a:ext cx="3275097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73" dirty="0"/>
              <a:t>f(x,W)</a:t>
            </a:r>
            <a:r>
              <a:rPr sz="4794" spc="406" dirty="0"/>
              <a:t> </a:t>
            </a:r>
            <a:r>
              <a:rPr sz="4794" spc="-1119" dirty="0"/>
              <a:t>=</a:t>
            </a:r>
            <a:r>
              <a:rPr sz="4794" spc="419" dirty="0"/>
              <a:t> </a:t>
            </a:r>
            <a:r>
              <a:rPr sz="4794" spc="-566" dirty="0"/>
              <a:t>W</a:t>
            </a:r>
            <a:r>
              <a:rPr sz="4794" spc="-486" dirty="0"/>
              <a:t> </a:t>
            </a:r>
            <a:r>
              <a:rPr sz="4794" spc="-93" dirty="0"/>
              <a:t>x</a:t>
            </a:r>
            <a:endParaRPr sz="4794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542" y="2385120"/>
            <a:ext cx="1558652" cy="15342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9600" y="1821530"/>
            <a:ext cx="1086625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93" dirty="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765" y="5110613"/>
            <a:ext cx="1992287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40" dirty="0">
                <a:solidFill>
                  <a:srgbClr val="FF0000"/>
                </a:solidFill>
                <a:latin typeface="Tahoma"/>
                <a:cs typeface="Tahoma"/>
              </a:rPr>
              <a:t>parameters </a:t>
            </a:r>
            <a:r>
              <a:rPr sz="3129" spc="-27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3129" spc="-33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FF0000"/>
                </a:solidFill>
                <a:latin typeface="Tahoma"/>
                <a:cs typeface="Tahoma"/>
              </a:rPr>
              <a:t>weights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4149" y="4254049"/>
            <a:ext cx="677342" cy="1006722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6392" spc="-819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endParaRPr sz="6392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0645" y="3101870"/>
            <a:ext cx="2158029" cy="115005"/>
          </a:xfrm>
          <a:custGeom>
            <a:avLst/>
            <a:gdLst/>
            <a:ahLst/>
            <a:cxnLst/>
            <a:rect l="l" t="t" r="r" b="b"/>
            <a:pathLst>
              <a:path w="1620520" h="86360">
                <a:moveTo>
                  <a:pt x="1534287" y="0"/>
                </a:moveTo>
                <a:lnTo>
                  <a:pt x="1534287" y="85851"/>
                </a:lnTo>
                <a:lnTo>
                  <a:pt x="1591606" y="57150"/>
                </a:lnTo>
                <a:lnTo>
                  <a:pt x="1548511" y="57150"/>
                </a:lnTo>
                <a:lnTo>
                  <a:pt x="1548511" y="28575"/>
                </a:lnTo>
                <a:lnTo>
                  <a:pt x="1591352" y="28575"/>
                </a:lnTo>
                <a:lnTo>
                  <a:pt x="1534287" y="0"/>
                </a:lnTo>
                <a:close/>
              </a:path>
              <a:path w="1620520" h="86360">
                <a:moveTo>
                  <a:pt x="153428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534287" y="57150"/>
                </a:lnTo>
                <a:lnTo>
                  <a:pt x="1534287" y="28575"/>
                </a:lnTo>
                <a:close/>
              </a:path>
              <a:path w="1620520" h="86360">
                <a:moveTo>
                  <a:pt x="1591352" y="28575"/>
                </a:moveTo>
                <a:lnTo>
                  <a:pt x="1548511" y="28575"/>
                </a:lnTo>
                <a:lnTo>
                  <a:pt x="1548511" y="57150"/>
                </a:lnTo>
                <a:lnTo>
                  <a:pt x="1591606" y="57150"/>
                </a:lnTo>
                <a:lnTo>
                  <a:pt x="1620012" y="42925"/>
                </a:lnTo>
                <a:lnTo>
                  <a:pt x="159135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/>
          <p:nvPr/>
        </p:nvSpPr>
        <p:spPr>
          <a:xfrm>
            <a:off x="5572079" y="3561213"/>
            <a:ext cx="114159" cy="629989"/>
          </a:xfrm>
          <a:custGeom>
            <a:avLst/>
            <a:gdLst/>
            <a:ahLst/>
            <a:cxnLst/>
            <a:rect l="l" t="t" r="r" b="b"/>
            <a:pathLst>
              <a:path w="85725" h="473075">
                <a:moveTo>
                  <a:pt x="57150" y="71500"/>
                </a:moveTo>
                <a:lnTo>
                  <a:pt x="28575" y="71500"/>
                </a:lnTo>
                <a:lnTo>
                  <a:pt x="28575" y="472948"/>
                </a:lnTo>
                <a:lnTo>
                  <a:pt x="57150" y="472948"/>
                </a:lnTo>
                <a:lnTo>
                  <a:pt x="57150" y="71500"/>
                </a:lnTo>
                <a:close/>
              </a:path>
              <a:path w="85725" h="47307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473075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/>
          <p:nvPr/>
        </p:nvSpPr>
        <p:spPr>
          <a:xfrm>
            <a:off x="6335506" y="3101870"/>
            <a:ext cx="1651501" cy="115005"/>
          </a:xfrm>
          <a:custGeom>
            <a:avLst/>
            <a:gdLst/>
            <a:ahLst/>
            <a:cxnLst/>
            <a:rect l="l" t="t" r="r" b="b"/>
            <a:pathLst>
              <a:path w="1240154" h="86360">
                <a:moveTo>
                  <a:pt x="1154430" y="0"/>
                </a:moveTo>
                <a:lnTo>
                  <a:pt x="1154430" y="85851"/>
                </a:lnTo>
                <a:lnTo>
                  <a:pt x="1211749" y="57150"/>
                </a:lnTo>
                <a:lnTo>
                  <a:pt x="1168781" y="57150"/>
                </a:lnTo>
                <a:lnTo>
                  <a:pt x="1168781" y="28575"/>
                </a:lnTo>
                <a:lnTo>
                  <a:pt x="1211495" y="28575"/>
                </a:lnTo>
                <a:lnTo>
                  <a:pt x="1154430" y="0"/>
                </a:lnTo>
                <a:close/>
              </a:path>
              <a:path w="1240154" h="86360">
                <a:moveTo>
                  <a:pt x="115443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154430" y="57150"/>
                </a:lnTo>
                <a:lnTo>
                  <a:pt x="1154430" y="28575"/>
                </a:lnTo>
                <a:close/>
              </a:path>
              <a:path w="1240154" h="86360">
                <a:moveTo>
                  <a:pt x="1211495" y="28575"/>
                </a:moveTo>
                <a:lnTo>
                  <a:pt x="1168781" y="28575"/>
                </a:lnTo>
                <a:lnTo>
                  <a:pt x="1168781" y="57150"/>
                </a:lnTo>
                <a:lnTo>
                  <a:pt x="1211749" y="57150"/>
                </a:lnTo>
                <a:lnTo>
                  <a:pt x="1240155" y="42925"/>
                </a:lnTo>
                <a:lnTo>
                  <a:pt x="121149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8336418" y="2684471"/>
            <a:ext cx="3133032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86" dirty="0">
                <a:latin typeface="Tahoma"/>
                <a:cs typeface="Tahoma"/>
              </a:rPr>
              <a:t>10</a:t>
            </a:r>
            <a:r>
              <a:rPr sz="3129" spc="-2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numbers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giving class</a:t>
            </a:r>
            <a:r>
              <a:rPr sz="3129" spc="-37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scores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807" y="3943117"/>
            <a:ext cx="3322452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73" dirty="0">
                <a:latin typeface="Tahoma"/>
                <a:cs typeface="Tahoma"/>
              </a:rPr>
              <a:t>Array</a:t>
            </a:r>
            <a:r>
              <a:rPr sz="2397" spc="-305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140" dirty="0">
                <a:latin typeface="Tahoma"/>
                <a:cs typeface="Tahoma"/>
              </a:rPr>
              <a:t>32x32x3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numbers </a:t>
            </a:r>
            <a:r>
              <a:rPr sz="2397" spc="-152" dirty="0">
                <a:latin typeface="Tahoma"/>
                <a:cs typeface="Tahoma"/>
              </a:rPr>
              <a:t>(3072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numbers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total)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7512" y="1404554"/>
            <a:ext cx="3275097" cy="756552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73" dirty="0">
                <a:latin typeface="Tahoma"/>
                <a:cs typeface="Tahoma"/>
              </a:rPr>
              <a:t>f(x,W)</a:t>
            </a:r>
            <a:r>
              <a:rPr sz="4794" spc="406" dirty="0">
                <a:latin typeface="Tahoma"/>
                <a:cs typeface="Tahoma"/>
              </a:rPr>
              <a:t> </a:t>
            </a:r>
            <a:r>
              <a:rPr sz="4794" spc="-1119" dirty="0">
                <a:latin typeface="Tahoma"/>
                <a:cs typeface="Tahoma"/>
              </a:rPr>
              <a:t>=</a:t>
            </a:r>
            <a:r>
              <a:rPr sz="4794" spc="419" dirty="0">
                <a:latin typeface="Tahoma"/>
                <a:cs typeface="Tahoma"/>
              </a:rPr>
              <a:t> </a:t>
            </a:r>
            <a:r>
              <a:rPr sz="4794" spc="-566" dirty="0">
                <a:latin typeface="Tahoma"/>
                <a:cs typeface="Tahoma"/>
              </a:rPr>
              <a:t>W</a:t>
            </a:r>
            <a:r>
              <a:rPr sz="4794" spc="-486" dirty="0">
                <a:latin typeface="Tahoma"/>
                <a:cs typeface="Tahoma"/>
              </a:rPr>
              <a:t> </a:t>
            </a:r>
            <a:r>
              <a:rPr sz="4794" spc="-93" dirty="0">
                <a:latin typeface="Tahoma"/>
                <a:cs typeface="Tahoma"/>
              </a:rPr>
              <a:t>x</a:t>
            </a:r>
            <a:endParaRPr sz="4794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9115" y="1684235"/>
            <a:ext cx="292585" cy="415201"/>
          </a:xfrm>
          <a:custGeom>
            <a:avLst/>
            <a:gdLst/>
            <a:ahLst/>
            <a:cxnLst/>
            <a:rect l="l" t="t" r="r" b="b"/>
            <a:pathLst>
              <a:path w="219710" h="311784">
                <a:moveTo>
                  <a:pt x="0" y="311175"/>
                </a:moveTo>
                <a:lnTo>
                  <a:pt x="219456" y="311175"/>
                </a:lnTo>
                <a:lnTo>
                  <a:pt x="219456" y="0"/>
                </a:lnTo>
                <a:lnTo>
                  <a:pt x="0" y="0"/>
                </a:lnTo>
                <a:lnTo>
                  <a:pt x="0" y="311175"/>
                </a:lnTo>
                <a:close/>
              </a:path>
            </a:pathLst>
          </a:custGeom>
          <a:ln w="286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/>
          <p:nvPr/>
        </p:nvSpPr>
        <p:spPr>
          <a:xfrm>
            <a:off x="3753989" y="1513621"/>
            <a:ext cx="1911953" cy="755987"/>
          </a:xfrm>
          <a:custGeom>
            <a:avLst/>
            <a:gdLst/>
            <a:ahLst/>
            <a:cxnLst/>
            <a:rect l="l" t="t" r="r" b="b"/>
            <a:pathLst>
              <a:path w="1435735" h="567690">
                <a:moveTo>
                  <a:pt x="0" y="567436"/>
                </a:moveTo>
                <a:lnTo>
                  <a:pt x="1435608" y="567436"/>
                </a:lnTo>
                <a:lnTo>
                  <a:pt x="1435608" y="0"/>
                </a:lnTo>
                <a:lnTo>
                  <a:pt x="0" y="0"/>
                </a:lnTo>
                <a:lnTo>
                  <a:pt x="0" y="567436"/>
                </a:lnTo>
                <a:close/>
              </a:path>
            </a:pathLst>
          </a:custGeom>
          <a:ln w="286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4" name="object 14"/>
          <p:cNvSpPr txBox="1"/>
          <p:nvPr/>
        </p:nvSpPr>
        <p:spPr>
          <a:xfrm>
            <a:off x="4289438" y="2197773"/>
            <a:ext cx="2786327" cy="1275751"/>
          </a:xfrm>
          <a:prstGeom prst="rect">
            <a:avLst/>
          </a:prstGeom>
        </p:spPr>
        <p:txBody>
          <a:bodyPr vert="horz" wrap="square" lIns="0" tIns="88790" rIns="0" bIns="0" rtlCol="0">
            <a:spAutoFit/>
          </a:bodyPr>
          <a:lstStyle/>
          <a:p>
            <a:pPr marL="16913">
              <a:spcBef>
                <a:spcPts val="699"/>
              </a:spcBef>
              <a:tabLst>
                <a:tab pos="1387678" algn="l"/>
              </a:tabLst>
            </a:pPr>
            <a:r>
              <a:rPr sz="3129" spc="-27" dirty="0">
                <a:solidFill>
                  <a:srgbClr val="38761D"/>
                </a:solidFill>
                <a:latin typeface="Tahoma"/>
                <a:cs typeface="Tahoma"/>
              </a:rPr>
              <a:t>10x1</a:t>
            </a:r>
            <a:r>
              <a:rPr sz="3129" dirty="0">
                <a:solidFill>
                  <a:srgbClr val="38761D"/>
                </a:solidFill>
                <a:latin typeface="Tahoma"/>
                <a:cs typeface="Tahoma"/>
              </a:rPr>
              <a:t>	</a:t>
            </a:r>
            <a:r>
              <a:rPr sz="3129" spc="-140" dirty="0">
                <a:solidFill>
                  <a:srgbClr val="FF0000"/>
                </a:solidFill>
                <a:latin typeface="Tahoma"/>
                <a:cs typeface="Tahoma"/>
              </a:rPr>
              <a:t>10x3072</a:t>
            </a:r>
            <a:endParaRPr sz="3129">
              <a:latin typeface="Tahoma"/>
              <a:cs typeface="Tahoma"/>
            </a:endParaRPr>
          </a:p>
          <a:p>
            <a:pPr marL="548814">
              <a:spcBef>
                <a:spcPts val="726"/>
              </a:spcBef>
            </a:pPr>
            <a:r>
              <a:rPr sz="3995" spc="-67" dirty="0">
                <a:latin typeface="Tahoma"/>
                <a:cs typeface="Tahoma"/>
              </a:rPr>
              <a:t>f(</a:t>
            </a:r>
            <a:r>
              <a:rPr sz="3995" spc="-67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3995" spc="-67" dirty="0">
                <a:latin typeface="Tahoma"/>
                <a:cs typeface="Tahoma"/>
              </a:rPr>
              <a:t>,</a:t>
            </a:r>
            <a:r>
              <a:rPr sz="3995" spc="-67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3995" spc="-67" dirty="0">
                <a:latin typeface="Tahoma"/>
                <a:cs typeface="Tahoma"/>
              </a:rPr>
              <a:t>)</a:t>
            </a:r>
            <a:endParaRPr sz="3995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89382" y="1525765"/>
            <a:ext cx="646056" cy="609693"/>
          </a:xfrm>
          <a:custGeom>
            <a:avLst/>
            <a:gdLst/>
            <a:ahLst/>
            <a:cxnLst/>
            <a:rect l="l" t="t" r="r" b="b"/>
            <a:pathLst>
              <a:path w="485139" h="457834">
                <a:moveTo>
                  <a:pt x="0" y="457606"/>
                </a:moveTo>
                <a:lnTo>
                  <a:pt x="484632" y="457606"/>
                </a:lnTo>
                <a:lnTo>
                  <a:pt x="484632" y="0"/>
                </a:lnTo>
                <a:lnTo>
                  <a:pt x="0" y="0"/>
                </a:lnTo>
                <a:lnTo>
                  <a:pt x="0" y="457606"/>
                </a:lnTo>
                <a:close/>
              </a:path>
            </a:pathLst>
          </a:custGeom>
          <a:ln w="286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6" name="object 16"/>
          <p:cNvSpPr txBox="1"/>
          <p:nvPr/>
        </p:nvSpPr>
        <p:spPr>
          <a:xfrm>
            <a:off x="651890" y="251833"/>
            <a:ext cx="7583544" cy="1263875"/>
          </a:xfrm>
          <a:prstGeom prst="rect">
            <a:avLst/>
          </a:prstGeom>
        </p:spPr>
        <p:txBody>
          <a:bodyPr vert="horz" wrap="square" lIns="0" tIns="117542" rIns="0" bIns="0" rtlCol="0">
            <a:spAutoFit/>
          </a:bodyPr>
          <a:lstStyle/>
          <a:p>
            <a:pPr marL="16913">
              <a:spcBef>
                <a:spcPts val="926"/>
              </a:spcBef>
            </a:pPr>
            <a:r>
              <a:rPr sz="3729" spc="-47" dirty="0">
                <a:latin typeface="Tahoma"/>
                <a:cs typeface="Tahoma"/>
              </a:rPr>
              <a:t>Parametric</a:t>
            </a:r>
            <a:r>
              <a:rPr sz="3729" spc="-406" dirty="0">
                <a:latin typeface="Tahoma"/>
                <a:cs typeface="Tahoma"/>
              </a:rPr>
              <a:t> </a:t>
            </a:r>
            <a:r>
              <a:rPr sz="3729" spc="-113" dirty="0">
                <a:latin typeface="Tahoma"/>
                <a:cs typeface="Tahoma"/>
              </a:rPr>
              <a:t>Approach:</a:t>
            </a:r>
            <a:r>
              <a:rPr sz="3729" spc="-286" dirty="0">
                <a:latin typeface="Tahoma"/>
                <a:cs typeface="Tahoma"/>
              </a:rPr>
              <a:t> </a:t>
            </a:r>
            <a:r>
              <a:rPr sz="3729" spc="-60" dirty="0">
                <a:latin typeface="Tahoma"/>
                <a:cs typeface="Tahoma"/>
              </a:rPr>
              <a:t>Linear</a:t>
            </a:r>
            <a:r>
              <a:rPr sz="3729" spc="-380" dirty="0">
                <a:latin typeface="Tahoma"/>
                <a:cs typeface="Tahoma"/>
              </a:rPr>
              <a:t> </a:t>
            </a:r>
            <a:r>
              <a:rPr sz="3729" spc="-13" dirty="0">
                <a:latin typeface="Tahoma"/>
                <a:cs typeface="Tahoma"/>
              </a:rPr>
              <a:t>Classifier</a:t>
            </a:r>
            <a:endParaRPr sz="3729" dirty="0">
              <a:latin typeface="Tahoma"/>
              <a:cs typeface="Tahoma"/>
            </a:endParaRPr>
          </a:p>
          <a:p>
            <a:pPr marL="5952386">
              <a:spcBef>
                <a:spcPts val="692"/>
              </a:spcBef>
            </a:pPr>
            <a:r>
              <a:rPr sz="3129" spc="-13" dirty="0">
                <a:solidFill>
                  <a:srgbClr val="0000FF"/>
                </a:solidFill>
                <a:latin typeface="Tahoma"/>
                <a:cs typeface="Tahoma"/>
              </a:rPr>
              <a:t>3072x1</a:t>
            </a:r>
            <a:endParaRPr sz="3129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7807" y="6562034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717" y="2218236"/>
            <a:ext cx="1558652" cy="15342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775" y="1654646"/>
            <a:ext cx="1086625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93" dirty="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1940" y="4943729"/>
            <a:ext cx="1992287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40" dirty="0">
                <a:solidFill>
                  <a:srgbClr val="FF0000"/>
                </a:solidFill>
                <a:latin typeface="Tahoma"/>
                <a:cs typeface="Tahoma"/>
              </a:rPr>
              <a:t>parameters </a:t>
            </a:r>
            <a:r>
              <a:rPr sz="3129" spc="-27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3129" spc="-333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FF0000"/>
                </a:solidFill>
                <a:latin typeface="Tahoma"/>
                <a:cs typeface="Tahoma"/>
              </a:rPr>
              <a:t>weights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0324" y="4087165"/>
            <a:ext cx="677342" cy="1006722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6392" spc="-819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endParaRPr sz="6392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6820" y="2934986"/>
            <a:ext cx="2158029" cy="115005"/>
          </a:xfrm>
          <a:custGeom>
            <a:avLst/>
            <a:gdLst/>
            <a:ahLst/>
            <a:cxnLst/>
            <a:rect l="l" t="t" r="r" b="b"/>
            <a:pathLst>
              <a:path w="1620520" h="86360">
                <a:moveTo>
                  <a:pt x="1534287" y="0"/>
                </a:moveTo>
                <a:lnTo>
                  <a:pt x="1534287" y="85851"/>
                </a:lnTo>
                <a:lnTo>
                  <a:pt x="1591606" y="57150"/>
                </a:lnTo>
                <a:lnTo>
                  <a:pt x="1548511" y="57150"/>
                </a:lnTo>
                <a:lnTo>
                  <a:pt x="1548511" y="28575"/>
                </a:lnTo>
                <a:lnTo>
                  <a:pt x="1591352" y="28575"/>
                </a:lnTo>
                <a:lnTo>
                  <a:pt x="1534287" y="0"/>
                </a:lnTo>
                <a:close/>
              </a:path>
              <a:path w="1620520" h="86360">
                <a:moveTo>
                  <a:pt x="153428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534287" y="57150"/>
                </a:lnTo>
                <a:lnTo>
                  <a:pt x="1534287" y="28575"/>
                </a:lnTo>
                <a:close/>
              </a:path>
              <a:path w="1620520" h="86360">
                <a:moveTo>
                  <a:pt x="1591352" y="28575"/>
                </a:moveTo>
                <a:lnTo>
                  <a:pt x="1548511" y="28575"/>
                </a:lnTo>
                <a:lnTo>
                  <a:pt x="1548511" y="57150"/>
                </a:lnTo>
                <a:lnTo>
                  <a:pt x="1591606" y="57150"/>
                </a:lnTo>
                <a:lnTo>
                  <a:pt x="1620012" y="42925"/>
                </a:lnTo>
                <a:lnTo>
                  <a:pt x="159135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/>
          <p:nvPr/>
        </p:nvSpPr>
        <p:spPr>
          <a:xfrm>
            <a:off x="5448254" y="3394329"/>
            <a:ext cx="114159" cy="629989"/>
          </a:xfrm>
          <a:custGeom>
            <a:avLst/>
            <a:gdLst/>
            <a:ahLst/>
            <a:cxnLst/>
            <a:rect l="l" t="t" r="r" b="b"/>
            <a:pathLst>
              <a:path w="85725" h="473075">
                <a:moveTo>
                  <a:pt x="57150" y="71500"/>
                </a:moveTo>
                <a:lnTo>
                  <a:pt x="28575" y="71500"/>
                </a:lnTo>
                <a:lnTo>
                  <a:pt x="28575" y="472948"/>
                </a:lnTo>
                <a:lnTo>
                  <a:pt x="57150" y="472948"/>
                </a:lnTo>
                <a:lnTo>
                  <a:pt x="57150" y="71500"/>
                </a:lnTo>
                <a:close/>
              </a:path>
              <a:path w="85725" h="47307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473075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/>
          <p:nvPr/>
        </p:nvSpPr>
        <p:spPr>
          <a:xfrm>
            <a:off x="6211681" y="2934986"/>
            <a:ext cx="1651501" cy="115005"/>
          </a:xfrm>
          <a:custGeom>
            <a:avLst/>
            <a:gdLst/>
            <a:ahLst/>
            <a:cxnLst/>
            <a:rect l="l" t="t" r="r" b="b"/>
            <a:pathLst>
              <a:path w="1240154" h="86360">
                <a:moveTo>
                  <a:pt x="1154430" y="0"/>
                </a:moveTo>
                <a:lnTo>
                  <a:pt x="1154430" y="85851"/>
                </a:lnTo>
                <a:lnTo>
                  <a:pt x="1211749" y="57150"/>
                </a:lnTo>
                <a:lnTo>
                  <a:pt x="1168781" y="57150"/>
                </a:lnTo>
                <a:lnTo>
                  <a:pt x="1168781" y="28575"/>
                </a:lnTo>
                <a:lnTo>
                  <a:pt x="1211495" y="28575"/>
                </a:lnTo>
                <a:lnTo>
                  <a:pt x="1154430" y="0"/>
                </a:lnTo>
                <a:close/>
              </a:path>
              <a:path w="1240154" h="86360">
                <a:moveTo>
                  <a:pt x="115443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154430" y="57150"/>
                </a:lnTo>
                <a:lnTo>
                  <a:pt x="1154430" y="28575"/>
                </a:lnTo>
                <a:close/>
              </a:path>
              <a:path w="1240154" h="86360">
                <a:moveTo>
                  <a:pt x="1211495" y="28575"/>
                </a:moveTo>
                <a:lnTo>
                  <a:pt x="1168781" y="28575"/>
                </a:lnTo>
                <a:lnTo>
                  <a:pt x="1168781" y="57150"/>
                </a:lnTo>
                <a:lnTo>
                  <a:pt x="1211749" y="57150"/>
                </a:lnTo>
                <a:lnTo>
                  <a:pt x="1240155" y="42925"/>
                </a:lnTo>
                <a:lnTo>
                  <a:pt x="121149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8212593" y="2517587"/>
            <a:ext cx="3133032" cy="95217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86" dirty="0">
                <a:latin typeface="Tahoma"/>
                <a:cs typeface="Tahoma"/>
              </a:rPr>
              <a:t>10</a:t>
            </a:r>
            <a:r>
              <a:rPr sz="3129" spc="-2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numbers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giving class</a:t>
            </a:r>
            <a:r>
              <a:rPr sz="3129" spc="-37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scores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07" y="3857392"/>
            <a:ext cx="3322452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73" dirty="0">
                <a:latin typeface="Tahoma"/>
                <a:cs typeface="Tahoma"/>
              </a:rPr>
              <a:t>Array</a:t>
            </a:r>
            <a:r>
              <a:rPr sz="2397" spc="-305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140" dirty="0">
                <a:latin typeface="Tahoma"/>
                <a:cs typeface="Tahoma"/>
              </a:rPr>
              <a:t>32x32x3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numbers </a:t>
            </a:r>
            <a:r>
              <a:rPr sz="2397" spc="-152" dirty="0">
                <a:latin typeface="Tahoma"/>
                <a:cs typeface="Tahoma"/>
              </a:rPr>
              <a:t>(3072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numbers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total)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3687" y="1237670"/>
            <a:ext cx="4278005" cy="756552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73" dirty="0">
                <a:latin typeface="Tahoma"/>
                <a:cs typeface="Tahoma"/>
              </a:rPr>
              <a:t>f(x,W)</a:t>
            </a:r>
            <a:r>
              <a:rPr sz="4794" spc="426" dirty="0">
                <a:latin typeface="Tahoma"/>
                <a:cs typeface="Tahoma"/>
              </a:rPr>
              <a:t> </a:t>
            </a:r>
            <a:r>
              <a:rPr sz="4794" spc="-1119" dirty="0">
                <a:latin typeface="Tahoma"/>
                <a:cs typeface="Tahoma"/>
              </a:rPr>
              <a:t>=</a:t>
            </a:r>
            <a:r>
              <a:rPr sz="4794" spc="419" dirty="0">
                <a:latin typeface="Tahoma"/>
                <a:cs typeface="Tahoma"/>
              </a:rPr>
              <a:t> </a:t>
            </a:r>
            <a:r>
              <a:rPr sz="4794" spc="-566" dirty="0">
                <a:latin typeface="Tahoma"/>
                <a:cs typeface="Tahoma"/>
              </a:rPr>
              <a:t>W</a:t>
            </a:r>
            <a:r>
              <a:rPr sz="4794" spc="-486" dirty="0">
                <a:latin typeface="Tahoma"/>
                <a:cs typeface="Tahoma"/>
              </a:rPr>
              <a:t> </a:t>
            </a:r>
            <a:r>
              <a:rPr sz="4794" dirty="0">
                <a:latin typeface="Tahoma"/>
                <a:cs typeface="Tahoma"/>
              </a:rPr>
              <a:t>x</a:t>
            </a:r>
            <a:r>
              <a:rPr sz="4794" spc="127" dirty="0">
                <a:latin typeface="Tahoma"/>
                <a:cs typeface="Tahoma"/>
              </a:rPr>
              <a:t> </a:t>
            </a:r>
            <a:r>
              <a:rPr sz="4794" spc="-1119" dirty="0">
                <a:latin typeface="Tahoma"/>
                <a:cs typeface="Tahoma"/>
              </a:rPr>
              <a:t>+</a:t>
            </a:r>
            <a:r>
              <a:rPr sz="4794" spc="-539" dirty="0">
                <a:latin typeface="Tahoma"/>
                <a:cs typeface="Tahoma"/>
              </a:rPr>
              <a:t> </a:t>
            </a:r>
            <a:r>
              <a:rPr sz="4794" spc="-67" dirty="0">
                <a:latin typeface="Tahoma"/>
                <a:cs typeface="Tahoma"/>
              </a:rPr>
              <a:t>b</a:t>
            </a:r>
            <a:endParaRPr sz="4794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35290" y="1517351"/>
            <a:ext cx="292585" cy="415201"/>
          </a:xfrm>
          <a:custGeom>
            <a:avLst/>
            <a:gdLst/>
            <a:ahLst/>
            <a:cxnLst/>
            <a:rect l="l" t="t" r="r" b="b"/>
            <a:pathLst>
              <a:path w="219710" h="311784">
                <a:moveTo>
                  <a:pt x="0" y="311175"/>
                </a:moveTo>
                <a:lnTo>
                  <a:pt x="219456" y="311175"/>
                </a:lnTo>
                <a:lnTo>
                  <a:pt x="219456" y="0"/>
                </a:lnTo>
                <a:lnTo>
                  <a:pt x="0" y="0"/>
                </a:lnTo>
                <a:lnTo>
                  <a:pt x="0" y="311175"/>
                </a:lnTo>
                <a:close/>
              </a:path>
            </a:pathLst>
          </a:custGeom>
          <a:ln w="286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 txBox="1"/>
          <p:nvPr/>
        </p:nvSpPr>
        <p:spPr>
          <a:xfrm>
            <a:off x="528065" y="84949"/>
            <a:ext cx="7583544" cy="1263875"/>
          </a:xfrm>
          <a:prstGeom prst="rect">
            <a:avLst/>
          </a:prstGeom>
        </p:spPr>
        <p:txBody>
          <a:bodyPr vert="horz" wrap="square" lIns="0" tIns="117542" rIns="0" bIns="0" rtlCol="0">
            <a:spAutoFit/>
          </a:bodyPr>
          <a:lstStyle/>
          <a:p>
            <a:pPr marL="16913">
              <a:spcBef>
                <a:spcPts val="926"/>
              </a:spcBef>
            </a:pPr>
            <a:r>
              <a:rPr sz="3729" spc="-47" dirty="0">
                <a:latin typeface="Tahoma"/>
                <a:cs typeface="Tahoma"/>
              </a:rPr>
              <a:t>Parametric</a:t>
            </a:r>
            <a:r>
              <a:rPr sz="3729" spc="-406" dirty="0">
                <a:latin typeface="Tahoma"/>
                <a:cs typeface="Tahoma"/>
              </a:rPr>
              <a:t> </a:t>
            </a:r>
            <a:r>
              <a:rPr sz="3729" spc="-113" dirty="0">
                <a:latin typeface="Tahoma"/>
                <a:cs typeface="Tahoma"/>
              </a:rPr>
              <a:t>Approach:</a:t>
            </a:r>
            <a:r>
              <a:rPr sz="3729" spc="-286" dirty="0">
                <a:latin typeface="Tahoma"/>
                <a:cs typeface="Tahoma"/>
              </a:rPr>
              <a:t> </a:t>
            </a:r>
            <a:r>
              <a:rPr sz="3729" spc="-60" dirty="0">
                <a:latin typeface="Tahoma"/>
                <a:cs typeface="Tahoma"/>
              </a:rPr>
              <a:t>Linear</a:t>
            </a:r>
            <a:r>
              <a:rPr sz="3729" spc="-380" dirty="0">
                <a:latin typeface="Tahoma"/>
                <a:cs typeface="Tahoma"/>
              </a:rPr>
              <a:t> </a:t>
            </a:r>
            <a:r>
              <a:rPr sz="3729" spc="-13" dirty="0">
                <a:latin typeface="Tahoma"/>
                <a:cs typeface="Tahoma"/>
              </a:rPr>
              <a:t>Classifier</a:t>
            </a:r>
            <a:endParaRPr sz="3729">
              <a:latin typeface="Tahoma"/>
              <a:cs typeface="Tahoma"/>
            </a:endParaRPr>
          </a:p>
          <a:p>
            <a:pPr marL="5952386">
              <a:spcBef>
                <a:spcPts val="692"/>
              </a:spcBef>
            </a:pPr>
            <a:r>
              <a:rPr sz="3129" spc="-13" dirty="0">
                <a:solidFill>
                  <a:srgbClr val="0000FF"/>
                </a:solidFill>
                <a:latin typeface="Tahoma"/>
                <a:cs typeface="Tahoma"/>
              </a:rPr>
              <a:t>3072x1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30164" y="1346737"/>
            <a:ext cx="1911953" cy="755987"/>
          </a:xfrm>
          <a:custGeom>
            <a:avLst/>
            <a:gdLst/>
            <a:ahLst/>
            <a:cxnLst/>
            <a:rect l="l" t="t" r="r" b="b"/>
            <a:pathLst>
              <a:path w="1435735" h="567690">
                <a:moveTo>
                  <a:pt x="0" y="567436"/>
                </a:moveTo>
                <a:lnTo>
                  <a:pt x="1435608" y="567436"/>
                </a:lnTo>
                <a:lnTo>
                  <a:pt x="1435608" y="0"/>
                </a:lnTo>
                <a:lnTo>
                  <a:pt x="0" y="0"/>
                </a:lnTo>
                <a:lnTo>
                  <a:pt x="0" y="567436"/>
                </a:lnTo>
                <a:close/>
              </a:path>
            </a:pathLst>
          </a:custGeom>
          <a:ln w="286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5" name="object 15"/>
          <p:cNvSpPr txBox="1"/>
          <p:nvPr/>
        </p:nvSpPr>
        <p:spPr>
          <a:xfrm>
            <a:off x="4165613" y="2030889"/>
            <a:ext cx="2786327" cy="1275751"/>
          </a:xfrm>
          <a:prstGeom prst="rect">
            <a:avLst/>
          </a:prstGeom>
        </p:spPr>
        <p:txBody>
          <a:bodyPr vert="horz" wrap="square" lIns="0" tIns="88790" rIns="0" bIns="0" rtlCol="0">
            <a:spAutoFit/>
          </a:bodyPr>
          <a:lstStyle/>
          <a:p>
            <a:pPr marL="16913">
              <a:spcBef>
                <a:spcPts val="699"/>
              </a:spcBef>
              <a:tabLst>
                <a:tab pos="1387678" algn="l"/>
              </a:tabLst>
            </a:pPr>
            <a:r>
              <a:rPr sz="3129" spc="-27" dirty="0">
                <a:solidFill>
                  <a:srgbClr val="38761D"/>
                </a:solidFill>
                <a:latin typeface="Tahoma"/>
                <a:cs typeface="Tahoma"/>
              </a:rPr>
              <a:t>10x1</a:t>
            </a:r>
            <a:r>
              <a:rPr sz="3129" dirty="0">
                <a:solidFill>
                  <a:srgbClr val="38761D"/>
                </a:solidFill>
                <a:latin typeface="Tahoma"/>
                <a:cs typeface="Tahoma"/>
              </a:rPr>
              <a:t>	</a:t>
            </a:r>
            <a:r>
              <a:rPr sz="3129" spc="-140" dirty="0">
                <a:solidFill>
                  <a:srgbClr val="FF0000"/>
                </a:solidFill>
                <a:latin typeface="Tahoma"/>
                <a:cs typeface="Tahoma"/>
              </a:rPr>
              <a:t>10x3072</a:t>
            </a:r>
            <a:endParaRPr sz="3129">
              <a:latin typeface="Tahoma"/>
              <a:cs typeface="Tahoma"/>
            </a:endParaRPr>
          </a:p>
          <a:p>
            <a:pPr marL="548814">
              <a:spcBef>
                <a:spcPts val="726"/>
              </a:spcBef>
            </a:pPr>
            <a:r>
              <a:rPr sz="3995" spc="-67" dirty="0">
                <a:latin typeface="Tahoma"/>
                <a:cs typeface="Tahoma"/>
              </a:rPr>
              <a:t>f(</a:t>
            </a:r>
            <a:r>
              <a:rPr sz="3995" spc="-67" dirty="0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3995" spc="-67" dirty="0">
                <a:latin typeface="Tahoma"/>
                <a:cs typeface="Tahoma"/>
              </a:rPr>
              <a:t>,</a:t>
            </a:r>
            <a:r>
              <a:rPr sz="3995" spc="-67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3995" spc="-67" dirty="0">
                <a:latin typeface="Tahoma"/>
                <a:cs typeface="Tahoma"/>
              </a:rPr>
              <a:t>)</a:t>
            </a:r>
            <a:endParaRPr sz="3995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65557" y="1358881"/>
            <a:ext cx="646056" cy="609693"/>
          </a:xfrm>
          <a:custGeom>
            <a:avLst/>
            <a:gdLst/>
            <a:ahLst/>
            <a:cxnLst/>
            <a:rect l="l" t="t" r="r" b="b"/>
            <a:pathLst>
              <a:path w="485139" h="457834">
                <a:moveTo>
                  <a:pt x="0" y="457606"/>
                </a:moveTo>
                <a:lnTo>
                  <a:pt x="484632" y="457606"/>
                </a:lnTo>
                <a:lnTo>
                  <a:pt x="484632" y="0"/>
                </a:lnTo>
                <a:lnTo>
                  <a:pt x="0" y="0"/>
                </a:lnTo>
                <a:lnTo>
                  <a:pt x="0" y="457606"/>
                </a:lnTo>
                <a:close/>
              </a:path>
            </a:pathLst>
          </a:custGeom>
          <a:ln w="286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7" name="object 17"/>
          <p:cNvSpPr/>
          <p:nvPr/>
        </p:nvSpPr>
        <p:spPr>
          <a:xfrm>
            <a:off x="7575501" y="1358881"/>
            <a:ext cx="646056" cy="609693"/>
          </a:xfrm>
          <a:custGeom>
            <a:avLst/>
            <a:gdLst/>
            <a:ahLst/>
            <a:cxnLst/>
            <a:rect l="l" t="t" r="r" b="b"/>
            <a:pathLst>
              <a:path w="485139" h="457834">
                <a:moveTo>
                  <a:pt x="0" y="457606"/>
                </a:moveTo>
                <a:lnTo>
                  <a:pt x="484631" y="457606"/>
                </a:lnTo>
                <a:lnTo>
                  <a:pt x="484631" y="0"/>
                </a:lnTo>
                <a:lnTo>
                  <a:pt x="0" y="0"/>
                </a:lnTo>
                <a:lnTo>
                  <a:pt x="0" y="457606"/>
                </a:lnTo>
                <a:close/>
              </a:path>
            </a:pathLst>
          </a:custGeom>
          <a:ln w="28600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8" name="object 18"/>
          <p:cNvSpPr txBox="1"/>
          <p:nvPr/>
        </p:nvSpPr>
        <p:spPr>
          <a:xfrm>
            <a:off x="8382224" y="1467831"/>
            <a:ext cx="818563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20" dirty="0">
                <a:solidFill>
                  <a:srgbClr val="9900FF"/>
                </a:solidFill>
                <a:latin typeface="Tahoma"/>
                <a:cs typeface="Tahoma"/>
              </a:rPr>
              <a:t>10x1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904" y="609659"/>
            <a:ext cx="11048060" cy="985285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40" dirty="0"/>
              <a:t>Example</a:t>
            </a:r>
            <a:r>
              <a:rPr sz="3129" spc="-313" dirty="0"/>
              <a:t> </a:t>
            </a:r>
            <a:r>
              <a:rPr sz="3129" spc="-13" dirty="0"/>
              <a:t>with</a:t>
            </a:r>
            <a:r>
              <a:rPr sz="3129" spc="-266" dirty="0"/>
              <a:t> </a:t>
            </a:r>
            <a:r>
              <a:rPr sz="3129" spc="-33" dirty="0"/>
              <a:t>an</a:t>
            </a:r>
            <a:r>
              <a:rPr sz="3129" spc="-286" dirty="0"/>
              <a:t> </a:t>
            </a:r>
            <a:r>
              <a:rPr sz="3129" spc="-53" dirty="0"/>
              <a:t>image</a:t>
            </a:r>
            <a:r>
              <a:rPr sz="3129" spc="-305" dirty="0"/>
              <a:t> </a:t>
            </a:r>
            <a:r>
              <a:rPr sz="3129" dirty="0"/>
              <a:t>with</a:t>
            </a:r>
            <a:r>
              <a:rPr sz="3129" spc="-366" dirty="0"/>
              <a:t> </a:t>
            </a:r>
            <a:r>
              <a:rPr sz="3129" spc="-146" dirty="0"/>
              <a:t>4</a:t>
            </a:r>
            <a:r>
              <a:rPr sz="3129" spc="-313" dirty="0"/>
              <a:t> </a:t>
            </a:r>
            <a:r>
              <a:rPr sz="3129" spc="-40" dirty="0"/>
              <a:t>pixels,</a:t>
            </a:r>
            <a:r>
              <a:rPr sz="3129" spc="-293" dirty="0"/>
              <a:t> </a:t>
            </a:r>
            <a:r>
              <a:rPr sz="3129" spc="-13" dirty="0"/>
              <a:t>and</a:t>
            </a:r>
            <a:r>
              <a:rPr sz="3129" spc="-305" dirty="0"/>
              <a:t> </a:t>
            </a:r>
            <a:r>
              <a:rPr sz="3129" spc="-146" dirty="0"/>
              <a:t>3</a:t>
            </a:r>
            <a:r>
              <a:rPr sz="3129" spc="-305" dirty="0"/>
              <a:t> </a:t>
            </a:r>
            <a:r>
              <a:rPr sz="3129" spc="-47" dirty="0"/>
              <a:t>classes</a:t>
            </a:r>
            <a:r>
              <a:rPr sz="3129" spc="-266" dirty="0"/>
              <a:t> </a:t>
            </a:r>
            <a:r>
              <a:rPr sz="3129" spc="-13" dirty="0"/>
              <a:t>(</a:t>
            </a:r>
            <a:r>
              <a:rPr sz="3129" spc="-13" dirty="0">
                <a:solidFill>
                  <a:srgbClr val="B45F05"/>
                </a:solidFill>
              </a:rPr>
              <a:t>cat</a:t>
            </a:r>
            <a:r>
              <a:rPr sz="3129" spc="-13" dirty="0"/>
              <a:t>/</a:t>
            </a:r>
            <a:r>
              <a:rPr sz="3129" spc="-13" dirty="0">
                <a:solidFill>
                  <a:srgbClr val="351C75"/>
                </a:solidFill>
              </a:rPr>
              <a:t>dog</a:t>
            </a:r>
            <a:r>
              <a:rPr sz="3129" spc="-13" dirty="0"/>
              <a:t>/</a:t>
            </a:r>
            <a:r>
              <a:rPr sz="3129" spc="-13" dirty="0">
                <a:solidFill>
                  <a:srgbClr val="38761D"/>
                </a:solidFill>
              </a:rPr>
              <a:t>ship</a:t>
            </a:r>
            <a:r>
              <a:rPr sz="3129" spc="-13" dirty="0"/>
              <a:t>)</a:t>
            </a:r>
            <a:endParaRPr sz="3129" dirty="0"/>
          </a:p>
        </p:txBody>
      </p:sp>
      <p:sp>
        <p:nvSpPr>
          <p:cNvPr id="3" name="object 3"/>
          <p:cNvSpPr txBox="1"/>
          <p:nvPr/>
        </p:nvSpPr>
        <p:spPr>
          <a:xfrm>
            <a:off x="1653797" y="5040814"/>
            <a:ext cx="1219387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40" dirty="0">
                <a:latin typeface="Tahoma"/>
                <a:cs typeface="Tahoma"/>
              </a:rPr>
              <a:t>Input</a:t>
            </a:r>
            <a:r>
              <a:rPr sz="1798" spc="-166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image</a:t>
            </a:r>
            <a:endParaRPr sz="1798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314759"/>
              </p:ext>
            </p:extLst>
          </p:nvPr>
        </p:nvGraphicFramePr>
        <p:xfrm>
          <a:off x="7430899" y="2627740"/>
          <a:ext cx="823636" cy="3127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2201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56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2916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35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231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24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50" dirty="0">
                          <a:latin typeface="Tahoma"/>
                          <a:cs typeface="Tahoma"/>
                        </a:rPr>
                        <a:t>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165875"/>
              </p:ext>
            </p:extLst>
          </p:nvPr>
        </p:nvGraphicFramePr>
        <p:xfrm>
          <a:off x="1509324" y="3252485"/>
          <a:ext cx="1647272" cy="1564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56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231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24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254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2100" spc="-50" dirty="0">
                          <a:latin typeface="Tahoma"/>
                          <a:cs typeface="Tahoma"/>
                        </a:rPr>
                        <a:t>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254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421" y="3142813"/>
            <a:ext cx="1826545" cy="178984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28739" y="2179039"/>
            <a:ext cx="5568425" cy="989379"/>
            <a:chOff x="813231" y="1170863"/>
            <a:chExt cx="4181475" cy="742950"/>
          </a:xfrm>
        </p:grpSpPr>
        <p:sp>
          <p:nvSpPr>
            <p:cNvPr id="8" name="object 8"/>
            <p:cNvSpPr/>
            <p:nvPr/>
          </p:nvSpPr>
          <p:spPr>
            <a:xfrm>
              <a:off x="827531" y="1185163"/>
              <a:ext cx="2294890" cy="713740"/>
            </a:xfrm>
            <a:custGeom>
              <a:avLst/>
              <a:gdLst/>
              <a:ahLst/>
              <a:cxnLst/>
              <a:rect l="l" t="t" r="r" b="b"/>
              <a:pathLst>
                <a:path w="2294890" h="713739">
                  <a:moveTo>
                    <a:pt x="0" y="713740"/>
                  </a:moveTo>
                  <a:lnTo>
                    <a:pt x="0" y="0"/>
                  </a:lnTo>
                  <a:lnTo>
                    <a:pt x="2294763" y="0"/>
                  </a:lnTo>
                </a:path>
              </a:pathLst>
            </a:custGeom>
            <a:ln w="286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3095244" y="1170939"/>
              <a:ext cx="1899285" cy="345440"/>
            </a:xfrm>
            <a:custGeom>
              <a:avLst/>
              <a:gdLst/>
              <a:ahLst/>
              <a:cxnLst/>
              <a:rect l="l" t="t" r="r" b="b"/>
              <a:pathLst>
                <a:path w="1899285" h="345440">
                  <a:moveTo>
                    <a:pt x="1844571" y="262138"/>
                  </a:moveTo>
                  <a:lnTo>
                    <a:pt x="1814448" y="266700"/>
                  </a:lnTo>
                  <a:lnTo>
                    <a:pt x="1869567" y="345186"/>
                  </a:lnTo>
                  <a:lnTo>
                    <a:pt x="1892449" y="274574"/>
                  </a:lnTo>
                  <a:lnTo>
                    <a:pt x="1844675" y="274574"/>
                  </a:lnTo>
                  <a:lnTo>
                    <a:pt x="1844571" y="262138"/>
                  </a:lnTo>
                  <a:close/>
                </a:path>
                <a:path w="1899285" h="345440">
                  <a:moveTo>
                    <a:pt x="1873113" y="257816"/>
                  </a:moveTo>
                  <a:lnTo>
                    <a:pt x="1844571" y="262138"/>
                  </a:lnTo>
                  <a:lnTo>
                    <a:pt x="1844675" y="274574"/>
                  </a:lnTo>
                  <a:lnTo>
                    <a:pt x="1873250" y="274320"/>
                  </a:lnTo>
                  <a:lnTo>
                    <a:pt x="1873148" y="262138"/>
                  </a:lnTo>
                  <a:lnTo>
                    <a:pt x="1873113" y="257816"/>
                  </a:lnTo>
                  <a:close/>
                </a:path>
                <a:path w="1899285" h="345440">
                  <a:moveTo>
                    <a:pt x="1899158" y="253873"/>
                  </a:moveTo>
                  <a:lnTo>
                    <a:pt x="1873113" y="257816"/>
                  </a:lnTo>
                  <a:lnTo>
                    <a:pt x="1873148" y="262138"/>
                  </a:lnTo>
                  <a:lnTo>
                    <a:pt x="1873250" y="274320"/>
                  </a:lnTo>
                  <a:lnTo>
                    <a:pt x="1844675" y="274574"/>
                  </a:lnTo>
                  <a:lnTo>
                    <a:pt x="1892449" y="274574"/>
                  </a:lnTo>
                  <a:lnTo>
                    <a:pt x="1899158" y="253873"/>
                  </a:lnTo>
                  <a:close/>
                </a:path>
                <a:path w="1899285" h="345440">
                  <a:moveTo>
                    <a:pt x="1871093" y="14351"/>
                  </a:moveTo>
                  <a:lnTo>
                    <a:pt x="1842516" y="14351"/>
                  </a:lnTo>
                  <a:lnTo>
                    <a:pt x="1856740" y="28575"/>
                  </a:lnTo>
                  <a:lnTo>
                    <a:pt x="1842634" y="28575"/>
                  </a:lnTo>
                  <a:lnTo>
                    <a:pt x="1844503" y="253873"/>
                  </a:lnTo>
                  <a:lnTo>
                    <a:pt x="1844571" y="262138"/>
                  </a:lnTo>
                  <a:lnTo>
                    <a:pt x="1873113" y="257816"/>
                  </a:lnTo>
                  <a:lnTo>
                    <a:pt x="1871211" y="28575"/>
                  </a:lnTo>
                  <a:lnTo>
                    <a:pt x="1856740" y="28575"/>
                  </a:lnTo>
                  <a:lnTo>
                    <a:pt x="1842516" y="14351"/>
                  </a:lnTo>
                  <a:lnTo>
                    <a:pt x="1871093" y="14351"/>
                  </a:lnTo>
                  <a:close/>
                </a:path>
                <a:path w="1899285" h="345440">
                  <a:moveTo>
                    <a:pt x="1864614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842634" y="28575"/>
                  </a:lnTo>
                  <a:lnTo>
                    <a:pt x="1842516" y="14351"/>
                  </a:lnTo>
                  <a:lnTo>
                    <a:pt x="1871093" y="14351"/>
                  </a:lnTo>
                  <a:lnTo>
                    <a:pt x="1871091" y="14097"/>
                  </a:lnTo>
                  <a:lnTo>
                    <a:pt x="1870964" y="6350"/>
                  </a:lnTo>
                  <a:lnTo>
                    <a:pt x="186461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50379" y="1767747"/>
            <a:ext cx="2801548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13" dirty="0">
                <a:latin typeface="Tahoma"/>
                <a:cs typeface="Tahoma"/>
              </a:rPr>
              <a:t>Flatten</a:t>
            </a:r>
            <a:r>
              <a:rPr sz="1798" spc="-87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tensors</a:t>
            </a:r>
            <a:r>
              <a:rPr sz="1798" spc="-146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into</a:t>
            </a:r>
            <a:r>
              <a:rPr sz="1798" spc="-80" dirty="0">
                <a:latin typeface="Tahoma"/>
                <a:cs typeface="Tahoma"/>
              </a:rPr>
              <a:t> </a:t>
            </a:r>
            <a:r>
              <a:rPr sz="1798" spc="-47" dirty="0">
                <a:latin typeface="Tahoma"/>
                <a:cs typeface="Tahoma"/>
              </a:rPr>
              <a:t>a</a:t>
            </a:r>
            <a:r>
              <a:rPr sz="1798" spc="-206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vector</a:t>
            </a:r>
            <a:endParaRPr sz="1798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988" y="233323"/>
            <a:ext cx="11048905" cy="1693292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7"/>
              </a:spcBef>
            </a:pPr>
            <a:r>
              <a:rPr sz="3129" spc="-40" dirty="0">
                <a:latin typeface="Tahoma"/>
                <a:cs typeface="Tahoma"/>
              </a:rPr>
              <a:t>Example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with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an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image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with</a:t>
            </a:r>
            <a:r>
              <a:rPr sz="3129" spc="-373" dirty="0">
                <a:latin typeface="Tahoma"/>
                <a:cs typeface="Tahoma"/>
              </a:rPr>
              <a:t> </a:t>
            </a:r>
            <a:r>
              <a:rPr sz="3129" spc="-146" dirty="0">
                <a:latin typeface="Tahoma"/>
                <a:cs typeface="Tahoma"/>
              </a:rPr>
              <a:t>4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40" dirty="0">
                <a:latin typeface="Tahoma"/>
                <a:cs typeface="Tahoma"/>
              </a:rPr>
              <a:t>pixels,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and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146" dirty="0">
                <a:latin typeface="Tahoma"/>
                <a:cs typeface="Tahoma"/>
              </a:rPr>
              <a:t>3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classes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(</a:t>
            </a:r>
            <a:r>
              <a:rPr sz="3129" spc="-27" dirty="0">
                <a:solidFill>
                  <a:srgbClr val="B45F05"/>
                </a:solidFill>
                <a:latin typeface="Tahoma"/>
                <a:cs typeface="Tahoma"/>
              </a:rPr>
              <a:t>cat</a:t>
            </a:r>
            <a:r>
              <a:rPr sz="3129" spc="-27" dirty="0">
                <a:latin typeface="Tahoma"/>
                <a:cs typeface="Tahoma"/>
              </a:rPr>
              <a:t>/</a:t>
            </a:r>
            <a:r>
              <a:rPr sz="3129" spc="-27" dirty="0">
                <a:solidFill>
                  <a:srgbClr val="351C75"/>
                </a:solidFill>
                <a:latin typeface="Tahoma"/>
                <a:cs typeface="Tahoma"/>
              </a:rPr>
              <a:t>dog</a:t>
            </a:r>
            <a:r>
              <a:rPr sz="3129" spc="-27" dirty="0">
                <a:latin typeface="Tahoma"/>
                <a:cs typeface="Tahoma"/>
              </a:rPr>
              <a:t>/</a:t>
            </a:r>
            <a:r>
              <a:rPr sz="3129" spc="-27" dirty="0">
                <a:solidFill>
                  <a:srgbClr val="38761D"/>
                </a:solidFill>
                <a:latin typeface="Tahoma"/>
                <a:cs typeface="Tahoma"/>
              </a:rPr>
              <a:t>ship</a:t>
            </a:r>
            <a:r>
              <a:rPr sz="3129" spc="-27" dirty="0">
                <a:latin typeface="Tahoma"/>
                <a:cs typeface="Tahoma"/>
              </a:rPr>
              <a:t>) </a:t>
            </a:r>
            <a:r>
              <a:rPr sz="3129" u="heavy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Algebraic</a:t>
            </a:r>
            <a:r>
              <a:rPr sz="3129" u="heavy" spc="-22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129" u="heavy" spc="-13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Viewpoint</a:t>
            </a:r>
            <a:endParaRPr sz="3129" dirty="0">
              <a:latin typeface="Tahoma"/>
              <a:cs typeface="Tahoma"/>
            </a:endParaRPr>
          </a:p>
          <a:p>
            <a:pPr marL="2193562">
              <a:spcBef>
                <a:spcPts val="3349"/>
              </a:spcBef>
            </a:pPr>
            <a:r>
              <a:rPr sz="1798" dirty="0">
                <a:latin typeface="Tahoma"/>
                <a:cs typeface="Tahoma"/>
              </a:rPr>
              <a:t>Flatten</a:t>
            </a:r>
            <a:r>
              <a:rPr sz="1798" spc="-107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tensors</a:t>
            </a:r>
            <a:r>
              <a:rPr sz="1798" spc="-146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into</a:t>
            </a:r>
            <a:r>
              <a:rPr sz="1798" spc="-87" dirty="0">
                <a:latin typeface="Tahoma"/>
                <a:cs typeface="Tahoma"/>
              </a:rPr>
              <a:t> </a:t>
            </a:r>
            <a:r>
              <a:rPr sz="1798" spc="-40" dirty="0">
                <a:latin typeface="Tahoma"/>
                <a:cs typeface="Tahoma"/>
              </a:rPr>
              <a:t>a</a:t>
            </a:r>
            <a:r>
              <a:rPr sz="1798" spc="-22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vector</a:t>
            </a:r>
            <a:endParaRPr sz="1798" dirty="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00275" y="2876549"/>
          <a:ext cx="3294543" cy="23457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201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0.2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7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2100" spc="-25" dirty="0">
                          <a:latin typeface="Tahoma"/>
                          <a:cs typeface="Tahoma"/>
                        </a:rPr>
                        <a:t>0.5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0.1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2.0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1.5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1.3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2.1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0.0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35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50" dirty="0">
                          <a:latin typeface="Tahoma"/>
                          <a:cs typeface="Tahoma"/>
                        </a:rPr>
                        <a:t>0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20" dirty="0">
                          <a:latin typeface="Tahoma"/>
                          <a:cs typeface="Tahoma"/>
                        </a:rPr>
                        <a:t>0.25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0.2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7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2100" spc="-25" dirty="0">
                          <a:latin typeface="Tahoma"/>
                          <a:cs typeface="Tahoma"/>
                        </a:rPr>
                        <a:t>0.3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002237" y="5236821"/>
            <a:ext cx="514139" cy="756552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633" dirty="0">
                <a:latin typeface="Tahoma"/>
                <a:cs typeface="Tahoma"/>
              </a:rPr>
              <a:t>W</a:t>
            </a:r>
            <a:endParaRPr sz="4794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547" y="4900130"/>
            <a:ext cx="1219387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40" dirty="0">
                <a:latin typeface="Tahoma"/>
                <a:cs typeface="Tahoma"/>
              </a:rPr>
              <a:t>Input</a:t>
            </a:r>
            <a:r>
              <a:rPr sz="1798" spc="-166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image</a:t>
            </a:r>
            <a:endParaRPr sz="1798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92649" y="2485531"/>
          <a:ext cx="823636" cy="3127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35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56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0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231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254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35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24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423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100" spc="-50" dirty="0">
                          <a:latin typeface="Tahoma"/>
                          <a:cs typeface="Tahoma"/>
                        </a:rPr>
                        <a:t>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677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1074" y="3110279"/>
          <a:ext cx="1647272" cy="1564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2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56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170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231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170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25" dirty="0">
                          <a:latin typeface="Tahoma"/>
                          <a:cs typeface="Tahoma"/>
                        </a:rPr>
                        <a:t>24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50" dirty="0">
                          <a:latin typeface="Tahoma"/>
                          <a:cs typeface="Tahoma"/>
                        </a:rPr>
                        <a:t>2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190171" y="2034635"/>
            <a:ext cx="3994722" cy="2754193"/>
            <a:chOff x="137160" y="1527860"/>
            <a:chExt cx="2999740" cy="20681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251455"/>
              <a:ext cx="1371600" cy="13441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7532" y="1542160"/>
              <a:ext cx="2294890" cy="713740"/>
            </a:xfrm>
            <a:custGeom>
              <a:avLst/>
              <a:gdLst/>
              <a:ahLst/>
              <a:cxnLst/>
              <a:rect l="l" t="t" r="r" b="b"/>
              <a:pathLst>
                <a:path w="2294890" h="713739">
                  <a:moveTo>
                    <a:pt x="0" y="713740"/>
                  </a:moveTo>
                  <a:lnTo>
                    <a:pt x="0" y="0"/>
                  </a:lnTo>
                  <a:lnTo>
                    <a:pt x="2294763" y="0"/>
                  </a:lnTo>
                </a:path>
              </a:pathLst>
            </a:custGeom>
            <a:ln w="286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1" name="object 11"/>
          <p:cNvSpPr/>
          <p:nvPr/>
        </p:nvSpPr>
        <p:spPr>
          <a:xfrm>
            <a:off x="4129421" y="2046744"/>
            <a:ext cx="2529257" cy="460019"/>
          </a:xfrm>
          <a:custGeom>
            <a:avLst/>
            <a:gdLst/>
            <a:ahLst/>
            <a:cxnLst/>
            <a:rect l="l" t="t" r="r" b="b"/>
            <a:pathLst>
              <a:path w="1899285" h="345439">
                <a:moveTo>
                  <a:pt x="1844571" y="262265"/>
                </a:moveTo>
                <a:lnTo>
                  <a:pt x="1814448" y="266826"/>
                </a:lnTo>
                <a:lnTo>
                  <a:pt x="1869567" y="345185"/>
                </a:lnTo>
                <a:lnTo>
                  <a:pt x="1892440" y="274700"/>
                </a:lnTo>
                <a:lnTo>
                  <a:pt x="1844675" y="274700"/>
                </a:lnTo>
                <a:lnTo>
                  <a:pt x="1844571" y="262265"/>
                </a:lnTo>
                <a:close/>
              </a:path>
              <a:path w="1899285" h="345439">
                <a:moveTo>
                  <a:pt x="1873113" y="257943"/>
                </a:moveTo>
                <a:lnTo>
                  <a:pt x="1844571" y="262265"/>
                </a:lnTo>
                <a:lnTo>
                  <a:pt x="1844675" y="274700"/>
                </a:lnTo>
                <a:lnTo>
                  <a:pt x="1873250" y="274446"/>
                </a:lnTo>
                <a:lnTo>
                  <a:pt x="1873148" y="262265"/>
                </a:lnTo>
                <a:lnTo>
                  <a:pt x="1873113" y="257943"/>
                </a:lnTo>
                <a:close/>
              </a:path>
              <a:path w="1899285" h="345439">
                <a:moveTo>
                  <a:pt x="1899158" y="254000"/>
                </a:moveTo>
                <a:lnTo>
                  <a:pt x="1873113" y="257943"/>
                </a:lnTo>
                <a:lnTo>
                  <a:pt x="1873148" y="262265"/>
                </a:lnTo>
                <a:lnTo>
                  <a:pt x="1873250" y="274446"/>
                </a:lnTo>
                <a:lnTo>
                  <a:pt x="1844675" y="274700"/>
                </a:lnTo>
                <a:lnTo>
                  <a:pt x="1892440" y="274700"/>
                </a:lnTo>
                <a:lnTo>
                  <a:pt x="1899158" y="254000"/>
                </a:lnTo>
                <a:close/>
              </a:path>
              <a:path w="1899285" h="345439">
                <a:moveTo>
                  <a:pt x="1871093" y="14477"/>
                </a:moveTo>
                <a:lnTo>
                  <a:pt x="1842516" y="14477"/>
                </a:lnTo>
                <a:lnTo>
                  <a:pt x="1856740" y="28575"/>
                </a:lnTo>
                <a:lnTo>
                  <a:pt x="1842632" y="28575"/>
                </a:lnTo>
                <a:lnTo>
                  <a:pt x="1844503" y="254000"/>
                </a:lnTo>
                <a:lnTo>
                  <a:pt x="1844571" y="262265"/>
                </a:lnTo>
                <a:lnTo>
                  <a:pt x="1873113" y="257943"/>
                </a:lnTo>
                <a:lnTo>
                  <a:pt x="1871210" y="28575"/>
                </a:lnTo>
                <a:lnTo>
                  <a:pt x="1856740" y="28575"/>
                </a:lnTo>
                <a:lnTo>
                  <a:pt x="1842516" y="14477"/>
                </a:lnTo>
                <a:lnTo>
                  <a:pt x="1871093" y="14477"/>
                </a:lnTo>
                <a:close/>
              </a:path>
              <a:path w="1899285" h="345439">
                <a:moveTo>
                  <a:pt x="1864614" y="0"/>
                </a:moveTo>
                <a:lnTo>
                  <a:pt x="0" y="0"/>
                </a:lnTo>
                <a:lnTo>
                  <a:pt x="0" y="28575"/>
                </a:lnTo>
                <a:lnTo>
                  <a:pt x="1842632" y="28575"/>
                </a:lnTo>
                <a:lnTo>
                  <a:pt x="1842516" y="14477"/>
                </a:lnTo>
                <a:lnTo>
                  <a:pt x="1871093" y="14477"/>
                </a:lnTo>
                <a:lnTo>
                  <a:pt x="1871091" y="14223"/>
                </a:lnTo>
                <a:lnTo>
                  <a:pt x="1870964" y="6350"/>
                </a:lnTo>
                <a:lnTo>
                  <a:pt x="186461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2" name="object 12"/>
          <p:cNvSpPr txBox="1"/>
          <p:nvPr/>
        </p:nvSpPr>
        <p:spPr>
          <a:xfrm>
            <a:off x="7583111" y="2883065"/>
            <a:ext cx="823636" cy="550761"/>
          </a:xfrm>
          <a:prstGeom prst="rect">
            <a:avLst/>
          </a:prstGeom>
          <a:solidFill>
            <a:srgbClr val="FBE4CD"/>
          </a:solidFill>
          <a:ln w="9533">
            <a:solidFill>
              <a:srgbClr val="000000"/>
            </a:solidFill>
          </a:ln>
        </p:spPr>
        <p:txBody>
          <a:bodyPr vert="horz" wrap="square" lIns="0" tIns="230855" rIns="0" bIns="0" rtlCol="0">
            <a:spAutoFit/>
          </a:bodyPr>
          <a:lstStyle/>
          <a:p>
            <a:pPr marL="250306">
              <a:spcBef>
                <a:spcPts val="1818"/>
              </a:spcBef>
            </a:pPr>
            <a:r>
              <a:rPr sz="2064" spc="-33" dirty="0">
                <a:latin typeface="Tahoma"/>
                <a:cs typeface="Tahoma"/>
              </a:rPr>
              <a:t>1.1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83111" y="3665097"/>
            <a:ext cx="823636" cy="553322"/>
          </a:xfrm>
          <a:prstGeom prst="rect">
            <a:avLst/>
          </a:prstGeom>
          <a:solidFill>
            <a:srgbClr val="D9D2E9"/>
          </a:solidFill>
          <a:ln w="9533">
            <a:solidFill>
              <a:srgbClr val="000000"/>
            </a:solidFill>
          </a:ln>
        </p:spPr>
        <p:txBody>
          <a:bodyPr vert="horz" wrap="square" lIns="0" tIns="233392" rIns="0" bIns="0" rtlCol="0">
            <a:spAutoFit/>
          </a:bodyPr>
          <a:lstStyle/>
          <a:p>
            <a:pPr marL="250306">
              <a:spcBef>
                <a:spcPts val="1838"/>
              </a:spcBef>
            </a:pPr>
            <a:r>
              <a:rPr sz="2064" spc="-33" dirty="0">
                <a:latin typeface="Tahoma"/>
                <a:cs typeface="Tahoma"/>
              </a:rPr>
              <a:t>3.2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83111" y="4447297"/>
            <a:ext cx="823636" cy="555030"/>
          </a:xfrm>
          <a:prstGeom prst="rect">
            <a:avLst/>
          </a:prstGeom>
          <a:solidFill>
            <a:srgbClr val="D9EAD2"/>
          </a:solidFill>
          <a:ln w="9533">
            <a:solidFill>
              <a:srgbClr val="000000"/>
            </a:solidFill>
          </a:ln>
        </p:spPr>
        <p:txBody>
          <a:bodyPr vert="horz" wrap="square" lIns="0" tIns="235083" rIns="0" bIns="0" rtlCol="0">
            <a:spAutoFit/>
          </a:bodyPr>
          <a:lstStyle/>
          <a:p>
            <a:pPr marL="208025">
              <a:spcBef>
                <a:spcPts val="1851"/>
              </a:spcBef>
            </a:pPr>
            <a:r>
              <a:rPr sz="2064" spc="-100" dirty="0">
                <a:latin typeface="Tahoma"/>
                <a:cs typeface="Tahoma"/>
              </a:rPr>
              <a:t>-</a:t>
            </a:r>
            <a:r>
              <a:rPr sz="2064" spc="-33" dirty="0">
                <a:latin typeface="Tahoma"/>
                <a:cs typeface="Tahoma"/>
              </a:rPr>
              <a:t>1.2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42204" y="3712638"/>
            <a:ext cx="337403" cy="756552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185" dirty="0">
                <a:latin typeface="Tahoma"/>
                <a:cs typeface="Tahoma"/>
              </a:rPr>
              <a:t>+</a:t>
            </a:r>
            <a:endParaRPr sz="4794">
              <a:latin typeface="Tahoma"/>
              <a:cs typeface="Tahom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106327" y="2876718"/>
          <a:ext cx="1118759" cy="2344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35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2100" spc="-7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2100" spc="-20" dirty="0">
                          <a:latin typeface="Tahoma"/>
                          <a:cs typeface="Tahoma"/>
                        </a:rPr>
                        <a:t>96.8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0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01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100" spc="-10" dirty="0">
                          <a:latin typeface="Tahoma"/>
                          <a:cs typeface="Tahoma"/>
                        </a:rPr>
                        <a:t>437.9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339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35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100" spc="-10" dirty="0">
                          <a:latin typeface="Tahoma"/>
                          <a:cs typeface="Tahoma"/>
                        </a:rPr>
                        <a:t>61.95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23508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8546446" y="3712638"/>
            <a:ext cx="337403" cy="756552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185" dirty="0">
                <a:latin typeface="Tahoma"/>
                <a:cs typeface="Tahoma"/>
              </a:rPr>
              <a:t>=</a:t>
            </a:r>
            <a:endParaRPr sz="4794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20346" y="3104957"/>
            <a:ext cx="1079860" cy="340706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2064" dirty="0">
                <a:latin typeface="Tahoma"/>
                <a:cs typeface="Tahoma"/>
              </a:rPr>
              <a:t>Cat</a:t>
            </a:r>
            <a:r>
              <a:rPr sz="2064" spc="-21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score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20346" y="3927664"/>
            <a:ext cx="1152584" cy="340706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2064" spc="-47" dirty="0">
                <a:latin typeface="Tahoma"/>
                <a:cs typeface="Tahoma"/>
              </a:rPr>
              <a:t>Dog</a:t>
            </a:r>
            <a:r>
              <a:rPr sz="2064" spc="-272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score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20346" y="4697602"/>
            <a:ext cx="1201630" cy="341559"/>
          </a:xfrm>
          <a:prstGeom prst="rect">
            <a:avLst/>
          </a:prstGeom>
        </p:spPr>
        <p:txBody>
          <a:bodyPr vert="horz" wrap="square" lIns="0" tIns="23677" rIns="0" bIns="0" rtlCol="0">
            <a:spAutoFit/>
          </a:bodyPr>
          <a:lstStyle/>
          <a:p>
            <a:pPr marL="16913">
              <a:spcBef>
                <a:spcPts val="186"/>
              </a:spcBef>
            </a:pPr>
            <a:r>
              <a:rPr sz="2064" dirty="0">
                <a:latin typeface="Tahoma"/>
                <a:cs typeface="Tahoma"/>
              </a:rPr>
              <a:t>Ship</a:t>
            </a:r>
            <a:r>
              <a:rPr sz="2064" spc="-180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score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17856" y="5228012"/>
            <a:ext cx="371228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4794" spc="-67" dirty="0">
                <a:latin typeface="Tahoma"/>
                <a:cs typeface="Tahoma"/>
              </a:rPr>
              <a:t>b</a:t>
            </a:r>
            <a:endParaRPr sz="4794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2079" y="841829"/>
            <a:ext cx="14855899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100" dirty="0"/>
              <a:t>Interpreting</a:t>
            </a:r>
            <a:r>
              <a:rPr spc="-406" dirty="0"/>
              <a:t> </a:t>
            </a:r>
            <a:r>
              <a:rPr spc="-87" dirty="0"/>
              <a:t>a</a:t>
            </a:r>
            <a:r>
              <a:rPr spc="-305" dirty="0"/>
              <a:t> </a:t>
            </a:r>
            <a:r>
              <a:rPr spc="-60" dirty="0"/>
              <a:t>Linear</a:t>
            </a:r>
            <a:r>
              <a:rPr spc="-386" dirty="0"/>
              <a:t> </a:t>
            </a:r>
            <a:r>
              <a:rPr spc="-27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741" y="1690689"/>
            <a:ext cx="4895141" cy="3628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6324" y="1690689"/>
            <a:ext cx="4286291" cy="35191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941" y="660960"/>
            <a:ext cx="14855899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100" dirty="0"/>
              <a:t>Interpreting</a:t>
            </a:r>
            <a:r>
              <a:rPr spc="-400" dirty="0"/>
              <a:t> </a:t>
            </a:r>
            <a:r>
              <a:rPr spc="-87" dirty="0"/>
              <a:t>a</a:t>
            </a:r>
            <a:r>
              <a:rPr spc="-293" dirty="0"/>
              <a:t> </a:t>
            </a:r>
            <a:r>
              <a:rPr spc="-60" dirty="0"/>
              <a:t>Linear</a:t>
            </a:r>
            <a:r>
              <a:rPr spc="-386" dirty="0"/>
              <a:t> </a:t>
            </a:r>
            <a:r>
              <a:rPr spc="-93" dirty="0"/>
              <a:t>Classifier:</a:t>
            </a:r>
            <a:r>
              <a:rPr spc="-266" dirty="0"/>
              <a:t> </a:t>
            </a:r>
            <a:r>
              <a:rPr u="sng" spc="-73" dirty="0">
                <a:uFill>
                  <a:solidFill>
                    <a:srgbClr val="000000"/>
                  </a:solidFill>
                </a:uFill>
              </a:rPr>
              <a:t>Visual</a:t>
            </a:r>
            <a:r>
              <a:rPr u="sng" spc="-419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13" dirty="0">
                <a:uFill>
                  <a:solidFill>
                    <a:srgbClr val="000000"/>
                  </a:solidFill>
                </a:uFill>
              </a:rPr>
              <a:t>Viewpoint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001" y="1513992"/>
            <a:ext cx="4895141" cy="3628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9202" y="1562700"/>
            <a:ext cx="4286291" cy="35191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941" y="5340875"/>
            <a:ext cx="11641180" cy="12309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0" y="557905"/>
            <a:ext cx="14855899" cy="1373855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spc="-100" dirty="0"/>
              <a:t>Interpreting</a:t>
            </a:r>
            <a:r>
              <a:rPr spc="-393" dirty="0"/>
              <a:t> </a:t>
            </a:r>
            <a:r>
              <a:rPr spc="-87" dirty="0"/>
              <a:t>a</a:t>
            </a:r>
            <a:r>
              <a:rPr spc="-286" dirty="0"/>
              <a:t> </a:t>
            </a:r>
            <a:r>
              <a:rPr spc="-60" dirty="0"/>
              <a:t>Linear</a:t>
            </a:r>
            <a:r>
              <a:rPr spc="-373" dirty="0"/>
              <a:t> </a:t>
            </a:r>
            <a:r>
              <a:rPr spc="-93" dirty="0"/>
              <a:t>Classifier:</a:t>
            </a:r>
            <a:r>
              <a:rPr spc="-260" dirty="0"/>
              <a:t> </a:t>
            </a:r>
            <a:br>
              <a:rPr lang="en-US" spc="-260" dirty="0"/>
            </a:br>
            <a:r>
              <a:rPr u="sng" spc="-73" dirty="0">
                <a:uFill>
                  <a:solidFill>
                    <a:srgbClr val="000000"/>
                  </a:solidFill>
                </a:uFill>
              </a:rPr>
              <a:t>Geometric</a:t>
            </a:r>
            <a:r>
              <a:rPr u="sng" spc="-30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13" dirty="0">
                <a:uFill>
                  <a:solidFill>
                    <a:srgbClr val="000000"/>
                  </a:solidFill>
                </a:uFill>
              </a:rPr>
              <a:t>Viewpoint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7701" y="1894887"/>
            <a:ext cx="3664083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4794" spc="-338" dirty="0">
                <a:latin typeface="Tahoma"/>
                <a:cs typeface="Tahoma"/>
              </a:rPr>
              <a:t>f(x,W)</a:t>
            </a:r>
            <a:r>
              <a:rPr sz="4794" spc="-533" dirty="0">
                <a:latin typeface="Tahoma"/>
                <a:cs typeface="Tahoma"/>
              </a:rPr>
              <a:t> </a:t>
            </a:r>
            <a:r>
              <a:rPr sz="4794" spc="-1119" dirty="0">
                <a:latin typeface="Tahoma"/>
                <a:cs typeface="Tahoma"/>
              </a:rPr>
              <a:t>=</a:t>
            </a:r>
            <a:r>
              <a:rPr sz="4794" spc="-526" dirty="0">
                <a:latin typeface="Tahoma"/>
                <a:cs typeface="Tahoma"/>
              </a:rPr>
              <a:t> </a:t>
            </a:r>
            <a:r>
              <a:rPr sz="4794" spc="-419" dirty="0">
                <a:latin typeface="Tahoma"/>
                <a:cs typeface="Tahoma"/>
              </a:rPr>
              <a:t>Wx</a:t>
            </a:r>
            <a:r>
              <a:rPr sz="4794" spc="-506" dirty="0">
                <a:latin typeface="Tahoma"/>
                <a:cs typeface="Tahoma"/>
              </a:rPr>
              <a:t> </a:t>
            </a:r>
            <a:r>
              <a:rPr sz="4794" spc="-1119" dirty="0">
                <a:latin typeface="Tahoma"/>
                <a:cs typeface="Tahoma"/>
              </a:rPr>
              <a:t>+</a:t>
            </a:r>
            <a:r>
              <a:rPr sz="4794" spc="-526" dirty="0">
                <a:latin typeface="Tahoma"/>
                <a:cs typeface="Tahoma"/>
              </a:rPr>
              <a:t> </a:t>
            </a:r>
            <a:r>
              <a:rPr sz="4794" spc="-67" dirty="0">
                <a:latin typeface="Tahoma"/>
                <a:cs typeface="Tahoma"/>
              </a:rPr>
              <a:t>b</a:t>
            </a:r>
            <a:endParaRPr sz="4794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3421" y="3031303"/>
            <a:ext cx="1570829" cy="15342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53410" y="4766858"/>
            <a:ext cx="3313995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80" dirty="0">
                <a:latin typeface="Tahoma"/>
                <a:cs typeface="Tahoma"/>
              </a:rPr>
              <a:t>Array</a:t>
            </a:r>
            <a:r>
              <a:rPr sz="2397" spc="-29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46" dirty="0">
                <a:latin typeface="Tahoma"/>
                <a:cs typeface="Tahoma"/>
              </a:rPr>
              <a:t> </a:t>
            </a:r>
            <a:r>
              <a:rPr sz="2397" spc="-146" dirty="0">
                <a:latin typeface="Tahoma"/>
                <a:cs typeface="Tahoma"/>
              </a:rPr>
              <a:t>32x32x3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numbers </a:t>
            </a:r>
            <a:r>
              <a:rPr sz="2397" spc="-152" dirty="0">
                <a:latin typeface="Tahoma"/>
                <a:cs typeface="Tahoma"/>
              </a:rPr>
              <a:t>(3072</a:t>
            </a:r>
            <a:r>
              <a:rPr sz="2397" spc="-160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numbers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total)</a:t>
            </a:r>
            <a:endParaRPr sz="2397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57498" y="5817105"/>
            <a:ext cx="2027803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u="sng" spc="-152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Cat</a:t>
            </a:r>
            <a:r>
              <a:rPr sz="732" u="sng" spc="-8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</a:t>
            </a:r>
            <a:r>
              <a:rPr sz="732" u="sng" spc="-1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732" u="sng" spc="-1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ge</a:t>
            </a:r>
            <a:r>
              <a:rPr sz="732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by</a:t>
            </a:r>
            <a:r>
              <a:rPr sz="732" spc="-146" dirty="0">
                <a:latin typeface="Tahoma"/>
                <a:cs typeface="Tahoma"/>
              </a:rPr>
              <a:t> </a:t>
            </a:r>
            <a:r>
              <a:rPr sz="732" u="sng" spc="-16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Nik</a:t>
            </a:r>
            <a:r>
              <a:rPr sz="732" u="sng" spc="-10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ita</a:t>
            </a:r>
            <a:r>
              <a:rPr sz="732" spc="47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is</a:t>
            </a:r>
            <a:r>
              <a:rPr sz="732" spc="-33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license</a:t>
            </a:r>
            <a:r>
              <a:rPr sz="732" spc="-113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d</a:t>
            </a:r>
            <a:r>
              <a:rPr sz="732" spc="-53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under</a:t>
            </a:r>
            <a:r>
              <a:rPr sz="732" spc="-93" dirty="0">
                <a:latin typeface="Tahoma"/>
                <a:cs typeface="Tahoma"/>
              </a:rPr>
              <a:t> </a:t>
            </a:r>
            <a:r>
              <a:rPr sz="732" u="sng" spc="-146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CC-BY</a:t>
            </a:r>
            <a:r>
              <a:rPr sz="732" u="sng" spc="2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2.0</a:t>
            </a:r>
            <a:endParaRPr sz="732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0361" y="1794607"/>
            <a:ext cx="6710016" cy="4826813"/>
            <a:chOff x="27432" y="649782"/>
            <a:chExt cx="5038725" cy="3624579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551" y="805433"/>
              <a:ext cx="4078224" cy="29900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32" y="2718180"/>
              <a:ext cx="1965960" cy="15544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6432" y="3477805"/>
              <a:ext cx="841248" cy="7962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97679" y="649782"/>
              <a:ext cx="768096" cy="7962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383" y="887780"/>
              <a:ext cx="804672" cy="79623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3749" y="6709837"/>
            <a:ext cx="1449397" cy="134007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latin typeface="Tahoma"/>
                <a:cs typeface="Tahoma"/>
              </a:rPr>
              <a:t>Plot</a:t>
            </a:r>
            <a:r>
              <a:rPr sz="732" spc="93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created</a:t>
            </a:r>
            <a:r>
              <a:rPr sz="732" spc="-13" dirty="0">
                <a:latin typeface="Tahoma"/>
                <a:cs typeface="Tahoma"/>
              </a:rPr>
              <a:t> </a:t>
            </a:r>
            <a:r>
              <a:rPr sz="732" dirty="0">
                <a:latin typeface="Tahoma"/>
                <a:cs typeface="Tahoma"/>
              </a:rPr>
              <a:t>using</a:t>
            </a:r>
            <a:r>
              <a:rPr sz="732" spc="33" dirty="0">
                <a:latin typeface="Tahoma"/>
                <a:cs typeface="Tahoma"/>
              </a:rPr>
              <a:t> </a:t>
            </a:r>
            <a:r>
              <a:rPr sz="732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Wolfram</a:t>
            </a:r>
            <a:r>
              <a:rPr sz="732" u="sng" spc="-33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732" u="sng" spc="-27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1"/>
              </a:rPr>
              <a:t>Cloud</a:t>
            </a:r>
            <a:endParaRPr sz="732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9090" y="96806"/>
            <a:ext cx="7818627" cy="2667940"/>
            <a:chOff x="804672" y="72694"/>
            <a:chExt cx="5871210" cy="2003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72" y="256158"/>
              <a:ext cx="5852159" cy="18196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36692" y="86994"/>
              <a:ext cx="1125220" cy="1812289"/>
            </a:xfrm>
            <a:custGeom>
              <a:avLst/>
              <a:gdLst/>
              <a:ahLst/>
              <a:cxnLst/>
              <a:rect l="l" t="t" r="r" b="b"/>
              <a:pathLst>
                <a:path w="1125220" h="1812289">
                  <a:moveTo>
                    <a:pt x="0" y="187578"/>
                  </a:moveTo>
                  <a:lnTo>
                    <a:pt x="6697" y="137700"/>
                  </a:lnTo>
                  <a:lnTo>
                    <a:pt x="25597" y="92888"/>
                  </a:lnTo>
                  <a:lnTo>
                    <a:pt x="54911" y="54927"/>
                  </a:lnTo>
                  <a:lnTo>
                    <a:pt x="92851" y="25602"/>
                  </a:lnTo>
                  <a:lnTo>
                    <a:pt x="137627" y="6698"/>
                  </a:lnTo>
                  <a:lnTo>
                    <a:pt x="187452" y="0"/>
                  </a:lnTo>
                  <a:lnTo>
                    <a:pt x="937260" y="0"/>
                  </a:lnTo>
                  <a:lnTo>
                    <a:pt x="987084" y="6698"/>
                  </a:lnTo>
                  <a:lnTo>
                    <a:pt x="1031860" y="25602"/>
                  </a:lnTo>
                  <a:lnTo>
                    <a:pt x="1069800" y="54927"/>
                  </a:lnTo>
                  <a:lnTo>
                    <a:pt x="1099114" y="92888"/>
                  </a:lnTo>
                  <a:lnTo>
                    <a:pt x="1118014" y="137700"/>
                  </a:lnTo>
                  <a:lnTo>
                    <a:pt x="1124712" y="187578"/>
                  </a:lnTo>
                  <a:lnTo>
                    <a:pt x="1124712" y="1624456"/>
                  </a:lnTo>
                  <a:lnTo>
                    <a:pt x="1118014" y="1674335"/>
                  </a:lnTo>
                  <a:lnTo>
                    <a:pt x="1099114" y="1719147"/>
                  </a:lnTo>
                  <a:lnTo>
                    <a:pt x="1069800" y="1757108"/>
                  </a:lnTo>
                  <a:lnTo>
                    <a:pt x="1031860" y="1786433"/>
                  </a:lnTo>
                  <a:lnTo>
                    <a:pt x="987084" y="1805337"/>
                  </a:lnTo>
                  <a:lnTo>
                    <a:pt x="937260" y="1812035"/>
                  </a:lnTo>
                  <a:lnTo>
                    <a:pt x="187452" y="1812035"/>
                  </a:lnTo>
                  <a:lnTo>
                    <a:pt x="137627" y="1805337"/>
                  </a:lnTo>
                  <a:lnTo>
                    <a:pt x="92851" y="1786433"/>
                  </a:lnTo>
                  <a:lnTo>
                    <a:pt x="54911" y="1757108"/>
                  </a:lnTo>
                  <a:lnTo>
                    <a:pt x="25597" y="1719147"/>
                  </a:lnTo>
                  <a:lnTo>
                    <a:pt x="6697" y="1674335"/>
                  </a:lnTo>
                  <a:lnTo>
                    <a:pt x="0" y="1624456"/>
                  </a:lnTo>
                  <a:lnTo>
                    <a:pt x="0" y="187578"/>
                  </a:lnTo>
                  <a:close/>
                </a:path>
              </a:pathLst>
            </a:custGeom>
            <a:ln w="286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13422" y="2858966"/>
            <a:ext cx="2284027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27" dirty="0">
                <a:latin typeface="Tahoma"/>
                <a:cs typeface="Tahoma"/>
              </a:rPr>
              <a:t>[Krizhevsky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et</a:t>
            </a:r>
            <a:r>
              <a:rPr sz="1798" spc="-193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al.</a:t>
            </a:r>
            <a:r>
              <a:rPr sz="1798" spc="-120" dirty="0">
                <a:latin typeface="Tahoma"/>
                <a:cs typeface="Tahoma"/>
              </a:rPr>
              <a:t> </a:t>
            </a:r>
            <a:r>
              <a:rPr sz="1798" spc="-60" dirty="0">
                <a:latin typeface="Tahoma"/>
                <a:cs typeface="Tahoma"/>
              </a:rPr>
              <a:t>2012]</a:t>
            </a:r>
            <a:endParaRPr sz="1798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9004" y="5848596"/>
            <a:ext cx="1506054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53" dirty="0">
                <a:latin typeface="Tahoma"/>
                <a:cs typeface="Tahoma"/>
              </a:rPr>
              <a:t>[He</a:t>
            </a:r>
            <a:r>
              <a:rPr sz="1798" spc="-21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et</a:t>
            </a:r>
            <a:r>
              <a:rPr sz="1798" spc="-213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al.</a:t>
            </a:r>
            <a:r>
              <a:rPr sz="1798" spc="-140" dirty="0">
                <a:latin typeface="Tahoma"/>
                <a:cs typeface="Tahoma"/>
              </a:rPr>
              <a:t> </a:t>
            </a:r>
            <a:r>
              <a:rPr sz="1798" spc="-47" dirty="0">
                <a:latin typeface="Tahoma"/>
                <a:cs typeface="Tahoma"/>
              </a:rPr>
              <a:t>2015]</a:t>
            </a:r>
            <a:endParaRPr sz="1798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03445" y="3524234"/>
            <a:ext cx="7953081" cy="2241746"/>
            <a:chOff x="822960" y="2646438"/>
            <a:chExt cx="5972175" cy="16833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0" y="2646438"/>
              <a:ext cx="5788151" cy="15636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59652" y="2731896"/>
              <a:ext cx="421005" cy="1583690"/>
            </a:xfrm>
            <a:custGeom>
              <a:avLst/>
              <a:gdLst/>
              <a:ahLst/>
              <a:cxnLst/>
              <a:rect l="l" t="t" r="r" b="b"/>
              <a:pathLst>
                <a:path w="421004" h="1583689">
                  <a:moveTo>
                    <a:pt x="0" y="70231"/>
                  </a:moveTo>
                  <a:lnTo>
                    <a:pt x="5506" y="42862"/>
                  </a:lnTo>
                  <a:lnTo>
                    <a:pt x="20526" y="20542"/>
                  </a:lnTo>
                  <a:lnTo>
                    <a:pt x="42808" y="5508"/>
                  </a:lnTo>
                  <a:lnTo>
                    <a:pt x="70103" y="0"/>
                  </a:lnTo>
                  <a:lnTo>
                    <a:pt x="350520" y="0"/>
                  </a:lnTo>
                  <a:lnTo>
                    <a:pt x="377815" y="5508"/>
                  </a:lnTo>
                  <a:lnTo>
                    <a:pt x="400097" y="20542"/>
                  </a:lnTo>
                  <a:lnTo>
                    <a:pt x="415117" y="42862"/>
                  </a:lnTo>
                  <a:lnTo>
                    <a:pt x="420624" y="70231"/>
                  </a:lnTo>
                  <a:lnTo>
                    <a:pt x="420624" y="1513166"/>
                  </a:lnTo>
                  <a:lnTo>
                    <a:pt x="415117" y="1540477"/>
                  </a:lnTo>
                  <a:lnTo>
                    <a:pt x="400097" y="1562781"/>
                  </a:lnTo>
                  <a:lnTo>
                    <a:pt x="377815" y="1577819"/>
                  </a:lnTo>
                  <a:lnTo>
                    <a:pt x="350520" y="1583334"/>
                  </a:lnTo>
                  <a:lnTo>
                    <a:pt x="70103" y="1583334"/>
                  </a:lnTo>
                  <a:lnTo>
                    <a:pt x="42808" y="1577819"/>
                  </a:lnTo>
                  <a:lnTo>
                    <a:pt x="20526" y="1562781"/>
                  </a:lnTo>
                  <a:lnTo>
                    <a:pt x="5506" y="1540477"/>
                  </a:lnTo>
                  <a:lnTo>
                    <a:pt x="0" y="1513166"/>
                  </a:lnTo>
                  <a:lnTo>
                    <a:pt x="0" y="70231"/>
                  </a:lnTo>
                  <a:close/>
                </a:path>
              </a:pathLst>
            </a:custGeom>
            <a:ln w="286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883714" y="2846365"/>
            <a:ext cx="1651501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47" dirty="0">
                <a:solidFill>
                  <a:srgbClr val="0000FF"/>
                </a:solidFill>
                <a:latin typeface="Tahoma"/>
                <a:cs typeface="Tahoma"/>
              </a:rPr>
              <a:t>Linear</a:t>
            </a:r>
            <a:r>
              <a:rPr sz="2397" spc="-17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layers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64596" y="2230414"/>
            <a:ext cx="692565" cy="536970"/>
          </a:xfrm>
          <a:custGeom>
            <a:avLst/>
            <a:gdLst/>
            <a:ahLst/>
            <a:cxnLst/>
            <a:rect l="l" t="t" r="r" b="b"/>
            <a:pathLst>
              <a:path w="520065" h="403225">
                <a:moveTo>
                  <a:pt x="66217" y="38880"/>
                </a:moveTo>
                <a:lnTo>
                  <a:pt x="54640" y="53978"/>
                </a:lnTo>
                <a:lnTo>
                  <a:pt x="508126" y="403225"/>
                </a:lnTo>
                <a:lnTo>
                  <a:pt x="519683" y="388112"/>
                </a:lnTo>
                <a:lnTo>
                  <a:pt x="66217" y="38880"/>
                </a:lnTo>
                <a:close/>
              </a:path>
              <a:path w="520065" h="403225">
                <a:moveTo>
                  <a:pt x="0" y="0"/>
                </a:moveTo>
                <a:lnTo>
                  <a:pt x="37210" y="76708"/>
                </a:lnTo>
                <a:lnTo>
                  <a:pt x="54640" y="53978"/>
                </a:lnTo>
                <a:lnTo>
                  <a:pt x="44576" y="46228"/>
                </a:lnTo>
                <a:lnTo>
                  <a:pt x="56133" y="31115"/>
                </a:lnTo>
                <a:lnTo>
                  <a:pt x="72172" y="31115"/>
                </a:lnTo>
                <a:lnTo>
                  <a:pt x="83565" y="16256"/>
                </a:lnTo>
                <a:lnTo>
                  <a:pt x="0" y="0"/>
                </a:lnTo>
                <a:close/>
              </a:path>
              <a:path w="520065" h="403225">
                <a:moveTo>
                  <a:pt x="56133" y="31115"/>
                </a:moveTo>
                <a:lnTo>
                  <a:pt x="44576" y="46228"/>
                </a:lnTo>
                <a:lnTo>
                  <a:pt x="54640" y="53978"/>
                </a:lnTo>
                <a:lnTo>
                  <a:pt x="66217" y="38880"/>
                </a:lnTo>
                <a:lnTo>
                  <a:pt x="56133" y="31115"/>
                </a:lnTo>
                <a:close/>
              </a:path>
              <a:path w="520065" h="403225">
                <a:moveTo>
                  <a:pt x="72172" y="31115"/>
                </a:moveTo>
                <a:lnTo>
                  <a:pt x="56133" y="31115"/>
                </a:lnTo>
                <a:lnTo>
                  <a:pt x="66217" y="38880"/>
                </a:lnTo>
                <a:lnTo>
                  <a:pt x="72172" y="311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2" name="object 12"/>
          <p:cNvSpPr/>
          <p:nvPr/>
        </p:nvSpPr>
        <p:spPr>
          <a:xfrm>
            <a:off x="9164596" y="3365070"/>
            <a:ext cx="836321" cy="498917"/>
          </a:xfrm>
          <a:custGeom>
            <a:avLst/>
            <a:gdLst/>
            <a:ahLst/>
            <a:cxnLst/>
            <a:rect l="l" t="t" r="r" b="b"/>
            <a:pathLst>
              <a:path w="628015" h="374650">
                <a:moveTo>
                  <a:pt x="46354" y="302767"/>
                </a:moveTo>
                <a:lnTo>
                  <a:pt x="0" y="374269"/>
                </a:lnTo>
                <a:lnTo>
                  <a:pt x="84962" y="368553"/>
                </a:lnTo>
                <a:lnTo>
                  <a:pt x="74230" y="350265"/>
                </a:lnTo>
                <a:lnTo>
                  <a:pt x="59562" y="350265"/>
                </a:lnTo>
                <a:lnTo>
                  <a:pt x="49910" y="333882"/>
                </a:lnTo>
                <a:lnTo>
                  <a:pt x="60844" y="327456"/>
                </a:lnTo>
                <a:lnTo>
                  <a:pt x="46354" y="302767"/>
                </a:lnTo>
                <a:close/>
              </a:path>
              <a:path w="628015" h="374650">
                <a:moveTo>
                  <a:pt x="60844" y="327456"/>
                </a:moveTo>
                <a:lnTo>
                  <a:pt x="49910" y="333882"/>
                </a:lnTo>
                <a:lnTo>
                  <a:pt x="59562" y="350265"/>
                </a:lnTo>
                <a:lnTo>
                  <a:pt x="70468" y="343856"/>
                </a:lnTo>
                <a:lnTo>
                  <a:pt x="60844" y="327456"/>
                </a:lnTo>
                <a:close/>
              </a:path>
              <a:path w="628015" h="374650">
                <a:moveTo>
                  <a:pt x="70468" y="343856"/>
                </a:moveTo>
                <a:lnTo>
                  <a:pt x="59562" y="350265"/>
                </a:lnTo>
                <a:lnTo>
                  <a:pt x="74230" y="350265"/>
                </a:lnTo>
                <a:lnTo>
                  <a:pt x="70468" y="343856"/>
                </a:lnTo>
                <a:close/>
              </a:path>
              <a:path w="628015" h="374650">
                <a:moveTo>
                  <a:pt x="617981" y="0"/>
                </a:moveTo>
                <a:lnTo>
                  <a:pt x="60844" y="327456"/>
                </a:lnTo>
                <a:lnTo>
                  <a:pt x="70468" y="343856"/>
                </a:lnTo>
                <a:lnTo>
                  <a:pt x="627633" y="16382"/>
                </a:lnTo>
                <a:lnTo>
                  <a:pt x="61798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4" name="object 14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6456" y="4270673"/>
            <a:ext cx="647746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100" dirty="0">
                <a:latin typeface="Tahoma"/>
                <a:cs typeface="Tahoma"/>
              </a:rPr>
              <a:t>3072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944" y="390629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2677" y="581005"/>
            <a:ext cx="8703462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193" dirty="0"/>
              <a:t>Recap:</a:t>
            </a:r>
            <a:r>
              <a:rPr sz="4794" spc="-433" dirty="0"/>
              <a:t> </a:t>
            </a:r>
            <a:r>
              <a:rPr sz="4794" spc="-47" dirty="0"/>
              <a:t>Fully</a:t>
            </a:r>
            <a:r>
              <a:rPr sz="4794" spc="-526" dirty="0"/>
              <a:t> </a:t>
            </a:r>
            <a:r>
              <a:rPr sz="4794" spc="-73" dirty="0"/>
              <a:t>Connected</a:t>
            </a:r>
            <a:r>
              <a:rPr sz="4794" spc="-466" dirty="0"/>
              <a:t> </a:t>
            </a:r>
            <a:r>
              <a:rPr sz="4794" spc="-60" dirty="0"/>
              <a:t>Layer</a:t>
            </a:r>
            <a:endParaRPr sz="4794" dirty="0"/>
          </a:p>
        </p:txBody>
      </p:sp>
      <p:sp>
        <p:nvSpPr>
          <p:cNvPr id="5" name="object 5"/>
          <p:cNvSpPr txBox="1"/>
          <p:nvPr/>
        </p:nvSpPr>
        <p:spPr>
          <a:xfrm>
            <a:off x="1161452" y="2019203"/>
            <a:ext cx="6081718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52" dirty="0">
                <a:latin typeface="Tahoma"/>
                <a:cs typeface="Tahoma"/>
              </a:rPr>
              <a:t>32x32x3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60" dirty="0">
                <a:latin typeface="Tahoma"/>
                <a:cs typeface="Tahoma"/>
              </a:rPr>
              <a:t>image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152" dirty="0">
                <a:latin typeface="Tahoma"/>
                <a:cs typeface="Tahoma"/>
              </a:rPr>
              <a:t>-</a:t>
            </a:r>
            <a:r>
              <a:rPr sz="3129" spc="-712" dirty="0">
                <a:latin typeface="Tahoma"/>
                <a:cs typeface="Tahoma"/>
              </a:rPr>
              <a:t>&gt;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stretch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to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173" dirty="0">
                <a:latin typeface="Tahoma"/>
                <a:cs typeface="Tahoma"/>
              </a:rPr>
              <a:t>3072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146" dirty="0">
                <a:latin typeface="Tahoma"/>
                <a:cs typeface="Tahoma"/>
              </a:rPr>
              <a:t>x</a:t>
            </a:r>
            <a:r>
              <a:rPr sz="3129" spc="-240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1</a:t>
            </a:r>
            <a:endParaRPr sz="3129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3182" y="4098589"/>
            <a:ext cx="1208395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20" dirty="0">
                <a:latin typeface="Tahoma"/>
                <a:cs typeface="Tahoma"/>
              </a:rPr>
              <a:t>10</a:t>
            </a:r>
            <a:r>
              <a:rPr sz="2397" spc="-300" dirty="0">
                <a:latin typeface="Tahoma"/>
                <a:cs typeface="Tahoma"/>
              </a:rPr>
              <a:t> </a:t>
            </a:r>
            <a:r>
              <a:rPr sz="2397" spc="-127" dirty="0">
                <a:latin typeface="Tahoma"/>
                <a:cs typeface="Tahoma"/>
              </a:rPr>
              <a:t>x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87" dirty="0">
                <a:latin typeface="Tahoma"/>
                <a:cs typeface="Tahoma"/>
              </a:rPr>
              <a:t>3072</a:t>
            </a:r>
            <a:endParaRPr sz="2397">
              <a:latin typeface="Tahoma"/>
              <a:cs typeface="Tahoma"/>
            </a:endParaRPr>
          </a:p>
          <a:p>
            <a:pPr marL="106549">
              <a:spcBef>
                <a:spcPts val="7"/>
              </a:spcBef>
            </a:pPr>
            <a:r>
              <a:rPr sz="2397" spc="-13" dirty="0">
                <a:latin typeface="Tahoma"/>
                <a:cs typeface="Tahoma"/>
              </a:rPr>
              <a:t>weights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2440" y="3253305"/>
            <a:ext cx="1311561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3" dirty="0">
                <a:latin typeface="Tahoma"/>
                <a:cs typeface="Tahoma"/>
              </a:rPr>
              <a:t>activation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27208" y="3843877"/>
            <a:ext cx="2363515" cy="403362"/>
            <a:chOff x="6436986" y="2278498"/>
            <a:chExt cx="1774825" cy="302895"/>
          </a:xfrm>
        </p:grpSpPr>
        <p:sp>
          <p:nvSpPr>
            <p:cNvPr id="9" name="object 9"/>
            <p:cNvSpPr/>
            <p:nvPr/>
          </p:nvSpPr>
          <p:spPr>
            <a:xfrm>
              <a:off x="6446520" y="2358961"/>
              <a:ext cx="1685289" cy="213360"/>
            </a:xfrm>
            <a:custGeom>
              <a:avLst/>
              <a:gdLst/>
              <a:ahLst/>
              <a:cxnLst/>
              <a:rect l="l" t="t" r="r" b="b"/>
              <a:pathLst>
                <a:path w="1685290" h="213360">
                  <a:moveTo>
                    <a:pt x="1684781" y="0"/>
                  </a:moveTo>
                  <a:lnTo>
                    <a:pt x="0" y="0"/>
                  </a:lnTo>
                  <a:lnTo>
                    <a:pt x="0" y="212788"/>
                  </a:lnTo>
                  <a:lnTo>
                    <a:pt x="1684781" y="212788"/>
                  </a:lnTo>
                  <a:lnTo>
                    <a:pt x="1684781" y="0"/>
                  </a:lnTo>
                  <a:close/>
                </a:path>
              </a:pathLst>
            </a:custGeom>
            <a:solidFill>
              <a:srgbClr val="C8DAF8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8131302" y="2288031"/>
              <a:ext cx="71120" cy="283845"/>
            </a:xfrm>
            <a:custGeom>
              <a:avLst/>
              <a:gdLst/>
              <a:ahLst/>
              <a:cxnLst/>
              <a:rect l="l" t="t" r="r" b="b"/>
              <a:pathLst>
                <a:path w="71120" h="283844">
                  <a:moveTo>
                    <a:pt x="70866" y="0"/>
                  </a:moveTo>
                  <a:lnTo>
                    <a:pt x="0" y="70865"/>
                  </a:lnTo>
                  <a:lnTo>
                    <a:pt x="0" y="283717"/>
                  </a:lnTo>
                  <a:lnTo>
                    <a:pt x="70866" y="212725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A1AEC6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6520" y="2288031"/>
              <a:ext cx="1755775" cy="71120"/>
            </a:xfrm>
            <a:custGeom>
              <a:avLst/>
              <a:gdLst/>
              <a:ahLst/>
              <a:cxnLst/>
              <a:rect l="l" t="t" r="r" b="b"/>
              <a:pathLst>
                <a:path w="1755775" h="71119">
                  <a:moveTo>
                    <a:pt x="1755648" y="0"/>
                  </a:moveTo>
                  <a:lnTo>
                    <a:pt x="70865" y="0"/>
                  </a:lnTo>
                  <a:lnTo>
                    <a:pt x="0" y="70865"/>
                  </a:lnTo>
                  <a:lnTo>
                    <a:pt x="1684781" y="70865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D3E0F8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6446520" y="2288031"/>
              <a:ext cx="1755775" cy="283845"/>
            </a:xfrm>
            <a:custGeom>
              <a:avLst/>
              <a:gdLst/>
              <a:ahLst/>
              <a:cxnLst/>
              <a:rect l="l" t="t" r="r" b="b"/>
              <a:pathLst>
                <a:path w="1755775" h="283844">
                  <a:moveTo>
                    <a:pt x="0" y="70865"/>
                  </a:moveTo>
                  <a:lnTo>
                    <a:pt x="70865" y="0"/>
                  </a:lnTo>
                  <a:lnTo>
                    <a:pt x="1755648" y="0"/>
                  </a:lnTo>
                  <a:lnTo>
                    <a:pt x="1755648" y="212725"/>
                  </a:lnTo>
                  <a:lnTo>
                    <a:pt x="1684781" y="283717"/>
                  </a:lnTo>
                  <a:lnTo>
                    <a:pt x="0" y="283717"/>
                  </a:lnTo>
                  <a:lnTo>
                    <a:pt x="0" y="70865"/>
                  </a:lnTo>
                  <a:close/>
                </a:path>
                <a:path w="1755775" h="283844">
                  <a:moveTo>
                    <a:pt x="0" y="70865"/>
                  </a:moveTo>
                  <a:lnTo>
                    <a:pt x="1684781" y="70865"/>
                  </a:lnTo>
                  <a:lnTo>
                    <a:pt x="1755648" y="0"/>
                  </a:lnTo>
                </a:path>
                <a:path w="1755775" h="283844">
                  <a:moveTo>
                    <a:pt x="1684781" y="70865"/>
                  </a:moveTo>
                  <a:lnTo>
                    <a:pt x="1684781" y="28371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9282" y="2370065"/>
              <a:ext cx="165370" cy="17464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79981" y="3831203"/>
            <a:ext cx="3727505" cy="403362"/>
            <a:chOff x="383658" y="2278498"/>
            <a:chExt cx="2799080" cy="302895"/>
          </a:xfrm>
        </p:grpSpPr>
        <p:sp>
          <p:nvSpPr>
            <p:cNvPr id="15" name="object 15"/>
            <p:cNvSpPr/>
            <p:nvPr/>
          </p:nvSpPr>
          <p:spPr>
            <a:xfrm>
              <a:off x="393192" y="2358961"/>
              <a:ext cx="2708910" cy="213360"/>
            </a:xfrm>
            <a:custGeom>
              <a:avLst/>
              <a:gdLst/>
              <a:ahLst/>
              <a:cxnLst/>
              <a:rect l="l" t="t" r="r" b="b"/>
              <a:pathLst>
                <a:path w="2708910" h="213360">
                  <a:moveTo>
                    <a:pt x="2708910" y="0"/>
                  </a:moveTo>
                  <a:lnTo>
                    <a:pt x="0" y="0"/>
                  </a:lnTo>
                  <a:lnTo>
                    <a:pt x="0" y="212788"/>
                  </a:lnTo>
                  <a:lnTo>
                    <a:pt x="2708910" y="212788"/>
                  </a:lnTo>
                  <a:lnTo>
                    <a:pt x="2708910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02101" y="2288031"/>
              <a:ext cx="71120" cy="283845"/>
            </a:xfrm>
            <a:custGeom>
              <a:avLst/>
              <a:gdLst/>
              <a:ahLst/>
              <a:cxnLst/>
              <a:rect l="l" t="t" r="r" b="b"/>
              <a:pathLst>
                <a:path w="71119" h="283844">
                  <a:moveTo>
                    <a:pt x="70866" y="0"/>
                  </a:moveTo>
                  <a:lnTo>
                    <a:pt x="0" y="70865"/>
                  </a:lnTo>
                  <a:lnTo>
                    <a:pt x="0" y="283717"/>
                  </a:lnTo>
                  <a:lnTo>
                    <a:pt x="70866" y="212725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192" y="2288031"/>
              <a:ext cx="2780030" cy="71120"/>
            </a:xfrm>
            <a:custGeom>
              <a:avLst/>
              <a:gdLst/>
              <a:ahLst/>
              <a:cxnLst/>
              <a:rect l="l" t="t" r="r" b="b"/>
              <a:pathLst>
                <a:path w="2780030" h="71119">
                  <a:moveTo>
                    <a:pt x="2779776" y="0"/>
                  </a:moveTo>
                  <a:lnTo>
                    <a:pt x="70865" y="0"/>
                  </a:lnTo>
                  <a:lnTo>
                    <a:pt x="0" y="70865"/>
                  </a:lnTo>
                  <a:lnTo>
                    <a:pt x="2708910" y="70865"/>
                  </a:lnTo>
                  <a:lnTo>
                    <a:pt x="27797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192" y="2288031"/>
              <a:ext cx="2780030" cy="283845"/>
            </a:xfrm>
            <a:custGeom>
              <a:avLst/>
              <a:gdLst/>
              <a:ahLst/>
              <a:cxnLst/>
              <a:rect l="l" t="t" r="r" b="b"/>
              <a:pathLst>
                <a:path w="2780030" h="283844">
                  <a:moveTo>
                    <a:pt x="0" y="70865"/>
                  </a:moveTo>
                  <a:lnTo>
                    <a:pt x="70865" y="0"/>
                  </a:lnTo>
                  <a:lnTo>
                    <a:pt x="2779776" y="0"/>
                  </a:lnTo>
                  <a:lnTo>
                    <a:pt x="2779776" y="212725"/>
                  </a:lnTo>
                  <a:lnTo>
                    <a:pt x="2708910" y="283717"/>
                  </a:lnTo>
                  <a:lnTo>
                    <a:pt x="0" y="283717"/>
                  </a:lnTo>
                  <a:lnTo>
                    <a:pt x="0" y="70865"/>
                  </a:lnTo>
                  <a:close/>
                </a:path>
                <a:path w="2780030" h="283844">
                  <a:moveTo>
                    <a:pt x="0" y="70865"/>
                  </a:moveTo>
                  <a:lnTo>
                    <a:pt x="2708910" y="70865"/>
                  </a:lnTo>
                  <a:lnTo>
                    <a:pt x="2779776" y="0"/>
                  </a:lnTo>
                </a:path>
                <a:path w="2780030" h="283844">
                  <a:moveTo>
                    <a:pt x="2708910" y="70865"/>
                  </a:moveTo>
                  <a:lnTo>
                    <a:pt x="2708910" y="28371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8794" y="3564020"/>
            <a:ext cx="730617" cy="34125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011236" y="3253305"/>
            <a:ext cx="708632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3" dirty="0">
                <a:latin typeface="Tahoma"/>
                <a:cs typeface="Tahoma"/>
              </a:rPr>
              <a:t>input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9138" y="390629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44672" y="4270673"/>
            <a:ext cx="351779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10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17660" y="4002018"/>
            <a:ext cx="810107" cy="115005"/>
          </a:xfrm>
          <a:custGeom>
            <a:avLst/>
            <a:gdLst/>
            <a:ahLst/>
            <a:cxnLst/>
            <a:rect l="l" t="t" r="r" b="b"/>
            <a:pathLst>
              <a:path w="608329" h="86360">
                <a:moveTo>
                  <a:pt x="523239" y="0"/>
                </a:moveTo>
                <a:lnTo>
                  <a:pt x="522646" y="28671"/>
                </a:lnTo>
                <a:lnTo>
                  <a:pt x="536955" y="28956"/>
                </a:lnTo>
                <a:lnTo>
                  <a:pt x="536327" y="57250"/>
                </a:lnTo>
                <a:lnTo>
                  <a:pt x="536320" y="57531"/>
                </a:lnTo>
                <a:lnTo>
                  <a:pt x="522048" y="57531"/>
                </a:lnTo>
                <a:lnTo>
                  <a:pt x="521462" y="85851"/>
                </a:lnTo>
                <a:lnTo>
                  <a:pt x="581075" y="57531"/>
                </a:lnTo>
                <a:lnTo>
                  <a:pt x="536320" y="57531"/>
                </a:lnTo>
                <a:lnTo>
                  <a:pt x="522054" y="57250"/>
                </a:lnTo>
                <a:lnTo>
                  <a:pt x="581666" y="57250"/>
                </a:lnTo>
                <a:lnTo>
                  <a:pt x="608076" y="44703"/>
                </a:lnTo>
                <a:lnTo>
                  <a:pt x="523239" y="0"/>
                </a:lnTo>
                <a:close/>
              </a:path>
              <a:path w="608329" h="86360">
                <a:moveTo>
                  <a:pt x="522646" y="28671"/>
                </a:moveTo>
                <a:lnTo>
                  <a:pt x="522054" y="57250"/>
                </a:lnTo>
                <a:lnTo>
                  <a:pt x="536320" y="57531"/>
                </a:lnTo>
                <a:lnTo>
                  <a:pt x="536955" y="28956"/>
                </a:lnTo>
                <a:lnTo>
                  <a:pt x="522646" y="28671"/>
                </a:lnTo>
                <a:close/>
              </a:path>
              <a:path w="608329" h="86360">
                <a:moveTo>
                  <a:pt x="507" y="18287"/>
                </a:moveTo>
                <a:lnTo>
                  <a:pt x="40" y="44703"/>
                </a:lnTo>
                <a:lnTo>
                  <a:pt x="0" y="46989"/>
                </a:lnTo>
                <a:lnTo>
                  <a:pt x="522054" y="57250"/>
                </a:lnTo>
                <a:lnTo>
                  <a:pt x="522640" y="28956"/>
                </a:lnTo>
                <a:lnTo>
                  <a:pt x="522646" y="28671"/>
                </a:lnTo>
                <a:lnTo>
                  <a:pt x="507" y="1828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4" name="object 24"/>
          <p:cNvSpPr/>
          <p:nvPr/>
        </p:nvSpPr>
        <p:spPr>
          <a:xfrm>
            <a:off x="7245302" y="3986121"/>
            <a:ext cx="818563" cy="115005"/>
          </a:xfrm>
          <a:custGeom>
            <a:avLst/>
            <a:gdLst/>
            <a:ahLst/>
            <a:cxnLst/>
            <a:rect l="l" t="t" r="r" b="b"/>
            <a:pathLst>
              <a:path w="614679" h="86360">
                <a:moveTo>
                  <a:pt x="529589" y="0"/>
                </a:moveTo>
                <a:lnTo>
                  <a:pt x="529278" y="21081"/>
                </a:lnTo>
                <a:lnTo>
                  <a:pt x="529166" y="28625"/>
                </a:lnTo>
                <a:lnTo>
                  <a:pt x="543433" y="28828"/>
                </a:lnTo>
                <a:lnTo>
                  <a:pt x="543229" y="44068"/>
                </a:lnTo>
                <a:lnTo>
                  <a:pt x="543153" y="49783"/>
                </a:lnTo>
                <a:lnTo>
                  <a:pt x="543051" y="57403"/>
                </a:lnTo>
                <a:lnTo>
                  <a:pt x="528740" y="57403"/>
                </a:lnTo>
                <a:lnTo>
                  <a:pt x="528320" y="85851"/>
                </a:lnTo>
                <a:lnTo>
                  <a:pt x="587118" y="57403"/>
                </a:lnTo>
                <a:lnTo>
                  <a:pt x="543051" y="57403"/>
                </a:lnTo>
                <a:lnTo>
                  <a:pt x="528743" y="57203"/>
                </a:lnTo>
                <a:lnTo>
                  <a:pt x="587533" y="57203"/>
                </a:lnTo>
                <a:lnTo>
                  <a:pt x="614680" y="44068"/>
                </a:lnTo>
                <a:lnTo>
                  <a:pt x="529589" y="0"/>
                </a:lnTo>
                <a:close/>
              </a:path>
              <a:path w="614679" h="86360">
                <a:moveTo>
                  <a:pt x="529166" y="28625"/>
                </a:moveTo>
                <a:lnTo>
                  <a:pt x="528938" y="44068"/>
                </a:lnTo>
                <a:lnTo>
                  <a:pt x="528853" y="49783"/>
                </a:lnTo>
                <a:lnTo>
                  <a:pt x="528743" y="57203"/>
                </a:lnTo>
                <a:lnTo>
                  <a:pt x="543051" y="57403"/>
                </a:lnTo>
                <a:lnTo>
                  <a:pt x="543433" y="28828"/>
                </a:lnTo>
                <a:lnTo>
                  <a:pt x="529166" y="28625"/>
                </a:lnTo>
                <a:close/>
              </a:path>
              <a:path w="614679" h="86360">
                <a:moveTo>
                  <a:pt x="508" y="21081"/>
                </a:moveTo>
                <a:lnTo>
                  <a:pt x="101" y="44068"/>
                </a:lnTo>
                <a:lnTo>
                  <a:pt x="0" y="49783"/>
                </a:lnTo>
                <a:lnTo>
                  <a:pt x="528743" y="57203"/>
                </a:lnTo>
                <a:lnTo>
                  <a:pt x="529163" y="28828"/>
                </a:lnTo>
                <a:lnTo>
                  <a:pt x="529166" y="28625"/>
                </a:lnTo>
                <a:lnTo>
                  <a:pt x="508" y="2108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6" name="object 2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406" y="4223048"/>
            <a:ext cx="647746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100" dirty="0">
                <a:latin typeface="Tahoma"/>
                <a:cs typeface="Tahoma"/>
              </a:rPr>
              <a:t>3072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894" y="3858670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60931" y="614617"/>
            <a:ext cx="6763189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47" dirty="0"/>
              <a:t>Fully</a:t>
            </a:r>
            <a:r>
              <a:rPr sz="4794" spc="-419" dirty="0"/>
              <a:t> </a:t>
            </a:r>
            <a:r>
              <a:rPr sz="4794" spc="-87" dirty="0"/>
              <a:t>Connected</a:t>
            </a:r>
            <a:r>
              <a:rPr sz="4794" spc="-459" dirty="0"/>
              <a:t> </a:t>
            </a:r>
            <a:r>
              <a:rPr sz="4794" spc="-60" dirty="0"/>
              <a:t>Layer</a:t>
            </a:r>
            <a:endParaRPr sz="4794" dirty="0"/>
          </a:p>
        </p:txBody>
      </p:sp>
      <p:sp>
        <p:nvSpPr>
          <p:cNvPr id="5" name="object 5"/>
          <p:cNvSpPr txBox="1"/>
          <p:nvPr/>
        </p:nvSpPr>
        <p:spPr>
          <a:xfrm>
            <a:off x="1142402" y="1971578"/>
            <a:ext cx="6081718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52" dirty="0">
                <a:latin typeface="Tahoma"/>
                <a:cs typeface="Tahoma"/>
              </a:rPr>
              <a:t>32x32x3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60" dirty="0">
                <a:latin typeface="Tahoma"/>
                <a:cs typeface="Tahoma"/>
              </a:rPr>
              <a:t>image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152" dirty="0">
                <a:latin typeface="Tahoma"/>
                <a:cs typeface="Tahoma"/>
              </a:rPr>
              <a:t>-</a:t>
            </a:r>
            <a:r>
              <a:rPr sz="3129" spc="-712" dirty="0">
                <a:latin typeface="Tahoma"/>
                <a:cs typeface="Tahoma"/>
              </a:rPr>
              <a:t>&gt;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stretch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dirty="0">
                <a:latin typeface="Tahoma"/>
                <a:cs typeface="Tahoma"/>
              </a:rPr>
              <a:t>to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173" dirty="0">
                <a:latin typeface="Tahoma"/>
                <a:cs typeface="Tahoma"/>
              </a:rPr>
              <a:t>3072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146" dirty="0">
                <a:latin typeface="Tahoma"/>
                <a:cs typeface="Tahoma"/>
              </a:rPr>
              <a:t>x</a:t>
            </a:r>
            <a:r>
              <a:rPr sz="3129" spc="-240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1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4132" y="4050964"/>
            <a:ext cx="1208395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20" dirty="0">
                <a:latin typeface="Tahoma"/>
                <a:cs typeface="Tahoma"/>
              </a:rPr>
              <a:t>10</a:t>
            </a:r>
            <a:r>
              <a:rPr sz="2397" spc="-300" dirty="0">
                <a:latin typeface="Tahoma"/>
                <a:cs typeface="Tahoma"/>
              </a:rPr>
              <a:t> </a:t>
            </a:r>
            <a:r>
              <a:rPr sz="2397" spc="-127" dirty="0">
                <a:latin typeface="Tahoma"/>
                <a:cs typeface="Tahoma"/>
              </a:rPr>
              <a:t>x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87" dirty="0">
                <a:latin typeface="Tahoma"/>
                <a:cs typeface="Tahoma"/>
              </a:rPr>
              <a:t>3072</a:t>
            </a:r>
            <a:endParaRPr sz="2397">
              <a:latin typeface="Tahoma"/>
              <a:cs typeface="Tahoma"/>
            </a:endParaRPr>
          </a:p>
          <a:p>
            <a:pPr marL="106549">
              <a:spcBef>
                <a:spcPts val="7"/>
              </a:spcBef>
            </a:pPr>
            <a:r>
              <a:rPr sz="2397" spc="-13" dirty="0">
                <a:latin typeface="Tahoma"/>
                <a:cs typeface="Tahoma"/>
              </a:rPr>
              <a:t>weights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3390" y="3205680"/>
            <a:ext cx="1311561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3" dirty="0">
                <a:latin typeface="Tahoma"/>
                <a:cs typeface="Tahoma"/>
              </a:rPr>
              <a:t>activation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07745" y="3795840"/>
            <a:ext cx="2364361" cy="404208"/>
            <a:chOff x="6436677" y="2278189"/>
            <a:chExt cx="1775460" cy="303530"/>
          </a:xfrm>
        </p:grpSpPr>
        <p:sp>
          <p:nvSpPr>
            <p:cNvPr id="9" name="object 9"/>
            <p:cNvSpPr/>
            <p:nvPr/>
          </p:nvSpPr>
          <p:spPr>
            <a:xfrm>
              <a:off x="6446520" y="2358961"/>
              <a:ext cx="1685289" cy="213360"/>
            </a:xfrm>
            <a:custGeom>
              <a:avLst/>
              <a:gdLst/>
              <a:ahLst/>
              <a:cxnLst/>
              <a:rect l="l" t="t" r="r" b="b"/>
              <a:pathLst>
                <a:path w="1685290" h="213360">
                  <a:moveTo>
                    <a:pt x="1684781" y="0"/>
                  </a:moveTo>
                  <a:lnTo>
                    <a:pt x="0" y="0"/>
                  </a:lnTo>
                  <a:lnTo>
                    <a:pt x="0" y="212788"/>
                  </a:lnTo>
                  <a:lnTo>
                    <a:pt x="1684781" y="212788"/>
                  </a:lnTo>
                  <a:lnTo>
                    <a:pt x="1684781" y="0"/>
                  </a:lnTo>
                  <a:close/>
                </a:path>
              </a:pathLst>
            </a:custGeom>
            <a:solidFill>
              <a:srgbClr val="C8DAF8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8131302" y="2288031"/>
              <a:ext cx="71120" cy="283845"/>
            </a:xfrm>
            <a:custGeom>
              <a:avLst/>
              <a:gdLst/>
              <a:ahLst/>
              <a:cxnLst/>
              <a:rect l="l" t="t" r="r" b="b"/>
              <a:pathLst>
                <a:path w="71120" h="283844">
                  <a:moveTo>
                    <a:pt x="70866" y="0"/>
                  </a:moveTo>
                  <a:lnTo>
                    <a:pt x="0" y="70865"/>
                  </a:lnTo>
                  <a:lnTo>
                    <a:pt x="0" y="283717"/>
                  </a:lnTo>
                  <a:lnTo>
                    <a:pt x="70866" y="212725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A1AEC6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6520" y="2288031"/>
              <a:ext cx="1755775" cy="71120"/>
            </a:xfrm>
            <a:custGeom>
              <a:avLst/>
              <a:gdLst/>
              <a:ahLst/>
              <a:cxnLst/>
              <a:rect l="l" t="t" r="r" b="b"/>
              <a:pathLst>
                <a:path w="1755775" h="71119">
                  <a:moveTo>
                    <a:pt x="1755648" y="0"/>
                  </a:moveTo>
                  <a:lnTo>
                    <a:pt x="70865" y="0"/>
                  </a:lnTo>
                  <a:lnTo>
                    <a:pt x="0" y="70865"/>
                  </a:lnTo>
                  <a:lnTo>
                    <a:pt x="1684781" y="70865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D3E0F8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6446520" y="2288031"/>
              <a:ext cx="1755775" cy="283845"/>
            </a:xfrm>
            <a:custGeom>
              <a:avLst/>
              <a:gdLst/>
              <a:ahLst/>
              <a:cxnLst/>
              <a:rect l="l" t="t" r="r" b="b"/>
              <a:pathLst>
                <a:path w="1755775" h="283844">
                  <a:moveTo>
                    <a:pt x="0" y="70865"/>
                  </a:moveTo>
                  <a:lnTo>
                    <a:pt x="70865" y="0"/>
                  </a:lnTo>
                  <a:lnTo>
                    <a:pt x="1755648" y="0"/>
                  </a:lnTo>
                  <a:lnTo>
                    <a:pt x="1755648" y="212725"/>
                  </a:lnTo>
                  <a:lnTo>
                    <a:pt x="1684781" y="283717"/>
                  </a:lnTo>
                  <a:lnTo>
                    <a:pt x="0" y="283717"/>
                  </a:lnTo>
                  <a:lnTo>
                    <a:pt x="0" y="70865"/>
                  </a:lnTo>
                  <a:close/>
                </a:path>
                <a:path w="1755775" h="283844">
                  <a:moveTo>
                    <a:pt x="0" y="70865"/>
                  </a:moveTo>
                  <a:lnTo>
                    <a:pt x="1684781" y="70865"/>
                  </a:lnTo>
                  <a:lnTo>
                    <a:pt x="1755648" y="0"/>
                  </a:lnTo>
                </a:path>
                <a:path w="1755775" h="283844">
                  <a:moveTo>
                    <a:pt x="1684781" y="70865"/>
                  </a:moveTo>
                  <a:lnTo>
                    <a:pt x="1684781" y="28371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9282" y="2370065"/>
              <a:ext cx="165370" cy="17464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47005" y="3796252"/>
            <a:ext cx="3727505" cy="403362"/>
            <a:chOff x="383658" y="2278498"/>
            <a:chExt cx="2799080" cy="302895"/>
          </a:xfrm>
        </p:grpSpPr>
        <p:sp>
          <p:nvSpPr>
            <p:cNvPr id="15" name="object 15"/>
            <p:cNvSpPr/>
            <p:nvPr/>
          </p:nvSpPr>
          <p:spPr>
            <a:xfrm>
              <a:off x="393192" y="2358961"/>
              <a:ext cx="2708910" cy="213360"/>
            </a:xfrm>
            <a:custGeom>
              <a:avLst/>
              <a:gdLst/>
              <a:ahLst/>
              <a:cxnLst/>
              <a:rect l="l" t="t" r="r" b="b"/>
              <a:pathLst>
                <a:path w="2708910" h="213360">
                  <a:moveTo>
                    <a:pt x="2708910" y="0"/>
                  </a:moveTo>
                  <a:lnTo>
                    <a:pt x="0" y="0"/>
                  </a:lnTo>
                  <a:lnTo>
                    <a:pt x="0" y="212788"/>
                  </a:lnTo>
                  <a:lnTo>
                    <a:pt x="2708910" y="212788"/>
                  </a:lnTo>
                  <a:lnTo>
                    <a:pt x="2708910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02101" y="2288031"/>
              <a:ext cx="71120" cy="283845"/>
            </a:xfrm>
            <a:custGeom>
              <a:avLst/>
              <a:gdLst/>
              <a:ahLst/>
              <a:cxnLst/>
              <a:rect l="l" t="t" r="r" b="b"/>
              <a:pathLst>
                <a:path w="71119" h="283844">
                  <a:moveTo>
                    <a:pt x="70866" y="0"/>
                  </a:moveTo>
                  <a:lnTo>
                    <a:pt x="0" y="70865"/>
                  </a:lnTo>
                  <a:lnTo>
                    <a:pt x="0" y="283717"/>
                  </a:lnTo>
                  <a:lnTo>
                    <a:pt x="70866" y="212725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192" y="2288031"/>
              <a:ext cx="2780030" cy="71120"/>
            </a:xfrm>
            <a:custGeom>
              <a:avLst/>
              <a:gdLst/>
              <a:ahLst/>
              <a:cxnLst/>
              <a:rect l="l" t="t" r="r" b="b"/>
              <a:pathLst>
                <a:path w="2780030" h="71119">
                  <a:moveTo>
                    <a:pt x="2779776" y="0"/>
                  </a:moveTo>
                  <a:lnTo>
                    <a:pt x="70865" y="0"/>
                  </a:lnTo>
                  <a:lnTo>
                    <a:pt x="0" y="70865"/>
                  </a:lnTo>
                  <a:lnTo>
                    <a:pt x="2708910" y="70865"/>
                  </a:lnTo>
                  <a:lnTo>
                    <a:pt x="27797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192" y="2288031"/>
              <a:ext cx="2780030" cy="283845"/>
            </a:xfrm>
            <a:custGeom>
              <a:avLst/>
              <a:gdLst/>
              <a:ahLst/>
              <a:cxnLst/>
              <a:rect l="l" t="t" r="r" b="b"/>
              <a:pathLst>
                <a:path w="2780030" h="283844">
                  <a:moveTo>
                    <a:pt x="0" y="70865"/>
                  </a:moveTo>
                  <a:lnTo>
                    <a:pt x="70865" y="0"/>
                  </a:lnTo>
                  <a:lnTo>
                    <a:pt x="2779776" y="0"/>
                  </a:lnTo>
                  <a:lnTo>
                    <a:pt x="2779776" y="212725"/>
                  </a:lnTo>
                  <a:lnTo>
                    <a:pt x="2708910" y="283717"/>
                  </a:lnTo>
                  <a:lnTo>
                    <a:pt x="0" y="283717"/>
                  </a:lnTo>
                  <a:lnTo>
                    <a:pt x="0" y="70865"/>
                  </a:lnTo>
                  <a:close/>
                </a:path>
                <a:path w="2780030" h="283844">
                  <a:moveTo>
                    <a:pt x="0" y="70865"/>
                  </a:moveTo>
                  <a:lnTo>
                    <a:pt x="2708910" y="70865"/>
                  </a:lnTo>
                  <a:lnTo>
                    <a:pt x="2779776" y="0"/>
                  </a:lnTo>
                </a:path>
                <a:path w="2780030" h="283844">
                  <a:moveTo>
                    <a:pt x="2708910" y="70865"/>
                  </a:moveTo>
                  <a:lnTo>
                    <a:pt x="2708910" y="28371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9744" y="3516395"/>
            <a:ext cx="730617" cy="34125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992186" y="3205680"/>
            <a:ext cx="708632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3" dirty="0">
                <a:latin typeface="Tahoma"/>
                <a:cs typeface="Tahoma"/>
              </a:rPr>
              <a:t>input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28288" y="4879607"/>
            <a:ext cx="3567682" cy="1147876"/>
          </a:xfrm>
          <a:prstGeom prst="rect">
            <a:avLst/>
          </a:prstGeom>
        </p:spPr>
        <p:txBody>
          <a:bodyPr vert="horz" wrap="square" lIns="0" tIns="34669" rIns="0" bIns="0" rtlCol="0">
            <a:spAutoFit/>
          </a:bodyPr>
          <a:lstStyle/>
          <a:p>
            <a:pPr marL="16913">
              <a:spcBef>
                <a:spcPts val="272"/>
              </a:spcBef>
            </a:pPr>
            <a:r>
              <a:rPr sz="1798" spc="-80" dirty="0">
                <a:latin typeface="Tahoma"/>
                <a:cs typeface="Tahoma"/>
              </a:rPr>
              <a:t>1</a:t>
            </a:r>
            <a:r>
              <a:rPr sz="1798" spc="-133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number:</a:t>
            </a:r>
            <a:endParaRPr sz="1798">
              <a:latin typeface="Tahoma"/>
              <a:cs typeface="Tahoma"/>
            </a:endParaRPr>
          </a:p>
          <a:p>
            <a:pPr marL="16913" marR="6765">
              <a:lnSpc>
                <a:spcPct val="102499"/>
              </a:lnSpc>
              <a:spcBef>
                <a:spcPts val="100"/>
              </a:spcBef>
            </a:pPr>
            <a:r>
              <a:rPr sz="1798" spc="-13" dirty="0">
                <a:latin typeface="Tahoma"/>
                <a:cs typeface="Tahoma"/>
              </a:rPr>
              <a:t>the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result</a:t>
            </a:r>
            <a:r>
              <a:rPr sz="1798" spc="-206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of</a:t>
            </a:r>
            <a:r>
              <a:rPr sz="1798" spc="-107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taking</a:t>
            </a:r>
            <a:r>
              <a:rPr sz="1798" spc="-220" dirty="0">
                <a:latin typeface="Tahoma"/>
                <a:cs typeface="Tahoma"/>
              </a:rPr>
              <a:t> </a:t>
            </a:r>
            <a:r>
              <a:rPr sz="1798" spc="-40" dirty="0">
                <a:latin typeface="Tahoma"/>
                <a:cs typeface="Tahoma"/>
              </a:rPr>
              <a:t>a</a:t>
            </a:r>
            <a:r>
              <a:rPr sz="1798" spc="-11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dot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product between</a:t>
            </a:r>
            <a:r>
              <a:rPr sz="1798" spc="-93" dirty="0">
                <a:latin typeface="Tahoma"/>
                <a:cs typeface="Tahoma"/>
              </a:rPr>
              <a:t> </a:t>
            </a:r>
            <a:r>
              <a:rPr sz="1798" spc="-47" dirty="0">
                <a:latin typeface="Tahoma"/>
                <a:cs typeface="Tahoma"/>
              </a:rPr>
              <a:t>a</a:t>
            </a:r>
            <a:r>
              <a:rPr sz="1798" spc="-213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row</a:t>
            </a:r>
            <a:r>
              <a:rPr sz="1798" spc="-220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of</a:t>
            </a:r>
            <a:r>
              <a:rPr sz="1798" spc="-113" dirty="0">
                <a:latin typeface="Tahoma"/>
                <a:cs typeface="Tahoma"/>
              </a:rPr>
              <a:t> </a:t>
            </a:r>
            <a:r>
              <a:rPr sz="1798" spc="-206" dirty="0">
                <a:latin typeface="Tahoma"/>
                <a:cs typeface="Tahoma"/>
              </a:rPr>
              <a:t>W</a:t>
            </a:r>
            <a:r>
              <a:rPr sz="1798" spc="-146" dirty="0">
                <a:latin typeface="Tahoma"/>
                <a:cs typeface="Tahoma"/>
              </a:rPr>
              <a:t> </a:t>
            </a:r>
            <a:r>
              <a:rPr sz="1798" spc="-27" dirty="0">
                <a:latin typeface="Tahoma"/>
                <a:cs typeface="Tahoma"/>
              </a:rPr>
              <a:t>and</a:t>
            </a:r>
            <a:r>
              <a:rPr sz="1798" spc="-113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the</a:t>
            </a:r>
            <a:r>
              <a:rPr sz="1798" spc="-200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input</a:t>
            </a:r>
            <a:r>
              <a:rPr sz="1798" spc="-100" dirty="0">
                <a:latin typeface="Tahoma"/>
                <a:cs typeface="Tahoma"/>
              </a:rPr>
              <a:t> </a:t>
            </a:r>
            <a:r>
              <a:rPr sz="1798" spc="-53" dirty="0">
                <a:latin typeface="Tahoma"/>
                <a:cs typeface="Tahoma"/>
              </a:rPr>
              <a:t>(a </a:t>
            </a:r>
            <a:r>
              <a:rPr sz="1798" spc="-67" dirty="0">
                <a:latin typeface="Tahoma"/>
                <a:cs typeface="Tahoma"/>
              </a:rPr>
              <a:t>3072-</a:t>
            </a:r>
            <a:r>
              <a:rPr sz="1798" dirty="0">
                <a:latin typeface="Tahoma"/>
                <a:cs typeface="Tahoma"/>
              </a:rPr>
              <a:t>dimensional</a:t>
            </a:r>
            <a:r>
              <a:rPr sz="1798" spc="-87" dirty="0">
                <a:latin typeface="Tahoma"/>
                <a:cs typeface="Tahoma"/>
              </a:rPr>
              <a:t> </a:t>
            </a:r>
            <a:r>
              <a:rPr sz="1798" dirty="0">
                <a:latin typeface="Tahoma"/>
                <a:cs typeface="Tahoma"/>
              </a:rPr>
              <a:t>dot</a:t>
            </a:r>
            <a:r>
              <a:rPr sz="1798" spc="-33" dirty="0">
                <a:latin typeface="Tahoma"/>
                <a:cs typeface="Tahoma"/>
              </a:rPr>
              <a:t> </a:t>
            </a:r>
            <a:r>
              <a:rPr sz="1798" spc="-13" dirty="0">
                <a:latin typeface="Tahoma"/>
                <a:cs typeface="Tahoma"/>
              </a:rPr>
              <a:t>product)</a:t>
            </a:r>
            <a:endParaRPr sz="1798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70088" y="3858670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25622" y="4223048"/>
            <a:ext cx="351779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10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46581" y="4241567"/>
            <a:ext cx="481159" cy="615613"/>
          </a:xfrm>
          <a:custGeom>
            <a:avLst/>
            <a:gdLst/>
            <a:ahLst/>
            <a:cxnLst/>
            <a:rect l="l" t="t" r="r" b="b"/>
            <a:pathLst>
              <a:path w="361315" h="462280">
                <a:moveTo>
                  <a:pt x="297398" y="59112"/>
                </a:moveTo>
                <a:lnTo>
                  <a:pt x="0" y="444373"/>
                </a:lnTo>
                <a:lnTo>
                  <a:pt x="22605" y="461899"/>
                </a:lnTo>
                <a:lnTo>
                  <a:pt x="320025" y="76611"/>
                </a:lnTo>
                <a:lnTo>
                  <a:pt x="297398" y="59112"/>
                </a:lnTo>
                <a:close/>
              </a:path>
              <a:path w="361315" h="462280">
                <a:moveTo>
                  <a:pt x="351691" y="47879"/>
                </a:moveTo>
                <a:lnTo>
                  <a:pt x="306069" y="47879"/>
                </a:lnTo>
                <a:lnTo>
                  <a:pt x="328675" y="65405"/>
                </a:lnTo>
                <a:lnTo>
                  <a:pt x="320025" y="76611"/>
                </a:lnTo>
                <a:lnTo>
                  <a:pt x="342646" y="94106"/>
                </a:lnTo>
                <a:lnTo>
                  <a:pt x="351691" y="47879"/>
                </a:lnTo>
                <a:close/>
              </a:path>
              <a:path w="361315" h="462280">
                <a:moveTo>
                  <a:pt x="306069" y="47879"/>
                </a:moveTo>
                <a:lnTo>
                  <a:pt x="297398" y="59112"/>
                </a:lnTo>
                <a:lnTo>
                  <a:pt x="320025" y="76611"/>
                </a:lnTo>
                <a:lnTo>
                  <a:pt x="328675" y="65405"/>
                </a:lnTo>
                <a:lnTo>
                  <a:pt x="306069" y="47879"/>
                </a:lnTo>
                <a:close/>
              </a:path>
              <a:path w="361315" h="462280">
                <a:moveTo>
                  <a:pt x="361060" y="0"/>
                </a:moveTo>
                <a:lnTo>
                  <a:pt x="274827" y="41656"/>
                </a:lnTo>
                <a:lnTo>
                  <a:pt x="297398" y="59112"/>
                </a:lnTo>
                <a:lnTo>
                  <a:pt x="306069" y="47879"/>
                </a:lnTo>
                <a:lnTo>
                  <a:pt x="351691" y="47879"/>
                </a:lnTo>
                <a:lnTo>
                  <a:pt x="36106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5" name="object 25"/>
          <p:cNvSpPr/>
          <p:nvPr/>
        </p:nvSpPr>
        <p:spPr>
          <a:xfrm>
            <a:off x="4498610" y="3954393"/>
            <a:ext cx="810107" cy="115005"/>
          </a:xfrm>
          <a:custGeom>
            <a:avLst/>
            <a:gdLst/>
            <a:ahLst/>
            <a:cxnLst/>
            <a:rect l="l" t="t" r="r" b="b"/>
            <a:pathLst>
              <a:path w="608329" h="86360">
                <a:moveTo>
                  <a:pt x="523239" y="0"/>
                </a:moveTo>
                <a:lnTo>
                  <a:pt x="522646" y="28671"/>
                </a:lnTo>
                <a:lnTo>
                  <a:pt x="536955" y="28956"/>
                </a:lnTo>
                <a:lnTo>
                  <a:pt x="536327" y="57250"/>
                </a:lnTo>
                <a:lnTo>
                  <a:pt x="536320" y="57531"/>
                </a:lnTo>
                <a:lnTo>
                  <a:pt x="522048" y="57531"/>
                </a:lnTo>
                <a:lnTo>
                  <a:pt x="521462" y="85851"/>
                </a:lnTo>
                <a:lnTo>
                  <a:pt x="581075" y="57531"/>
                </a:lnTo>
                <a:lnTo>
                  <a:pt x="536320" y="57531"/>
                </a:lnTo>
                <a:lnTo>
                  <a:pt x="522054" y="57250"/>
                </a:lnTo>
                <a:lnTo>
                  <a:pt x="581666" y="57250"/>
                </a:lnTo>
                <a:lnTo>
                  <a:pt x="608076" y="44703"/>
                </a:lnTo>
                <a:lnTo>
                  <a:pt x="523239" y="0"/>
                </a:lnTo>
                <a:close/>
              </a:path>
              <a:path w="608329" h="86360">
                <a:moveTo>
                  <a:pt x="522646" y="28671"/>
                </a:moveTo>
                <a:lnTo>
                  <a:pt x="522054" y="57250"/>
                </a:lnTo>
                <a:lnTo>
                  <a:pt x="536320" y="57531"/>
                </a:lnTo>
                <a:lnTo>
                  <a:pt x="536955" y="28956"/>
                </a:lnTo>
                <a:lnTo>
                  <a:pt x="522646" y="28671"/>
                </a:lnTo>
                <a:close/>
              </a:path>
              <a:path w="608329" h="86360">
                <a:moveTo>
                  <a:pt x="507" y="18287"/>
                </a:moveTo>
                <a:lnTo>
                  <a:pt x="40" y="44703"/>
                </a:lnTo>
                <a:lnTo>
                  <a:pt x="0" y="46989"/>
                </a:lnTo>
                <a:lnTo>
                  <a:pt x="522054" y="57250"/>
                </a:lnTo>
                <a:lnTo>
                  <a:pt x="522640" y="28956"/>
                </a:lnTo>
                <a:lnTo>
                  <a:pt x="522646" y="28671"/>
                </a:lnTo>
                <a:lnTo>
                  <a:pt x="507" y="1828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6" name="object 26"/>
          <p:cNvSpPr/>
          <p:nvPr/>
        </p:nvSpPr>
        <p:spPr>
          <a:xfrm>
            <a:off x="7226252" y="3938496"/>
            <a:ext cx="818563" cy="115005"/>
          </a:xfrm>
          <a:custGeom>
            <a:avLst/>
            <a:gdLst/>
            <a:ahLst/>
            <a:cxnLst/>
            <a:rect l="l" t="t" r="r" b="b"/>
            <a:pathLst>
              <a:path w="614679" h="86360">
                <a:moveTo>
                  <a:pt x="529589" y="0"/>
                </a:moveTo>
                <a:lnTo>
                  <a:pt x="529278" y="21081"/>
                </a:lnTo>
                <a:lnTo>
                  <a:pt x="529166" y="28625"/>
                </a:lnTo>
                <a:lnTo>
                  <a:pt x="543433" y="28828"/>
                </a:lnTo>
                <a:lnTo>
                  <a:pt x="543229" y="44068"/>
                </a:lnTo>
                <a:lnTo>
                  <a:pt x="543153" y="49783"/>
                </a:lnTo>
                <a:lnTo>
                  <a:pt x="543051" y="57403"/>
                </a:lnTo>
                <a:lnTo>
                  <a:pt x="528740" y="57403"/>
                </a:lnTo>
                <a:lnTo>
                  <a:pt x="528320" y="85851"/>
                </a:lnTo>
                <a:lnTo>
                  <a:pt x="587118" y="57403"/>
                </a:lnTo>
                <a:lnTo>
                  <a:pt x="543051" y="57403"/>
                </a:lnTo>
                <a:lnTo>
                  <a:pt x="528743" y="57203"/>
                </a:lnTo>
                <a:lnTo>
                  <a:pt x="587533" y="57203"/>
                </a:lnTo>
                <a:lnTo>
                  <a:pt x="614680" y="44068"/>
                </a:lnTo>
                <a:lnTo>
                  <a:pt x="529589" y="0"/>
                </a:lnTo>
                <a:close/>
              </a:path>
              <a:path w="614679" h="86360">
                <a:moveTo>
                  <a:pt x="529166" y="28625"/>
                </a:moveTo>
                <a:lnTo>
                  <a:pt x="528938" y="44068"/>
                </a:lnTo>
                <a:lnTo>
                  <a:pt x="528853" y="49783"/>
                </a:lnTo>
                <a:lnTo>
                  <a:pt x="528743" y="57203"/>
                </a:lnTo>
                <a:lnTo>
                  <a:pt x="543051" y="57403"/>
                </a:lnTo>
                <a:lnTo>
                  <a:pt x="543433" y="28828"/>
                </a:lnTo>
                <a:lnTo>
                  <a:pt x="529166" y="28625"/>
                </a:lnTo>
                <a:close/>
              </a:path>
              <a:path w="614679" h="86360">
                <a:moveTo>
                  <a:pt x="508" y="21081"/>
                </a:moveTo>
                <a:lnTo>
                  <a:pt x="101" y="44068"/>
                </a:lnTo>
                <a:lnTo>
                  <a:pt x="0" y="49783"/>
                </a:lnTo>
                <a:lnTo>
                  <a:pt x="528743" y="57203"/>
                </a:lnTo>
                <a:lnTo>
                  <a:pt x="529163" y="28828"/>
                </a:lnTo>
                <a:lnTo>
                  <a:pt x="529166" y="28625"/>
                </a:lnTo>
                <a:lnTo>
                  <a:pt x="508" y="2108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8" name="object 2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9526" y="1888603"/>
            <a:ext cx="1292111" cy="3706364"/>
            <a:chOff x="1060314" y="1418200"/>
            <a:chExt cx="970280" cy="2783205"/>
          </a:xfrm>
        </p:grpSpPr>
        <p:sp>
          <p:nvSpPr>
            <p:cNvPr id="3" name="object 3"/>
            <p:cNvSpPr/>
            <p:nvPr/>
          </p:nvSpPr>
          <p:spPr>
            <a:xfrm>
              <a:off x="1069847" y="2167419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281811" y="1427733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39"/>
                  </a:lnTo>
                  <a:lnTo>
                    <a:pt x="739013" y="2024252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069847" y="1427733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3" y="0"/>
                  </a:lnTo>
                  <a:lnTo>
                    <a:pt x="0" y="739648"/>
                  </a:lnTo>
                  <a:lnTo>
                    <a:pt x="211963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069847" y="1427733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3" y="0"/>
                  </a:lnTo>
                  <a:lnTo>
                    <a:pt x="950976" y="0"/>
                  </a:lnTo>
                  <a:lnTo>
                    <a:pt x="950976" y="2024252"/>
                  </a:lnTo>
                  <a:lnTo>
                    <a:pt x="211963" y="2763939"/>
                  </a:lnTo>
                  <a:lnTo>
                    <a:pt x="0" y="2763939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3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3" y="739648"/>
                  </a:moveTo>
                  <a:lnTo>
                    <a:pt x="211963" y="27639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08894" y="300043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879" y="5583224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2835" y="4958189"/>
            <a:ext cx="795731" cy="961609"/>
          </a:xfrm>
          <a:prstGeom prst="rect">
            <a:avLst/>
          </a:prstGeom>
        </p:spPr>
        <p:txBody>
          <a:bodyPr vert="horz" wrap="square" lIns="0" tIns="120078" rIns="0" bIns="0" rtlCol="0">
            <a:spAutoFit/>
          </a:bodyPr>
          <a:lstStyle/>
          <a:p>
            <a:pPr marR="54966" algn="r">
              <a:spcBef>
                <a:spcPts val="946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  <a:p>
            <a:pPr marR="6765" algn="r">
              <a:spcBef>
                <a:spcPts val="812"/>
              </a:spcBef>
            </a:pP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depth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83507" y="519155"/>
            <a:ext cx="5002552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33" dirty="0"/>
              <a:t>Convolution</a:t>
            </a:r>
            <a:endParaRPr sz="4794" dirty="0"/>
          </a:p>
        </p:txBody>
      </p:sp>
      <p:sp>
        <p:nvSpPr>
          <p:cNvPr id="11" name="object 11"/>
          <p:cNvSpPr txBox="1"/>
          <p:nvPr/>
        </p:nvSpPr>
        <p:spPr>
          <a:xfrm>
            <a:off x="1113827" y="1209578"/>
            <a:ext cx="7347616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52" dirty="0">
                <a:latin typeface="Tahoma"/>
                <a:cs typeface="Tahoma"/>
              </a:rPr>
              <a:t>32x32x3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60" dirty="0">
                <a:latin typeface="Tahoma"/>
                <a:cs typeface="Tahoma"/>
              </a:rPr>
              <a:t>image</a:t>
            </a:r>
            <a:r>
              <a:rPr sz="3129" spc="-240" dirty="0">
                <a:latin typeface="Tahoma"/>
                <a:cs typeface="Tahoma"/>
              </a:rPr>
              <a:t> </a:t>
            </a:r>
            <a:r>
              <a:rPr sz="3129" spc="-152" dirty="0">
                <a:latin typeface="Tahoma"/>
                <a:cs typeface="Tahoma"/>
              </a:rPr>
              <a:t>-</a:t>
            </a:r>
            <a:r>
              <a:rPr sz="3129" spc="-712" dirty="0">
                <a:latin typeface="Tahoma"/>
                <a:cs typeface="Tahoma"/>
              </a:rPr>
              <a:t>&gt;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60" dirty="0">
                <a:latin typeface="Tahoma"/>
                <a:cs typeface="Tahoma"/>
              </a:rPr>
              <a:t>preserve</a:t>
            </a:r>
            <a:r>
              <a:rPr sz="3129" spc="-193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spatial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structure</a:t>
            </a:r>
            <a:endParaRPr sz="3129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3146" y="4967238"/>
            <a:ext cx="760215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width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62778" y="2942090"/>
            <a:ext cx="84477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solidFill>
                  <a:srgbClr val="0000FF"/>
                </a:solidFill>
                <a:latin typeface="Tahoma"/>
                <a:cs typeface="Tahoma"/>
              </a:rPr>
              <a:t>height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3DEA-9BC1-12F0-7501-69380F7C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Filtering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0564-B242-5126-08DA-06E278C0F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Image filtering: compute function of local neighborhood at each position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Enhance images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Denoise, resize, increase contrast, etc.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Extract information from images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Texture, edges, distinctive points, etc.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Detect patterns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Template matching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76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A7C2-09DA-6E45-8E54-070546D6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B5E4-7A57-DFCA-DF40-4A386479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Filtering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3629AFA-DA1A-D46B-CB96-E083B20100AF}"/>
              </a:ext>
            </a:extLst>
          </p:cNvPr>
          <p:cNvSpPr txBox="1"/>
          <p:nvPr/>
        </p:nvSpPr>
        <p:spPr>
          <a:xfrm>
            <a:off x="916939" y="1793493"/>
            <a:ext cx="8225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Modify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pixels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neighborhood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FFB9D7D7-C187-5F83-9270-1A2B75AD58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936" y="2938854"/>
            <a:ext cx="6336128" cy="212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285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F042-1750-2F99-1E31-4CB54560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475B-6E44-F9BF-6B6A-5366FEDD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202BD34-BEF2-A176-065E-3BB3F77DC469}"/>
              </a:ext>
            </a:extLst>
          </p:cNvPr>
          <p:cNvSpPr txBox="1"/>
          <p:nvPr/>
        </p:nvSpPr>
        <p:spPr>
          <a:xfrm>
            <a:off x="916939" y="1793493"/>
            <a:ext cx="8342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neighborhood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pixels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8852E55-1B18-59CE-C6E7-4A72BE6460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80" y="2688230"/>
            <a:ext cx="8197485" cy="223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537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635502"/>
            <a:ext cx="8918235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6540" y="3441955"/>
            <a:ext cx="1707312" cy="998109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107" dirty="0">
                <a:latin typeface="Tahoma"/>
                <a:cs typeface="Tahoma"/>
              </a:rPr>
              <a:t>7x7</a:t>
            </a:r>
            <a:endParaRPr sz="3129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3x3</a:t>
            </a:r>
            <a:endParaRPr sz="3129" dirty="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BB9CB-DCA2-6E60-1E72-66DA9505962A}"/>
              </a:ext>
            </a:extLst>
          </p:cNvPr>
          <p:cNvSpPr txBox="1"/>
          <p:nvPr/>
        </p:nvSpPr>
        <p:spPr>
          <a:xfrm>
            <a:off x="5153148" y="1486869"/>
            <a:ext cx="60983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800" spc="-10" dirty="0">
                <a:solidFill>
                  <a:srgbClr val="0000FF"/>
                </a:solidFill>
                <a:latin typeface="Calibri"/>
                <a:cs typeface="Calibri"/>
              </a:rPr>
              <a:t>Convolution</a:t>
            </a:r>
            <a:r>
              <a:rPr lang="en-US"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filtering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operation</a:t>
            </a:r>
            <a:endParaRPr lang="en-US" sz="2800" dirty="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10" dirty="0">
                <a:latin typeface="Calibri"/>
                <a:cs typeface="Calibri"/>
              </a:rPr>
              <a:t>expresses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lang="en-US"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amount</a:t>
            </a:r>
            <a:r>
              <a:rPr lang="en-US" sz="24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lang="en-US"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overlap</a:t>
            </a:r>
            <a:r>
              <a:rPr lang="en-US"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one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function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shifted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over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another 	function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635502"/>
            <a:ext cx="7946685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0326" y="1455083"/>
            <a:ext cx="1707312" cy="998109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107" dirty="0">
                <a:latin typeface="Tahoma"/>
                <a:cs typeface="Tahoma"/>
              </a:rPr>
              <a:t>7x7</a:t>
            </a:r>
            <a:endParaRPr sz="3129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3x3</a:t>
            </a:r>
            <a:endParaRPr sz="3129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598945"/>
            <a:ext cx="7908585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7844" y="1197908"/>
            <a:ext cx="1707312" cy="998109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107" dirty="0">
                <a:latin typeface="Tahoma"/>
                <a:cs typeface="Tahoma"/>
              </a:rPr>
              <a:t>7x7</a:t>
            </a:r>
            <a:endParaRPr sz="3129" dirty="0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3x3</a:t>
            </a:r>
            <a:endParaRPr sz="3129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800" y="589420"/>
            <a:ext cx="7537966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7844" y="1197908"/>
            <a:ext cx="1707312" cy="998109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107" dirty="0">
                <a:latin typeface="Tahoma"/>
                <a:cs typeface="Tahoma"/>
              </a:rPr>
              <a:t>7x7</a:t>
            </a:r>
            <a:endParaRPr sz="3129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47" dirty="0">
                <a:latin typeface="Tahoma"/>
                <a:cs typeface="Tahoma"/>
              </a:rPr>
              <a:t>3x3</a:t>
            </a:r>
            <a:endParaRPr sz="3129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560925"/>
            <a:ext cx="744186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8" name="object 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7843" y="1197909"/>
            <a:ext cx="2010891" cy="144333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7x7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3x3 </a:t>
            </a:r>
            <a:r>
              <a:rPr sz="3129" spc="-73" dirty="0">
                <a:latin typeface="Tahoma"/>
                <a:cs typeface="Tahoma"/>
              </a:rPr>
              <a:t>Output: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113" dirty="0">
                <a:latin typeface="Tahoma"/>
                <a:cs typeface="Tahoma"/>
              </a:rPr>
              <a:t>5x5</a:t>
            </a:r>
            <a:endParaRPr sz="3129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627087"/>
            <a:ext cx="740376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9" name="object 9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7843" y="1197909"/>
            <a:ext cx="2010891" cy="144333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7x7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3x3 </a:t>
            </a:r>
            <a:r>
              <a:rPr sz="3129" spc="-73" dirty="0">
                <a:latin typeface="Tahoma"/>
                <a:cs typeface="Tahoma"/>
              </a:rPr>
              <a:t>Output: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113" dirty="0">
                <a:latin typeface="Tahoma"/>
                <a:cs typeface="Tahoma"/>
              </a:rPr>
              <a:t>5x5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5454" y="3962080"/>
            <a:ext cx="2897949" cy="1978092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1183881">
              <a:lnSpc>
                <a:spcPct val="102400"/>
              </a:lnSpc>
              <a:spcBef>
                <a:spcPts val="80"/>
              </a:spcBef>
            </a:pPr>
            <a:r>
              <a:rPr sz="3129" spc="-180" dirty="0">
                <a:latin typeface="Tahoma"/>
                <a:cs typeface="Tahoma"/>
              </a:rPr>
              <a:t>In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general </a:t>
            </a: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406" dirty="0">
                <a:latin typeface="Tahoma"/>
                <a:cs typeface="Tahoma"/>
              </a:rPr>
              <a:t>W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K</a:t>
            </a:r>
            <a:endParaRPr sz="3129">
              <a:latin typeface="Tahoma"/>
              <a:cs typeface="Tahoma"/>
            </a:endParaRPr>
          </a:p>
          <a:p>
            <a:pPr marL="16913">
              <a:spcBef>
                <a:spcPts val="93"/>
              </a:spcBef>
            </a:pPr>
            <a:r>
              <a:rPr sz="3129" spc="-67" dirty="0">
                <a:latin typeface="Tahoma"/>
                <a:cs typeface="Tahoma"/>
              </a:rPr>
              <a:t>Output: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338" dirty="0">
                <a:latin typeface="Tahoma"/>
                <a:cs typeface="Tahoma"/>
              </a:rPr>
              <a:t>W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213" dirty="0">
                <a:latin typeface="Tahoma"/>
                <a:cs typeface="Tahoma"/>
              </a:rPr>
              <a:t>–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K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712" dirty="0">
                <a:latin typeface="Tahoma"/>
                <a:cs typeface="Tahoma"/>
              </a:rPr>
              <a:t>+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1</a:t>
            </a:r>
            <a:endParaRPr sz="3129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106" y="635502"/>
            <a:ext cx="744186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10" name="object 10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9718" y="1605999"/>
          <a:ext cx="3889014" cy="385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77534" y="5495464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869" y="3268772"/>
            <a:ext cx="234237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80" dirty="0">
                <a:latin typeface="Tahoma"/>
                <a:cs typeface="Tahoma"/>
              </a:rPr>
              <a:t>7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7843" y="1197909"/>
            <a:ext cx="2010891" cy="144333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7x7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3x3 </a:t>
            </a:r>
            <a:r>
              <a:rPr sz="3129" spc="-73" dirty="0">
                <a:latin typeface="Tahoma"/>
                <a:cs typeface="Tahoma"/>
              </a:rPr>
              <a:t>Output: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113" dirty="0">
                <a:latin typeface="Tahoma"/>
                <a:cs typeface="Tahoma"/>
              </a:rPr>
              <a:t>5x5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5454" y="3962080"/>
            <a:ext cx="2897949" cy="1978092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1183881">
              <a:lnSpc>
                <a:spcPct val="102400"/>
              </a:lnSpc>
              <a:spcBef>
                <a:spcPts val="80"/>
              </a:spcBef>
            </a:pPr>
            <a:r>
              <a:rPr sz="3129" spc="-180" dirty="0">
                <a:latin typeface="Tahoma"/>
                <a:cs typeface="Tahoma"/>
              </a:rPr>
              <a:t>In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general </a:t>
            </a: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406" dirty="0">
                <a:latin typeface="Tahoma"/>
                <a:cs typeface="Tahoma"/>
              </a:rPr>
              <a:t>W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K</a:t>
            </a:r>
            <a:endParaRPr sz="3129">
              <a:latin typeface="Tahoma"/>
              <a:cs typeface="Tahoma"/>
            </a:endParaRPr>
          </a:p>
          <a:p>
            <a:pPr marL="16913">
              <a:spcBef>
                <a:spcPts val="93"/>
              </a:spcBef>
            </a:pPr>
            <a:r>
              <a:rPr sz="3129" spc="-67" dirty="0">
                <a:latin typeface="Tahoma"/>
                <a:cs typeface="Tahoma"/>
              </a:rPr>
              <a:t>Output: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338" dirty="0">
                <a:latin typeface="Tahoma"/>
                <a:cs typeface="Tahoma"/>
              </a:rPr>
              <a:t>W</a:t>
            </a:r>
            <a:r>
              <a:rPr sz="3129" spc="-293" dirty="0">
                <a:latin typeface="Tahoma"/>
                <a:cs typeface="Tahoma"/>
              </a:rPr>
              <a:t> </a:t>
            </a:r>
            <a:r>
              <a:rPr sz="3129" spc="-213" dirty="0">
                <a:latin typeface="Tahoma"/>
                <a:cs typeface="Tahoma"/>
              </a:rPr>
              <a:t>–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K</a:t>
            </a:r>
            <a:r>
              <a:rPr sz="3129" spc="-313" dirty="0">
                <a:latin typeface="Tahoma"/>
                <a:cs typeface="Tahoma"/>
              </a:rPr>
              <a:t> </a:t>
            </a:r>
            <a:r>
              <a:rPr sz="3129" spc="-712" dirty="0">
                <a:latin typeface="Tahoma"/>
                <a:cs typeface="Tahoma"/>
              </a:rPr>
              <a:t>+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1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5617" y="1197908"/>
            <a:ext cx="2981666" cy="144333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 algn="just">
              <a:lnSpc>
                <a:spcPct val="102400"/>
              </a:lnSpc>
              <a:spcBef>
                <a:spcPts val="80"/>
              </a:spcBef>
            </a:pPr>
            <a:r>
              <a:rPr sz="3129" u="heavy" spc="-47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Problem</a:t>
            </a:r>
            <a:r>
              <a:rPr sz="3129" spc="-47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r>
              <a:rPr sz="3129" spc="-16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33" dirty="0">
                <a:solidFill>
                  <a:srgbClr val="C00000"/>
                </a:solidFill>
                <a:latin typeface="Tahoma"/>
                <a:cs typeface="Tahoma"/>
              </a:rPr>
              <a:t>Feature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maps</a:t>
            </a:r>
            <a:r>
              <a:rPr sz="3129" spc="-20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shrink</a:t>
            </a:r>
            <a:r>
              <a:rPr sz="3129" spc="-1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27" dirty="0">
                <a:solidFill>
                  <a:srgbClr val="C00000"/>
                </a:solidFill>
                <a:latin typeface="Tahoma"/>
                <a:cs typeface="Tahoma"/>
              </a:rPr>
              <a:t>with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each</a:t>
            </a:r>
            <a:r>
              <a:rPr sz="3129" spc="-36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C00000"/>
                </a:solidFill>
                <a:latin typeface="Tahoma"/>
                <a:cs typeface="Tahoma"/>
              </a:rPr>
              <a:t>layer!</a:t>
            </a:r>
            <a:endParaRPr sz="3129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7843" y="1197909"/>
            <a:ext cx="2010891" cy="1443331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0"/>
              </a:spcBef>
            </a:pP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7x7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80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3x3 </a:t>
            </a:r>
            <a:r>
              <a:rPr sz="3129" spc="-73" dirty="0">
                <a:latin typeface="Tahoma"/>
                <a:cs typeface="Tahoma"/>
              </a:rPr>
              <a:t>Output: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113" dirty="0">
                <a:latin typeface="Tahoma"/>
                <a:cs typeface="Tahoma"/>
              </a:rPr>
              <a:t>5x5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2099" y="568207"/>
            <a:ext cx="747996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73" dirty="0"/>
              <a:t>Convolution:</a:t>
            </a:r>
            <a:r>
              <a:rPr sz="3995" spc="-346" dirty="0"/>
              <a:t> </a:t>
            </a:r>
            <a:r>
              <a:rPr sz="3995" spc="-33" dirty="0"/>
              <a:t>Spatial</a:t>
            </a:r>
            <a:r>
              <a:rPr sz="3995" spc="-366" dirty="0"/>
              <a:t> </a:t>
            </a:r>
            <a:r>
              <a:rPr sz="3995" spc="-40" dirty="0"/>
              <a:t>Dimensions</a:t>
            </a:r>
            <a:endParaRPr sz="3995" dirty="0"/>
          </a:p>
        </p:txBody>
      </p:sp>
      <p:sp>
        <p:nvSpPr>
          <p:cNvPr id="4" name="object 4"/>
          <p:cNvSpPr txBox="1"/>
          <p:nvPr/>
        </p:nvSpPr>
        <p:spPr>
          <a:xfrm>
            <a:off x="6027843" y="3570321"/>
            <a:ext cx="1718305" cy="1444185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7"/>
              </a:spcBef>
            </a:pPr>
            <a:r>
              <a:rPr sz="3129" spc="-180" dirty="0">
                <a:latin typeface="Tahoma"/>
                <a:cs typeface="Tahoma"/>
              </a:rPr>
              <a:t>In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53" dirty="0">
                <a:latin typeface="Tahoma"/>
                <a:cs typeface="Tahoma"/>
              </a:rPr>
              <a:t>general </a:t>
            </a:r>
            <a:r>
              <a:rPr sz="3129" spc="-113" dirty="0">
                <a:latin typeface="Tahoma"/>
                <a:cs typeface="Tahoma"/>
              </a:rPr>
              <a:t>Input: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406" dirty="0">
                <a:latin typeface="Tahoma"/>
                <a:cs typeface="Tahoma"/>
              </a:rPr>
              <a:t>W </a:t>
            </a:r>
            <a:r>
              <a:rPr sz="3129" spc="-47" dirty="0">
                <a:latin typeface="Tahoma"/>
                <a:cs typeface="Tahoma"/>
              </a:rPr>
              <a:t>Filter:</a:t>
            </a:r>
            <a:r>
              <a:rPr sz="3129" spc="-272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K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7843" y="5036106"/>
            <a:ext cx="3691989" cy="998109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53" dirty="0">
                <a:latin typeface="Tahoma"/>
                <a:cs typeface="Tahoma"/>
              </a:rPr>
              <a:t>Padding: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67" dirty="0">
                <a:latin typeface="Tahoma"/>
                <a:cs typeface="Tahoma"/>
              </a:rPr>
              <a:t>P</a:t>
            </a:r>
            <a:endParaRPr sz="3129">
              <a:latin typeface="Tahoma"/>
              <a:cs typeface="Tahoma"/>
            </a:endParaRPr>
          </a:p>
          <a:p>
            <a:pPr marL="16913">
              <a:spcBef>
                <a:spcPts val="87"/>
              </a:spcBef>
            </a:pPr>
            <a:r>
              <a:rPr sz="3129" spc="-73" dirty="0">
                <a:latin typeface="Tahoma"/>
                <a:cs typeface="Tahoma"/>
              </a:rPr>
              <a:t>Output:</a:t>
            </a:r>
            <a:r>
              <a:rPr sz="3129" spc="-326" dirty="0">
                <a:latin typeface="Tahoma"/>
                <a:cs typeface="Tahoma"/>
              </a:rPr>
              <a:t> </a:t>
            </a:r>
            <a:r>
              <a:rPr sz="3129" spc="-338" dirty="0">
                <a:latin typeface="Tahoma"/>
                <a:cs typeface="Tahoma"/>
              </a:rPr>
              <a:t>W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213" dirty="0">
                <a:latin typeface="Tahoma"/>
                <a:cs typeface="Tahoma"/>
              </a:rPr>
              <a:t>–</a:t>
            </a:r>
            <a:r>
              <a:rPr sz="3129" spc="-320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K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712" dirty="0">
                <a:latin typeface="Tahoma"/>
                <a:cs typeface="Tahoma"/>
              </a:rPr>
              <a:t>+</a:t>
            </a:r>
            <a:r>
              <a:rPr sz="3129" spc="-338" dirty="0">
                <a:latin typeface="Tahoma"/>
                <a:cs typeface="Tahoma"/>
              </a:rPr>
              <a:t> </a:t>
            </a:r>
            <a:r>
              <a:rPr sz="3129" spc="-166" dirty="0">
                <a:latin typeface="Tahoma"/>
                <a:cs typeface="Tahoma"/>
              </a:rPr>
              <a:t>1</a:t>
            </a:r>
            <a:r>
              <a:rPr sz="3129" spc="-333" dirty="0">
                <a:latin typeface="Tahoma"/>
                <a:cs typeface="Tahoma"/>
              </a:rPr>
              <a:t> </a:t>
            </a:r>
            <a:r>
              <a:rPr sz="3129" spc="-712" dirty="0">
                <a:latin typeface="Tahoma"/>
                <a:cs typeface="Tahoma"/>
              </a:rPr>
              <a:t>+</a:t>
            </a:r>
            <a:r>
              <a:rPr sz="3129" spc="-346" dirty="0">
                <a:latin typeface="Tahoma"/>
                <a:cs typeface="Tahoma"/>
              </a:rPr>
              <a:t> </a:t>
            </a:r>
            <a:r>
              <a:rPr sz="3129" spc="-33" dirty="0">
                <a:latin typeface="Tahoma"/>
                <a:cs typeface="Tahoma"/>
              </a:rPr>
              <a:t>2P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15617" y="1197908"/>
            <a:ext cx="2981666" cy="3805516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6913" marR="6765" algn="just">
              <a:lnSpc>
                <a:spcPct val="102400"/>
              </a:lnSpc>
              <a:spcBef>
                <a:spcPts val="80"/>
              </a:spcBef>
            </a:pPr>
            <a:r>
              <a:rPr sz="3129" u="heavy" spc="-47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Problem</a:t>
            </a:r>
            <a:r>
              <a:rPr sz="3129" spc="-47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r>
              <a:rPr sz="3129" spc="-16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33" dirty="0">
                <a:solidFill>
                  <a:srgbClr val="C00000"/>
                </a:solidFill>
                <a:latin typeface="Tahoma"/>
                <a:cs typeface="Tahoma"/>
              </a:rPr>
              <a:t>Feature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maps</a:t>
            </a:r>
            <a:r>
              <a:rPr sz="3129" spc="-20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shrink</a:t>
            </a:r>
            <a:r>
              <a:rPr sz="3129" spc="-1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27" dirty="0">
                <a:solidFill>
                  <a:srgbClr val="C00000"/>
                </a:solidFill>
                <a:latin typeface="Tahoma"/>
                <a:cs typeface="Tahoma"/>
              </a:rPr>
              <a:t>with </a:t>
            </a:r>
            <a:r>
              <a:rPr sz="3129" spc="-40" dirty="0">
                <a:solidFill>
                  <a:srgbClr val="C00000"/>
                </a:solidFill>
                <a:latin typeface="Tahoma"/>
                <a:cs typeface="Tahoma"/>
              </a:rPr>
              <a:t>each</a:t>
            </a:r>
            <a:r>
              <a:rPr sz="3129" spc="-366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C00000"/>
                </a:solidFill>
                <a:latin typeface="Tahoma"/>
                <a:cs typeface="Tahoma"/>
              </a:rPr>
              <a:t>layer!</a:t>
            </a:r>
            <a:endParaRPr sz="3129">
              <a:latin typeface="Tahoma"/>
              <a:cs typeface="Tahoma"/>
            </a:endParaRPr>
          </a:p>
          <a:p>
            <a:pPr marL="16913" marR="163206">
              <a:lnSpc>
                <a:spcPct val="102400"/>
              </a:lnSpc>
              <a:spcBef>
                <a:spcPts val="3090"/>
              </a:spcBef>
            </a:pPr>
            <a:r>
              <a:rPr sz="3129" u="heavy" spc="-33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ahoma"/>
                <a:cs typeface="Tahoma"/>
              </a:rPr>
              <a:t>Solution</a:t>
            </a:r>
            <a:r>
              <a:rPr sz="3129" spc="-33" dirty="0">
                <a:solidFill>
                  <a:srgbClr val="00AF50"/>
                </a:solidFill>
                <a:latin typeface="Tahoma"/>
                <a:cs typeface="Tahoma"/>
              </a:rPr>
              <a:t>:</a:t>
            </a:r>
            <a:r>
              <a:rPr sz="3129" spc="-213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spc="-33" dirty="0">
                <a:solidFill>
                  <a:srgbClr val="00AF50"/>
                </a:solidFill>
                <a:latin typeface="Tahoma"/>
                <a:cs typeface="Tahoma"/>
              </a:rPr>
              <a:t>Add </a:t>
            </a:r>
            <a:r>
              <a:rPr sz="3129" b="1" spc="-180" dirty="0">
                <a:solidFill>
                  <a:srgbClr val="00AF50"/>
                </a:solidFill>
                <a:latin typeface="Tahoma"/>
                <a:cs typeface="Tahoma"/>
              </a:rPr>
              <a:t>padding</a:t>
            </a:r>
            <a:r>
              <a:rPr sz="3129" b="1" spc="-166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00AF50"/>
                </a:solidFill>
                <a:latin typeface="Tahoma"/>
                <a:cs typeface="Tahoma"/>
              </a:rPr>
              <a:t>around </a:t>
            </a:r>
            <a:r>
              <a:rPr sz="3129" spc="-40" dirty="0">
                <a:solidFill>
                  <a:srgbClr val="00AF50"/>
                </a:solidFill>
                <a:latin typeface="Tahoma"/>
                <a:cs typeface="Tahoma"/>
              </a:rPr>
              <a:t>the</a:t>
            </a:r>
            <a:r>
              <a:rPr sz="3129" spc="-286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dirty="0">
                <a:solidFill>
                  <a:srgbClr val="00AF50"/>
                </a:solidFill>
                <a:latin typeface="Tahoma"/>
                <a:cs typeface="Tahoma"/>
              </a:rPr>
              <a:t>input</a:t>
            </a:r>
            <a:r>
              <a:rPr sz="3129" spc="-266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00AF50"/>
                </a:solidFill>
                <a:latin typeface="Tahoma"/>
                <a:cs typeface="Tahoma"/>
              </a:rPr>
              <a:t>before </a:t>
            </a:r>
            <a:r>
              <a:rPr sz="3129" dirty="0">
                <a:solidFill>
                  <a:srgbClr val="00AF50"/>
                </a:solidFill>
                <a:latin typeface="Tahoma"/>
                <a:cs typeface="Tahoma"/>
              </a:rPr>
              <a:t>sliding</a:t>
            </a:r>
            <a:r>
              <a:rPr sz="3129" spc="-326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spc="-40" dirty="0">
                <a:solidFill>
                  <a:srgbClr val="00AF50"/>
                </a:solidFill>
                <a:latin typeface="Tahoma"/>
                <a:cs typeface="Tahoma"/>
              </a:rPr>
              <a:t>the</a:t>
            </a:r>
            <a:r>
              <a:rPr sz="3129" spc="-293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00AF50"/>
                </a:solidFill>
                <a:latin typeface="Tahoma"/>
                <a:cs typeface="Tahoma"/>
              </a:rPr>
              <a:t>filter</a:t>
            </a:r>
            <a:endParaRPr sz="3129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79378"/>
              </p:ext>
            </p:extLst>
          </p:nvPr>
        </p:nvGraphicFramePr>
        <p:xfrm>
          <a:off x="398997" y="1334962"/>
          <a:ext cx="5000162" cy="4962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5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669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83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83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007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2007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17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17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43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43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599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599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134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293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9526" y="1888603"/>
            <a:ext cx="1292111" cy="3706364"/>
            <a:chOff x="1060314" y="1418200"/>
            <a:chExt cx="970280" cy="2783205"/>
          </a:xfrm>
        </p:grpSpPr>
        <p:sp>
          <p:nvSpPr>
            <p:cNvPr id="3" name="object 3"/>
            <p:cNvSpPr/>
            <p:nvPr/>
          </p:nvSpPr>
          <p:spPr>
            <a:xfrm>
              <a:off x="1069847" y="2167419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281811" y="1427733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39"/>
                  </a:lnTo>
                  <a:lnTo>
                    <a:pt x="739013" y="2024252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069847" y="1427733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3" y="0"/>
                  </a:lnTo>
                  <a:lnTo>
                    <a:pt x="0" y="739648"/>
                  </a:lnTo>
                  <a:lnTo>
                    <a:pt x="211963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069847" y="1427733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3" y="0"/>
                  </a:lnTo>
                  <a:lnTo>
                    <a:pt x="950976" y="0"/>
                  </a:lnTo>
                  <a:lnTo>
                    <a:pt x="950976" y="2024252"/>
                  </a:lnTo>
                  <a:lnTo>
                    <a:pt x="211963" y="2763939"/>
                  </a:lnTo>
                  <a:lnTo>
                    <a:pt x="0" y="2763939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3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3" y="739648"/>
                  </a:moveTo>
                  <a:lnTo>
                    <a:pt x="211963" y="27639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21131" y="524037"/>
            <a:ext cx="5002552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33" dirty="0"/>
              <a:t>Convolution</a:t>
            </a:r>
            <a:r>
              <a:rPr sz="4794" spc="-459" dirty="0"/>
              <a:t> </a:t>
            </a:r>
            <a:r>
              <a:rPr sz="4794" spc="-80" dirty="0"/>
              <a:t>Layer</a:t>
            </a:r>
            <a:endParaRPr sz="4794" dirty="0"/>
          </a:p>
        </p:txBody>
      </p:sp>
      <p:grpSp>
        <p:nvGrpSpPr>
          <p:cNvPr id="8" name="object 8"/>
          <p:cNvGrpSpPr/>
          <p:nvPr/>
        </p:nvGrpSpPr>
        <p:grpSpPr>
          <a:xfrm>
            <a:off x="5510987" y="3058606"/>
            <a:ext cx="403362" cy="1110303"/>
            <a:chOff x="4132698" y="2296786"/>
            <a:chExt cx="302895" cy="833755"/>
          </a:xfrm>
        </p:grpSpPr>
        <p:sp>
          <p:nvSpPr>
            <p:cNvPr id="9" name="object 9"/>
            <p:cNvSpPr/>
            <p:nvPr/>
          </p:nvSpPr>
          <p:spPr>
            <a:xfrm>
              <a:off x="4142232" y="2457805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4439" y="230631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7" y="0"/>
                  </a:moveTo>
                  <a:lnTo>
                    <a:pt x="0" y="151510"/>
                  </a:lnTo>
                  <a:lnTo>
                    <a:pt x="0" y="814577"/>
                  </a:lnTo>
                  <a:lnTo>
                    <a:pt x="151257" y="663066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2232" y="230631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0"/>
                  </a:lnTo>
                  <a:lnTo>
                    <a:pt x="132206" y="151510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2232" y="230631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5">
                  <a:moveTo>
                    <a:pt x="0" y="151510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7"/>
                  </a:lnTo>
                  <a:lnTo>
                    <a:pt x="0" y="814577"/>
                  </a:lnTo>
                  <a:lnTo>
                    <a:pt x="0" y="151510"/>
                  </a:lnTo>
                  <a:close/>
                </a:path>
                <a:path w="283845" h="814705">
                  <a:moveTo>
                    <a:pt x="0" y="151510"/>
                  </a:moveTo>
                  <a:lnTo>
                    <a:pt x="132206" y="151510"/>
                  </a:lnTo>
                  <a:lnTo>
                    <a:pt x="283463" y="0"/>
                  </a:lnTo>
                </a:path>
                <a:path w="283845" h="814705">
                  <a:moveTo>
                    <a:pt x="132206" y="151510"/>
                  </a:moveTo>
                  <a:lnTo>
                    <a:pt x="132206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13827" y="1209578"/>
            <a:ext cx="10283616" cy="4795815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52" dirty="0">
                <a:latin typeface="Tahoma"/>
                <a:cs typeface="Tahoma"/>
              </a:rPr>
              <a:t>32x32x3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image</a:t>
            </a:r>
            <a:endParaRPr sz="3129" dirty="0">
              <a:latin typeface="Tahoma"/>
              <a:cs typeface="Tahoma"/>
            </a:endParaRPr>
          </a:p>
          <a:p>
            <a:pPr>
              <a:spcBef>
                <a:spcPts val="678"/>
              </a:spcBef>
            </a:pPr>
            <a:endParaRPr sz="3129" dirty="0">
              <a:latin typeface="Tahoma"/>
              <a:cs typeface="Tahoma"/>
            </a:endParaRPr>
          </a:p>
          <a:p>
            <a:pPr marL="45664" algn="ctr">
              <a:spcBef>
                <a:spcPts val="7"/>
              </a:spcBef>
            </a:pPr>
            <a:r>
              <a:rPr sz="3129" spc="-140" dirty="0">
                <a:latin typeface="Tahoma"/>
                <a:cs typeface="Tahoma"/>
              </a:rPr>
              <a:t>5x5x3</a:t>
            </a:r>
            <a:r>
              <a:rPr sz="3129" spc="-300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filter</a:t>
            </a:r>
            <a:endParaRPr sz="3129" dirty="0">
              <a:latin typeface="Tahoma"/>
              <a:cs typeface="Tahoma"/>
            </a:endParaRPr>
          </a:p>
          <a:p>
            <a:pPr marL="1711554">
              <a:spcBef>
                <a:spcPts val="2091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 dirty="0">
              <a:latin typeface="Tahoma"/>
              <a:cs typeface="Tahoma"/>
            </a:endParaRPr>
          </a:p>
          <a:p>
            <a:pPr marL="5943930">
              <a:spcBef>
                <a:spcPts val="2124"/>
              </a:spcBef>
            </a:pPr>
            <a:r>
              <a:rPr sz="2397" spc="-53" dirty="0">
                <a:latin typeface="Tahoma"/>
                <a:cs typeface="Tahoma"/>
              </a:rPr>
              <a:t>Convolve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the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filter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40" dirty="0">
                <a:latin typeface="Tahoma"/>
                <a:cs typeface="Tahoma"/>
              </a:rPr>
              <a:t>with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image</a:t>
            </a:r>
            <a:endParaRPr sz="2397" dirty="0">
              <a:latin typeface="Tahoma"/>
              <a:cs typeface="Tahoma"/>
            </a:endParaRPr>
          </a:p>
          <a:p>
            <a:pPr marL="5943930" marR="6765">
              <a:spcBef>
                <a:spcPts val="7"/>
              </a:spcBef>
            </a:pPr>
            <a:r>
              <a:rPr sz="2397" spc="-87" dirty="0">
                <a:latin typeface="Tahoma"/>
                <a:cs typeface="Tahoma"/>
              </a:rPr>
              <a:t>i.e.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“slide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80" dirty="0">
                <a:latin typeface="Tahoma"/>
                <a:cs typeface="Tahoma"/>
              </a:rPr>
              <a:t>over</a:t>
            </a:r>
            <a:r>
              <a:rPr sz="2397" spc="-213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28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image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spatially, </a:t>
            </a:r>
            <a:r>
              <a:rPr sz="2397" spc="-47" dirty="0">
                <a:latin typeface="Tahoma"/>
                <a:cs typeface="Tahoma"/>
              </a:rPr>
              <a:t>computing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dot</a:t>
            </a:r>
            <a:r>
              <a:rPr sz="2397" spc="-24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products”</a:t>
            </a:r>
            <a:endParaRPr sz="2397" dirty="0">
              <a:latin typeface="Tahoma"/>
              <a:cs typeface="Tahoma"/>
            </a:endParaRPr>
          </a:p>
          <a:p>
            <a:pPr marL="1151746">
              <a:spcBef>
                <a:spcPts val="258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 dirty="0">
              <a:latin typeface="Tahoma"/>
              <a:cs typeface="Tahoma"/>
            </a:endParaRPr>
          </a:p>
          <a:p>
            <a:pPr marL="35939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9526" y="1888603"/>
            <a:ext cx="1292111" cy="3706364"/>
            <a:chOff x="1060314" y="1418200"/>
            <a:chExt cx="970280" cy="2783205"/>
          </a:xfrm>
        </p:grpSpPr>
        <p:sp>
          <p:nvSpPr>
            <p:cNvPr id="3" name="object 3"/>
            <p:cNvSpPr/>
            <p:nvPr/>
          </p:nvSpPr>
          <p:spPr>
            <a:xfrm>
              <a:off x="1069847" y="2167419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281811" y="1427733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39"/>
                  </a:lnTo>
                  <a:lnTo>
                    <a:pt x="739013" y="2024252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069847" y="1427733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3" y="0"/>
                  </a:lnTo>
                  <a:lnTo>
                    <a:pt x="0" y="739648"/>
                  </a:lnTo>
                  <a:lnTo>
                    <a:pt x="211963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069847" y="1427733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3" y="0"/>
                  </a:lnTo>
                  <a:lnTo>
                    <a:pt x="950976" y="0"/>
                  </a:lnTo>
                  <a:lnTo>
                    <a:pt x="950976" y="2024252"/>
                  </a:lnTo>
                  <a:lnTo>
                    <a:pt x="211963" y="2763939"/>
                  </a:lnTo>
                  <a:lnTo>
                    <a:pt x="0" y="2763939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3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3" y="739648"/>
                  </a:moveTo>
                  <a:lnTo>
                    <a:pt x="211963" y="27639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17567" y="524891"/>
            <a:ext cx="4945402" cy="756552"/>
          </a:xfrm>
          <a:prstGeom prst="rect">
            <a:avLst/>
          </a:prstGeom>
        </p:spPr>
        <p:txBody>
          <a:bodyPr vert="horz" wrap="square" lIns="0" tIns="18604" rIns="0" bIns="0" rtlCol="0" anchor="t">
            <a:spAutoFit/>
          </a:bodyPr>
          <a:lstStyle/>
          <a:p>
            <a:pPr marL="16913">
              <a:spcBef>
                <a:spcPts val="146"/>
              </a:spcBef>
            </a:pPr>
            <a:r>
              <a:rPr sz="4794" spc="-33" dirty="0"/>
              <a:t>Convolution</a:t>
            </a:r>
            <a:r>
              <a:rPr sz="4794" spc="-459" dirty="0"/>
              <a:t> </a:t>
            </a:r>
            <a:r>
              <a:rPr sz="4794" spc="-80" dirty="0"/>
              <a:t>Layer</a:t>
            </a:r>
            <a:endParaRPr sz="4794" dirty="0"/>
          </a:p>
        </p:txBody>
      </p:sp>
      <p:grpSp>
        <p:nvGrpSpPr>
          <p:cNvPr id="8" name="object 8"/>
          <p:cNvGrpSpPr/>
          <p:nvPr/>
        </p:nvGrpSpPr>
        <p:grpSpPr>
          <a:xfrm>
            <a:off x="5510987" y="3058606"/>
            <a:ext cx="403362" cy="1110303"/>
            <a:chOff x="4132698" y="2296786"/>
            <a:chExt cx="302895" cy="833755"/>
          </a:xfrm>
        </p:grpSpPr>
        <p:sp>
          <p:nvSpPr>
            <p:cNvPr id="9" name="object 9"/>
            <p:cNvSpPr/>
            <p:nvPr/>
          </p:nvSpPr>
          <p:spPr>
            <a:xfrm>
              <a:off x="4142232" y="2457805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4439" y="230631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7" y="0"/>
                  </a:moveTo>
                  <a:lnTo>
                    <a:pt x="0" y="151510"/>
                  </a:lnTo>
                  <a:lnTo>
                    <a:pt x="0" y="814577"/>
                  </a:lnTo>
                  <a:lnTo>
                    <a:pt x="151257" y="663066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2232" y="230631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0"/>
                  </a:lnTo>
                  <a:lnTo>
                    <a:pt x="132206" y="151510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2232" y="230631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5">
                  <a:moveTo>
                    <a:pt x="0" y="151510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7"/>
                  </a:lnTo>
                  <a:lnTo>
                    <a:pt x="0" y="814577"/>
                  </a:lnTo>
                  <a:lnTo>
                    <a:pt x="0" y="151510"/>
                  </a:lnTo>
                  <a:close/>
                </a:path>
                <a:path w="283845" h="814705">
                  <a:moveTo>
                    <a:pt x="0" y="151510"/>
                  </a:moveTo>
                  <a:lnTo>
                    <a:pt x="132206" y="151510"/>
                  </a:lnTo>
                  <a:lnTo>
                    <a:pt x="283463" y="0"/>
                  </a:lnTo>
                </a:path>
                <a:path w="283845" h="814705">
                  <a:moveTo>
                    <a:pt x="132206" y="151510"/>
                  </a:moveTo>
                  <a:lnTo>
                    <a:pt x="132206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13827" y="1254794"/>
            <a:ext cx="10283616" cy="4795815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52" dirty="0">
                <a:latin typeface="Tahoma"/>
                <a:cs typeface="Tahoma"/>
              </a:rPr>
              <a:t>32x32x</a:t>
            </a:r>
            <a:r>
              <a:rPr sz="3129" spc="-152" dirty="0">
                <a:solidFill>
                  <a:srgbClr val="0000FF"/>
                </a:solidFill>
                <a:latin typeface="Tahoma"/>
                <a:cs typeface="Tahoma"/>
              </a:rPr>
              <a:t>3</a:t>
            </a:r>
            <a:r>
              <a:rPr sz="3129" spc="-26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image</a:t>
            </a:r>
            <a:endParaRPr sz="3129" dirty="0">
              <a:latin typeface="Tahoma"/>
              <a:cs typeface="Tahoma"/>
            </a:endParaRPr>
          </a:p>
          <a:p>
            <a:pPr>
              <a:spcBef>
                <a:spcPts val="678"/>
              </a:spcBef>
            </a:pPr>
            <a:endParaRPr sz="3129" dirty="0">
              <a:latin typeface="Tahoma"/>
              <a:cs typeface="Tahoma"/>
            </a:endParaRPr>
          </a:p>
          <a:p>
            <a:pPr marL="43973" algn="ctr">
              <a:spcBef>
                <a:spcPts val="7"/>
              </a:spcBef>
            </a:pPr>
            <a:r>
              <a:rPr sz="3129" spc="-140" dirty="0">
                <a:latin typeface="Tahoma"/>
                <a:cs typeface="Tahoma"/>
              </a:rPr>
              <a:t>5x5x</a:t>
            </a:r>
            <a:r>
              <a:rPr sz="3129" spc="-140" dirty="0">
                <a:solidFill>
                  <a:srgbClr val="0000FF"/>
                </a:solidFill>
                <a:latin typeface="Tahoma"/>
                <a:cs typeface="Tahoma"/>
              </a:rPr>
              <a:t>3</a:t>
            </a:r>
            <a:r>
              <a:rPr sz="3129" spc="-3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filter</a:t>
            </a:r>
            <a:endParaRPr sz="3129" dirty="0">
              <a:latin typeface="Tahoma"/>
              <a:cs typeface="Tahoma"/>
            </a:endParaRPr>
          </a:p>
          <a:p>
            <a:pPr marL="1711554">
              <a:spcBef>
                <a:spcPts val="2091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 dirty="0">
              <a:latin typeface="Tahoma"/>
              <a:cs typeface="Tahoma"/>
            </a:endParaRPr>
          </a:p>
          <a:p>
            <a:pPr marL="5943930">
              <a:spcBef>
                <a:spcPts val="2124"/>
              </a:spcBef>
            </a:pPr>
            <a:r>
              <a:rPr sz="2397" spc="-53" dirty="0">
                <a:latin typeface="Tahoma"/>
                <a:cs typeface="Tahoma"/>
              </a:rPr>
              <a:t>Convolve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the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filter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40" dirty="0">
                <a:latin typeface="Tahoma"/>
                <a:cs typeface="Tahoma"/>
              </a:rPr>
              <a:t>with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image</a:t>
            </a:r>
            <a:endParaRPr sz="2397" dirty="0">
              <a:latin typeface="Tahoma"/>
              <a:cs typeface="Tahoma"/>
            </a:endParaRPr>
          </a:p>
          <a:p>
            <a:pPr marL="5943930" marR="6765">
              <a:spcBef>
                <a:spcPts val="7"/>
              </a:spcBef>
            </a:pPr>
            <a:r>
              <a:rPr sz="2397" spc="-87" dirty="0">
                <a:latin typeface="Tahoma"/>
                <a:cs typeface="Tahoma"/>
              </a:rPr>
              <a:t>i.e.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“slide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80" dirty="0">
                <a:latin typeface="Tahoma"/>
                <a:cs typeface="Tahoma"/>
              </a:rPr>
              <a:t>over</a:t>
            </a:r>
            <a:r>
              <a:rPr sz="2397" spc="-213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28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image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spatially, </a:t>
            </a:r>
            <a:r>
              <a:rPr sz="2397" spc="-47" dirty="0">
                <a:latin typeface="Tahoma"/>
                <a:cs typeface="Tahoma"/>
              </a:rPr>
              <a:t>computing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dot</a:t>
            </a:r>
            <a:r>
              <a:rPr sz="2397" spc="-24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products”</a:t>
            </a:r>
            <a:endParaRPr sz="2397" dirty="0">
              <a:latin typeface="Tahoma"/>
              <a:cs typeface="Tahoma"/>
            </a:endParaRPr>
          </a:p>
          <a:p>
            <a:pPr marL="1151746">
              <a:spcBef>
                <a:spcPts val="258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 dirty="0">
              <a:latin typeface="Tahoma"/>
              <a:cs typeface="Tahoma"/>
            </a:endParaRPr>
          </a:p>
          <a:p>
            <a:pPr marL="35939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1150" y="694644"/>
            <a:ext cx="3640406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Filters</a:t>
            </a:r>
            <a:r>
              <a:rPr sz="2397" spc="-16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0000FF"/>
                </a:solidFill>
                <a:latin typeface="Tahoma"/>
                <a:cs typeface="Tahoma"/>
              </a:rPr>
              <a:t>always</a:t>
            </a:r>
            <a:r>
              <a:rPr sz="2397" spc="-1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0000FF"/>
                </a:solidFill>
                <a:latin typeface="Tahoma"/>
                <a:cs typeface="Tahoma"/>
              </a:rPr>
              <a:t>extend</a:t>
            </a:r>
            <a:r>
              <a:rPr sz="2397" spc="-31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53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2397" spc="-152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27" dirty="0">
                <a:solidFill>
                  <a:srgbClr val="0000FF"/>
                </a:solidFill>
                <a:latin typeface="Tahoma"/>
                <a:cs typeface="Tahoma"/>
              </a:rPr>
              <a:t>full depth</a:t>
            </a:r>
            <a:r>
              <a:rPr sz="2397" spc="-3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27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2397" spc="-272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53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2397" spc="-28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dirty="0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sz="2397" spc="-28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13" dirty="0">
                <a:solidFill>
                  <a:srgbClr val="0000FF"/>
                </a:solidFill>
                <a:latin typeface="Tahoma"/>
                <a:cs typeface="Tahoma"/>
              </a:rPr>
              <a:t>volume</a:t>
            </a:r>
            <a:endParaRPr sz="2397" dirty="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37875" y="1462250"/>
            <a:ext cx="791503" cy="707786"/>
          </a:xfrm>
          <a:custGeom>
            <a:avLst/>
            <a:gdLst/>
            <a:ahLst/>
            <a:cxnLst/>
            <a:rect l="l" t="t" r="r" b="b"/>
            <a:pathLst>
              <a:path w="594360" h="531494">
                <a:moveTo>
                  <a:pt x="31495" y="451992"/>
                </a:moveTo>
                <a:lnTo>
                  <a:pt x="0" y="531113"/>
                </a:lnTo>
                <a:lnTo>
                  <a:pt x="82168" y="508888"/>
                </a:lnTo>
                <a:lnTo>
                  <a:pt x="68595" y="493649"/>
                </a:lnTo>
                <a:lnTo>
                  <a:pt x="51562" y="493649"/>
                </a:lnTo>
                <a:lnTo>
                  <a:pt x="43179" y="484124"/>
                </a:lnTo>
                <a:lnTo>
                  <a:pt x="52613" y="475704"/>
                </a:lnTo>
                <a:lnTo>
                  <a:pt x="31495" y="451992"/>
                </a:lnTo>
                <a:close/>
              </a:path>
              <a:path w="594360" h="531494">
                <a:moveTo>
                  <a:pt x="52613" y="475704"/>
                </a:moveTo>
                <a:lnTo>
                  <a:pt x="43179" y="484124"/>
                </a:lnTo>
                <a:lnTo>
                  <a:pt x="51562" y="493649"/>
                </a:lnTo>
                <a:lnTo>
                  <a:pt x="61052" y="485178"/>
                </a:lnTo>
                <a:lnTo>
                  <a:pt x="52613" y="475704"/>
                </a:lnTo>
                <a:close/>
              </a:path>
              <a:path w="594360" h="531494">
                <a:moveTo>
                  <a:pt x="61052" y="485178"/>
                </a:moveTo>
                <a:lnTo>
                  <a:pt x="51562" y="493649"/>
                </a:lnTo>
                <a:lnTo>
                  <a:pt x="68595" y="493649"/>
                </a:lnTo>
                <a:lnTo>
                  <a:pt x="61052" y="485178"/>
                </a:lnTo>
                <a:close/>
              </a:path>
              <a:path w="594360" h="531494">
                <a:moveTo>
                  <a:pt x="585596" y="0"/>
                </a:moveTo>
                <a:lnTo>
                  <a:pt x="52613" y="475704"/>
                </a:lnTo>
                <a:lnTo>
                  <a:pt x="61052" y="485178"/>
                </a:lnTo>
                <a:lnTo>
                  <a:pt x="593978" y="9525"/>
                </a:lnTo>
                <a:lnTo>
                  <a:pt x="58559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6" name="object 16"/>
          <p:cNvSpPr/>
          <p:nvPr/>
        </p:nvSpPr>
        <p:spPr>
          <a:xfrm>
            <a:off x="3287349" y="1077213"/>
            <a:ext cx="3441684" cy="355162"/>
          </a:xfrm>
          <a:custGeom>
            <a:avLst/>
            <a:gdLst/>
            <a:ahLst/>
            <a:cxnLst/>
            <a:rect l="l" t="t" r="r" b="b"/>
            <a:pathLst>
              <a:path w="2584450" h="266700">
                <a:moveTo>
                  <a:pt x="72516" y="190119"/>
                </a:moveTo>
                <a:lnTo>
                  <a:pt x="0" y="234823"/>
                </a:lnTo>
                <a:lnTo>
                  <a:pt x="79247" y="266192"/>
                </a:lnTo>
                <a:lnTo>
                  <a:pt x="76539" y="235585"/>
                </a:lnTo>
                <a:lnTo>
                  <a:pt x="63753" y="235585"/>
                </a:lnTo>
                <a:lnTo>
                  <a:pt x="62737" y="222885"/>
                </a:lnTo>
                <a:lnTo>
                  <a:pt x="75317" y="221772"/>
                </a:lnTo>
                <a:lnTo>
                  <a:pt x="72516" y="190119"/>
                </a:lnTo>
                <a:close/>
              </a:path>
              <a:path w="2584450" h="266700">
                <a:moveTo>
                  <a:pt x="75317" y="221772"/>
                </a:moveTo>
                <a:lnTo>
                  <a:pt x="62737" y="222885"/>
                </a:lnTo>
                <a:lnTo>
                  <a:pt x="63664" y="234463"/>
                </a:lnTo>
                <a:lnTo>
                  <a:pt x="63753" y="235585"/>
                </a:lnTo>
                <a:lnTo>
                  <a:pt x="76440" y="234463"/>
                </a:lnTo>
                <a:lnTo>
                  <a:pt x="75416" y="222885"/>
                </a:lnTo>
                <a:lnTo>
                  <a:pt x="75317" y="221772"/>
                </a:lnTo>
                <a:close/>
              </a:path>
              <a:path w="2584450" h="266700">
                <a:moveTo>
                  <a:pt x="76440" y="234463"/>
                </a:moveTo>
                <a:lnTo>
                  <a:pt x="63753" y="235585"/>
                </a:lnTo>
                <a:lnTo>
                  <a:pt x="76539" y="235585"/>
                </a:lnTo>
                <a:lnTo>
                  <a:pt x="76440" y="234463"/>
                </a:lnTo>
                <a:close/>
              </a:path>
              <a:path w="2584450" h="266700">
                <a:moveTo>
                  <a:pt x="2583307" y="0"/>
                </a:moveTo>
                <a:lnTo>
                  <a:pt x="75317" y="221772"/>
                </a:lnTo>
                <a:lnTo>
                  <a:pt x="76440" y="234463"/>
                </a:lnTo>
                <a:lnTo>
                  <a:pt x="2584449" y="12700"/>
                </a:lnTo>
                <a:lnTo>
                  <a:pt x="258330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8" name="object 1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4086" y="2875370"/>
            <a:ext cx="2535177" cy="1111148"/>
            <a:chOff x="1626933" y="2159190"/>
            <a:chExt cx="1903730" cy="834390"/>
          </a:xfrm>
        </p:grpSpPr>
        <p:sp>
          <p:nvSpPr>
            <p:cNvPr id="3" name="object 3"/>
            <p:cNvSpPr/>
            <p:nvPr/>
          </p:nvSpPr>
          <p:spPr>
            <a:xfrm>
              <a:off x="1636775" y="2320518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768982" y="2169032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7"/>
                  </a:lnTo>
                  <a:lnTo>
                    <a:pt x="151256" y="663066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636775" y="2169032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636775" y="2169032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7"/>
                  </a:lnTo>
                  <a:lnTo>
                    <a:pt x="0" y="814577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3236975" y="2434462"/>
              <a:ext cx="283845" cy="274955"/>
            </a:xfrm>
            <a:custGeom>
              <a:avLst/>
              <a:gdLst/>
              <a:ahLst/>
              <a:cxnLst/>
              <a:rect l="l" t="t" r="r" b="b"/>
              <a:pathLst>
                <a:path w="283845" h="274955">
                  <a:moveTo>
                    <a:pt x="141732" y="0"/>
                  </a:moveTo>
                  <a:lnTo>
                    <a:pt x="96950" y="6999"/>
                  </a:lnTo>
                  <a:lnTo>
                    <a:pt x="58046" y="26489"/>
                  </a:lnTo>
                  <a:lnTo>
                    <a:pt x="27358" y="56208"/>
                  </a:lnTo>
                  <a:lnTo>
                    <a:pt x="7229" y="93894"/>
                  </a:lnTo>
                  <a:lnTo>
                    <a:pt x="0" y="137286"/>
                  </a:lnTo>
                  <a:lnTo>
                    <a:pt x="7229" y="180679"/>
                  </a:lnTo>
                  <a:lnTo>
                    <a:pt x="27358" y="218365"/>
                  </a:lnTo>
                  <a:lnTo>
                    <a:pt x="58046" y="248084"/>
                  </a:lnTo>
                  <a:lnTo>
                    <a:pt x="96950" y="267574"/>
                  </a:lnTo>
                  <a:lnTo>
                    <a:pt x="141732" y="274573"/>
                  </a:lnTo>
                  <a:lnTo>
                    <a:pt x="186513" y="267574"/>
                  </a:lnTo>
                  <a:lnTo>
                    <a:pt x="225417" y="248084"/>
                  </a:lnTo>
                  <a:lnTo>
                    <a:pt x="256105" y="218365"/>
                  </a:lnTo>
                  <a:lnTo>
                    <a:pt x="276234" y="180679"/>
                  </a:lnTo>
                  <a:lnTo>
                    <a:pt x="283463" y="137286"/>
                  </a:lnTo>
                  <a:lnTo>
                    <a:pt x="276234" y="93894"/>
                  </a:lnTo>
                  <a:lnTo>
                    <a:pt x="256105" y="56208"/>
                  </a:lnTo>
                  <a:lnTo>
                    <a:pt x="225417" y="26489"/>
                  </a:lnTo>
                  <a:lnTo>
                    <a:pt x="186513" y="6999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746503" y="2187320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4428"/>
                  </a:moveTo>
                  <a:lnTo>
                    <a:pt x="1497701" y="341036"/>
                  </a:lnTo>
                  <a:lnTo>
                    <a:pt x="1517830" y="303350"/>
                  </a:lnTo>
                  <a:lnTo>
                    <a:pt x="1548518" y="273631"/>
                  </a:lnTo>
                  <a:lnTo>
                    <a:pt x="1587422" y="254141"/>
                  </a:lnTo>
                  <a:lnTo>
                    <a:pt x="1632204" y="247142"/>
                  </a:lnTo>
                  <a:lnTo>
                    <a:pt x="1676985" y="254141"/>
                  </a:lnTo>
                  <a:lnTo>
                    <a:pt x="1715889" y="273631"/>
                  </a:lnTo>
                  <a:lnTo>
                    <a:pt x="1746577" y="303350"/>
                  </a:lnTo>
                  <a:lnTo>
                    <a:pt x="1766706" y="341036"/>
                  </a:lnTo>
                  <a:lnTo>
                    <a:pt x="1773935" y="384428"/>
                  </a:lnTo>
                  <a:lnTo>
                    <a:pt x="1766706" y="427821"/>
                  </a:lnTo>
                  <a:lnTo>
                    <a:pt x="1746577" y="465507"/>
                  </a:lnTo>
                  <a:lnTo>
                    <a:pt x="1715889" y="495226"/>
                  </a:lnTo>
                  <a:lnTo>
                    <a:pt x="1676985" y="514716"/>
                  </a:lnTo>
                  <a:lnTo>
                    <a:pt x="1632204" y="521715"/>
                  </a:lnTo>
                  <a:lnTo>
                    <a:pt x="1587422" y="514716"/>
                  </a:lnTo>
                  <a:lnTo>
                    <a:pt x="1548518" y="495226"/>
                  </a:lnTo>
                  <a:lnTo>
                    <a:pt x="1517830" y="465507"/>
                  </a:lnTo>
                  <a:lnTo>
                    <a:pt x="1497701" y="427821"/>
                  </a:lnTo>
                  <a:lnTo>
                    <a:pt x="1490471" y="384428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7095"/>
                  </a:lnTo>
                </a:path>
                <a:path w="1774189" h="784225">
                  <a:moveTo>
                    <a:pt x="182879" y="634238"/>
                  </a:moveTo>
                  <a:lnTo>
                    <a:pt x="1490598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57915" y="4746310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3888" y="5269142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13265" y="609125"/>
            <a:ext cx="418272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grpSp>
        <p:nvGrpSpPr>
          <p:cNvPr id="12" name="object 12"/>
          <p:cNvGrpSpPr/>
          <p:nvPr/>
        </p:nvGrpSpPr>
        <p:grpSpPr>
          <a:xfrm>
            <a:off x="1626123" y="1571251"/>
            <a:ext cx="1292957" cy="3707210"/>
            <a:chOff x="1215453" y="1179893"/>
            <a:chExt cx="970915" cy="2783840"/>
          </a:xfrm>
        </p:grpSpPr>
        <p:sp>
          <p:nvSpPr>
            <p:cNvPr id="13" name="object 13"/>
            <p:cNvSpPr/>
            <p:nvPr/>
          </p:nvSpPr>
          <p:spPr>
            <a:xfrm>
              <a:off x="1225296" y="1929459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37259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5296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5296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43640" y="1108036"/>
            <a:ext cx="4233187" cy="1249494"/>
          </a:xfrm>
          <a:prstGeom prst="rect">
            <a:avLst/>
          </a:prstGeom>
        </p:spPr>
        <p:txBody>
          <a:bodyPr vert="horz" wrap="square" lIns="0" tIns="28751" rIns="0" bIns="0" rtlCol="0">
            <a:spAutoFit/>
          </a:bodyPr>
          <a:lstStyle/>
          <a:p>
            <a:pPr marL="1724239" marR="6765">
              <a:lnSpc>
                <a:spcPts val="3849"/>
              </a:lnSpc>
              <a:spcBef>
                <a:spcPts val="226"/>
              </a:spcBef>
            </a:pPr>
            <a:r>
              <a:rPr sz="3129" spc="-140" dirty="0">
                <a:solidFill>
                  <a:srgbClr val="FF0000"/>
                </a:solidFill>
                <a:latin typeface="Tahoma"/>
                <a:cs typeface="Tahoma"/>
              </a:rPr>
              <a:t>32x32x3</a:t>
            </a:r>
            <a:r>
              <a:rPr sz="3129" spc="-28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47" dirty="0">
                <a:solidFill>
                  <a:srgbClr val="FF0000"/>
                </a:solidFill>
                <a:latin typeface="Tahoma"/>
                <a:cs typeface="Tahoma"/>
              </a:rPr>
              <a:t>image </a:t>
            </a:r>
            <a:r>
              <a:rPr sz="3129" spc="-140" dirty="0">
                <a:solidFill>
                  <a:srgbClr val="0000FF"/>
                </a:solidFill>
                <a:latin typeface="Tahoma"/>
                <a:cs typeface="Tahoma"/>
              </a:rPr>
              <a:t>5x5x3</a:t>
            </a:r>
            <a:r>
              <a:rPr sz="3129" spc="-3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0000FF"/>
                </a:solidFill>
                <a:latin typeface="Tahoma"/>
                <a:cs typeface="Tahoma"/>
              </a:rPr>
              <a:t>filter</a:t>
            </a:r>
            <a:endParaRPr sz="3129">
              <a:latin typeface="Tahoma"/>
              <a:cs typeface="Tahoma"/>
            </a:endParaRPr>
          </a:p>
          <a:p>
            <a:pPr marL="16913">
              <a:lnSpc>
                <a:spcPts val="1924"/>
              </a:lnSpc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29068" y="1338450"/>
            <a:ext cx="1866289" cy="1390204"/>
            <a:chOff x="2043683" y="1005077"/>
            <a:chExt cx="1401445" cy="1043940"/>
          </a:xfrm>
        </p:grpSpPr>
        <p:sp>
          <p:nvSpPr>
            <p:cNvPr id="19" name="object 19"/>
            <p:cNvSpPr/>
            <p:nvPr/>
          </p:nvSpPr>
          <p:spPr>
            <a:xfrm>
              <a:off x="2354579" y="1005077"/>
              <a:ext cx="986155" cy="259079"/>
            </a:xfrm>
            <a:custGeom>
              <a:avLst/>
              <a:gdLst/>
              <a:ahLst/>
              <a:cxnLst/>
              <a:rect l="l" t="t" r="r" b="b"/>
              <a:pathLst>
                <a:path w="986154" h="259080">
                  <a:moveTo>
                    <a:pt x="65405" y="184912"/>
                  </a:moveTo>
                  <a:lnTo>
                    <a:pt x="0" y="239522"/>
                  </a:lnTo>
                  <a:lnTo>
                    <a:pt x="82931" y="259080"/>
                  </a:lnTo>
                  <a:lnTo>
                    <a:pt x="76328" y="231140"/>
                  </a:lnTo>
                  <a:lnTo>
                    <a:pt x="63245" y="231140"/>
                  </a:lnTo>
                  <a:lnTo>
                    <a:pt x="60325" y="218694"/>
                  </a:lnTo>
                  <a:lnTo>
                    <a:pt x="72694" y="215761"/>
                  </a:lnTo>
                  <a:lnTo>
                    <a:pt x="65405" y="184912"/>
                  </a:lnTo>
                  <a:close/>
                </a:path>
                <a:path w="986154" h="259080">
                  <a:moveTo>
                    <a:pt x="72694" y="215761"/>
                  </a:moveTo>
                  <a:lnTo>
                    <a:pt x="60325" y="218694"/>
                  </a:lnTo>
                  <a:lnTo>
                    <a:pt x="63245" y="231140"/>
                  </a:lnTo>
                  <a:lnTo>
                    <a:pt x="75634" y="228203"/>
                  </a:lnTo>
                  <a:lnTo>
                    <a:pt x="72694" y="215761"/>
                  </a:lnTo>
                  <a:close/>
                </a:path>
                <a:path w="986154" h="259080">
                  <a:moveTo>
                    <a:pt x="75634" y="228203"/>
                  </a:moveTo>
                  <a:lnTo>
                    <a:pt x="63245" y="231140"/>
                  </a:lnTo>
                  <a:lnTo>
                    <a:pt x="76328" y="231140"/>
                  </a:lnTo>
                  <a:lnTo>
                    <a:pt x="75634" y="228203"/>
                  </a:lnTo>
                  <a:close/>
                </a:path>
                <a:path w="986154" h="259080">
                  <a:moveTo>
                    <a:pt x="982853" y="0"/>
                  </a:moveTo>
                  <a:lnTo>
                    <a:pt x="72694" y="215761"/>
                  </a:lnTo>
                  <a:lnTo>
                    <a:pt x="75634" y="228203"/>
                  </a:lnTo>
                  <a:lnTo>
                    <a:pt x="985773" y="12446"/>
                  </a:lnTo>
                  <a:lnTo>
                    <a:pt x="9828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3683" y="1490471"/>
              <a:ext cx="1401445" cy="558165"/>
            </a:xfrm>
            <a:custGeom>
              <a:avLst/>
              <a:gdLst/>
              <a:ahLst/>
              <a:cxnLst/>
              <a:rect l="l" t="t" r="r" b="b"/>
              <a:pathLst>
                <a:path w="1401445" h="558164">
                  <a:moveTo>
                    <a:pt x="57277" y="487044"/>
                  </a:moveTo>
                  <a:lnTo>
                    <a:pt x="0" y="550291"/>
                  </a:lnTo>
                  <a:lnTo>
                    <a:pt x="84836" y="558164"/>
                  </a:lnTo>
                  <a:lnTo>
                    <a:pt x="75141" y="533145"/>
                  </a:lnTo>
                  <a:lnTo>
                    <a:pt x="61468" y="533145"/>
                  </a:lnTo>
                  <a:lnTo>
                    <a:pt x="56896" y="521335"/>
                  </a:lnTo>
                  <a:lnTo>
                    <a:pt x="68773" y="516713"/>
                  </a:lnTo>
                  <a:lnTo>
                    <a:pt x="57277" y="487044"/>
                  </a:lnTo>
                  <a:close/>
                </a:path>
                <a:path w="1401445" h="558164">
                  <a:moveTo>
                    <a:pt x="68773" y="516713"/>
                  </a:moveTo>
                  <a:lnTo>
                    <a:pt x="56896" y="521335"/>
                  </a:lnTo>
                  <a:lnTo>
                    <a:pt x="61468" y="533145"/>
                  </a:lnTo>
                  <a:lnTo>
                    <a:pt x="73349" y="528522"/>
                  </a:lnTo>
                  <a:lnTo>
                    <a:pt x="68773" y="516713"/>
                  </a:lnTo>
                  <a:close/>
                </a:path>
                <a:path w="1401445" h="558164">
                  <a:moveTo>
                    <a:pt x="73349" y="528522"/>
                  </a:moveTo>
                  <a:lnTo>
                    <a:pt x="61468" y="533145"/>
                  </a:lnTo>
                  <a:lnTo>
                    <a:pt x="75141" y="533145"/>
                  </a:lnTo>
                  <a:lnTo>
                    <a:pt x="73349" y="528522"/>
                  </a:lnTo>
                  <a:close/>
                </a:path>
                <a:path w="1401445" h="558164">
                  <a:moveTo>
                    <a:pt x="1396619" y="0"/>
                  </a:moveTo>
                  <a:lnTo>
                    <a:pt x="68773" y="516713"/>
                  </a:lnTo>
                  <a:lnTo>
                    <a:pt x="73349" y="528522"/>
                  </a:lnTo>
                  <a:lnTo>
                    <a:pt x="1401191" y="11811"/>
                  </a:lnTo>
                  <a:lnTo>
                    <a:pt x="1396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1" name="object 21"/>
          <p:cNvSpPr/>
          <p:nvPr/>
        </p:nvSpPr>
        <p:spPr>
          <a:xfrm>
            <a:off x="4774800" y="3807161"/>
            <a:ext cx="547118" cy="216479"/>
          </a:xfrm>
          <a:custGeom>
            <a:avLst/>
            <a:gdLst/>
            <a:ahLst/>
            <a:cxnLst/>
            <a:rect l="l" t="t" r="r" b="b"/>
            <a:pathLst>
              <a:path w="410845" h="162560">
                <a:moveTo>
                  <a:pt x="73904" y="29918"/>
                </a:moveTo>
                <a:lnTo>
                  <a:pt x="69637" y="41874"/>
                </a:lnTo>
                <a:lnTo>
                  <a:pt x="406146" y="162179"/>
                </a:lnTo>
                <a:lnTo>
                  <a:pt x="410463" y="150241"/>
                </a:lnTo>
                <a:lnTo>
                  <a:pt x="73904" y="29918"/>
                </a:lnTo>
                <a:close/>
              </a:path>
              <a:path w="410845" h="162560">
                <a:moveTo>
                  <a:pt x="84582" y="0"/>
                </a:moveTo>
                <a:lnTo>
                  <a:pt x="0" y="10287"/>
                </a:lnTo>
                <a:lnTo>
                  <a:pt x="58927" y="71881"/>
                </a:lnTo>
                <a:lnTo>
                  <a:pt x="69637" y="41874"/>
                </a:lnTo>
                <a:lnTo>
                  <a:pt x="57658" y="37592"/>
                </a:lnTo>
                <a:lnTo>
                  <a:pt x="61975" y="25654"/>
                </a:lnTo>
                <a:lnTo>
                  <a:pt x="75426" y="25654"/>
                </a:lnTo>
                <a:lnTo>
                  <a:pt x="84582" y="0"/>
                </a:lnTo>
                <a:close/>
              </a:path>
              <a:path w="410845" h="162560">
                <a:moveTo>
                  <a:pt x="61975" y="25654"/>
                </a:moveTo>
                <a:lnTo>
                  <a:pt x="57658" y="37592"/>
                </a:lnTo>
                <a:lnTo>
                  <a:pt x="69637" y="41874"/>
                </a:lnTo>
                <a:lnTo>
                  <a:pt x="73904" y="29918"/>
                </a:lnTo>
                <a:lnTo>
                  <a:pt x="61975" y="25654"/>
                </a:lnTo>
                <a:close/>
              </a:path>
              <a:path w="410845" h="162560">
                <a:moveTo>
                  <a:pt x="75426" y="25654"/>
                </a:moveTo>
                <a:lnTo>
                  <a:pt x="61975" y="25654"/>
                </a:lnTo>
                <a:lnTo>
                  <a:pt x="73904" y="29918"/>
                </a:lnTo>
                <a:lnTo>
                  <a:pt x="75426" y="25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2" name="object 22"/>
          <p:cNvSpPr txBox="1"/>
          <p:nvPr/>
        </p:nvSpPr>
        <p:spPr>
          <a:xfrm>
            <a:off x="5539073" y="3755410"/>
            <a:ext cx="6010686" cy="1493464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40" dirty="0">
                <a:latin typeface="Tahoma"/>
                <a:cs typeface="Tahoma"/>
              </a:rPr>
              <a:t>1</a:t>
            </a:r>
            <a:r>
              <a:rPr sz="2397" spc="-21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number:</a:t>
            </a:r>
            <a:endParaRPr sz="2397">
              <a:latin typeface="Tahoma"/>
              <a:cs typeface="Tahoma"/>
            </a:endParaRPr>
          </a:p>
          <a:p>
            <a:pPr marL="16913" marR="144603">
              <a:spcBef>
                <a:spcPts val="7"/>
              </a:spcBef>
            </a:pP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286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result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taking</a:t>
            </a:r>
            <a:r>
              <a:rPr sz="2397" spc="-293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a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dot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product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between</a:t>
            </a:r>
            <a:r>
              <a:rPr sz="2397" spc="-313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the </a:t>
            </a:r>
            <a:r>
              <a:rPr sz="2397" spc="-13" dirty="0">
                <a:latin typeface="Tahoma"/>
                <a:cs typeface="Tahoma"/>
              </a:rPr>
              <a:t>filter</a:t>
            </a:r>
            <a:r>
              <a:rPr sz="2397" spc="-32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and</a:t>
            </a:r>
            <a:r>
              <a:rPr sz="2397" spc="-22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a</a:t>
            </a:r>
            <a:r>
              <a:rPr sz="2397" spc="-305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small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140" dirty="0">
                <a:latin typeface="Tahoma"/>
                <a:cs typeface="Tahoma"/>
              </a:rPr>
              <a:t>5x5x3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40" dirty="0">
                <a:latin typeface="Tahoma"/>
                <a:cs typeface="Tahoma"/>
              </a:rPr>
              <a:t>chunk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of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the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image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13"/>
              </a:spcBef>
            </a:pPr>
            <a:r>
              <a:rPr sz="2397" spc="-120" dirty="0">
                <a:latin typeface="Tahoma"/>
                <a:cs typeface="Tahoma"/>
              </a:rPr>
              <a:t>(i.e.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233" dirty="0">
                <a:latin typeface="Tahoma"/>
                <a:cs typeface="Tahoma"/>
              </a:rPr>
              <a:t>5*5*3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559" dirty="0">
                <a:latin typeface="Tahoma"/>
                <a:cs typeface="Tahoma"/>
              </a:rPr>
              <a:t>=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127" dirty="0">
                <a:latin typeface="Tahoma"/>
                <a:cs typeface="Tahoma"/>
              </a:rPr>
              <a:t>75-</a:t>
            </a:r>
            <a:r>
              <a:rPr sz="2397" spc="-27" dirty="0">
                <a:latin typeface="Tahoma"/>
                <a:cs typeface="Tahoma"/>
              </a:rPr>
              <a:t>dimensional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dot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product</a:t>
            </a:r>
            <a:r>
              <a:rPr sz="2397" spc="-280" dirty="0">
                <a:latin typeface="Tahoma"/>
                <a:cs typeface="Tahoma"/>
              </a:rPr>
              <a:t> </a:t>
            </a:r>
            <a:r>
              <a:rPr sz="2397" spc="-559" dirty="0">
                <a:latin typeface="Tahoma"/>
                <a:cs typeface="Tahoma"/>
              </a:rPr>
              <a:t>+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bias)</a:t>
            </a:r>
            <a:endParaRPr sz="2397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5325" y="1767182"/>
            <a:ext cx="389662" cy="3166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1098" y="5374812"/>
            <a:ext cx="1595183" cy="52360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4831" y="2363430"/>
            <a:ext cx="2522492" cy="1111148"/>
            <a:chOff x="1252029" y="1774761"/>
            <a:chExt cx="1894205" cy="834390"/>
          </a:xfrm>
        </p:grpSpPr>
        <p:sp>
          <p:nvSpPr>
            <p:cNvPr id="3" name="object 3"/>
            <p:cNvSpPr/>
            <p:nvPr/>
          </p:nvSpPr>
          <p:spPr>
            <a:xfrm>
              <a:off x="1261871" y="1931212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389760" y="1784603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4" h="814705">
                  <a:moveTo>
                    <a:pt x="146430" y="0"/>
                  </a:moveTo>
                  <a:lnTo>
                    <a:pt x="0" y="146684"/>
                  </a:lnTo>
                  <a:lnTo>
                    <a:pt x="0" y="814577"/>
                  </a:lnTo>
                  <a:lnTo>
                    <a:pt x="146430" y="668019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261871" y="1784603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5">
                  <a:moveTo>
                    <a:pt x="274319" y="0"/>
                  </a:moveTo>
                  <a:lnTo>
                    <a:pt x="146431" y="0"/>
                  </a:lnTo>
                  <a:lnTo>
                    <a:pt x="0" y="146684"/>
                  </a:lnTo>
                  <a:lnTo>
                    <a:pt x="127889" y="14668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261871" y="1784603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684"/>
                  </a:moveTo>
                  <a:lnTo>
                    <a:pt x="146431" y="0"/>
                  </a:lnTo>
                  <a:lnTo>
                    <a:pt x="274319" y="0"/>
                  </a:lnTo>
                  <a:lnTo>
                    <a:pt x="274319" y="668019"/>
                  </a:lnTo>
                  <a:lnTo>
                    <a:pt x="127889" y="814577"/>
                  </a:lnTo>
                  <a:lnTo>
                    <a:pt x="0" y="814577"/>
                  </a:lnTo>
                  <a:lnTo>
                    <a:pt x="0" y="146684"/>
                  </a:lnTo>
                  <a:close/>
                </a:path>
                <a:path w="274319" h="814705">
                  <a:moveTo>
                    <a:pt x="0" y="146684"/>
                  </a:moveTo>
                  <a:lnTo>
                    <a:pt x="127889" y="146684"/>
                  </a:lnTo>
                  <a:lnTo>
                    <a:pt x="274319" y="0"/>
                  </a:lnTo>
                </a:path>
                <a:path w="274319" h="814705">
                  <a:moveTo>
                    <a:pt x="127889" y="146684"/>
                  </a:moveTo>
                  <a:lnTo>
                    <a:pt x="127889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2852927" y="2050033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4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362455" y="1803018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4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4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1" y="388873"/>
                  </a:lnTo>
                  <a:close/>
                </a:path>
                <a:path w="1774189" h="784225">
                  <a:moveTo>
                    <a:pt x="0" y="783716"/>
                  </a:moveTo>
                  <a:lnTo>
                    <a:pt x="1489456" y="384301"/>
                  </a:lnTo>
                </a:path>
                <a:path w="1774189" h="784225">
                  <a:moveTo>
                    <a:pt x="18287" y="146430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6969"/>
                  </a:lnTo>
                </a:path>
                <a:path w="1774189" h="784225">
                  <a:moveTo>
                    <a:pt x="182880" y="634110"/>
                  </a:moveTo>
                  <a:lnTo>
                    <a:pt x="1490599" y="3843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43641" y="1976304"/>
            <a:ext cx="350933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3889" y="4589803"/>
            <a:ext cx="1245602" cy="1067554"/>
          </a:xfrm>
          <a:prstGeom prst="rect">
            <a:avLst/>
          </a:prstGeom>
        </p:spPr>
        <p:txBody>
          <a:bodyPr vert="horz" wrap="square" lIns="0" tIns="174198" rIns="0" bIns="0" rtlCol="0">
            <a:spAutoFit/>
          </a:bodyPr>
          <a:lstStyle/>
          <a:p>
            <a:pPr marL="910743">
              <a:spcBef>
                <a:spcPts val="137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2692" y="595153"/>
            <a:ext cx="4222183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grpSp>
        <p:nvGrpSpPr>
          <p:cNvPr id="12" name="object 12"/>
          <p:cNvGrpSpPr/>
          <p:nvPr/>
        </p:nvGrpSpPr>
        <p:grpSpPr>
          <a:xfrm>
            <a:off x="1626534" y="1571663"/>
            <a:ext cx="1292111" cy="3706364"/>
            <a:chOff x="1215762" y="1180202"/>
            <a:chExt cx="970280" cy="2783205"/>
          </a:xfrm>
        </p:grpSpPr>
        <p:sp>
          <p:nvSpPr>
            <p:cNvPr id="13" name="object 13"/>
            <p:cNvSpPr/>
            <p:nvPr/>
          </p:nvSpPr>
          <p:spPr>
            <a:xfrm>
              <a:off x="1225295" y="1929460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37258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5295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5295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4830" y="2156253"/>
            <a:ext cx="2729670" cy="1318326"/>
            <a:chOff x="1252029" y="1619186"/>
            <a:chExt cx="2049780" cy="989965"/>
          </a:xfrm>
        </p:grpSpPr>
        <p:sp>
          <p:nvSpPr>
            <p:cNvPr id="3" name="object 3"/>
            <p:cNvSpPr/>
            <p:nvPr/>
          </p:nvSpPr>
          <p:spPr>
            <a:xfrm>
              <a:off x="1408175" y="1780514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5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540382" y="1629028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0"/>
                  </a:lnTo>
                  <a:lnTo>
                    <a:pt x="0" y="814577"/>
                  </a:lnTo>
                  <a:lnTo>
                    <a:pt x="151256" y="663193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408175" y="1629028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7" y="0"/>
                  </a:lnTo>
                  <a:lnTo>
                    <a:pt x="0" y="151510"/>
                  </a:lnTo>
                  <a:lnTo>
                    <a:pt x="132207" y="151510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408175" y="1629028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0"/>
                  </a:moveTo>
                  <a:lnTo>
                    <a:pt x="151257" y="0"/>
                  </a:lnTo>
                  <a:lnTo>
                    <a:pt x="283463" y="0"/>
                  </a:lnTo>
                  <a:lnTo>
                    <a:pt x="283463" y="663193"/>
                  </a:lnTo>
                  <a:lnTo>
                    <a:pt x="132207" y="814577"/>
                  </a:lnTo>
                  <a:lnTo>
                    <a:pt x="0" y="814577"/>
                  </a:lnTo>
                  <a:lnTo>
                    <a:pt x="0" y="151510"/>
                  </a:lnTo>
                  <a:close/>
                </a:path>
                <a:path w="283844" h="814705">
                  <a:moveTo>
                    <a:pt x="0" y="151510"/>
                  </a:moveTo>
                  <a:lnTo>
                    <a:pt x="132207" y="151510"/>
                  </a:lnTo>
                  <a:lnTo>
                    <a:pt x="283463" y="0"/>
                  </a:lnTo>
                </a:path>
                <a:path w="283844" h="814705">
                  <a:moveTo>
                    <a:pt x="132207" y="151510"/>
                  </a:moveTo>
                  <a:lnTo>
                    <a:pt x="132207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3008375" y="189445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1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1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3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517903" y="1647443"/>
              <a:ext cx="1774189" cy="793115"/>
            </a:xfrm>
            <a:custGeom>
              <a:avLst/>
              <a:gdLst/>
              <a:ahLst/>
              <a:cxnLst/>
              <a:rect l="l" t="t" r="r" b="b"/>
              <a:pathLst>
                <a:path w="1774189" h="793114">
                  <a:moveTo>
                    <a:pt x="1490472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3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3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2" y="388873"/>
                  </a:lnTo>
                  <a:close/>
                </a:path>
                <a:path w="1774189" h="793114">
                  <a:moveTo>
                    <a:pt x="0" y="792860"/>
                  </a:moveTo>
                  <a:lnTo>
                    <a:pt x="1489456" y="393445"/>
                  </a:lnTo>
                </a:path>
                <a:path w="1774189" h="793114">
                  <a:moveTo>
                    <a:pt x="18287" y="155575"/>
                  </a:moveTo>
                  <a:lnTo>
                    <a:pt x="1488313" y="393064"/>
                  </a:lnTo>
                </a:path>
                <a:path w="1774189" h="793114">
                  <a:moveTo>
                    <a:pt x="155447" y="0"/>
                  </a:moveTo>
                  <a:lnTo>
                    <a:pt x="1489202" y="386969"/>
                  </a:lnTo>
                </a:path>
                <a:path w="1774189" h="793114">
                  <a:moveTo>
                    <a:pt x="182879" y="643254"/>
                  </a:moveTo>
                  <a:lnTo>
                    <a:pt x="1490598" y="393445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1261871" y="1931212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9760" y="1784603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4" h="814705">
                  <a:moveTo>
                    <a:pt x="146430" y="0"/>
                  </a:moveTo>
                  <a:lnTo>
                    <a:pt x="0" y="146684"/>
                  </a:lnTo>
                  <a:lnTo>
                    <a:pt x="0" y="814577"/>
                  </a:lnTo>
                  <a:lnTo>
                    <a:pt x="146430" y="668019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1261871" y="1784603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5">
                  <a:moveTo>
                    <a:pt x="274319" y="0"/>
                  </a:moveTo>
                  <a:lnTo>
                    <a:pt x="146431" y="0"/>
                  </a:lnTo>
                  <a:lnTo>
                    <a:pt x="0" y="146684"/>
                  </a:lnTo>
                  <a:lnTo>
                    <a:pt x="127889" y="14668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61871" y="1784603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684"/>
                  </a:moveTo>
                  <a:lnTo>
                    <a:pt x="146431" y="0"/>
                  </a:lnTo>
                  <a:lnTo>
                    <a:pt x="274319" y="0"/>
                  </a:lnTo>
                  <a:lnTo>
                    <a:pt x="274319" y="668019"/>
                  </a:lnTo>
                  <a:lnTo>
                    <a:pt x="127889" y="814577"/>
                  </a:lnTo>
                  <a:lnTo>
                    <a:pt x="0" y="814577"/>
                  </a:lnTo>
                  <a:lnTo>
                    <a:pt x="0" y="146684"/>
                  </a:lnTo>
                  <a:close/>
                </a:path>
                <a:path w="274319" h="814705">
                  <a:moveTo>
                    <a:pt x="0" y="146684"/>
                  </a:moveTo>
                  <a:lnTo>
                    <a:pt x="127889" y="146684"/>
                  </a:lnTo>
                  <a:lnTo>
                    <a:pt x="274319" y="0"/>
                  </a:lnTo>
                </a:path>
                <a:path w="274319" h="814705">
                  <a:moveTo>
                    <a:pt x="127889" y="146684"/>
                  </a:moveTo>
                  <a:lnTo>
                    <a:pt x="127889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2852927" y="2050033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4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2455" y="1803018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4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4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1" y="388873"/>
                  </a:lnTo>
                  <a:close/>
                </a:path>
                <a:path w="1774189" h="784225">
                  <a:moveTo>
                    <a:pt x="0" y="783716"/>
                  </a:moveTo>
                  <a:lnTo>
                    <a:pt x="1489456" y="384301"/>
                  </a:lnTo>
                </a:path>
                <a:path w="1774189" h="784225">
                  <a:moveTo>
                    <a:pt x="18287" y="146430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6969"/>
                  </a:lnTo>
                </a:path>
                <a:path w="1774189" h="784225">
                  <a:moveTo>
                    <a:pt x="182880" y="634110"/>
                  </a:moveTo>
                  <a:lnTo>
                    <a:pt x="1490599" y="3843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43641" y="1976304"/>
            <a:ext cx="350933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3889" y="4589803"/>
            <a:ext cx="1245602" cy="1067554"/>
          </a:xfrm>
          <a:prstGeom prst="rect">
            <a:avLst/>
          </a:prstGeom>
        </p:spPr>
        <p:txBody>
          <a:bodyPr vert="horz" wrap="square" lIns="0" tIns="174198" rIns="0" bIns="0" rtlCol="0">
            <a:spAutoFit/>
          </a:bodyPr>
          <a:lstStyle/>
          <a:p>
            <a:pPr marL="910743">
              <a:spcBef>
                <a:spcPts val="137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02217" y="624739"/>
            <a:ext cx="4250758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grpSp>
        <p:nvGrpSpPr>
          <p:cNvPr id="18" name="object 18"/>
          <p:cNvGrpSpPr/>
          <p:nvPr/>
        </p:nvGrpSpPr>
        <p:grpSpPr>
          <a:xfrm>
            <a:off x="1626534" y="1571663"/>
            <a:ext cx="1292111" cy="3706364"/>
            <a:chOff x="1215762" y="1180202"/>
            <a:chExt cx="970280" cy="2783205"/>
          </a:xfrm>
        </p:grpSpPr>
        <p:sp>
          <p:nvSpPr>
            <p:cNvPr id="19" name="object 19"/>
            <p:cNvSpPr/>
            <p:nvPr/>
          </p:nvSpPr>
          <p:spPr>
            <a:xfrm>
              <a:off x="1225295" y="1929460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1437258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5295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2" name="object 22"/>
            <p:cNvSpPr/>
            <p:nvPr/>
          </p:nvSpPr>
          <p:spPr>
            <a:xfrm>
              <a:off x="1225295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4831" y="1936899"/>
            <a:ext cx="2948686" cy="1538188"/>
            <a:chOff x="1252029" y="1454467"/>
            <a:chExt cx="2214245" cy="1155065"/>
          </a:xfrm>
        </p:grpSpPr>
        <p:sp>
          <p:nvSpPr>
            <p:cNvPr id="3" name="object 3"/>
            <p:cNvSpPr/>
            <p:nvPr/>
          </p:nvSpPr>
          <p:spPr>
            <a:xfrm>
              <a:off x="1572767" y="1615795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704975" y="14643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8"/>
                  </a:lnTo>
                  <a:lnTo>
                    <a:pt x="151256" y="663067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572767" y="14643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5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572767" y="14643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7"/>
                  </a:lnTo>
                  <a:lnTo>
                    <a:pt x="132206" y="814578"/>
                  </a:lnTo>
                  <a:lnTo>
                    <a:pt x="0" y="814578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3172968" y="1729739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1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9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1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9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682495" y="1482597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2" y="389000"/>
                  </a:moveTo>
                  <a:lnTo>
                    <a:pt x="1497701" y="344157"/>
                  </a:lnTo>
                  <a:lnTo>
                    <a:pt x="1517830" y="305215"/>
                  </a:lnTo>
                  <a:lnTo>
                    <a:pt x="1548518" y="274508"/>
                  </a:lnTo>
                  <a:lnTo>
                    <a:pt x="1587422" y="254372"/>
                  </a:lnTo>
                  <a:lnTo>
                    <a:pt x="1632204" y="247141"/>
                  </a:lnTo>
                  <a:lnTo>
                    <a:pt x="1676985" y="254372"/>
                  </a:lnTo>
                  <a:lnTo>
                    <a:pt x="1715889" y="274508"/>
                  </a:lnTo>
                  <a:lnTo>
                    <a:pt x="1746577" y="305215"/>
                  </a:lnTo>
                  <a:lnTo>
                    <a:pt x="1766706" y="344157"/>
                  </a:lnTo>
                  <a:lnTo>
                    <a:pt x="1773936" y="389000"/>
                  </a:lnTo>
                  <a:lnTo>
                    <a:pt x="1766706" y="433844"/>
                  </a:lnTo>
                  <a:lnTo>
                    <a:pt x="1746577" y="472786"/>
                  </a:lnTo>
                  <a:lnTo>
                    <a:pt x="1715889" y="503493"/>
                  </a:lnTo>
                  <a:lnTo>
                    <a:pt x="1676985" y="523629"/>
                  </a:lnTo>
                  <a:lnTo>
                    <a:pt x="1632204" y="530860"/>
                  </a:lnTo>
                  <a:lnTo>
                    <a:pt x="1587422" y="523629"/>
                  </a:lnTo>
                  <a:lnTo>
                    <a:pt x="1548518" y="503493"/>
                  </a:lnTo>
                  <a:lnTo>
                    <a:pt x="1517830" y="472786"/>
                  </a:lnTo>
                  <a:lnTo>
                    <a:pt x="1497701" y="433844"/>
                  </a:lnTo>
                  <a:lnTo>
                    <a:pt x="1490472" y="389000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4048"/>
                  </a:lnTo>
                </a:path>
                <a:path w="1774189" h="784225">
                  <a:moveTo>
                    <a:pt x="155448" y="0"/>
                  </a:moveTo>
                  <a:lnTo>
                    <a:pt x="1489202" y="387096"/>
                  </a:lnTo>
                </a:path>
                <a:path w="1774189" h="784225">
                  <a:moveTo>
                    <a:pt x="182880" y="634238"/>
                  </a:moveTo>
                  <a:lnTo>
                    <a:pt x="1490599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1408175" y="1780514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5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0382" y="1629028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0"/>
                  </a:lnTo>
                  <a:lnTo>
                    <a:pt x="0" y="814577"/>
                  </a:lnTo>
                  <a:lnTo>
                    <a:pt x="151256" y="663193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8175" y="1629028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7" y="0"/>
                  </a:lnTo>
                  <a:lnTo>
                    <a:pt x="0" y="151510"/>
                  </a:lnTo>
                  <a:lnTo>
                    <a:pt x="132207" y="151510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8175" y="1629028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0"/>
                  </a:moveTo>
                  <a:lnTo>
                    <a:pt x="151257" y="0"/>
                  </a:lnTo>
                  <a:lnTo>
                    <a:pt x="283463" y="0"/>
                  </a:lnTo>
                  <a:lnTo>
                    <a:pt x="283463" y="663193"/>
                  </a:lnTo>
                  <a:lnTo>
                    <a:pt x="132207" y="814577"/>
                  </a:lnTo>
                  <a:lnTo>
                    <a:pt x="0" y="814577"/>
                  </a:lnTo>
                  <a:lnTo>
                    <a:pt x="0" y="151510"/>
                  </a:lnTo>
                  <a:close/>
                </a:path>
                <a:path w="283844" h="814705">
                  <a:moveTo>
                    <a:pt x="0" y="151510"/>
                  </a:moveTo>
                  <a:lnTo>
                    <a:pt x="132207" y="151510"/>
                  </a:lnTo>
                  <a:lnTo>
                    <a:pt x="283463" y="0"/>
                  </a:lnTo>
                </a:path>
                <a:path w="283844" h="814705">
                  <a:moveTo>
                    <a:pt x="132207" y="151510"/>
                  </a:moveTo>
                  <a:lnTo>
                    <a:pt x="132207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3008375" y="189445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1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1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3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517903" y="1647443"/>
              <a:ext cx="1774189" cy="793115"/>
            </a:xfrm>
            <a:custGeom>
              <a:avLst/>
              <a:gdLst/>
              <a:ahLst/>
              <a:cxnLst/>
              <a:rect l="l" t="t" r="r" b="b"/>
              <a:pathLst>
                <a:path w="1774189" h="793114">
                  <a:moveTo>
                    <a:pt x="1490472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3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3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2" y="388873"/>
                  </a:lnTo>
                  <a:close/>
                </a:path>
                <a:path w="1774189" h="793114">
                  <a:moveTo>
                    <a:pt x="0" y="792860"/>
                  </a:moveTo>
                  <a:lnTo>
                    <a:pt x="1489456" y="393445"/>
                  </a:lnTo>
                </a:path>
                <a:path w="1774189" h="793114">
                  <a:moveTo>
                    <a:pt x="18287" y="155575"/>
                  </a:moveTo>
                  <a:lnTo>
                    <a:pt x="1488313" y="393064"/>
                  </a:lnTo>
                </a:path>
                <a:path w="1774189" h="793114">
                  <a:moveTo>
                    <a:pt x="155447" y="0"/>
                  </a:moveTo>
                  <a:lnTo>
                    <a:pt x="1489202" y="386969"/>
                  </a:lnTo>
                </a:path>
                <a:path w="1774189" h="793114">
                  <a:moveTo>
                    <a:pt x="182879" y="643254"/>
                  </a:moveTo>
                  <a:lnTo>
                    <a:pt x="1490598" y="393445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1871" y="1931212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389760" y="1784603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4" h="814705">
                  <a:moveTo>
                    <a:pt x="146430" y="0"/>
                  </a:moveTo>
                  <a:lnTo>
                    <a:pt x="0" y="146684"/>
                  </a:lnTo>
                  <a:lnTo>
                    <a:pt x="0" y="814577"/>
                  </a:lnTo>
                  <a:lnTo>
                    <a:pt x="146430" y="668019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1871" y="1784603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5">
                  <a:moveTo>
                    <a:pt x="274319" y="0"/>
                  </a:moveTo>
                  <a:lnTo>
                    <a:pt x="146431" y="0"/>
                  </a:lnTo>
                  <a:lnTo>
                    <a:pt x="0" y="146684"/>
                  </a:lnTo>
                  <a:lnTo>
                    <a:pt x="127889" y="14668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1261871" y="1784603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684"/>
                  </a:moveTo>
                  <a:lnTo>
                    <a:pt x="146431" y="0"/>
                  </a:lnTo>
                  <a:lnTo>
                    <a:pt x="274319" y="0"/>
                  </a:lnTo>
                  <a:lnTo>
                    <a:pt x="274319" y="668019"/>
                  </a:lnTo>
                  <a:lnTo>
                    <a:pt x="127889" y="814577"/>
                  </a:lnTo>
                  <a:lnTo>
                    <a:pt x="0" y="814577"/>
                  </a:lnTo>
                  <a:lnTo>
                    <a:pt x="0" y="146684"/>
                  </a:lnTo>
                  <a:close/>
                </a:path>
                <a:path w="274319" h="814705">
                  <a:moveTo>
                    <a:pt x="0" y="146684"/>
                  </a:moveTo>
                  <a:lnTo>
                    <a:pt x="127889" y="146684"/>
                  </a:lnTo>
                  <a:lnTo>
                    <a:pt x="274319" y="0"/>
                  </a:lnTo>
                </a:path>
                <a:path w="274319" h="814705">
                  <a:moveTo>
                    <a:pt x="127889" y="146684"/>
                  </a:moveTo>
                  <a:lnTo>
                    <a:pt x="127889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2852927" y="2050033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4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62455" y="1803018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4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4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1" y="388873"/>
                  </a:lnTo>
                  <a:close/>
                </a:path>
                <a:path w="1774189" h="784225">
                  <a:moveTo>
                    <a:pt x="0" y="783716"/>
                  </a:moveTo>
                  <a:lnTo>
                    <a:pt x="1489456" y="384301"/>
                  </a:lnTo>
                </a:path>
                <a:path w="1774189" h="784225">
                  <a:moveTo>
                    <a:pt x="18287" y="146430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6969"/>
                  </a:lnTo>
                </a:path>
                <a:path w="1774189" h="784225">
                  <a:moveTo>
                    <a:pt x="182880" y="634110"/>
                  </a:moveTo>
                  <a:lnTo>
                    <a:pt x="1490599" y="3843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043641" y="1976304"/>
            <a:ext cx="350933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3889" y="4589803"/>
            <a:ext cx="1245602" cy="1067554"/>
          </a:xfrm>
          <a:prstGeom prst="rect">
            <a:avLst/>
          </a:prstGeom>
        </p:spPr>
        <p:txBody>
          <a:bodyPr vert="horz" wrap="square" lIns="0" tIns="174198" rIns="0" bIns="0" rtlCol="0">
            <a:spAutoFit/>
          </a:bodyPr>
          <a:lstStyle/>
          <a:p>
            <a:pPr marL="910743">
              <a:spcBef>
                <a:spcPts val="137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521267" y="621366"/>
            <a:ext cx="4241233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grpSp>
        <p:nvGrpSpPr>
          <p:cNvPr id="24" name="object 24"/>
          <p:cNvGrpSpPr/>
          <p:nvPr/>
        </p:nvGrpSpPr>
        <p:grpSpPr>
          <a:xfrm>
            <a:off x="1626534" y="1571663"/>
            <a:ext cx="1292111" cy="3706364"/>
            <a:chOff x="1215762" y="1180202"/>
            <a:chExt cx="970280" cy="2783205"/>
          </a:xfrm>
        </p:grpSpPr>
        <p:sp>
          <p:nvSpPr>
            <p:cNvPr id="25" name="object 25"/>
            <p:cNvSpPr/>
            <p:nvPr/>
          </p:nvSpPr>
          <p:spPr>
            <a:xfrm>
              <a:off x="1225295" y="1929460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7258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1225295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1225295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4830" y="1546897"/>
            <a:ext cx="3338518" cy="2329691"/>
            <a:chOff x="1252029" y="1161605"/>
            <a:chExt cx="2506980" cy="1749425"/>
          </a:xfrm>
        </p:grpSpPr>
        <p:sp>
          <p:nvSpPr>
            <p:cNvPr id="3" name="object 3"/>
            <p:cNvSpPr/>
            <p:nvPr/>
          </p:nvSpPr>
          <p:spPr>
            <a:xfrm>
              <a:off x="1261871" y="2233218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389760" y="2086736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4" h="814705">
                  <a:moveTo>
                    <a:pt x="146430" y="0"/>
                  </a:moveTo>
                  <a:lnTo>
                    <a:pt x="0" y="146558"/>
                  </a:lnTo>
                  <a:lnTo>
                    <a:pt x="0" y="814451"/>
                  </a:lnTo>
                  <a:lnTo>
                    <a:pt x="146430" y="667893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261871" y="2086736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5">
                  <a:moveTo>
                    <a:pt x="274319" y="0"/>
                  </a:moveTo>
                  <a:lnTo>
                    <a:pt x="146431" y="0"/>
                  </a:lnTo>
                  <a:lnTo>
                    <a:pt x="0" y="146558"/>
                  </a:lnTo>
                  <a:lnTo>
                    <a:pt x="127889" y="146558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261871" y="2086736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558"/>
                  </a:moveTo>
                  <a:lnTo>
                    <a:pt x="146431" y="0"/>
                  </a:lnTo>
                  <a:lnTo>
                    <a:pt x="274319" y="0"/>
                  </a:lnTo>
                  <a:lnTo>
                    <a:pt x="274319" y="667893"/>
                  </a:lnTo>
                  <a:lnTo>
                    <a:pt x="127889" y="814451"/>
                  </a:lnTo>
                  <a:lnTo>
                    <a:pt x="0" y="814451"/>
                  </a:lnTo>
                  <a:lnTo>
                    <a:pt x="0" y="146558"/>
                  </a:lnTo>
                  <a:close/>
                </a:path>
                <a:path w="274319" h="814705">
                  <a:moveTo>
                    <a:pt x="0" y="146558"/>
                  </a:moveTo>
                  <a:lnTo>
                    <a:pt x="127889" y="146558"/>
                  </a:lnTo>
                  <a:lnTo>
                    <a:pt x="274319" y="0"/>
                  </a:lnTo>
                </a:path>
                <a:path w="274319" h="814705">
                  <a:moveTo>
                    <a:pt x="127889" y="146558"/>
                  </a:moveTo>
                  <a:lnTo>
                    <a:pt x="127889" y="81445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2852927" y="2352039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4" h="283844">
                  <a:moveTo>
                    <a:pt x="141732" y="0"/>
                  </a:moveTo>
                  <a:lnTo>
                    <a:pt x="96950" y="7243"/>
                  </a:lnTo>
                  <a:lnTo>
                    <a:pt x="58046" y="27403"/>
                  </a:lnTo>
                  <a:lnTo>
                    <a:pt x="27358" y="58128"/>
                  </a:lnTo>
                  <a:lnTo>
                    <a:pt x="7229" y="97064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8"/>
                  </a:lnTo>
                  <a:lnTo>
                    <a:pt x="276234" y="97064"/>
                  </a:lnTo>
                  <a:lnTo>
                    <a:pt x="256105" y="58128"/>
                  </a:lnTo>
                  <a:lnTo>
                    <a:pt x="225417" y="27403"/>
                  </a:lnTo>
                  <a:lnTo>
                    <a:pt x="186513" y="7243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362455" y="2105024"/>
              <a:ext cx="1774189" cy="793115"/>
            </a:xfrm>
            <a:custGeom>
              <a:avLst/>
              <a:gdLst/>
              <a:ahLst/>
              <a:cxnLst/>
              <a:rect l="l" t="t" r="r" b="b"/>
              <a:pathLst>
                <a:path w="1774189" h="793114">
                  <a:moveTo>
                    <a:pt x="1490471" y="388874"/>
                  </a:moveTo>
                  <a:lnTo>
                    <a:pt x="1497701" y="344079"/>
                  </a:lnTo>
                  <a:lnTo>
                    <a:pt x="1517830" y="305143"/>
                  </a:lnTo>
                  <a:lnTo>
                    <a:pt x="1548518" y="274418"/>
                  </a:lnTo>
                  <a:lnTo>
                    <a:pt x="1587422" y="254258"/>
                  </a:lnTo>
                  <a:lnTo>
                    <a:pt x="1632204" y="247015"/>
                  </a:lnTo>
                  <a:lnTo>
                    <a:pt x="1676985" y="254258"/>
                  </a:lnTo>
                  <a:lnTo>
                    <a:pt x="1715889" y="274418"/>
                  </a:lnTo>
                  <a:lnTo>
                    <a:pt x="1746577" y="305143"/>
                  </a:lnTo>
                  <a:lnTo>
                    <a:pt x="1766706" y="344079"/>
                  </a:lnTo>
                  <a:lnTo>
                    <a:pt x="1773936" y="388874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4" y="530733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1" y="388874"/>
                  </a:lnTo>
                  <a:close/>
                </a:path>
                <a:path w="1774189" h="793114">
                  <a:moveTo>
                    <a:pt x="0" y="792861"/>
                  </a:moveTo>
                  <a:lnTo>
                    <a:pt x="1489456" y="393446"/>
                  </a:lnTo>
                </a:path>
                <a:path w="1774189" h="793114">
                  <a:moveTo>
                    <a:pt x="18287" y="155575"/>
                  </a:moveTo>
                  <a:lnTo>
                    <a:pt x="1488313" y="393065"/>
                  </a:lnTo>
                </a:path>
                <a:path w="1774189" h="793114">
                  <a:moveTo>
                    <a:pt x="155447" y="0"/>
                  </a:moveTo>
                  <a:lnTo>
                    <a:pt x="1489202" y="386969"/>
                  </a:lnTo>
                </a:path>
                <a:path w="1774189" h="793114">
                  <a:moveTo>
                    <a:pt x="182880" y="643382"/>
                  </a:moveTo>
                  <a:lnTo>
                    <a:pt x="1490599" y="39344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1865375" y="1322933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7583" y="1171447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8"/>
                  </a:lnTo>
                  <a:lnTo>
                    <a:pt x="151256" y="663066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1865375" y="1171447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5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1865375" y="1171447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8"/>
                  </a:lnTo>
                  <a:lnTo>
                    <a:pt x="0" y="814578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65575" y="1436877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9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3" y="141859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75104" y="1189735"/>
              <a:ext cx="1774189" cy="793115"/>
            </a:xfrm>
            <a:custGeom>
              <a:avLst/>
              <a:gdLst/>
              <a:ahLst/>
              <a:cxnLst/>
              <a:rect l="l" t="t" r="r" b="b"/>
              <a:pathLst>
                <a:path w="1774189" h="793114">
                  <a:moveTo>
                    <a:pt x="1490471" y="389000"/>
                  </a:moveTo>
                  <a:lnTo>
                    <a:pt x="1497701" y="344157"/>
                  </a:lnTo>
                  <a:lnTo>
                    <a:pt x="1517830" y="305215"/>
                  </a:lnTo>
                  <a:lnTo>
                    <a:pt x="1548518" y="274508"/>
                  </a:lnTo>
                  <a:lnTo>
                    <a:pt x="1587422" y="254372"/>
                  </a:lnTo>
                  <a:lnTo>
                    <a:pt x="1632204" y="247141"/>
                  </a:lnTo>
                  <a:lnTo>
                    <a:pt x="1676985" y="254372"/>
                  </a:lnTo>
                  <a:lnTo>
                    <a:pt x="1715889" y="274508"/>
                  </a:lnTo>
                  <a:lnTo>
                    <a:pt x="1746577" y="305215"/>
                  </a:lnTo>
                  <a:lnTo>
                    <a:pt x="1766706" y="344157"/>
                  </a:lnTo>
                  <a:lnTo>
                    <a:pt x="1773935" y="389000"/>
                  </a:lnTo>
                  <a:lnTo>
                    <a:pt x="1766706" y="433844"/>
                  </a:lnTo>
                  <a:lnTo>
                    <a:pt x="1746577" y="472786"/>
                  </a:lnTo>
                  <a:lnTo>
                    <a:pt x="1715889" y="503493"/>
                  </a:lnTo>
                  <a:lnTo>
                    <a:pt x="1676985" y="523629"/>
                  </a:lnTo>
                  <a:lnTo>
                    <a:pt x="1632204" y="530860"/>
                  </a:lnTo>
                  <a:lnTo>
                    <a:pt x="1587422" y="523629"/>
                  </a:lnTo>
                  <a:lnTo>
                    <a:pt x="1548518" y="503493"/>
                  </a:lnTo>
                  <a:lnTo>
                    <a:pt x="1517830" y="472786"/>
                  </a:lnTo>
                  <a:lnTo>
                    <a:pt x="1497701" y="433844"/>
                  </a:lnTo>
                  <a:lnTo>
                    <a:pt x="1490471" y="389000"/>
                  </a:lnTo>
                  <a:close/>
                </a:path>
                <a:path w="1774189" h="793114">
                  <a:moveTo>
                    <a:pt x="0" y="792988"/>
                  </a:moveTo>
                  <a:lnTo>
                    <a:pt x="1489456" y="393573"/>
                  </a:lnTo>
                </a:path>
                <a:path w="1774189" h="793114">
                  <a:moveTo>
                    <a:pt x="18287" y="155575"/>
                  </a:moveTo>
                  <a:lnTo>
                    <a:pt x="1488312" y="393191"/>
                  </a:lnTo>
                </a:path>
                <a:path w="1774189" h="793114">
                  <a:moveTo>
                    <a:pt x="155447" y="0"/>
                  </a:moveTo>
                  <a:lnTo>
                    <a:pt x="1489201" y="387096"/>
                  </a:lnTo>
                </a:path>
                <a:path w="1774189" h="793114">
                  <a:moveTo>
                    <a:pt x="182879" y="643382"/>
                  </a:moveTo>
                  <a:lnTo>
                    <a:pt x="1490598" y="393573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719072" y="1473631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88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88" y="667969"/>
                  </a:lnTo>
                  <a:lnTo>
                    <a:pt x="12788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846961" y="1327022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5" h="814705">
                  <a:moveTo>
                    <a:pt x="146431" y="0"/>
                  </a:moveTo>
                  <a:lnTo>
                    <a:pt x="0" y="146558"/>
                  </a:lnTo>
                  <a:lnTo>
                    <a:pt x="0" y="814578"/>
                  </a:lnTo>
                  <a:lnTo>
                    <a:pt x="146431" y="668019"/>
                  </a:lnTo>
                  <a:lnTo>
                    <a:pt x="146431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19072" y="1327022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4">
                  <a:moveTo>
                    <a:pt x="274319" y="0"/>
                  </a:moveTo>
                  <a:lnTo>
                    <a:pt x="146430" y="0"/>
                  </a:lnTo>
                  <a:lnTo>
                    <a:pt x="0" y="146558"/>
                  </a:lnTo>
                  <a:lnTo>
                    <a:pt x="127888" y="146558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1719072" y="1327022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558"/>
                  </a:moveTo>
                  <a:lnTo>
                    <a:pt x="146430" y="0"/>
                  </a:lnTo>
                  <a:lnTo>
                    <a:pt x="274319" y="0"/>
                  </a:lnTo>
                  <a:lnTo>
                    <a:pt x="274319" y="668019"/>
                  </a:lnTo>
                  <a:lnTo>
                    <a:pt x="127888" y="814578"/>
                  </a:lnTo>
                  <a:lnTo>
                    <a:pt x="0" y="814578"/>
                  </a:lnTo>
                  <a:lnTo>
                    <a:pt x="0" y="146558"/>
                  </a:lnTo>
                  <a:close/>
                </a:path>
                <a:path w="274319" h="814705">
                  <a:moveTo>
                    <a:pt x="0" y="146558"/>
                  </a:moveTo>
                  <a:lnTo>
                    <a:pt x="127888" y="146558"/>
                  </a:lnTo>
                  <a:lnTo>
                    <a:pt x="274319" y="0"/>
                  </a:lnTo>
                </a:path>
                <a:path w="274319" h="814705">
                  <a:moveTo>
                    <a:pt x="127888" y="146558"/>
                  </a:moveTo>
                  <a:lnTo>
                    <a:pt x="127888" y="81457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3310127" y="1592452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9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3" y="141859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1819655" y="1345310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9000"/>
                  </a:moveTo>
                  <a:lnTo>
                    <a:pt x="1497701" y="344157"/>
                  </a:lnTo>
                  <a:lnTo>
                    <a:pt x="1517830" y="305215"/>
                  </a:lnTo>
                  <a:lnTo>
                    <a:pt x="1548518" y="274508"/>
                  </a:lnTo>
                  <a:lnTo>
                    <a:pt x="1587422" y="254372"/>
                  </a:lnTo>
                  <a:lnTo>
                    <a:pt x="1632204" y="247141"/>
                  </a:lnTo>
                  <a:lnTo>
                    <a:pt x="1676985" y="254372"/>
                  </a:lnTo>
                  <a:lnTo>
                    <a:pt x="1715889" y="274508"/>
                  </a:lnTo>
                  <a:lnTo>
                    <a:pt x="1746577" y="305215"/>
                  </a:lnTo>
                  <a:lnTo>
                    <a:pt x="1766706" y="344157"/>
                  </a:lnTo>
                  <a:lnTo>
                    <a:pt x="1773935" y="389000"/>
                  </a:lnTo>
                  <a:lnTo>
                    <a:pt x="1766706" y="433844"/>
                  </a:lnTo>
                  <a:lnTo>
                    <a:pt x="1746577" y="472786"/>
                  </a:lnTo>
                  <a:lnTo>
                    <a:pt x="1715889" y="503493"/>
                  </a:lnTo>
                  <a:lnTo>
                    <a:pt x="1676985" y="523629"/>
                  </a:lnTo>
                  <a:lnTo>
                    <a:pt x="1632204" y="530860"/>
                  </a:lnTo>
                  <a:lnTo>
                    <a:pt x="1587422" y="523629"/>
                  </a:lnTo>
                  <a:lnTo>
                    <a:pt x="1548518" y="503493"/>
                  </a:lnTo>
                  <a:lnTo>
                    <a:pt x="1517830" y="472786"/>
                  </a:lnTo>
                  <a:lnTo>
                    <a:pt x="1497701" y="433844"/>
                  </a:lnTo>
                  <a:lnTo>
                    <a:pt x="1490471" y="389000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4048"/>
                  </a:lnTo>
                </a:path>
                <a:path w="1774189" h="784225">
                  <a:moveTo>
                    <a:pt x="155448" y="0"/>
                  </a:moveTo>
                  <a:lnTo>
                    <a:pt x="1489202" y="387096"/>
                  </a:lnTo>
                </a:path>
                <a:path w="1774189" h="784225">
                  <a:moveTo>
                    <a:pt x="182880" y="634238"/>
                  </a:moveTo>
                  <a:lnTo>
                    <a:pt x="1490598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1" name="object 21"/>
            <p:cNvSpPr/>
            <p:nvPr/>
          </p:nvSpPr>
          <p:spPr>
            <a:xfrm>
              <a:off x="1572767" y="1615795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2" name="object 22"/>
            <p:cNvSpPr/>
            <p:nvPr/>
          </p:nvSpPr>
          <p:spPr>
            <a:xfrm>
              <a:off x="1704975" y="14643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8"/>
                  </a:lnTo>
                  <a:lnTo>
                    <a:pt x="151256" y="663067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3" name="object 23"/>
            <p:cNvSpPr/>
            <p:nvPr/>
          </p:nvSpPr>
          <p:spPr>
            <a:xfrm>
              <a:off x="1572767" y="14643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5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1572767" y="14643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7"/>
                  </a:lnTo>
                  <a:lnTo>
                    <a:pt x="132206" y="814578"/>
                  </a:lnTo>
                  <a:lnTo>
                    <a:pt x="0" y="814578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5" name="object 25"/>
            <p:cNvSpPr/>
            <p:nvPr/>
          </p:nvSpPr>
          <p:spPr>
            <a:xfrm>
              <a:off x="3172968" y="1729739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1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9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1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9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1682495" y="1482597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2" y="389000"/>
                  </a:moveTo>
                  <a:lnTo>
                    <a:pt x="1497701" y="344157"/>
                  </a:lnTo>
                  <a:lnTo>
                    <a:pt x="1517830" y="305215"/>
                  </a:lnTo>
                  <a:lnTo>
                    <a:pt x="1548518" y="274508"/>
                  </a:lnTo>
                  <a:lnTo>
                    <a:pt x="1587422" y="254372"/>
                  </a:lnTo>
                  <a:lnTo>
                    <a:pt x="1632204" y="247141"/>
                  </a:lnTo>
                  <a:lnTo>
                    <a:pt x="1676985" y="254372"/>
                  </a:lnTo>
                  <a:lnTo>
                    <a:pt x="1715889" y="274508"/>
                  </a:lnTo>
                  <a:lnTo>
                    <a:pt x="1746577" y="305215"/>
                  </a:lnTo>
                  <a:lnTo>
                    <a:pt x="1766706" y="344157"/>
                  </a:lnTo>
                  <a:lnTo>
                    <a:pt x="1773936" y="389000"/>
                  </a:lnTo>
                  <a:lnTo>
                    <a:pt x="1766706" y="433844"/>
                  </a:lnTo>
                  <a:lnTo>
                    <a:pt x="1746577" y="472786"/>
                  </a:lnTo>
                  <a:lnTo>
                    <a:pt x="1715889" y="503493"/>
                  </a:lnTo>
                  <a:lnTo>
                    <a:pt x="1676985" y="523629"/>
                  </a:lnTo>
                  <a:lnTo>
                    <a:pt x="1632204" y="530860"/>
                  </a:lnTo>
                  <a:lnTo>
                    <a:pt x="1587422" y="523629"/>
                  </a:lnTo>
                  <a:lnTo>
                    <a:pt x="1548518" y="503493"/>
                  </a:lnTo>
                  <a:lnTo>
                    <a:pt x="1517830" y="472786"/>
                  </a:lnTo>
                  <a:lnTo>
                    <a:pt x="1497701" y="433844"/>
                  </a:lnTo>
                  <a:lnTo>
                    <a:pt x="1490472" y="389000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4048"/>
                  </a:lnTo>
                </a:path>
                <a:path w="1774189" h="784225">
                  <a:moveTo>
                    <a:pt x="155448" y="0"/>
                  </a:moveTo>
                  <a:lnTo>
                    <a:pt x="1489202" y="387096"/>
                  </a:lnTo>
                </a:path>
                <a:path w="1774189" h="784225">
                  <a:moveTo>
                    <a:pt x="182880" y="634238"/>
                  </a:moveTo>
                  <a:lnTo>
                    <a:pt x="1490599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1408175" y="1780514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5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1540382" y="1629028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0"/>
                  </a:lnTo>
                  <a:lnTo>
                    <a:pt x="0" y="814577"/>
                  </a:lnTo>
                  <a:lnTo>
                    <a:pt x="151256" y="663193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8175" y="1629028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7" y="0"/>
                  </a:lnTo>
                  <a:lnTo>
                    <a:pt x="0" y="151510"/>
                  </a:lnTo>
                  <a:lnTo>
                    <a:pt x="132207" y="151510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object 30"/>
            <p:cNvSpPr/>
            <p:nvPr/>
          </p:nvSpPr>
          <p:spPr>
            <a:xfrm>
              <a:off x="1408175" y="1629028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0"/>
                  </a:moveTo>
                  <a:lnTo>
                    <a:pt x="151257" y="0"/>
                  </a:lnTo>
                  <a:lnTo>
                    <a:pt x="283463" y="0"/>
                  </a:lnTo>
                  <a:lnTo>
                    <a:pt x="283463" y="663193"/>
                  </a:lnTo>
                  <a:lnTo>
                    <a:pt x="132207" y="814577"/>
                  </a:lnTo>
                  <a:lnTo>
                    <a:pt x="0" y="814577"/>
                  </a:lnTo>
                  <a:lnTo>
                    <a:pt x="0" y="151510"/>
                  </a:lnTo>
                  <a:close/>
                </a:path>
                <a:path w="283844" h="814705">
                  <a:moveTo>
                    <a:pt x="0" y="151510"/>
                  </a:moveTo>
                  <a:lnTo>
                    <a:pt x="132207" y="151510"/>
                  </a:lnTo>
                  <a:lnTo>
                    <a:pt x="283463" y="0"/>
                  </a:lnTo>
                </a:path>
                <a:path w="283844" h="814705">
                  <a:moveTo>
                    <a:pt x="132207" y="151510"/>
                  </a:moveTo>
                  <a:lnTo>
                    <a:pt x="132207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object 31"/>
            <p:cNvSpPr/>
            <p:nvPr/>
          </p:nvSpPr>
          <p:spPr>
            <a:xfrm>
              <a:off x="3008375" y="189445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4">
                  <a:moveTo>
                    <a:pt x="141731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1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3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object 32"/>
            <p:cNvSpPr/>
            <p:nvPr/>
          </p:nvSpPr>
          <p:spPr>
            <a:xfrm>
              <a:off x="1517903" y="1647443"/>
              <a:ext cx="1774189" cy="793115"/>
            </a:xfrm>
            <a:custGeom>
              <a:avLst/>
              <a:gdLst/>
              <a:ahLst/>
              <a:cxnLst/>
              <a:rect l="l" t="t" r="r" b="b"/>
              <a:pathLst>
                <a:path w="1774189" h="793114">
                  <a:moveTo>
                    <a:pt x="1490472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3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3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2" y="388873"/>
                  </a:lnTo>
                  <a:close/>
                </a:path>
                <a:path w="1774189" h="793114">
                  <a:moveTo>
                    <a:pt x="0" y="792860"/>
                  </a:moveTo>
                  <a:lnTo>
                    <a:pt x="1489456" y="393445"/>
                  </a:lnTo>
                </a:path>
                <a:path w="1774189" h="793114">
                  <a:moveTo>
                    <a:pt x="18287" y="155575"/>
                  </a:moveTo>
                  <a:lnTo>
                    <a:pt x="1488313" y="393064"/>
                  </a:lnTo>
                </a:path>
                <a:path w="1774189" h="793114">
                  <a:moveTo>
                    <a:pt x="155447" y="0"/>
                  </a:moveTo>
                  <a:lnTo>
                    <a:pt x="1489202" y="386969"/>
                  </a:lnTo>
                </a:path>
                <a:path w="1774189" h="793114">
                  <a:moveTo>
                    <a:pt x="182879" y="643254"/>
                  </a:moveTo>
                  <a:lnTo>
                    <a:pt x="1490598" y="393445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3" name="object 33"/>
            <p:cNvSpPr/>
            <p:nvPr/>
          </p:nvSpPr>
          <p:spPr>
            <a:xfrm>
              <a:off x="1261871" y="1931212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69" h="668019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89760" y="1784603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4" h="814705">
                  <a:moveTo>
                    <a:pt x="146430" y="0"/>
                  </a:moveTo>
                  <a:lnTo>
                    <a:pt x="0" y="146684"/>
                  </a:lnTo>
                  <a:lnTo>
                    <a:pt x="0" y="814577"/>
                  </a:lnTo>
                  <a:lnTo>
                    <a:pt x="146430" y="668019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5" name="object 35"/>
            <p:cNvSpPr/>
            <p:nvPr/>
          </p:nvSpPr>
          <p:spPr>
            <a:xfrm>
              <a:off x="1261871" y="1784603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19" h="146685">
                  <a:moveTo>
                    <a:pt x="274319" y="0"/>
                  </a:moveTo>
                  <a:lnTo>
                    <a:pt x="146431" y="0"/>
                  </a:lnTo>
                  <a:lnTo>
                    <a:pt x="0" y="146684"/>
                  </a:lnTo>
                  <a:lnTo>
                    <a:pt x="127889" y="14668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6" name="object 36"/>
            <p:cNvSpPr/>
            <p:nvPr/>
          </p:nvSpPr>
          <p:spPr>
            <a:xfrm>
              <a:off x="1261871" y="1784603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19" h="814705">
                  <a:moveTo>
                    <a:pt x="0" y="146684"/>
                  </a:moveTo>
                  <a:lnTo>
                    <a:pt x="146431" y="0"/>
                  </a:lnTo>
                  <a:lnTo>
                    <a:pt x="274319" y="0"/>
                  </a:lnTo>
                  <a:lnTo>
                    <a:pt x="274319" y="668019"/>
                  </a:lnTo>
                  <a:lnTo>
                    <a:pt x="127889" y="814577"/>
                  </a:lnTo>
                  <a:lnTo>
                    <a:pt x="0" y="814577"/>
                  </a:lnTo>
                  <a:lnTo>
                    <a:pt x="0" y="146684"/>
                  </a:lnTo>
                  <a:close/>
                </a:path>
                <a:path w="274319" h="814705">
                  <a:moveTo>
                    <a:pt x="0" y="146684"/>
                  </a:moveTo>
                  <a:lnTo>
                    <a:pt x="127889" y="146684"/>
                  </a:lnTo>
                  <a:lnTo>
                    <a:pt x="274319" y="0"/>
                  </a:lnTo>
                </a:path>
                <a:path w="274319" h="814705">
                  <a:moveTo>
                    <a:pt x="127889" y="146684"/>
                  </a:moveTo>
                  <a:lnTo>
                    <a:pt x="127889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7" name="object 37"/>
            <p:cNvSpPr/>
            <p:nvPr/>
          </p:nvSpPr>
          <p:spPr>
            <a:xfrm>
              <a:off x="2852927" y="2050033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4" h="283844">
                  <a:moveTo>
                    <a:pt x="141732" y="0"/>
                  </a:moveTo>
                  <a:lnTo>
                    <a:pt x="96950" y="7230"/>
                  </a:lnTo>
                  <a:lnTo>
                    <a:pt x="58046" y="27366"/>
                  </a:lnTo>
                  <a:lnTo>
                    <a:pt x="27358" y="58073"/>
                  </a:lnTo>
                  <a:lnTo>
                    <a:pt x="7229" y="97015"/>
                  </a:lnTo>
                  <a:lnTo>
                    <a:pt x="0" y="141858"/>
                  </a:lnTo>
                  <a:lnTo>
                    <a:pt x="7229" y="186702"/>
                  </a:lnTo>
                  <a:lnTo>
                    <a:pt x="27358" y="225644"/>
                  </a:lnTo>
                  <a:lnTo>
                    <a:pt x="58046" y="256351"/>
                  </a:lnTo>
                  <a:lnTo>
                    <a:pt x="96950" y="276487"/>
                  </a:lnTo>
                  <a:lnTo>
                    <a:pt x="141732" y="283718"/>
                  </a:lnTo>
                  <a:lnTo>
                    <a:pt x="186513" y="276487"/>
                  </a:lnTo>
                  <a:lnTo>
                    <a:pt x="225417" y="256351"/>
                  </a:lnTo>
                  <a:lnTo>
                    <a:pt x="256105" y="225644"/>
                  </a:lnTo>
                  <a:lnTo>
                    <a:pt x="276234" y="186702"/>
                  </a:lnTo>
                  <a:lnTo>
                    <a:pt x="283464" y="141858"/>
                  </a:lnTo>
                  <a:lnTo>
                    <a:pt x="276234" y="97015"/>
                  </a:lnTo>
                  <a:lnTo>
                    <a:pt x="256105" y="58073"/>
                  </a:lnTo>
                  <a:lnTo>
                    <a:pt x="225417" y="27366"/>
                  </a:lnTo>
                  <a:lnTo>
                    <a:pt x="186513" y="7230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8" name="object 38"/>
            <p:cNvSpPr/>
            <p:nvPr/>
          </p:nvSpPr>
          <p:spPr>
            <a:xfrm>
              <a:off x="1362455" y="1803018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8873"/>
                  </a:moveTo>
                  <a:lnTo>
                    <a:pt x="1497701" y="344030"/>
                  </a:lnTo>
                  <a:lnTo>
                    <a:pt x="1517830" y="305088"/>
                  </a:lnTo>
                  <a:lnTo>
                    <a:pt x="1548518" y="274381"/>
                  </a:lnTo>
                  <a:lnTo>
                    <a:pt x="1587422" y="254245"/>
                  </a:lnTo>
                  <a:lnTo>
                    <a:pt x="1632204" y="247014"/>
                  </a:lnTo>
                  <a:lnTo>
                    <a:pt x="1676985" y="254245"/>
                  </a:lnTo>
                  <a:lnTo>
                    <a:pt x="1715889" y="274381"/>
                  </a:lnTo>
                  <a:lnTo>
                    <a:pt x="1746577" y="305088"/>
                  </a:lnTo>
                  <a:lnTo>
                    <a:pt x="1766706" y="344030"/>
                  </a:lnTo>
                  <a:lnTo>
                    <a:pt x="1773936" y="388873"/>
                  </a:lnTo>
                  <a:lnTo>
                    <a:pt x="1766706" y="433717"/>
                  </a:lnTo>
                  <a:lnTo>
                    <a:pt x="1746577" y="472659"/>
                  </a:lnTo>
                  <a:lnTo>
                    <a:pt x="1715889" y="503366"/>
                  </a:lnTo>
                  <a:lnTo>
                    <a:pt x="1676985" y="523502"/>
                  </a:lnTo>
                  <a:lnTo>
                    <a:pt x="1632204" y="530732"/>
                  </a:lnTo>
                  <a:lnTo>
                    <a:pt x="1587422" y="523502"/>
                  </a:lnTo>
                  <a:lnTo>
                    <a:pt x="1548518" y="503366"/>
                  </a:lnTo>
                  <a:lnTo>
                    <a:pt x="1517830" y="472659"/>
                  </a:lnTo>
                  <a:lnTo>
                    <a:pt x="1497701" y="433717"/>
                  </a:lnTo>
                  <a:lnTo>
                    <a:pt x="1490471" y="388873"/>
                  </a:lnTo>
                  <a:close/>
                </a:path>
                <a:path w="1774189" h="784225">
                  <a:moveTo>
                    <a:pt x="0" y="783716"/>
                  </a:moveTo>
                  <a:lnTo>
                    <a:pt x="1489456" y="384301"/>
                  </a:lnTo>
                </a:path>
                <a:path w="1774189" h="784225">
                  <a:moveTo>
                    <a:pt x="18287" y="146430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6969"/>
                  </a:lnTo>
                </a:path>
                <a:path w="1774189" h="784225">
                  <a:moveTo>
                    <a:pt x="182880" y="634110"/>
                  </a:moveTo>
                  <a:lnTo>
                    <a:pt x="1490599" y="3843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043641" y="1976304"/>
            <a:ext cx="350933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63889" y="4589803"/>
            <a:ext cx="1245602" cy="1067554"/>
          </a:xfrm>
          <a:prstGeom prst="rect">
            <a:avLst/>
          </a:prstGeom>
        </p:spPr>
        <p:txBody>
          <a:bodyPr vert="horz" wrap="square" lIns="0" tIns="174198" rIns="0" bIns="0" rtlCol="0">
            <a:spAutoFit/>
          </a:bodyPr>
          <a:lstStyle/>
          <a:p>
            <a:pPr marL="910743">
              <a:spcBef>
                <a:spcPts val="1372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1238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517213" y="620070"/>
            <a:ext cx="412554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/>
          </a:p>
        </p:txBody>
      </p:sp>
      <p:grpSp>
        <p:nvGrpSpPr>
          <p:cNvPr id="42" name="object 42"/>
          <p:cNvGrpSpPr/>
          <p:nvPr/>
        </p:nvGrpSpPr>
        <p:grpSpPr>
          <a:xfrm>
            <a:off x="1626534" y="1571663"/>
            <a:ext cx="1292111" cy="3706364"/>
            <a:chOff x="1215762" y="1180202"/>
            <a:chExt cx="970280" cy="2783205"/>
          </a:xfrm>
        </p:grpSpPr>
        <p:sp>
          <p:nvSpPr>
            <p:cNvPr id="43" name="object 43"/>
            <p:cNvSpPr/>
            <p:nvPr/>
          </p:nvSpPr>
          <p:spPr>
            <a:xfrm>
              <a:off x="1225295" y="1929460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1437258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5295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6" name="object 46"/>
            <p:cNvSpPr/>
            <p:nvPr/>
          </p:nvSpPr>
          <p:spPr>
            <a:xfrm>
              <a:off x="1225295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4086" y="2875370"/>
            <a:ext cx="2535177" cy="1111148"/>
            <a:chOff x="1626933" y="2159190"/>
            <a:chExt cx="1903730" cy="834390"/>
          </a:xfrm>
        </p:grpSpPr>
        <p:sp>
          <p:nvSpPr>
            <p:cNvPr id="3" name="object 3"/>
            <p:cNvSpPr/>
            <p:nvPr/>
          </p:nvSpPr>
          <p:spPr>
            <a:xfrm>
              <a:off x="1636775" y="2320518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768982" y="2169032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7"/>
                  </a:lnTo>
                  <a:lnTo>
                    <a:pt x="151256" y="663066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636775" y="2169032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636775" y="2169032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7"/>
                  </a:lnTo>
                  <a:lnTo>
                    <a:pt x="0" y="814577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3236975" y="2434462"/>
              <a:ext cx="283845" cy="274955"/>
            </a:xfrm>
            <a:custGeom>
              <a:avLst/>
              <a:gdLst/>
              <a:ahLst/>
              <a:cxnLst/>
              <a:rect l="l" t="t" r="r" b="b"/>
              <a:pathLst>
                <a:path w="283845" h="274955">
                  <a:moveTo>
                    <a:pt x="141732" y="0"/>
                  </a:moveTo>
                  <a:lnTo>
                    <a:pt x="96950" y="6999"/>
                  </a:lnTo>
                  <a:lnTo>
                    <a:pt x="58046" y="26489"/>
                  </a:lnTo>
                  <a:lnTo>
                    <a:pt x="27358" y="56208"/>
                  </a:lnTo>
                  <a:lnTo>
                    <a:pt x="7229" y="93894"/>
                  </a:lnTo>
                  <a:lnTo>
                    <a:pt x="0" y="137286"/>
                  </a:lnTo>
                  <a:lnTo>
                    <a:pt x="7229" y="180679"/>
                  </a:lnTo>
                  <a:lnTo>
                    <a:pt x="27358" y="218365"/>
                  </a:lnTo>
                  <a:lnTo>
                    <a:pt x="58046" y="248084"/>
                  </a:lnTo>
                  <a:lnTo>
                    <a:pt x="96950" y="267574"/>
                  </a:lnTo>
                  <a:lnTo>
                    <a:pt x="141732" y="274573"/>
                  </a:lnTo>
                  <a:lnTo>
                    <a:pt x="186513" y="267574"/>
                  </a:lnTo>
                  <a:lnTo>
                    <a:pt x="225417" y="248084"/>
                  </a:lnTo>
                  <a:lnTo>
                    <a:pt x="256105" y="218365"/>
                  </a:lnTo>
                  <a:lnTo>
                    <a:pt x="276234" y="180679"/>
                  </a:lnTo>
                  <a:lnTo>
                    <a:pt x="283463" y="137286"/>
                  </a:lnTo>
                  <a:lnTo>
                    <a:pt x="276234" y="93894"/>
                  </a:lnTo>
                  <a:lnTo>
                    <a:pt x="256105" y="56208"/>
                  </a:lnTo>
                  <a:lnTo>
                    <a:pt x="225417" y="26489"/>
                  </a:lnTo>
                  <a:lnTo>
                    <a:pt x="186513" y="6999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1746503" y="2187320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4428"/>
                  </a:moveTo>
                  <a:lnTo>
                    <a:pt x="1497701" y="341036"/>
                  </a:lnTo>
                  <a:lnTo>
                    <a:pt x="1517830" y="303350"/>
                  </a:lnTo>
                  <a:lnTo>
                    <a:pt x="1548518" y="273631"/>
                  </a:lnTo>
                  <a:lnTo>
                    <a:pt x="1587422" y="254141"/>
                  </a:lnTo>
                  <a:lnTo>
                    <a:pt x="1632204" y="247142"/>
                  </a:lnTo>
                  <a:lnTo>
                    <a:pt x="1676985" y="254141"/>
                  </a:lnTo>
                  <a:lnTo>
                    <a:pt x="1715889" y="273631"/>
                  </a:lnTo>
                  <a:lnTo>
                    <a:pt x="1746577" y="303350"/>
                  </a:lnTo>
                  <a:lnTo>
                    <a:pt x="1766706" y="341036"/>
                  </a:lnTo>
                  <a:lnTo>
                    <a:pt x="1773935" y="384428"/>
                  </a:lnTo>
                  <a:lnTo>
                    <a:pt x="1766706" y="427821"/>
                  </a:lnTo>
                  <a:lnTo>
                    <a:pt x="1746577" y="465507"/>
                  </a:lnTo>
                  <a:lnTo>
                    <a:pt x="1715889" y="495226"/>
                  </a:lnTo>
                  <a:lnTo>
                    <a:pt x="1676985" y="514716"/>
                  </a:lnTo>
                  <a:lnTo>
                    <a:pt x="1632204" y="521715"/>
                  </a:lnTo>
                  <a:lnTo>
                    <a:pt x="1587422" y="514716"/>
                  </a:lnTo>
                  <a:lnTo>
                    <a:pt x="1548518" y="495226"/>
                  </a:lnTo>
                  <a:lnTo>
                    <a:pt x="1517830" y="465507"/>
                  </a:lnTo>
                  <a:lnTo>
                    <a:pt x="1497701" y="427821"/>
                  </a:lnTo>
                  <a:lnTo>
                    <a:pt x="1490471" y="384428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7095"/>
                  </a:lnTo>
                </a:path>
                <a:path w="1774189" h="784225">
                  <a:moveTo>
                    <a:pt x="182879" y="634238"/>
                  </a:moveTo>
                  <a:lnTo>
                    <a:pt x="1490598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57915" y="4746310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3888" y="5269142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40317" y="609125"/>
            <a:ext cx="4233187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grpSp>
        <p:nvGrpSpPr>
          <p:cNvPr id="12" name="object 12"/>
          <p:cNvGrpSpPr/>
          <p:nvPr/>
        </p:nvGrpSpPr>
        <p:grpSpPr>
          <a:xfrm>
            <a:off x="1626123" y="1571251"/>
            <a:ext cx="1292957" cy="3707210"/>
            <a:chOff x="1215453" y="1179893"/>
            <a:chExt cx="970915" cy="2783840"/>
          </a:xfrm>
        </p:grpSpPr>
        <p:sp>
          <p:nvSpPr>
            <p:cNvPr id="13" name="object 13"/>
            <p:cNvSpPr/>
            <p:nvPr/>
          </p:nvSpPr>
          <p:spPr>
            <a:xfrm>
              <a:off x="1225296" y="1929459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37259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5296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5296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43640" y="1108036"/>
            <a:ext cx="4233187" cy="1249494"/>
          </a:xfrm>
          <a:prstGeom prst="rect">
            <a:avLst/>
          </a:prstGeom>
        </p:spPr>
        <p:txBody>
          <a:bodyPr vert="horz" wrap="square" lIns="0" tIns="28751" rIns="0" bIns="0" rtlCol="0">
            <a:spAutoFit/>
          </a:bodyPr>
          <a:lstStyle/>
          <a:p>
            <a:pPr marL="1724239" marR="6765">
              <a:lnSpc>
                <a:spcPts val="3849"/>
              </a:lnSpc>
              <a:spcBef>
                <a:spcPts val="226"/>
              </a:spcBef>
            </a:pPr>
            <a:r>
              <a:rPr sz="3129" spc="-140" dirty="0">
                <a:solidFill>
                  <a:srgbClr val="FF0000"/>
                </a:solidFill>
                <a:latin typeface="Tahoma"/>
                <a:cs typeface="Tahoma"/>
              </a:rPr>
              <a:t>32x32x3</a:t>
            </a:r>
            <a:r>
              <a:rPr sz="3129" spc="-28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47" dirty="0">
                <a:solidFill>
                  <a:srgbClr val="FF0000"/>
                </a:solidFill>
                <a:latin typeface="Tahoma"/>
                <a:cs typeface="Tahoma"/>
              </a:rPr>
              <a:t>image </a:t>
            </a:r>
            <a:r>
              <a:rPr sz="3129" spc="-140" dirty="0">
                <a:solidFill>
                  <a:srgbClr val="0000FF"/>
                </a:solidFill>
                <a:latin typeface="Tahoma"/>
                <a:cs typeface="Tahoma"/>
              </a:rPr>
              <a:t>5x5x3</a:t>
            </a:r>
            <a:r>
              <a:rPr sz="3129" spc="-3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0000FF"/>
                </a:solidFill>
                <a:latin typeface="Tahoma"/>
                <a:cs typeface="Tahoma"/>
              </a:rPr>
              <a:t>filter</a:t>
            </a:r>
            <a:endParaRPr sz="3129">
              <a:latin typeface="Tahoma"/>
              <a:cs typeface="Tahoma"/>
            </a:endParaRPr>
          </a:p>
          <a:p>
            <a:pPr marL="16913">
              <a:lnSpc>
                <a:spcPts val="1924"/>
              </a:lnSpc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29068" y="1338450"/>
            <a:ext cx="1866289" cy="1390204"/>
            <a:chOff x="2043683" y="1005077"/>
            <a:chExt cx="1401445" cy="1043940"/>
          </a:xfrm>
        </p:grpSpPr>
        <p:sp>
          <p:nvSpPr>
            <p:cNvPr id="19" name="object 19"/>
            <p:cNvSpPr/>
            <p:nvPr/>
          </p:nvSpPr>
          <p:spPr>
            <a:xfrm>
              <a:off x="2354579" y="1005077"/>
              <a:ext cx="986155" cy="259079"/>
            </a:xfrm>
            <a:custGeom>
              <a:avLst/>
              <a:gdLst/>
              <a:ahLst/>
              <a:cxnLst/>
              <a:rect l="l" t="t" r="r" b="b"/>
              <a:pathLst>
                <a:path w="986154" h="259080">
                  <a:moveTo>
                    <a:pt x="65405" y="184912"/>
                  </a:moveTo>
                  <a:lnTo>
                    <a:pt x="0" y="239522"/>
                  </a:lnTo>
                  <a:lnTo>
                    <a:pt x="82931" y="259080"/>
                  </a:lnTo>
                  <a:lnTo>
                    <a:pt x="76328" y="231140"/>
                  </a:lnTo>
                  <a:lnTo>
                    <a:pt x="63245" y="231140"/>
                  </a:lnTo>
                  <a:lnTo>
                    <a:pt x="60325" y="218694"/>
                  </a:lnTo>
                  <a:lnTo>
                    <a:pt x="72694" y="215761"/>
                  </a:lnTo>
                  <a:lnTo>
                    <a:pt x="65405" y="184912"/>
                  </a:lnTo>
                  <a:close/>
                </a:path>
                <a:path w="986154" h="259080">
                  <a:moveTo>
                    <a:pt x="72694" y="215761"/>
                  </a:moveTo>
                  <a:lnTo>
                    <a:pt x="60325" y="218694"/>
                  </a:lnTo>
                  <a:lnTo>
                    <a:pt x="63245" y="231140"/>
                  </a:lnTo>
                  <a:lnTo>
                    <a:pt x="75634" y="228203"/>
                  </a:lnTo>
                  <a:lnTo>
                    <a:pt x="72694" y="215761"/>
                  </a:lnTo>
                  <a:close/>
                </a:path>
                <a:path w="986154" h="259080">
                  <a:moveTo>
                    <a:pt x="75634" y="228203"/>
                  </a:moveTo>
                  <a:lnTo>
                    <a:pt x="63245" y="231140"/>
                  </a:lnTo>
                  <a:lnTo>
                    <a:pt x="76328" y="231140"/>
                  </a:lnTo>
                  <a:lnTo>
                    <a:pt x="75634" y="228203"/>
                  </a:lnTo>
                  <a:close/>
                </a:path>
                <a:path w="986154" h="259080">
                  <a:moveTo>
                    <a:pt x="982853" y="0"/>
                  </a:moveTo>
                  <a:lnTo>
                    <a:pt x="72694" y="215761"/>
                  </a:lnTo>
                  <a:lnTo>
                    <a:pt x="75634" y="228203"/>
                  </a:lnTo>
                  <a:lnTo>
                    <a:pt x="985773" y="12446"/>
                  </a:lnTo>
                  <a:lnTo>
                    <a:pt x="9828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3683" y="1490471"/>
              <a:ext cx="1401445" cy="558165"/>
            </a:xfrm>
            <a:custGeom>
              <a:avLst/>
              <a:gdLst/>
              <a:ahLst/>
              <a:cxnLst/>
              <a:rect l="l" t="t" r="r" b="b"/>
              <a:pathLst>
                <a:path w="1401445" h="558164">
                  <a:moveTo>
                    <a:pt x="57277" y="487044"/>
                  </a:moveTo>
                  <a:lnTo>
                    <a:pt x="0" y="550291"/>
                  </a:lnTo>
                  <a:lnTo>
                    <a:pt x="84836" y="558164"/>
                  </a:lnTo>
                  <a:lnTo>
                    <a:pt x="75141" y="533145"/>
                  </a:lnTo>
                  <a:lnTo>
                    <a:pt x="61468" y="533145"/>
                  </a:lnTo>
                  <a:lnTo>
                    <a:pt x="56896" y="521335"/>
                  </a:lnTo>
                  <a:lnTo>
                    <a:pt x="68773" y="516713"/>
                  </a:lnTo>
                  <a:lnTo>
                    <a:pt x="57277" y="487044"/>
                  </a:lnTo>
                  <a:close/>
                </a:path>
                <a:path w="1401445" h="558164">
                  <a:moveTo>
                    <a:pt x="68773" y="516713"/>
                  </a:moveTo>
                  <a:lnTo>
                    <a:pt x="56896" y="521335"/>
                  </a:lnTo>
                  <a:lnTo>
                    <a:pt x="61468" y="533145"/>
                  </a:lnTo>
                  <a:lnTo>
                    <a:pt x="73349" y="528522"/>
                  </a:lnTo>
                  <a:lnTo>
                    <a:pt x="68773" y="516713"/>
                  </a:lnTo>
                  <a:close/>
                </a:path>
                <a:path w="1401445" h="558164">
                  <a:moveTo>
                    <a:pt x="73349" y="528522"/>
                  </a:moveTo>
                  <a:lnTo>
                    <a:pt x="61468" y="533145"/>
                  </a:lnTo>
                  <a:lnTo>
                    <a:pt x="75141" y="533145"/>
                  </a:lnTo>
                  <a:lnTo>
                    <a:pt x="73349" y="528522"/>
                  </a:lnTo>
                  <a:close/>
                </a:path>
                <a:path w="1401445" h="558164">
                  <a:moveTo>
                    <a:pt x="1396619" y="0"/>
                  </a:moveTo>
                  <a:lnTo>
                    <a:pt x="68773" y="516713"/>
                  </a:lnTo>
                  <a:lnTo>
                    <a:pt x="73349" y="528522"/>
                  </a:lnTo>
                  <a:lnTo>
                    <a:pt x="1401191" y="11811"/>
                  </a:lnTo>
                  <a:lnTo>
                    <a:pt x="1396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1" name="object 21"/>
          <p:cNvSpPr/>
          <p:nvPr/>
        </p:nvSpPr>
        <p:spPr>
          <a:xfrm>
            <a:off x="5298407" y="3380122"/>
            <a:ext cx="3150790" cy="101475"/>
          </a:xfrm>
          <a:custGeom>
            <a:avLst/>
            <a:gdLst/>
            <a:ahLst/>
            <a:cxnLst/>
            <a:rect l="l" t="t" r="r" b="b"/>
            <a:pathLst>
              <a:path w="2366010" h="76200">
                <a:moveTo>
                  <a:pt x="2289556" y="0"/>
                </a:moveTo>
                <a:lnTo>
                  <a:pt x="2289556" y="76200"/>
                </a:lnTo>
                <a:lnTo>
                  <a:pt x="2353056" y="44450"/>
                </a:lnTo>
                <a:lnTo>
                  <a:pt x="2302256" y="44450"/>
                </a:lnTo>
                <a:lnTo>
                  <a:pt x="2302256" y="31750"/>
                </a:lnTo>
                <a:lnTo>
                  <a:pt x="2353056" y="31750"/>
                </a:lnTo>
                <a:lnTo>
                  <a:pt x="2289556" y="0"/>
                </a:lnTo>
                <a:close/>
              </a:path>
              <a:path w="2366010" h="76200">
                <a:moveTo>
                  <a:pt x="228955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9556" y="44450"/>
                </a:lnTo>
                <a:lnTo>
                  <a:pt x="2289556" y="31750"/>
                </a:lnTo>
                <a:close/>
              </a:path>
              <a:path w="2366010" h="76200">
                <a:moveTo>
                  <a:pt x="2353056" y="31750"/>
                </a:moveTo>
                <a:lnTo>
                  <a:pt x="2302256" y="31750"/>
                </a:lnTo>
                <a:lnTo>
                  <a:pt x="2302256" y="44450"/>
                </a:lnTo>
                <a:lnTo>
                  <a:pt x="2353056" y="44450"/>
                </a:lnTo>
                <a:lnTo>
                  <a:pt x="2365756" y="38100"/>
                </a:lnTo>
                <a:lnTo>
                  <a:pt x="2353056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22" name="object 22"/>
          <p:cNvGrpSpPr/>
          <p:nvPr/>
        </p:nvGrpSpPr>
        <p:grpSpPr>
          <a:xfrm>
            <a:off x="9419793" y="1571663"/>
            <a:ext cx="1292111" cy="3706364"/>
            <a:chOff x="7067922" y="1180202"/>
            <a:chExt cx="970280" cy="2783205"/>
          </a:xfrm>
        </p:grpSpPr>
        <p:sp>
          <p:nvSpPr>
            <p:cNvPr id="23" name="object 23"/>
            <p:cNvSpPr/>
            <p:nvPr/>
          </p:nvSpPr>
          <p:spPr>
            <a:xfrm>
              <a:off x="7077456" y="2049855"/>
              <a:ext cx="92075" cy="1904364"/>
            </a:xfrm>
            <a:custGeom>
              <a:avLst/>
              <a:gdLst/>
              <a:ahLst/>
              <a:cxnLst/>
              <a:rect l="l" t="t" r="r" b="b"/>
              <a:pathLst>
                <a:path w="92075" h="1904364">
                  <a:moveTo>
                    <a:pt x="91701" y="0"/>
                  </a:moveTo>
                  <a:lnTo>
                    <a:pt x="0" y="0"/>
                  </a:lnTo>
                  <a:lnTo>
                    <a:pt x="0" y="1903857"/>
                  </a:lnTo>
                  <a:lnTo>
                    <a:pt x="91701" y="1903857"/>
                  </a:lnTo>
                  <a:lnTo>
                    <a:pt x="9170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7169150" y="1189735"/>
              <a:ext cx="859790" cy="2764155"/>
            </a:xfrm>
            <a:custGeom>
              <a:avLst/>
              <a:gdLst/>
              <a:ahLst/>
              <a:cxnLst/>
              <a:rect l="l" t="t" r="r" b="b"/>
              <a:pathLst>
                <a:path w="859790" h="2764154">
                  <a:moveTo>
                    <a:pt x="859281" y="0"/>
                  </a:moveTo>
                  <a:lnTo>
                    <a:pt x="0" y="860044"/>
                  </a:lnTo>
                  <a:lnTo>
                    <a:pt x="0" y="2763977"/>
                  </a:lnTo>
                  <a:lnTo>
                    <a:pt x="859281" y="1903984"/>
                  </a:lnTo>
                  <a:lnTo>
                    <a:pt x="859281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5" name="object 25"/>
            <p:cNvSpPr/>
            <p:nvPr/>
          </p:nvSpPr>
          <p:spPr>
            <a:xfrm>
              <a:off x="7077456" y="1189735"/>
              <a:ext cx="951230" cy="860425"/>
            </a:xfrm>
            <a:custGeom>
              <a:avLst/>
              <a:gdLst/>
              <a:ahLst/>
              <a:cxnLst/>
              <a:rect l="l" t="t" r="r" b="b"/>
              <a:pathLst>
                <a:path w="951229" h="860425">
                  <a:moveTo>
                    <a:pt x="950976" y="0"/>
                  </a:moveTo>
                  <a:lnTo>
                    <a:pt x="859282" y="0"/>
                  </a:lnTo>
                  <a:lnTo>
                    <a:pt x="0" y="860044"/>
                  </a:lnTo>
                  <a:lnTo>
                    <a:pt x="91694" y="860044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7456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29" h="2764154">
                  <a:moveTo>
                    <a:pt x="0" y="860044"/>
                  </a:moveTo>
                  <a:lnTo>
                    <a:pt x="859282" y="0"/>
                  </a:lnTo>
                  <a:lnTo>
                    <a:pt x="950976" y="0"/>
                  </a:lnTo>
                  <a:lnTo>
                    <a:pt x="950976" y="1903984"/>
                  </a:lnTo>
                  <a:lnTo>
                    <a:pt x="91694" y="2763977"/>
                  </a:lnTo>
                  <a:lnTo>
                    <a:pt x="0" y="2763977"/>
                  </a:lnTo>
                  <a:lnTo>
                    <a:pt x="0" y="860044"/>
                  </a:lnTo>
                  <a:close/>
                </a:path>
                <a:path w="951229" h="2764154">
                  <a:moveTo>
                    <a:pt x="0" y="860044"/>
                  </a:moveTo>
                  <a:lnTo>
                    <a:pt x="91694" y="860044"/>
                  </a:lnTo>
                  <a:lnTo>
                    <a:pt x="950976" y="0"/>
                  </a:lnTo>
                </a:path>
                <a:path w="951229" h="2764154">
                  <a:moveTo>
                    <a:pt x="91694" y="860044"/>
                  </a:moveTo>
                  <a:lnTo>
                    <a:pt x="91694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550708" y="780847"/>
            <a:ext cx="194746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27" dirty="0">
                <a:solidFill>
                  <a:srgbClr val="0000FF"/>
                </a:solidFill>
                <a:latin typeface="Tahoma"/>
                <a:cs typeface="Tahoma"/>
              </a:rPr>
              <a:t>activation</a:t>
            </a:r>
            <a:r>
              <a:rPr sz="2397" spc="-17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33" dirty="0">
                <a:solidFill>
                  <a:srgbClr val="0000FF"/>
                </a:solidFill>
                <a:latin typeface="Tahoma"/>
                <a:cs typeface="Tahoma"/>
              </a:rPr>
              <a:t>map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89530" y="5298959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79804" y="469016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34649" y="2804422"/>
            <a:ext cx="5935426" cy="1660176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R="6765" algn="r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  <a:p>
            <a:pPr>
              <a:spcBef>
                <a:spcPts val="1312"/>
              </a:spcBef>
            </a:pPr>
            <a:endParaRPr sz="2397">
              <a:latin typeface="Tahoma"/>
              <a:cs typeface="Tahoma"/>
            </a:endParaRPr>
          </a:p>
          <a:p>
            <a:pPr marL="16913" marR="1999068"/>
            <a:r>
              <a:rPr sz="2397" spc="-47" dirty="0">
                <a:latin typeface="Tahoma"/>
                <a:cs typeface="Tahoma"/>
              </a:rPr>
              <a:t>convolve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(slide)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80" dirty="0">
                <a:latin typeface="Tahoma"/>
                <a:cs typeface="Tahoma"/>
              </a:rPr>
              <a:t>over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all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spatial locations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19793" y="1571663"/>
            <a:ext cx="1803713" cy="3706364"/>
            <a:chOff x="7067922" y="1180202"/>
            <a:chExt cx="1354455" cy="2783205"/>
          </a:xfrm>
        </p:grpSpPr>
        <p:sp>
          <p:nvSpPr>
            <p:cNvPr id="3" name="object 3"/>
            <p:cNvSpPr/>
            <p:nvPr/>
          </p:nvSpPr>
          <p:spPr>
            <a:xfrm>
              <a:off x="7077456" y="2049855"/>
              <a:ext cx="92075" cy="1904364"/>
            </a:xfrm>
            <a:custGeom>
              <a:avLst/>
              <a:gdLst/>
              <a:ahLst/>
              <a:cxnLst/>
              <a:rect l="l" t="t" r="r" b="b"/>
              <a:pathLst>
                <a:path w="92075" h="1904364">
                  <a:moveTo>
                    <a:pt x="91701" y="0"/>
                  </a:moveTo>
                  <a:lnTo>
                    <a:pt x="0" y="0"/>
                  </a:lnTo>
                  <a:lnTo>
                    <a:pt x="0" y="1903857"/>
                  </a:lnTo>
                  <a:lnTo>
                    <a:pt x="91701" y="1903857"/>
                  </a:lnTo>
                  <a:lnTo>
                    <a:pt x="9170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7169150" y="1189735"/>
              <a:ext cx="859790" cy="2764155"/>
            </a:xfrm>
            <a:custGeom>
              <a:avLst/>
              <a:gdLst/>
              <a:ahLst/>
              <a:cxnLst/>
              <a:rect l="l" t="t" r="r" b="b"/>
              <a:pathLst>
                <a:path w="859790" h="2764154">
                  <a:moveTo>
                    <a:pt x="859281" y="0"/>
                  </a:moveTo>
                  <a:lnTo>
                    <a:pt x="0" y="860044"/>
                  </a:lnTo>
                  <a:lnTo>
                    <a:pt x="0" y="2763977"/>
                  </a:lnTo>
                  <a:lnTo>
                    <a:pt x="859281" y="1903984"/>
                  </a:lnTo>
                  <a:lnTo>
                    <a:pt x="859281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7077456" y="1189735"/>
              <a:ext cx="951230" cy="860425"/>
            </a:xfrm>
            <a:custGeom>
              <a:avLst/>
              <a:gdLst/>
              <a:ahLst/>
              <a:cxnLst/>
              <a:rect l="l" t="t" r="r" b="b"/>
              <a:pathLst>
                <a:path w="951229" h="860425">
                  <a:moveTo>
                    <a:pt x="950976" y="0"/>
                  </a:moveTo>
                  <a:lnTo>
                    <a:pt x="859282" y="0"/>
                  </a:lnTo>
                  <a:lnTo>
                    <a:pt x="0" y="860044"/>
                  </a:lnTo>
                  <a:lnTo>
                    <a:pt x="91694" y="860044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7077456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29" h="2764154">
                  <a:moveTo>
                    <a:pt x="0" y="860044"/>
                  </a:moveTo>
                  <a:lnTo>
                    <a:pt x="859282" y="0"/>
                  </a:lnTo>
                  <a:lnTo>
                    <a:pt x="950976" y="0"/>
                  </a:lnTo>
                  <a:lnTo>
                    <a:pt x="950976" y="1903984"/>
                  </a:lnTo>
                  <a:lnTo>
                    <a:pt x="91694" y="2763977"/>
                  </a:lnTo>
                  <a:lnTo>
                    <a:pt x="0" y="2763977"/>
                  </a:lnTo>
                  <a:lnTo>
                    <a:pt x="0" y="860044"/>
                  </a:lnTo>
                  <a:close/>
                </a:path>
                <a:path w="951229" h="2764154">
                  <a:moveTo>
                    <a:pt x="0" y="860044"/>
                  </a:moveTo>
                  <a:lnTo>
                    <a:pt x="91694" y="860044"/>
                  </a:lnTo>
                  <a:lnTo>
                    <a:pt x="950976" y="0"/>
                  </a:lnTo>
                </a:path>
                <a:path w="951229" h="2764154">
                  <a:moveTo>
                    <a:pt x="91694" y="860044"/>
                  </a:moveTo>
                  <a:lnTo>
                    <a:pt x="91694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7452360" y="2058111"/>
              <a:ext cx="92710" cy="1896110"/>
            </a:xfrm>
            <a:custGeom>
              <a:avLst/>
              <a:gdLst/>
              <a:ahLst/>
              <a:cxnLst/>
              <a:rect l="l" t="t" r="r" b="b"/>
              <a:pathLst>
                <a:path w="92709" h="1896110">
                  <a:moveTo>
                    <a:pt x="92584" y="0"/>
                  </a:moveTo>
                  <a:lnTo>
                    <a:pt x="0" y="0"/>
                  </a:lnTo>
                  <a:lnTo>
                    <a:pt x="0" y="1895602"/>
                  </a:lnTo>
                  <a:lnTo>
                    <a:pt x="92584" y="1895602"/>
                  </a:lnTo>
                  <a:lnTo>
                    <a:pt x="92584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7544943" y="1189735"/>
              <a:ext cx="868044" cy="2764155"/>
            </a:xfrm>
            <a:custGeom>
              <a:avLst/>
              <a:gdLst/>
              <a:ahLst/>
              <a:cxnLst/>
              <a:rect l="l" t="t" r="r" b="b"/>
              <a:pathLst>
                <a:path w="868045" h="2764154">
                  <a:moveTo>
                    <a:pt x="867536" y="0"/>
                  </a:moveTo>
                  <a:lnTo>
                    <a:pt x="0" y="868299"/>
                  </a:lnTo>
                  <a:lnTo>
                    <a:pt x="0" y="2763977"/>
                  </a:lnTo>
                  <a:lnTo>
                    <a:pt x="867536" y="1895729"/>
                  </a:lnTo>
                  <a:lnTo>
                    <a:pt x="867536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7452360" y="1189735"/>
              <a:ext cx="960119" cy="868680"/>
            </a:xfrm>
            <a:custGeom>
              <a:avLst/>
              <a:gdLst/>
              <a:ahLst/>
              <a:cxnLst/>
              <a:rect l="l" t="t" r="r" b="b"/>
              <a:pathLst>
                <a:path w="960120" h="868680">
                  <a:moveTo>
                    <a:pt x="960120" y="0"/>
                  </a:moveTo>
                  <a:lnTo>
                    <a:pt x="867537" y="0"/>
                  </a:lnTo>
                  <a:lnTo>
                    <a:pt x="0" y="868299"/>
                  </a:lnTo>
                  <a:lnTo>
                    <a:pt x="92583" y="86829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7452360" y="1189735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868299"/>
                  </a:moveTo>
                  <a:lnTo>
                    <a:pt x="867537" y="0"/>
                  </a:lnTo>
                  <a:lnTo>
                    <a:pt x="960120" y="0"/>
                  </a:lnTo>
                  <a:lnTo>
                    <a:pt x="960120" y="1895729"/>
                  </a:lnTo>
                  <a:lnTo>
                    <a:pt x="92583" y="2763977"/>
                  </a:lnTo>
                  <a:lnTo>
                    <a:pt x="0" y="2763977"/>
                  </a:lnTo>
                  <a:lnTo>
                    <a:pt x="0" y="868299"/>
                  </a:lnTo>
                  <a:close/>
                </a:path>
                <a:path w="960120" h="2764154">
                  <a:moveTo>
                    <a:pt x="0" y="868299"/>
                  </a:moveTo>
                  <a:lnTo>
                    <a:pt x="92583" y="868299"/>
                  </a:lnTo>
                  <a:lnTo>
                    <a:pt x="960120" y="0"/>
                  </a:lnTo>
                </a:path>
                <a:path w="960120" h="2764154">
                  <a:moveTo>
                    <a:pt x="92583" y="868299"/>
                  </a:moveTo>
                  <a:lnTo>
                    <a:pt x="92583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174086" y="2875370"/>
            <a:ext cx="2535177" cy="1111148"/>
            <a:chOff x="1626933" y="2159190"/>
            <a:chExt cx="1903730" cy="834390"/>
          </a:xfrm>
        </p:grpSpPr>
        <p:sp>
          <p:nvSpPr>
            <p:cNvPr id="12" name="object 12"/>
            <p:cNvSpPr/>
            <p:nvPr/>
          </p:nvSpPr>
          <p:spPr>
            <a:xfrm>
              <a:off x="1636775" y="2320518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8982" y="2169032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5">
                  <a:moveTo>
                    <a:pt x="151256" y="0"/>
                  </a:moveTo>
                  <a:lnTo>
                    <a:pt x="0" y="151511"/>
                  </a:lnTo>
                  <a:lnTo>
                    <a:pt x="0" y="814577"/>
                  </a:lnTo>
                  <a:lnTo>
                    <a:pt x="151256" y="663066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6775" y="2169032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4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6775" y="2169032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4" h="814705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66"/>
                  </a:lnTo>
                  <a:lnTo>
                    <a:pt x="132206" y="814577"/>
                  </a:lnTo>
                  <a:lnTo>
                    <a:pt x="0" y="814577"/>
                  </a:lnTo>
                  <a:lnTo>
                    <a:pt x="0" y="151511"/>
                  </a:lnTo>
                  <a:close/>
                </a:path>
                <a:path w="283844" h="814705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4" h="814705">
                  <a:moveTo>
                    <a:pt x="132206" y="151511"/>
                  </a:moveTo>
                  <a:lnTo>
                    <a:pt x="132206" y="8145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3236975" y="2434462"/>
              <a:ext cx="283845" cy="274955"/>
            </a:xfrm>
            <a:custGeom>
              <a:avLst/>
              <a:gdLst/>
              <a:ahLst/>
              <a:cxnLst/>
              <a:rect l="l" t="t" r="r" b="b"/>
              <a:pathLst>
                <a:path w="283845" h="274955">
                  <a:moveTo>
                    <a:pt x="141732" y="0"/>
                  </a:moveTo>
                  <a:lnTo>
                    <a:pt x="96950" y="6999"/>
                  </a:lnTo>
                  <a:lnTo>
                    <a:pt x="58046" y="26489"/>
                  </a:lnTo>
                  <a:lnTo>
                    <a:pt x="27358" y="56208"/>
                  </a:lnTo>
                  <a:lnTo>
                    <a:pt x="7229" y="93894"/>
                  </a:lnTo>
                  <a:lnTo>
                    <a:pt x="0" y="137286"/>
                  </a:lnTo>
                  <a:lnTo>
                    <a:pt x="7229" y="180679"/>
                  </a:lnTo>
                  <a:lnTo>
                    <a:pt x="27358" y="218365"/>
                  </a:lnTo>
                  <a:lnTo>
                    <a:pt x="58046" y="248084"/>
                  </a:lnTo>
                  <a:lnTo>
                    <a:pt x="96950" y="267574"/>
                  </a:lnTo>
                  <a:lnTo>
                    <a:pt x="141732" y="274573"/>
                  </a:lnTo>
                  <a:lnTo>
                    <a:pt x="186513" y="267574"/>
                  </a:lnTo>
                  <a:lnTo>
                    <a:pt x="225417" y="248084"/>
                  </a:lnTo>
                  <a:lnTo>
                    <a:pt x="256105" y="218365"/>
                  </a:lnTo>
                  <a:lnTo>
                    <a:pt x="276234" y="180679"/>
                  </a:lnTo>
                  <a:lnTo>
                    <a:pt x="283463" y="137286"/>
                  </a:lnTo>
                  <a:lnTo>
                    <a:pt x="276234" y="93894"/>
                  </a:lnTo>
                  <a:lnTo>
                    <a:pt x="256105" y="56208"/>
                  </a:lnTo>
                  <a:lnTo>
                    <a:pt x="225417" y="26489"/>
                  </a:lnTo>
                  <a:lnTo>
                    <a:pt x="186513" y="6999"/>
                  </a:lnTo>
                  <a:lnTo>
                    <a:pt x="141732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46503" y="2187320"/>
              <a:ext cx="1774189" cy="784225"/>
            </a:xfrm>
            <a:custGeom>
              <a:avLst/>
              <a:gdLst/>
              <a:ahLst/>
              <a:cxnLst/>
              <a:rect l="l" t="t" r="r" b="b"/>
              <a:pathLst>
                <a:path w="1774189" h="784225">
                  <a:moveTo>
                    <a:pt x="1490471" y="384428"/>
                  </a:moveTo>
                  <a:lnTo>
                    <a:pt x="1497701" y="341036"/>
                  </a:lnTo>
                  <a:lnTo>
                    <a:pt x="1517830" y="303350"/>
                  </a:lnTo>
                  <a:lnTo>
                    <a:pt x="1548518" y="273631"/>
                  </a:lnTo>
                  <a:lnTo>
                    <a:pt x="1587422" y="254141"/>
                  </a:lnTo>
                  <a:lnTo>
                    <a:pt x="1632204" y="247142"/>
                  </a:lnTo>
                  <a:lnTo>
                    <a:pt x="1676985" y="254141"/>
                  </a:lnTo>
                  <a:lnTo>
                    <a:pt x="1715889" y="273631"/>
                  </a:lnTo>
                  <a:lnTo>
                    <a:pt x="1746577" y="303350"/>
                  </a:lnTo>
                  <a:lnTo>
                    <a:pt x="1766706" y="341036"/>
                  </a:lnTo>
                  <a:lnTo>
                    <a:pt x="1773935" y="384428"/>
                  </a:lnTo>
                  <a:lnTo>
                    <a:pt x="1766706" y="427821"/>
                  </a:lnTo>
                  <a:lnTo>
                    <a:pt x="1746577" y="465507"/>
                  </a:lnTo>
                  <a:lnTo>
                    <a:pt x="1715889" y="495226"/>
                  </a:lnTo>
                  <a:lnTo>
                    <a:pt x="1676985" y="514716"/>
                  </a:lnTo>
                  <a:lnTo>
                    <a:pt x="1632204" y="521715"/>
                  </a:lnTo>
                  <a:lnTo>
                    <a:pt x="1587422" y="514716"/>
                  </a:lnTo>
                  <a:lnTo>
                    <a:pt x="1548518" y="495226"/>
                  </a:lnTo>
                  <a:lnTo>
                    <a:pt x="1517830" y="465507"/>
                  </a:lnTo>
                  <a:lnTo>
                    <a:pt x="1497701" y="427821"/>
                  </a:lnTo>
                  <a:lnTo>
                    <a:pt x="1490471" y="384428"/>
                  </a:lnTo>
                  <a:close/>
                </a:path>
                <a:path w="1774189" h="784225">
                  <a:moveTo>
                    <a:pt x="0" y="783844"/>
                  </a:moveTo>
                  <a:lnTo>
                    <a:pt x="1489456" y="384428"/>
                  </a:lnTo>
                </a:path>
                <a:path w="1774189" h="784225">
                  <a:moveTo>
                    <a:pt x="18287" y="146431"/>
                  </a:moveTo>
                  <a:lnTo>
                    <a:pt x="1488313" y="383920"/>
                  </a:lnTo>
                </a:path>
                <a:path w="1774189" h="784225">
                  <a:moveTo>
                    <a:pt x="155447" y="0"/>
                  </a:moveTo>
                  <a:lnTo>
                    <a:pt x="1489202" y="387095"/>
                  </a:lnTo>
                </a:path>
                <a:path w="1774189" h="784225">
                  <a:moveTo>
                    <a:pt x="182879" y="634238"/>
                  </a:moveTo>
                  <a:lnTo>
                    <a:pt x="1490598" y="384428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57915" y="4746310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43641" y="1976304"/>
            <a:ext cx="350933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63888" y="5269142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611" y="598302"/>
            <a:ext cx="3916079" cy="636984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>
                <a:latin typeface="Tahoma"/>
                <a:cs typeface="Tahoma"/>
              </a:rPr>
              <a:t>Convolution</a:t>
            </a:r>
            <a:r>
              <a:rPr sz="3995" spc="-393" dirty="0">
                <a:latin typeface="Tahoma"/>
                <a:cs typeface="Tahoma"/>
              </a:rPr>
              <a:t> </a:t>
            </a:r>
            <a:r>
              <a:rPr sz="3995" spc="-33" dirty="0">
                <a:latin typeface="Tahoma"/>
                <a:cs typeface="Tahoma"/>
              </a:rPr>
              <a:t>Layer</a:t>
            </a:r>
            <a:endParaRPr sz="3995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50953" y="1108034"/>
            <a:ext cx="2525875" cy="953025"/>
          </a:xfrm>
          <a:prstGeom prst="rect">
            <a:avLst/>
          </a:prstGeom>
        </p:spPr>
        <p:txBody>
          <a:bodyPr vert="horz" wrap="square" lIns="0" tIns="10993" rIns="0" bIns="0" rtlCol="0">
            <a:spAutoFit/>
          </a:bodyPr>
          <a:lstStyle/>
          <a:p>
            <a:pPr marL="16913" marR="6765">
              <a:lnSpc>
                <a:spcPct val="102400"/>
              </a:lnSpc>
              <a:spcBef>
                <a:spcPts val="87"/>
              </a:spcBef>
            </a:pPr>
            <a:r>
              <a:rPr sz="3129" spc="-140" dirty="0">
                <a:solidFill>
                  <a:srgbClr val="FF0000"/>
                </a:solidFill>
                <a:latin typeface="Tahoma"/>
                <a:cs typeface="Tahoma"/>
              </a:rPr>
              <a:t>32x32x3</a:t>
            </a:r>
            <a:r>
              <a:rPr sz="3129" spc="-28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129" spc="-47" dirty="0">
                <a:solidFill>
                  <a:srgbClr val="FF0000"/>
                </a:solidFill>
                <a:latin typeface="Tahoma"/>
                <a:cs typeface="Tahoma"/>
              </a:rPr>
              <a:t>image </a:t>
            </a:r>
            <a:r>
              <a:rPr sz="3129" spc="-140" dirty="0">
                <a:solidFill>
                  <a:srgbClr val="38761D"/>
                </a:solidFill>
                <a:latin typeface="Tahoma"/>
                <a:cs typeface="Tahoma"/>
              </a:rPr>
              <a:t>5x5x3</a:t>
            </a:r>
            <a:r>
              <a:rPr sz="3129" spc="-30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3129" spc="-13" dirty="0">
                <a:solidFill>
                  <a:srgbClr val="38761D"/>
                </a:solidFill>
                <a:latin typeface="Tahoma"/>
                <a:cs typeface="Tahoma"/>
              </a:rPr>
              <a:t>filter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43085" y="1338451"/>
            <a:ext cx="1313252" cy="345013"/>
          </a:xfrm>
          <a:custGeom>
            <a:avLst/>
            <a:gdLst/>
            <a:ahLst/>
            <a:cxnLst/>
            <a:rect l="l" t="t" r="r" b="b"/>
            <a:pathLst>
              <a:path w="986154" h="259080">
                <a:moveTo>
                  <a:pt x="65405" y="184912"/>
                </a:moveTo>
                <a:lnTo>
                  <a:pt x="0" y="239522"/>
                </a:lnTo>
                <a:lnTo>
                  <a:pt x="82931" y="259080"/>
                </a:lnTo>
                <a:lnTo>
                  <a:pt x="76328" y="231140"/>
                </a:lnTo>
                <a:lnTo>
                  <a:pt x="63245" y="231140"/>
                </a:lnTo>
                <a:lnTo>
                  <a:pt x="60325" y="218694"/>
                </a:lnTo>
                <a:lnTo>
                  <a:pt x="72694" y="215761"/>
                </a:lnTo>
                <a:lnTo>
                  <a:pt x="65405" y="184912"/>
                </a:lnTo>
                <a:close/>
              </a:path>
              <a:path w="986154" h="259080">
                <a:moveTo>
                  <a:pt x="72694" y="215761"/>
                </a:moveTo>
                <a:lnTo>
                  <a:pt x="60325" y="218694"/>
                </a:lnTo>
                <a:lnTo>
                  <a:pt x="63245" y="231140"/>
                </a:lnTo>
                <a:lnTo>
                  <a:pt x="75634" y="228203"/>
                </a:lnTo>
                <a:lnTo>
                  <a:pt x="72694" y="215761"/>
                </a:lnTo>
                <a:close/>
              </a:path>
              <a:path w="986154" h="259080">
                <a:moveTo>
                  <a:pt x="75634" y="228203"/>
                </a:moveTo>
                <a:lnTo>
                  <a:pt x="63245" y="231140"/>
                </a:lnTo>
                <a:lnTo>
                  <a:pt x="76328" y="231140"/>
                </a:lnTo>
                <a:lnTo>
                  <a:pt x="75634" y="228203"/>
                </a:lnTo>
                <a:close/>
              </a:path>
              <a:path w="986154" h="259080">
                <a:moveTo>
                  <a:pt x="982853" y="0"/>
                </a:moveTo>
                <a:lnTo>
                  <a:pt x="72694" y="215761"/>
                </a:lnTo>
                <a:lnTo>
                  <a:pt x="75634" y="228203"/>
                </a:lnTo>
                <a:lnTo>
                  <a:pt x="985773" y="12446"/>
                </a:lnTo>
                <a:lnTo>
                  <a:pt x="9828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24" name="object 24"/>
          <p:cNvGrpSpPr/>
          <p:nvPr/>
        </p:nvGrpSpPr>
        <p:grpSpPr>
          <a:xfrm>
            <a:off x="1626535" y="1571663"/>
            <a:ext cx="2968981" cy="3706364"/>
            <a:chOff x="1215762" y="1180202"/>
            <a:chExt cx="2229485" cy="2783205"/>
          </a:xfrm>
        </p:grpSpPr>
        <p:sp>
          <p:nvSpPr>
            <p:cNvPr id="25" name="object 25"/>
            <p:cNvSpPr/>
            <p:nvPr/>
          </p:nvSpPr>
          <p:spPr>
            <a:xfrm>
              <a:off x="2043683" y="1490471"/>
              <a:ext cx="1401445" cy="558165"/>
            </a:xfrm>
            <a:custGeom>
              <a:avLst/>
              <a:gdLst/>
              <a:ahLst/>
              <a:cxnLst/>
              <a:rect l="l" t="t" r="r" b="b"/>
              <a:pathLst>
                <a:path w="1401445" h="558164">
                  <a:moveTo>
                    <a:pt x="57277" y="487044"/>
                  </a:moveTo>
                  <a:lnTo>
                    <a:pt x="0" y="550291"/>
                  </a:lnTo>
                  <a:lnTo>
                    <a:pt x="84836" y="558164"/>
                  </a:lnTo>
                  <a:lnTo>
                    <a:pt x="75141" y="533145"/>
                  </a:lnTo>
                  <a:lnTo>
                    <a:pt x="61468" y="533145"/>
                  </a:lnTo>
                  <a:lnTo>
                    <a:pt x="56896" y="521335"/>
                  </a:lnTo>
                  <a:lnTo>
                    <a:pt x="68773" y="516713"/>
                  </a:lnTo>
                  <a:lnTo>
                    <a:pt x="57277" y="487044"/>
                  </a:lnTo>
                  <a:close/>
                </a:path>
                <a:path w="1401445" h="558164">
                  <a:moveTo>
                    <a:pt x="68773" y="516713"/>
                  </a:moveTo>
                  <a:lnTo>
                    <a:pt x="56896" y="521335"/>
                  </a:lnTo>
                  <a:lnTo>
                    <a:pt x="61468" y="533145"/>
                  </a:lnTo>
                  <a:lnTo>
                    <a:pt x="73349" y="528522"/>
                  </a:lnTo>
                  <a:lnTo>
                    <a:pt x="68773" y="516713"/>
                  </a:lnTo>
                  <a:close/>
                </a:path>
                <a:path w="1401445" h="558164">
                  <a:moveTo>
                    <a:pt x="73349" y="528522"/>
                  </a:moveTo>
                  <a:lnTo>
                    <a:pt x="61468" y="533145"/>
                  </a:lnTo>
                  <a:lnTo>
                    <a:pt x="75141" y="533145"/>
                  </a:lnTo>
                  <a:lnTo>
                    <a:pt x="73349" y="528522"/>
                  </a:lnTo>
                  <a:close/>
                </a:path>
                <a:path w="1401445" h="558164">
                  <a:moveTo>
                    <a:pt x="1396619" y="0"/>
                  </a:moveTo>
                  <a:lnTo>
                    <a:pt x="68773" y="516713"/>
                  </a:lnTo>
                  <a:lnTo>
                    <a:pt x="73349" y="528522"/>
                  </a:lnTo>
                  <a:lnTo>
                    <a:pt x="1401191" y="11811"/>
                  </a:lnTo>
                  <a:lnTo>
                    <a:pt x="1396619" y="0"/>
                  </a:lnTo>
                  <a:close/>
                </a:path>
              </a:pathLst>
            </a:custGeom>
            <a:solidFill>
              <a:srgbClr val="38761D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1225295" y="1929460"/>
              <a:ext cx="212090" cy="2024380"/>
            </a:xfrm>
            <a:custGeom>
              <a:avLst/>
              <a:gdLst/>
              <a:ahLst/>
              <a:cxnLst/>
              <a:rect l="l" t="t" r="r" b="b"/>
              <a:pathLst>
                <a:path w="212090" h="2024379">
                  <a:moveTo>
                    <a:pt x="211962" y="0"/>
                  </a:moveTo>
                  <a:lnTo>
                    <a:pt x="0" y="0"/>
                  </a:lnTo>
                  <a:lnTo>
                    <a:pt x="0" y="2024252"/>
                  </a:lnTo>
                  <a:lnTo>
                    <a:pt x="211962" y="2024252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1437258" y="1189735"/>
              <a:ext cx="739140" cy="2764155"/>
            </a:xfrm>
            <a:custGeom>
              <a:avLst/>
              <a:gdLst/>
              <a:ahLst/>
              <a:cxnLst/>
              <a:rect l="l" t="t" r="r" b="b"/>
              <a:pathLst>
                <a:path w="739139" h="2764154">
                  <a:moveTo>
                    <a:pt x="739013" y="0"/>
                  </a:moveTo>
                  <a:lnTo>
                    <a:pt x="0" y="739648"/>
                  </a:lnTo>
                  <a:lnTo>
                    <a:pt x="0" y="2763977"/>
                  </a:lnTo>
                  <a:lnTo>
                    <a:pt x="739013" y="2024253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1225295" y="1189735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2" y="0"/>
                  </a:lnTo>
                  <a:lnTo>
                    <a:pt x="0" y="739648"/>
                  </a:lnTo>
                  <a:lnTo>
                    <a:pt x="211962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25295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30" h="2764154">
                  <a:moveTo>
                    <a:pt x="0" y="739648"/>
                  </a:moveTo>
                  <a:lnTo>
                    <a:pt x="739012" y="0"/>
                  </a:lnTo>
                  <a:lnTo>
                    <a:pt x="950976" y="0"/>
                  </a:lnTo>
                  <a:lnTo>
                    <a:pt x="950976" y="2024253"/>
                  </a:lnTo>
                  <a:lnTo>
                    <a:pt x="211962" y="2763977"/>
                  </a:lnTo>
                  <a:lnTo>
                    <a:pt x="0" y="2763977"/>
                  </a:lnTo>
                  <a:lnTo>
                    <a:pt x="0" y="739648"/>
                  </a:lnTo>
                  <a:close/>
                </a:path>
                <a:path w="951230" h="2764154">
                  <a:moveTo>
                    <a:pt x="0" y="739648"/>
                  </a:moveTo>
                  <a:lnTo>
                    <a:pt x="211962" y="739648"/>
                  </a:lnTo>
                  <a:lnTo>
                    <a:pt x="950976" y="0"/>
                  </a:lnTo>
                </a:path>
                <a:path w="951230" h="2764154">
                  <a:moveTo>
                    <a:pt x="211962" y="739648"/>
                  </a:moveTo>
                  <a:lnTo>
                    <a:pt x="211962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0" name="object 30"/>
          <p:cNvSpPr/>
          <p:nvPr/>
        </p:nvSpPr>
        <p:spPr>
          <a:xfrm>
            <a:off x="5298407" y="3380122"/>
            <a:ext cx="3150790" cy="101475"/>
          </a:xfrm>
          <a:custGeom>
            <a:avLst/>
            <a:gdLst/>
            <a:ahLst/>
            <a:cxnLst/>
            <a:rect l="l" t="t" r="r" b="b"/>
            <a:pathLst>
              <a:path w="2366010" h="76200">
                <a:moveTo>
                  <a:pt x="2289556" y="0"/>
                </a:moveTo>
                <a:lnTo>
                  <a:pt x="2289556" y="76200"/>
                </a:lnTo>
                <a:lnTo>
                  <a:pt x="2353056" y="44450"/>
                </a:lnTo>
                <a:lnTo>
                  <a:pt x="2302256" y="44450"/>
                </a:lnTo>
                <a:lnTo>
                  <a:pt x="2302256" y="31750"/>
                </a:lnTo>
                <a:lnTo>
                  <a:pt x="2353056" y="31750"/>
                </a:lnTo>
                <a:lnTo>
                  <a:pt x="2289556" y="0"/>
                </a:lnTo>
                <a:close/>
              </a:path>
              <a:path w="2366010" h="76200">
                <a:moveTo>
                  <a:pt x="228955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9556" y="44450"/>
                </a:lnTo>
                <a:lnTo>
                  <a:pt x="2289556" y="31750"/>
                </a:lnTo>
                <a:close/>
              </a:path>
              <a:path w="2366010" h="76200">
                <a:moveTo>
                  <a:pt x="2353056" y="31750"/>
                </a:moveTo>
                <a:lnTo>
                  <a:pt x="2302256" y="31750"/>
                </a:lnTo>
                <a:lnTo>
                  <a:pt x="2302256" y="44450"/>
                </a:lnTo>
                <a:lnTo>
                  <a:pt x="2353056" y="44450"/>
                </a:lnTo>
                <a:lnTo>
                  <a:pt x="2365756" y="38100"/>
                </a:lnTo>
                <a:lnTo>
                  <a:pt x="2353056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1" name="object 31"/>
          <p:cNvSpPr txBox="1"/>
          <p:nvPr/>
        </p:nvSpPr>
        <p:spPr>
          <a:xfrm>
            <a:off x="5234649" y="3704165"/>
            <a:ext cx="3943139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47" dirty="0">
                <a:latin typeface="Tahoma"/>
                <a:cs typeface="Tahoma"/>
              </a:rPr>
              <a:t>convolve</a:t>
            </a:r>
            <a:r>
              <a:rPr sz="2397" spc="-266" dirty="0">
                <a:latin typeface="Tahoma"/>
                <a:cs typeface="Tahoma"/>
              </a:rPr>
              <a:t> </a:t>
            </a:r>
            <a:r>
              <a:rPr sz="2397" spc="-73" dirty="0">
                <a:latin typeface="Tahoma"/>
                <a:cs typeface="Tahoma"/>
              </a:rPr>
              <a:t>(slide)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spc="-80" dirty="0">
                <a:latin typeface="Tahoma"/>
                <a:cs typeface="Tahoma"/>
              </a:rPr>
              <a:t>over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all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spatial locations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10455" y="1086625"/>
            <a:ext cx="2071776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activation</a:t>
            </a:r>
            <a:r>
              <a:rPr sz="2397" spc="-133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maps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93353" y="5298959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1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783624" y="469016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22286" y="2804423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5736067" y="587488"/>
            <a:ext cx="5122781" cy="503743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13" dirty="0"/>
              <a:t>consider</a:t>
            </a:r>
            <a:r>
              <a:rPr sz="3129" spc="-305" dirty="0"/>
              <a:t> </a:t>
            </a:r>
            <a:r>
              <a:rPr sz="3129" spc="-60" dirty="0"/>
              <a:t>a</a:t>
            </a:r>
            <a:r>
              <a:rPr sz="3129" spc="-320" dirty="0"/>
              <a:t> </a:t>
            </a:r>
            <a:r>
              <a:rPr sz="3129" spc="-40" dirty="0"/>
              <a:t>second,</a:t>
            </a:r>
            <a:r>
              <a:rPr sz="3129" spc="-293" dirty="0"/>
              <a:t> </a:t>
            </a:r>
            <a:r>
              <a:rPr sz="3129" spc="-80" dirty="0">
                <a:solidFill>
                  <a:srgbClr val="38761D"/>
                </a:solidFill>
              </a:rPr>
              <a:t>green</a:t>
            </a:r>
            <a:r>
              <a:rPr sz="3129" spc="-233" dirty="0">
                <a:solidFill>
                  <a:srgbClr val="38761D"/>
                </a:solidFill>
              </a:rPr>
              <a:t> </a:t>
            </a:r>
            <a:r>
              <a:rPr sz="3129" spc="-13" dirty="0"/>
              <a:t>filter</a:t>
            </a:r>
            <a:endParaRPr sz="3129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05" y="1209171"/>
            <a:ext cx="2118285" cy="430285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2663" spc="-140" dirty="0">
                <a:solidFill>
                  <a:srgbClr val="C00000"/>
                </a:solidFill>
                <a:latin typeface="Tahoma"/>
                <a:cs typeface="Tahoma"/>
              </a:rPr>
              <a:t>3x32x32</a:t>
            </a:r>
            <a:r>
              <a:rPr sz="2663" spc="-272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663" spc="-27" dirty="0">
                <a:solidFill>
                  <a:srgbClr val="C00000"/>
                </a:solidFill>
                <a:latin typeface="Tahoma"/>
                <a:cs typeface="Tahoma"/>
              </a:rPr>
              <a:t>image</a:t>
            </a:r>
            <a:endParaRPr sz="2663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19526" y="1888602"/>
            <a:ext cx="1292111" cy="3694526"/>
            <a:chOff x="1060314" y="1418200"/>
            <a:chExt cx="970280" cy="2774315"/>
          </a:xfrm>
        </p:grpSpPr>
        <p:sp>
          <p:nvSpPr>
            <p:cNvPr id="4" name="object 4"/>
            <p:cNvSpPr/>
            <p:nvPr/>
          </p:nvSpPr>
          <p:spPr>
            <a:xfrm>
              <a:off x="1069847" y="2167407"/>
              <a:ext cx="212090" cy="2015489"/>
            </a:xfrm>
            <a:custGeom>
              <a:avLst/>
              <a:gdLst/>
              <a:ahLst/>
              <a:cxnLst/>
              <a:rect l="l" t="t" r="r" b="b"/>
              <a:pathLst>
                <a:path w="212090" h="2015489">
                  <a:moveTo>
                    <a:pt x="211962" y="0"/>
                  </a:moveTo>
                  <a:lnTo>
                    <a:pt x="0" y="0"/>
                  </a:lnTo>
                  <a:lnTo>
                    <a:pt x="0" y="2015108"/>
                  </a:lnTo>
                  <a:lnTo>
                    <a:pt x="211962" y="2015108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281811" y="1427733"/>
              <a:ext cx="739140" cy="2755265"/>
            </a:xfrm>
            <a:custGeom>
              <a:avLst/>
              <a:gdLst/>
              <a:ahLst/>
              <a:cxnLst/>
              <a:rect l="l" t="t" r="r" b="b"/>
              <a:pathLst>
                <a:path w="739139" h="2755265">
                  <a:moveTo>
                    <a:pt x="739013" y="0"/>
                  </a:moveTo>
                  <a:lnTo>
                    <a:pt x="0" y="739648"/>
                  </a:lnTo>
                  <a:lnTo>
                    <a:pt x="0" y="2754782"/>
                  </a:lnTo>
                  <a:lnTo>
                    <a:pt x="739013" y="2015108"/>
                  </a:lnTo>
                  <a:lnTo>
                    <a:pt x="739013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069847" y="1427733"/>
              <a:ext cx="951230" cy="739775"/>
            </a:xfrm>
            <a:custGeom>
              <a:avLst/>
              <a:gdLst/>
              <a:ahLst/>
              <a:cxnLst/>
              <a:rect l="l" t="t" r="r" b="b"/>
              <a:pathLst>
                <a:path w="951230" h="739775">
                  <a:moveTo>
                    <a:pt x="950976" y="0"/>
                  </a:moveTo>
                  <a:lnTo>
                    <a:pt x="739013" y="0"/>
                  </a:lnTo>
                  <a:lnTo>
                    <a:pt x="0" y="739648"/>
                  </a:lnTo>
                  <a:lnTo>
                    <a:pt x="211963" y="739648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1069847" y="1427733"/>
              <a:ext cx="951230" cy="2755265"/>
            </a:xfrm>
            <a:custGeom>
              <a:avLst/>
              <a:gdLst/>
              <a:ahLst/>
              <a:cxnLst/>
              <a:rect l="l" t="t" r="r" b="b"/>
              <a:pathLst>
                <a:path w="951230" h="2755265">
                  <a:moveTo>
                    <a:pt x="0" y="739648"/>
                  </a:moveTo>
                  <a:lnTo>
                    <a:pt x="739013" y="0"/>
                  </a:lnTo>
                  <a:lnTo>
                    <a:pt x="950976" y="0"/>
                  </a:lnTo>
                  <a:lnTo>
                    <a:pt x="950976" y="2015108"/>
                  </a:lnTo>
                  <a:lnTo>
                    <a:pt x="211963" y="2754782"/>
                  </a:lnTo>
                  <a:lnTo>
                    <a:pt x="0" y="2754782"/>
                  </a:lnTo>
                  <a:lnTo>
                    <a:pt x="0" y="739648"/>
                  </a:lnTo>
                  <a:close/>
                </a:path>
                <a:path w="951230" h="2755265">
                  <a:moveTo>
                    <a:pt x="0" y="739648"/>
                  </a:moveTo>
                  <a:lnTo>
                    <a:pt x="211963" y="739648"/>
                  </a:lnTo>
                  <a:lnTo>
                    <a:pt x="950976" y="0"/>
                  </a:lnTo>
                </a:path>
                <a:path w="951230" h="2755265">
                  <a:moveTo>
                    <a:pt x="211963" y="739648"/>
                  </a:moveTo>
                  <a:lnTo>
                    <a:pt x="211963" y="2754782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31221" y="4041399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1385" y="3380122"/>
            <a:ext cx="1654884" cy="101475"/>
          </a:xfrm>
          <a:custGeom>
            <a:avLst/>
            <a:gdLst/>
            <a:ahLst/>
            <a:cxnLst/>
            <a:rect l="l" t="t" r="r" b="b"/>
            <a:pathLst>
              <a:path w="1242695" h="76200">
                <a:moveTo>
                  <a:pt x="1166114" y="0"/>
                </a:moveTo>
                <a:lnTo>
                  <a:pt x="1166114" y="76200"/>
                </a:lnTo>
                <a:lnTo>
                  <a:pt x="1216914" y="50800"/>
                </a:lnTo>
                <a:lnTo>
                  <a:pt x="1178814" y="50800"/>
                </a:lnTo>
                <a:lnTo>
                  <a:pt x="1178814" y="25400"/>
                </a:lnTo>
                <a:lnTo>
                  <a:pt x="1216914" y="25400"/>
                </a:lnTo>
                <a:lnTo>
                  <a:pt x="1166114" y="0"/>
                </a:lnTo>
                <a:close/>
              </a:path>
              <a:path w="1242695" h="76200">
                <a:moveTo>
                  <a:pt x="116611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166114" y="50800"/>
                </a:lnTo>
                <a:lnTo>
                  <a:pt x="1166114" y="25400"/>
                </a:lnTo>
                <a:close/>
              </a:path>
              <a:path w="1242695" h="76200">
                <a:moveTo>
                  <a:pt x="1216914" y="25400"/>
                </a:moveTo>
                <a:lnTo>
                  <a:pt x="1178814" y="25400"/>
                </a:lnTo>
                <a:lnTo>
                  <a:pt x="1178814" y="50800"/>
                </a:lnTo>
                <a:lnTo>
                  <a:pt x="1216914" y="50800"/>
                </a:lnTo>
                <a:lnTo>
                  <a:pt x="1242314" y="38100"/>
                </a:lnTo>
                <a:lnTo>
                  <a:pt x="121691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10" name="object 10"/>
          <p:cNvGrpSpPr/>
          <p:nvPr/>
        </p:nvGrpSpPr>
        <p:grpSpPr>
          <a:xfrm>
            <a:off x="9419793" y="1571663"/>
            <a:ext cx="2302631" cy="3706364"/>
            <a:chOff x="7067922" y="1180202"/>
            <a:chExt cx="1729105" cy="2783205"/>
          </a:xfrm>
        </p:grpSpPr>
        <p:sp>
          <p:nvSpPr>
            <p:cNvPr id="11" name="object 11"/>
            <p:cNvSpPr/>
            <p:nvPr/>
          </p:nvSpPr>
          <p:spPr>
            <a:xfrm>
              <a:off x="7077456" y="2049855"/>
              <a:ext cx="92075" cy="1904364"/>
            </a:xfrm>
            <a:custGeom>
              <a:avLst/>
              <a:gdLst/>
              <a:ahLst/>
              <a:cxnLst/>
              <a:rect l="l" t="t" r="r" b="b"/>
              <a:pathLst>
                <a:path w="92075" h="1904364">
                  <a:moveTo>
                    <a:pt x="91701" y="0"/>
                  </a:moveTo>
                  <a:lnTo>
                    <a:pt x="0" y="0"/>
                  </a:lnTo>
                  <a:lnTo>
                    <a:pt x="0" y="1903857"/>
                  </a:lnTo>
                  <a:lnTo>
                    <a:pt x="91701" y="1903857"/>
                  </a:lnTo>
                  <a:lnTo>
                    <a:pt x="91701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69150" y="1189735"/>
              <a:ext cx="859790" cy="2764155"/>
            </a:xfrm>
            <a:custGeom>
              <a:avLst/>
              <a:gdLst/>
              <a:ahLst/>
              <a:cxnLst/>
              <a:rect l="l" t="t" r="r" b="b"/>
              <a:pathLst>
                <a:path w="859790" h="2764154">
                  <a:moveTo>
                    <a:pt x="859281" y="0"/>
                  </a:moveTo>
                  <a:lnTo>
                    <a:pt x="0" y="860044"/>
                  </a:lnTo>
                  <a:lnTo>
                    <a:pt x="0" y="2763977"/>
                  </a:lnTo>
                  <a:lnTo>
                    <a:pt x="859281" y="1903984"/>
                  </a:lnTo>
                  <a:lnTo>
                    <a:pt x="859281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7077456" y="1189735"/>
              <a:ext cx="951230" cy="860425"/>
            </a:xfrm>
            <a:custGeom>
              <a:avLst/>
              <a:gdLst/>
              <a:ahLst/>
              <a:cxnLst/>
              <a:rect l="l" t="t" r="r" b="b"/>
              <a:pathLst>
                <a:path w="951229" h="860425">
                  <a:moveTo>
                    <a:pt x="950976" y="0"/>
                  </a:moveTo>
                  <a:lnTo>
                    <a:pt x="859282" y="0"/>
                  </a:lnTo>
                  <a:lnTo>
                    <a:pt x="0" y="860044"/>
                  </a:lnTo>
                  <a:lnTo>
                    <a:pt x="91694" y="860044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7077456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29" h="2764154">
                  <a:moveTo>
                    <a:pt x="0" y="860044"/>
                  </a:moveTo>
                  <a:lnTo>
                    <a:pt x="859282" y="0"/>
                  </a:lnTo>
                  <a:lnTo>
                    <a:pt x="950976" y="0"/>
                  </a:lnTo>
                  <a:lnTo>
                    <a:pt x="950976" y="1903984"/>
                  </a:lnTo>
                  <a:lnTo>
                    <a:pt x="91694" y="2763977"/>
                  </a:lnTo>
                  <a:lnTo>
                    <a:pt x="0" y="2763977"/>
                  </a:lnTo>
                  <a:lnTo>
                    <a:pt x="0" y="860044"/>
                  </a:lnTo>
                  <a:close/>
                </a:path>
                <a:path w="951229" h="2764154">
                  <a:moveTo>
                    <a:pt x="0" y="860044"/>
                  </a:moveTo>
                  <a:lnTo>
                    <a:pt x="91694" y="860044"/>
                  </a:lnTo>
                  <a:lnTo>
                    <a:pt x="950976" y="0"/>
                  </a:lnTo>
                </a:path>
                <a:path w="951229" h="2764154">
                  <a:moveTo>
                    <a:pt x="91694" y="860044"/>
                  </a:moveTo>
                  <a:lnTo>
                    <a:pt x="91694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7223760" y="2058111"/>
              <a:ext cx="92710" cy="1896110"/>
            </a:xfrm>
            <a:custGeom>
              <a:avLst/>
              <a:gdLst/>
              <a:ahLst/>
              <a:cxnLst/>
              <a:rect l="l" t="t" r="r" b="b"/>
              <a:pathLst>
                <a:path w="92709" h="1896110">
                  <a:moveTo>
                    <a:pt x="92584" y="0"/>
                  </a:moveTo>
                  <a:lnTo>
                    <a:pt x="0" y="0"/>
                  </a:lnTo>
                  <a:lnTo>
                    <a:pt x="0" y="1895602"/>
                  </a:lnTo>
                  <a:lnTo>
                    <a:pt x="92584" y="1895602"/>
                  </a:lnTo>
                  <a:lnTo>
                    <a:pt x="92584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6343" y="1189735"/>
              <a:ext cx="868044" cy="2764155"/>
            </a:xfrm>
            <a:custGeom>
              <a:avLst/>
              <a:gdLst/>
              <a:ahLst/>
              <a:cxnLst/>
              <a:rect l="l" t="t" r="r" b="b"/>
              <a:pathLst>
                <a:path w="868045" h="2764154">
                  <a:moveTo>
                    <a:pt x="867536" y="0"/>
                  </a:moveTo>
                  <a:lnTo>
                    <a:pt x="0" y="868299"/>
                  </a:lnTo>
                  <a:lnTo>
                    <a:pt x="0" y="2763977"/>
                  </a:lnTo>
                  <a:lnTo>
                    <a:pt x="867536" y="1895729"/>
                  </a:lnTo>
                  <a:lnTo>
                    <a:pt x="867536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7223760" y="1189735"/>
              <a:ext cx="960119" cy="868680"/>
            </a:xfrm>
            <a:custGeom>
              <a:avLst/>
              <a:gdLst/>
              <a:ahLst/>
              <a:cxnLst/>
              <a:rect l="l" t="t" r="r" b="b"/>
              <a:pathLst>
                <a:path w="960120" h="868680">
                  <a:moveTo>
                    <a:pt x="960120" y="0"/>
                  </a:moveTo>
                  <a:lnTo>
                    <a:pt x="867537" y="0"/>
                  </a:lnTo>
                  <a:lnTo>
                    <a:pt x="0" y="868299"/>
                  </a:lnTo>
                  <a:lnTo>
                    <a:pt x="92583" y="86829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23760" y="1189735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868299"/>
                  </a:moveTo>
                  <a:lnTo>
                    <a:pt x="867537" y="0"/>
                  </a:lnTo>
                  <a:lnTo>
                    <a:pt x="960120" y="0"/>
                  </a:lnTo>
                  <a:lnTo>
                    <a:pt x="960120" y="1895729"/>
                  </a:lnTo>
                  <a:lnTo>
                    <a:pt x="92583" y="2763977"/>
                  </a:lnTo>
                  <a:lnTo>
                    <a:pt x="0" y="2763977"/>
                  </a:lnTo>
                  <a:lnTo>
                    <a:pt x="0" y="868299"/>
                  </a:lnTo>
                  <a:close/>
                </a:path>
                <a:path w="960120" h="2764154">
                  <a:moveTo>
                    <a:pt x="0" y="868299"/>
                  </a:moveTo>
                  <a:lnTo>
                    <a:pt x="92583" y="868299"/>
                  </a:lnTo>
                  <a:lnTo>
                    <a:pt x="960120" y="0"/>
                  </a:lnTo>
                </a:path>
                <a:path w="960120" h="2764154">
                  <a:moveTo>
                    <a:pt x="92583" y="868299"/>
                  </a:moveTo>
                  <a:lnTo>
                    <a:pt x="92583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7379208" y="2049855"/>
              <a:ext cx="92075" cy="1904364"/>
            </a:xfrm>
            <a:custGeom>
              <a:avLst/>
              <a:gdLst/>
              <a:ahLst/>
              <a:cxnLst/>
              <a:rect l="l" t="t" r="r" b="b"/>
              <a:pathLst>
                <a:path w="92075" h="1904364">
                  <a:moveTo>
                    <a:pt x="91701" y="0"/>
                  </a:moveTo>
                  <a:lnTo>
                    <a:pt x="0" y="0"/>
                  </a:lnTo>
                  <a:lnTo>
                    <a:pt x="0" y="1903857"/>
                  </a:lnTo>
                  <a:lnTo>
                    <a:pt x="91701" y="1903857"/>
                  </a:lnTo>
                  <a:lnTo>
                    <a:pt x="91701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7470902" y="1189735"/>
              <a:ext cx="859790" cy="2764155"/>
            </a:xfrm>
            <a:custGeom>
              <a:avLst/>
              <a:gdLst/>
              <a:ahLst/>
              <a:cxnLst/>
              <a:rect l="l" t="t" r="r" b="b"/>
              <a:pathLst>
                <a:path w="859790" h="2764154">
                  <a:moveTo>
                    <a:pt x="859281" y="0"/>
                  </a:moveTo>
                  <a:lnTo>
                    <a:pt x="0" y="860044"/>
                  </a:lnTo>
                  <a:lnTo>
                    <a:pt x="0" y="2763977"/>
                  </a:lnTo>
                  <a:lnTo>
                    <a:pt x="859281" y="1903984"/>
                  </a:lnTo>
                  <a:lnTo>
                    <a:pt x="859281" y="0"/>
                  </a:lnTo>
                  <a:close/>
                </a:path>
              </a:pathLst>
            </a:custGeom>
            <a:solidFill>
              <a:srgbClr val="C4A3A3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1" name="object 21"/>
            <p:cNvSpPr/>
            <p:nvPr/>
          </p:nvSpPr>
          <p:spPr>
            <a:xfrm>
              <a:off x="7379208" y="1189735"/>
              <a:ext cx="951230" cy="860425"/>
            </a:xfrm>
            <a:custGeom>
              <a:avLst/>
              <a:gdLst/>
              <a:ahLst/>
              <a:cxnLst/>
              <a:rect l="l" t="t" r="r" b="b"/>
              <a:pathLst>
                <a:path w="951229" h="860425">
                  <a:moveTo>
                    <a:pt x="950976" y="0"/>
                  </a:moveTo>
                  <a:lnTo>
                    <a:pt x="859282" y="0"/>
                  </a:lnTo>
                  <a:lnTo>
                    <a:pt x="0" y="860044"/>
                  </a:lnTo>
                  <a:lnTo>
                    <a:pt x="91694" y="860044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6D5D5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2" name="object 22"/>
            <p:cNvSpPr/>
            <p:nvPr/>
          </p:nvSpPr>
          <p:spPr>
            <a:xfrm>
              <a:off x="7379208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29" h="2764154">
                  <a:moveTo>
                    <a:pt x="0" y="860044"/>
                  </a:moveTo>
                  <a:lnTo>
                    <a:pt x="859282" y="0"/>
                  </a:lnTo>
                  <a:lnTo>
                    <a:pt x="950976" y="0"/>
                  </a:lnTo>
                  <a:lnTo>
                    <a:pt x="950976" y="1903984"/>
                  </a:lnTo>
                  <a:lnTo>
                    <a:pt x="91694" y="2763977"/>
                  </a:lnTo>
                  <a:lnTo>
                    <a:pt x="0" y="2763977"/>
                  </a:lnTo>
                  <a:lnTo>
                    <a:pt x="0" y="860044"/>
                  </a:lnTo>
                  <a:close/>
                </a:path>
                <a:path w="951229" h="2764154">
                  <a:moveTo>
                    <a:pt x="0" y="860044"/>
                  </a:moveTo>
                  <a:lnTo>
                    <a:pt x="91694" y="860044"/>
                  </a:lnTo>
                  <a:lnTo>
                    <a:pt x="950976" y="0"/>
                  </a:lnTo>
                </a:path>
                <a:path w="951229" h="2764154">
                  <a:moveTo>
                    <a:pt x="91694" y="860044"/>
                  </a:moveTo>
                  <a:lnTo>
                    <a:pt x="91694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3" name="object 23"/>
            <p:cNvSpPr/>
            <p:nvPr/>
          </p:nvSpPr>
          <p:spPr>
            <a:xfrm>
              <a:off x="7525512" y="2058111"/>
              <a:ext cx="92710" cy="1896110"/>
            </a:xfrm>
            <a:custGeom>
              <a:avLst/>
              <a:gdLst/>
              <a:ahLst/>
              <a:cxnLst/>
              <a:rect l="l" t="t" r="r" b="b"/>
              <a:pathLst>
                <a:path w="92709" h="1896110">
                  <a:moveTo>
                    <a:pt x="92584" y="0"/>
                  </a:moveTo>
                  <a:lnTo>
                    <a:pt x="0" y="0"/>
                  </a:lnTo>
                  <a:lnTo>
                    <a:pt x="0" y="1895602"/>
                  </a:lnTo>
                  <a:lnTo>
                    <a:pt x="92584" y="1895602"/>
                  </a:lnTo>
                  <a:lnTo>
                    <a:pt x="92584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7618095" y="1189735"/>
              <a:ext cx="868044" cy="2764155"/>
            </a:xfrm>
            <a:custGeom>
              <a:avLst/>
              <a:gdLst/>
              <a:ahLst/>
              <a:cxnLst/>
              <a:rect l="l" t="t" r="r" b="b"/>
              <a:pathLst>
                <a:path w="868045" h="2764154">
                  <a:moveTo>
                    <a:pt x="867536" y="0"/>
                  </a:moveTo>
                  <a:lnTo>
                    <a:pt x="0" y="868299"/>
                  </a:lnTo>
                  <a:lnTo>
                    <a:pt x="0" y="2763977"/>
                  </a:lnTo>
                  <a:lnTo>
                    <a:pt x="867536" y="1895729"/>
                  </a:lnTo>
                  <a:lnTo>
                    <a:pt x="867536" y="0"/>
                  </a:lnTo>
                  <a:close/>
                </a:path>
              </a:pathLst>
            </a:custGeom>
            <a:solidFill>
              <a:srgbClr val="CDC3A3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5" name="object 25"/>
            <p:cNvSpPr/>
            <p:nvPr/>
          </p:nvSpPr>
          <p:spPr>
            <a:xfrm>
              <a:off x="7525512" y="1189735"/>
              <a:ext cx="960119" cy="868680"/>
            </a:xfrm>
            <a:custGeom>
              <a:avLst/>
              <a:gdLst/>
              <a:ahLst/>
              <a:cxnLst/>
              <a:rect l="l" t="t" r="r" b="b"/>
              <a:pathLst>
                <a:path w="960120" h="868680">
                  <a:moveTo>
                    <a:pt x="960120" y="0"/>
                  </a:moveTo>
                  <a:lnTo>
                    <a:pt x="867537" y="0"/>
                  </a:lnTo>
                  <a:lnTo>
                    <a:pt x="0" y="868299"/>
                  </a:lnTo>
                  <a:lnTo>
                    <a:pt x="92583" y="86829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FFF5D5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7525512" y="1189735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868299"/>
                  </a:moveTo>
                  <a:lnTo>
                    <a:pt x="867537" y="0"/>
                  </a:lnTo>
                  <a:lnTo>
                    <a:pt x="960120" y="0"/>
                  </a:lnTo>
                  <a:lnTo>
                    <a:pt x="960120" y="1895729"/>
                  </a:lnTo>
                  <a:lnTo>
                    <a:pt x="92583" y="2763977"/>
                  </a:lnTo>
                  <a:lnTo>
                    <a:pt x="0" y="2763977"/>
                  </a:lnTo>
                  <a:lnTo>
                    <a:pt x="0" y="868299"/>
                  </a:lnTo>
                  <a:close/>
                </a:path>
                <a:path w="960120" h="2764154">
                  <a:moveTo>
                    <a:pt x="0" y="868299"/>
                  </a:moveTo>
                  <a:lnTo>
                    <a:pt x="92583" y="868299"/>
                  </a:lnTo>
                  <a:lnTo>
                    <a:pt x="960120" y="0"/>
                  </a:lnTo>
                </a:path>
                <a:path w="960120" h="2764154">
                  <a:moveTo>
                    <a:pt x="92583" y="868299"/>
                  </a:moveTo>
                  <a:lnTo>
                    <a:pt x="92583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7680960" y="2058111"/>
              <a:ext cx="92710" cy="1896110"/>
            </a:xfrm>
            <a:custGeom>
              <a:avLst/>
              <a:gdLst/>
              <a:ahLst/>
              <a:cxnLst/>
              <a:rect l="l" t="t" r="r" b="b"/>
              <a:pathLst>
                <a:path w="92709" h="1896110">
                  <a:moveTo>
                    <a:pt x="92584" y="0"/>
                  </a:moveTo>
                  <a:lnTo>
                    <a:pt x="0" y="0"/>
                  </a:lnTo>
                  <a:lnTo>
                    <a:pt x="0" y="1895602"/>
                  </a:lnTo>
                  <a:lnTo>
                    <a:pt x="92584" y="1895602"/>
                  </a:lnTo>
                  <a:lnTo>
                    <a:pt x="92584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7773543" y="1189735"/>
              <a:ext cx="868044" cy="2764155"/>
            </a:xfrm>
            <a:custGeom>
              <a:avLst/>
              <a:gdLst/>
              <a:ahLst/>
              <a:cxnLst/>
              <a:rect l="l" t="t" r="r" b="b"/>
              <a:pathLst>
                <a:path w="868045" h="2764154">
                  <a:moveTo>
                    <a:pt x="867536" y="0"/>
                  </a:moveTo>
                  <a:lnTo>
                    <a:pt x="0" y="868299"/>
                  </a:lnTo>
                  <a:lnTo>
                    <a:pt x="0" y="2763977"/>
                  </a:lnTo>
                  <a:lnTo>
                    <a:pt x="867536" y="1895729"/>
                  </a:lnTo>
                  <a:lnTo>
                    <a:pt x="867536" y="0"/>
                  </a:lnTo>
                  <a:close/>
                </a:path>
              </a:pathLst>
            </a:custGeom>
            <a:solidFill>
              <a:srgbClr val="ADA9B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object 29"/>
            <p:cNvSpPr/>
            <p:nvPr/>
          </p:nvSpPr>
          <p:spPr>
            <a:xfrm>
              <a:off x="7680960" y="1189735"/>
              <a:ext cx="960119" cy="868680"/>
            </a:xfrm>
            <a:custGeom>
              <a:avLst/>
              <a:gdLst/>
              <a:ahLst/>
              <a:cxnLst/>
              <a:rect l="l" t="t" r="r" b="b"/>
              <a:pathLst>
                <a:path w="960120" h="868680">
                  <a:moveTo>
                    <a:pt x="960120" y="0"/>
                  </a:moveTo>
                  <a:lnTo>
                    <a:pt x="867537" y="0"/>
                  </a:lnTo>
                  <a:lnTo>
                    <a:pt x="0" y="868299"/>
                  </a:lnTo>
                  <a:lnTo>
                    <a:pt x="92583" y="86829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FDBE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object 30"/>
            <p:cNvSpPr/>
            <p:nvPr/>
          </p:nvSpPr>
          <p:spPr>
            <a:xfrm>
              <a:off x="7680960" y="1189735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868299"/>
                  </a:moveTo>
                  <a:lnTo>
                    <a:pt x="867537" y="0"/>
                  </a:lnTo>
                  <a:lnTo>
                    <a:pt x="960120" y="0"/>
                  </a:lnTo>
                  <a:lnTo>
                    <a:pt x="960120" y="1895729"/>
                  </a:lnTo>
                  <a:lnTo>
                    <a:pt x="92583" y="2763977"/>
                  </a:lnTo>
                  <a:lnTo>
                    <a:pt x="0" y="2763977"/>
                  </a:lnTo>
                  <a:lnTo>
                    <a:pt x="0" y="868299"/>
                  </a:lnTo>
                  <a:close/>
                </a:path>
                <a:path w="960120" h="2764154">
                  <a:moveTo>
                    <a:pt x="0" y="868299"/>
                  </a:moveTo>
                  <a:lnTo>
                    <a:pt x="92583" y="868299"/>
                  </a:lnTo>
                  <a:lnTo>
                    <a:pt x="960120" y="0"/>
                  </a:lnTo>
                </a:path>
                <a:path w="960120" h="2764154">
                  <a:moveTo>
                    <a:pt x="92583" y="868299"/>
                  </a:moveTo>
                  <a:lnTo>
                    <a:pt x="92583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object 31"/>
            <p:cNvSpPr/>
            <p:nvPr/>
          </p:nvSpPr>
          <p:spPr>
            <a:xfrm>
              <a:off x="7836408" y="2049855"/>
              <a:ext cx="92075" cy="1904364"/>
            </a:xfrm>
            <a:custGeom>
              <a:avLst/>
              <a:gdLst/>
              <a:ahLst/>
              <a:cxnLst/>
              <a:rect l="l" t="t" r="r" b="b"/>
              <a:pathLst>
                <a:path w="92075" h="1904364">
                  <a:moveTo>
                    <a:pt x="91701" y="0"/>
                  </a:moveTo>
                  <a:lnTo>
                    <a:pt x="0" y="0"/>
                  </a:lnTo>
                  <a:lnTo>
                    <a:pt x="0" y="1903857"/>
                  </a:lnTo>
                  <a:lnTo>
                    <a:pt x="91701" y="1903857"/>
                  </a:lnTo>
                  <a:lnTo>
                    <a:pt x="91701" y="0"/>
                  </a:lnTo>
                  <a:close/>
                </a:path>
              </a:pathLst>
            </a:custGeom>
            <a:solidFill>
              <a:srgbClr val="FBE4CD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object 32"/>
            <p:cNvSpPr/>
            <p:nvPr/>
          </p:nvSpPr>
          <p:spPr>
            <a:xfrm>
              <a:off x="7928102" y="1189735"/>
              <a:ext cx="859790" cy="2764155"/>
            </a:xfrm>
            <a:custGeom>
              <a:avLst/>
              <a:gdLst/>
              <a:ahLst/>
              <a:cxnLst/>
              <a:rect l="l" t="t" r="r" b="b"/>
              <a:pathLst>
                <a:path w="859790" h="2764154">
                  <a:moveTo>
                    <a:pt x="859281" y="0"/>
                  </a:moveTo>
                  <a:lnTo>
                    <a:pt x="0" y="860044"/>
                  </a:lnTo>
                  <a:lnTo>
                    <a:pt x="0" y="2763977"/>
                  </a:lnTo>
                  <a:lnTo>
                    <a:pt x="859281" y="1903984"/>
                  </a:lnTo>
                  <a:lnTo>
                    <a:pt x="859281" y="0"/>
                  </a:lnTo>
                  <a:close/>
                </a:path>
              </a:pathLst>
            </a:custGeom>
            <a:solidFill>
              <a:srgbClr val="CAB8A4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3" name="object 33"/>
            <p:cNvSpPr/>
            <p:nvPr/>
          </p:nvSpPr>
          <p:spPr>
            <a:xfrm>
              <a:off x="7836408" y="1189735"/>
              <a:ext cx="951230" cy="860425"/>
            </a:xfrm>
            <a:custGeom>
              <a:avLst/>
              <a:gdLst/>
              <a:ahLst/>
              <a:cxnLst/>
              <a:rect l="l" t="t" r="r" b="b"/>
              <a:pathLst>
                <a:path w="951229" h="860425">
                  <a:moveTo>
                    <a:pt x="950976" y="0"/>
                  </a:moveTo>
                  <a:lnTo>
                    <a:pt x="859282" y="0"/>
                  </a:lnTo>
                  <a:lnTo>
                    <a:pt x="0" y="860044"/>
                  </a:lnTo>
                  <a:lnTo>
                    <a:pt x="91694" y="860044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CEAD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4" name="object 34"/>
            <p:cNvSpPr/>
            <p:nvPr/>
          </p:nvSpPr>
          <p:spPr>
            <a:xfrm>
              <a:off x="7836408" y="1189735"/>
              <a:ext cx="951230" cy="2764155"/>
            </a:xfrm>
            <a:custGeom>
              <a:avLst/>
              <a:gdLst/>
              <a:ahLst/>
              <a:cxnLst/>
              <a:rect l="l" t="t" r="r" b="b"/>
              <a:pathLst>
                <a:path w="951229" h="2764154">
                  <a:moveTo>
                    <a:pt x="0" y="860044"/>
                  </a:moveTo>
                  <a:lnTo>
                    <a:pt x="859282" y="0"/>
                  </a:lnTo>
                  <a:lnTo>
                    <a:pt x="950976" y="0"/>
                  </a:lnTo>
                  <a:lnTo>
                    <a:pt x="950976" y="1903984"/>
                  </a:lnTo>
                  <a:lnTo>
                    <a:pt x="91694" y="2763977"/>
                  </a:lnTo>
                  <a:lnTo>
                    <a:pt x="0" y="2763977"/>
                  </a:lnTo>
                  <a:lnTo>
                    <a:pt x="0" y="860044"/>
                  </a:lnTo>
                  <a:close/>
                </a:path>
                <a:path w="951229" h="2764154">
                  <a:moveTo>
                    <a:pt x="0" y="860044"/>
                  </a:moveTo>
                  <a:lnTo>
                    <a:pt x="91694" y="860044"/>
                  </a:lnTo>
                  <a:lnTo>
                    <a:pt x="950976" y="0"/>
                  </a:lnTo>
                </a:path>
                <a:path w="951229" h="2764154">
                  <a:moveTo>
                    <a:pt x="91694" y="860044"/>
                  </a:moveTo>
                  <a:lnTo>
                    <a:pt x="91694" y="2763977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127935" y="678110"/>
            <a:ext cx="2632423" cy="808786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3183"/>
              </a:lnSpc>
              <a:spcBef>
                <a:spcPts val="160"/>
              </a:spcBef>
            </a:pPr>
            <a:r>
              <a:rPr sz="2663" spc="-127" dirty="0">
                <a:latin typeface="Tahoma"/>
                <a:cs typeface="Tahoma"/>
              </a:rPr>
              <a:t>6</a:t>
            </a:r>
            <a:r>
              <a:rPr sz="2663" spc="-338" dirty="0">
                <a:latin typeface="Tahoma"/>
                <a:cs typeface="Tahoma"/>
              </a:rPr>
              <a:t> </a:t>
            </a:r>
            <a:r>
              <a:rPr sz="2663" spc="-13" dirty="0">
                <a:latin typeface="Tahoma"/>
                <a:cs typeface="Tahoma"/>
              </a:rPr>
              <a:t>activation</a:t>
            </a:r>
            <a:r>
              <a:rPr sz="2663" spc="-373" dirty="0">
                <a:latin typeface="Tahoma"/>
                <a:cs typeface="Tahoma"/>
              </a:rPr>
              <a:t> </a:t>
            </a:r>
            <a:r>
              <a:rPr sz="2663" spc="-13" dirty="0">
                <a:latin typeface="Tahoma"/>
                <a:cs typeface="Tahoma"/>
              </a:rPr>
              <a:t>maps,</a:t>
            </a:r>
            <a:endParaRPr sz="2663" dirty="0">
              <a:latin typeface="Tahoma"/>
              <a:cs typeface="Tahoma"/>
            </a:endParaRPr>
          </a:p>
          <a:p>
            <a:pPr algn="ctr">
              <a:lnSpc>
                <a:spcPts val="3183"/>
              </a:lnSpc>
            </a:pPr>
            <a:r>
              <a:rPr sz="2663" spc="-73" dirty="0">
                <a:latin typeface="Tahoma"/>
                <a:cs typeface="Tahoma"/>
              </a:rPr>
              <a:t>each</a:t>
            </a:r>
            <a:r>
              <a:rPr sz="2663" spc="-253" dirty="0">
                <a:latin typeface="Tahoma"/>
                <a:cs typeface="Tahoma"/>
              </a:rPr>
              <a:t> </a:t>
            </a:r>
            <a:r>
              <a:rPr sz="2663" spc="-13" dirty="0">
                <a:latin typeface="Tahoma"/>
                <a:cs typeface="Tahoma"/>
              </a:rPr>
              <a:t>1x28x28</a:t>
            </a:r>
            <a:endParaRPr sz="2663" dirty="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70185" y="1419968"/>
            <a:ext cx="2492050" cy="825010"/>
          </a:xfrm>
          <a:prstGeom prst="rect">
            <a:avLst/>
          </a:prstGeom>
        </p:spPr>
        <p:txBody>
          <a:bodyPr vert="horz" wrap="square" lIns="0" tIns="36362" rIns="0" bIns="0" rtlCol="0">
            <a:spAutoFit/>
          </a:bodyPr>
          <a:lstStyle/>
          <a:p>
            <a:pPr marL="470170" marR="6765" indent="-454103">
              <a:lnSpc>
                <a:spcPts val="3169"/>
              </a:lnSpc>
              <a:spcBef>
                <a:spcPts val="286"/>
              </a:spcBef>
            </a:pPr>
            <a:r>
              <a:rPr sz="2663" spc="-47" dirty="0">
                <a:latin typeface="Tahoma"/>
                <a:cs typeface="Tahoma"/>
              </a:rPr>
              <a:t>Consider</a:t>
            </a:r>
            <a:r>
              <a:rPr sz="2663" spc="-286" dirty="0">
                <a:latin typeface="Tahoma"/>
                <a:cs typeface="Tahoma"/>
              </a:rPr>
              <a:t> </a:t>
            </a:r>
            <a:r>
              <a:rPr sz="2663" spc="-127" dirty="0">
                <a:latin typeface="Tahoma"/>
                <a:cs typeface="Tahoma"/>
              </a:rPr>
              <a:t>6</a:t>
            </a:r>
            <a:r>
              <a:rPr sz="2663" spc="-313" dirty="0">
                <a:latin typeface="Tahoma"/>
                <a:cs typeface="Tahoma"/>
              </a:rPr>
              <a:t> </a:t>
            </a:r>
            <a:r>
              <a:rPr sz="2663" spc="-33" dirty="0">
                <a:latin typeface="Tahoma"/>
                <a:cs typeface="Tahoma"/>
              </a:rPr>
              <a:t>filters, </a:t>
            </a:r>
            <a:r>
              <a:rPr sz="2663" spc="-67" dirty="0">
                <a:latin typeface="Tahoma"/>
                <a:cs typeface="Tahoma"/>
              </a:rPr>
              <a:t>each</a:t>
            </a:r>
            <a:r>
              <a:rPr sz="2663" spc="-260" dirty="0">
                <a:latin typeface="Tahoma"/>
                <a:cs typeface="Tahoma"/>
              </a:rPr>
              <a:t> </a:t>
            </a:r>
            <a:r>
              <a:rPr sz="2663" spc="-27" dirty="0">
                <a:latin typeface="Tahoma"/>
                <a:cs typeface="Tahoma"/>
              </a:rPr>
              <a:t>3x5x5</a:t>
            </a:r>
            <a:endParaRPr sz="2663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377040" y="4947727"/>
            <a:ext cx="1974529" cy="1110303"/>
            <a:chOff x="4032114" y="3715376"/>
            <a:chExt cx="1482725" cy="833755"/>
          </a:xfrm>
        </p:grpSpPr>
        <p:sp>
          <p:nvSpPr>
            <p:cNvPr id="38" name="object 38"/>
            <p:cNvSpPr/>
            <p:nvPr/>
          </p:nvSpPr>
          <p:spPr>
            <a:xfrm>
              <a:off x="4041647" y="3871480"/>
              <a:ext cx="128270" cy="668020"/>
            </a:xfrm>
            <a:custGeom>
              <a:avLst/>
              <a:gdLst/>
              <a:ahLst/>
              <a:cxnLst/>
              <a:rect l="l" t="t" r="r" b="b"/>
              <a:pathLst>
                <a:path w="128270" h="668020">
                  <a:moveTo>
                    <a:pt x="127876" y="0"/>
                  </a:moveTo>
                  <a:lnTo>
                    <a:pt x="0" y="0"/>
                  </a:lnTo>
                  <a:lnTo>
                    <a:pt x="0" y="667969"/>
                  </a:lnTo>
                  <a:lnTo>
                    <a:pt x="127876" y="667969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9" name="object 39"/>
            <p:cNvSpPr/>
            <p:nvPr/>
          </p:nvSpPr>
          <p:spPr>
            <a:xfrm>
              <a:off x="4169536" y="3724909"/>
              <a:ext cx="146685" cy="814705"/>
            </a:xfrm>
            <a:custGeom>
              <a:avLst/>
              <a:gdLst/>
              <a:ahLst/>
              <a:cxnLst/>
              <a:rect l="l" t="t" r="r" b="b"/>
              <a:pathLst>
                <a:path w="146685" h="814704">
                  <a:moveTo>
                    <a:pt x="146430" y="0"/>
                  </a:moveTo>
                  <a:lnTo>
                    <a:pt x="0" y="146558"/>
                  </a:lnTo>
                  <a:lnTo>
                    <a:pt x="0" y="814539"/>
                  </a:lnTo>
                  <a:lnTo>
                    <a:pt x="146430" y="667981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0" name="object 40"/>
            <p:cNvSpPr/>
            <p:nvPr/>
          </p:nvSpPr>
          <p:spPr>
            <a:xfrm>
              <a:off x="4041647" y="3724909"/>
              <a:ext cx="274320" cy="146685"/>
            </a:xfrm>
            <a:custGeom>
              <a:avLst/>
              <a:gdLst/>
              <a:ahLst/>
              <a:cxnLst/>
              <a:rect l="l" t="t" r="r" b="b"/>
              <a:pathLst>
                <a:path w="274320" h="146685">
                  <a:moveTo>
                    <a:pt x="274319" y="0"/>
                  </a:moveTo>
                  <a:lnTo>
                    <a:pt x="146430" y="0"/>
                  </a:lnTo>
                  <a:lnTo>
                    <a:pt x="0" y="146558"/>
                  </a:lnTo>
                  <a:lnTo>
                    <a:pt x="127888" y="146558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1" name="object 41"/>
            <p:cNvSpPr/>
            <p:nvPr/>
          </p:nvSpPr>
          <p:spPr>
            <a:xfrm>
              <a:off x="4041647" y="3724909"/>
              <a:ext cx="274320" cy="814705"/>
            </a:xfrm>
            <a:custGeom>
              <a:avLst/>
              <a:gdLst/>
              <a:ahLst/>
              <a:cxnLst/>
              <a:rect l="l" t="t" r="r" b="b"/>
              <a:pathLst>
                <a:path w="274320" h="814704">
                  <a:moveTo>
                    <a:pt x="0" y="146558"/>
                  </a:moveTo>
                  <a:lnTo>
                    <a:pt x="146430" y="0"/>
                  </a:lnTo>
                  <a:lnTo>
                    <a:pt x="274319" y="0"/>
                  </a:lnTo>
                  <a:lnTo>
                    <a:pt x="274319" y="667981"/>
                  </a:lnTo>
                  <a:lnTo>
                    <a:pt x="127888" y="814539"/>
                  </a:lnTo>
                  <a:lnTo>
                    <a:pt x="0" y="814539"/>
                  </a:lnTo>
                  <a:lnTo>
                    <a:pt x="0" y="146558"/>
                  </a:lnTo>
                  <a:close/>
                </a:path>
                <a:path w="274320" h="814704">
                  <a:moveTo>
                    <a:pt x="0" y="146558"/>
                  </a:moveTo>
                  <a:lnTo>
                    <a:pt x="127888" y="146558"/>
                  </a:lnTo>
                  <a:lnTo>
                    <a:pt x="274319" y="0"/>
                  </a:lnTo>
                </a:path>
                <a:path w="274320" h="814704">
                  <a:moveTo>
                    <a:pt x="127888" y="146558"/>
                  </a:moveTo>
                  <a:lnTo>
                    <a:pt x="127888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2" name="object 42"/>
            <p:cNvSpPr/>
            <p:nvPr/>
          </p:nvSpPr>
          <p:spPr>
            <a:xfrm>
              <a:off x="4270247" y="3876357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3" name="object 43"/>
            <p:cNvSpPr/>
            <p:nvPr/>
          </p:nvSpPr>
          <p:spPr>
            <a:xfrm>
              <a:off x="4402454" y="37249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4">
                  <a:moveTo>
                    <a:pt x="151257" y="0"/>
                  </a:moveTo>
                  <a:lnTo>
                    <a:pt x="0" y="151511"/>
                  </a:lnTo>
                  <a:lnTo>
                    <a:pt x="0" y="814539"/>
                  </a:lnTo>
                  <a:lnTo>
                    <a:pt x="151257" y="663092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4" name="object 44"/>
            <p:cNvSpPr/>
            <p:nvPr/>
          </p:nvSpPr>
          <p:spPr>
            <a:xfrm>
              <a:off x="4270247" y="37249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5" name="object 45"/>
            <p:cNvSpPr/>
            <p:nvPr/>
          </p:nvSpPr>
          <p:spPr>
            <a:xfrm>
              <a:off x="4270247" y="37249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4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92"/>
                  </a:lnTo>
                  <a:lnTo>
                    <a:pt x="132206" y="814539"/>
                  </a:lnTo>
                  <a:lnTo>
                    <a:pt x="0" y="814539"/>
                  </a:lnTo>
                  <a:lnTo>
                    <a:pt x="0" y="151511"/>
                  </a:lnTo>
                  <a:close/>
                </a:path>
                <a:path w="283845" h="814704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5" h="814704">
                  <a:moveTo>
                    <a:pt x="132206" y="151511"/>
                  </a:moveTo>
                  <a:lnTo>
                    <a:pt x="132206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6" name="object 46"/>
            <p:cNvSpPr/>
            <p:nvPr/>
          </p:nvSpPr>
          <p:spPr>
            <a:xfrm>
              <a:off x="4507991" y="3876357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7" name="object 47"/>
            <p:cNvSpPr/>
            <p:nvPr/>
          </p:nvSpPr>
          <p:spPr>
            <a:xfrm>
              <a:off x="4640198" y="37249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4">
                  <a:moveTo>
                    <a:pt x="151256" y="0"/>
                  </a:moveTo>
                  <a:lnTo>
                    <a:pt x="0" y="151511"/>
                  </a:lnTo>
                  <a:lnTo>
                    <a:pt x="0" y="814539"/>
                  </a:lnTo>
                  <a:lnTo>
                    <a:pt x="151256" y="663092"/>
                  </a:lnTo>
                  <a:lnTo>
                    <a:pt x="151256" y="0"/>
                  </a:lnTo>
                  <a:close/>
                </a:path>
              </a:pathLst>
            </a:custGeom>
            <a:solidFill>
              <a:srgbClr val="C4A3A3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object 48"/>
            <p:cNvSpPr/>
            <p:nvPr/>
          </p:nvSpPr>
          <p:spPr>
            <a:xfrm>
              <a:off x="4507991" y="37249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7" y="0"/>
                  </a:lnTo>
                  <a:lnTo>
                    <a:pt x="0" y="151511"/>
                  </a:lnTo>
                  <a:lnTo>
                    <a:pt x="132207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6D5D5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9" name="object 49"/>
            <p:cNvSpPr/>
            <p:nvPr/>
          </p:nvSpPr>
          <p:spPr>
            <a:xfrm>
              <a:off x="4507991" y="37249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4">
                  <a:moveTo>
                    <a:pt x="0" y="151511"/>
                  </a:moveTo>
                  <a:lnTo>
                    <a:pt x="151257" y="0"/>
                  </a:lnTo>
                  <a:lnTo>
                    <a:pt x="283463" y="0"/>
                  </a:lnTo>
                  <a:lnTo>
                    <a:pt x="283463" y="663092"/>
                  </a:lnTo>
                  <a:lnTo>
                    <a:pt x="132207" y="814539"/>
                  </a:lnTo>
                  <a:lnTo>
                    <a:pt x="0" y="814539"/>
                  </a:lnTo>
                  <a:lnTo>
                    <a:pt x="0" y="151511"/>
                  </a:lnTo>
                  <a:close/>
                </a:path>
                <a:path w="283845" h="814704">
                  <a:moveTo>
                    <a:pt x="0" y="151511"/>
                  </a:moveTo>
                  <a:lnTo>
                    <a:pt x="132207" y="151511"/>
                  </a:lnTo>
                  <a:lnTo>
                    <a:pt x="283463" y="0"/>
                  </a:lnTo>
                </a:path>
                <a:path w="283845" h="814704">
                  <a:moveTo>
                    <a:pt x="132207" y="151511"/>
                  </a:moveTo>
                  <a:lnTo>
                    <a:pt x="132207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0" name="object 50"/>
            <p:cNvSpPr/>
            <p:nvPr/>
          </p:nvSpPr>
          <p:spPr>
            <a:xfrm>
              <a:off x="4745736" y="3876357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1" name="object 51"/>
            <p:cNvSpPr/>
            <p:nvPr/>
          </p:nvSpPr>
          <p:spPr>
            <a:xfrm>
              <a:off x="4877942" y="37249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4">
                  <a:moveTo>
                    <a:pt x="151257" y="0"/>
                  </a:moveTo>
                  <a:lnTo>
                    <a:pt x="0" y="151511"/>
                  </a:lnTo>
                  <a:lnTo>
                    <a:pt x="0" y="814539"/>
                  </a:lnTo>
                  <a:lnTo>
                    <a:pt x="151257" y="663092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CDC3A3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object 52"/>
            <p:cNvSpPr/>
            <p:nvPr/>
          </p:nvSpPr>
          <p:spPr>
            <a:xfrm>
              <a:off x="4745736" y="37249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FF5D5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3" name="object 53"/>
            <p:cNvSpPr/>
            <p:nvPr/>
          </p:nvSpPr>
          <p:spPr>
            <a:xfrm>
              <a:off x="4745736" y="37249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4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92"/>
                  </a:lnTo>
                  <a:lnTo>
                    <a:pt x="132206" y="814539"/>
                  </a:lnTo>
                  <a:lnTo>
                    <a:pt x="0" y="814539"/>
                  </a:lnTo>
                  <a:lnTo>
                    <a:pt x="0" y="151511"/>
                  </a:lnTo>
                  <a:close/>
                </a:path>
                <a:path w="283845" h="814704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5" h="814704">
                  <a:moveTo>
                    <a:pt x="132206" y="151511"/>
                  </a:moveTo>
                  <a:lnTo>
                    <a:pt x="132206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4" name="object 54"/>
            <p:cNvSpPr/>
            <p:nvPr/>
          </p:nvSpPr>
          <p:spPr>
            <a:xfrm>
              <a:off x="4983480" y="3876357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object 55"/>
            <p:cNvSpPr/>
            <p:nvPr/>
          </p:nvSpPr>
          <p:spPr>
            <a:xfrm>
              <a:off x="5115686" y="37249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4">
                  <a:moveTo>
                    <a:pt x="151257" y="0"/>
                  </a:moveTo>
                  <a:lnTo>
                    <a:pt x="0" y="151511"/>
                  </a:lnTo>
                  <a:lnTo>
                    <a:pt x="0" y="814539"/>
                  </a:lnTo>
                  <a:lnTo>
                    <a:pt x="151257" y="663092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ADA9B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object 56"/>
            <p:cNvSpPr/>
            <p:nvPr/>
          </p:nvSpPr>
          <p:spPr>
            <a:xfrm>
              <a:off x="4983480" y="37249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4" y="0"/>
                  </a:moveTo>
                  <a:lnTo>
                    <a:pt x="151257" y="0"/>
                  </a:lnTo>
                  <a:lnTo>
                    <a:pt x="0" y="151511"/>
                  </a:lnTo>
                  <a:lnTo>
                    <a:pt x="132207" y="151511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DFDBE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object 57"/>
            <p:cNvSpPr/>
            <p:nvPr/>
          </p:nvSpPr>
          <p:spPr>
            <a:xfrm>
              <a:off x="4983480" y="37249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4">
                  <a:moveTo>
                    <a:pt x="0" y="151511"/>
                  </a:moveTo>
                  <a:lnTo>
                    <a:pt x="151257" y="0"/>
                  </a:lnTo>
                  <a:lnTo>
                    <a:pt x="283464" y="0"/>
                  </a:lnTo>
                  <a:lnTo>
                    <a:pt x="283464" y="663092"/>
                  </a:lnTo>
                  <a:lnTo>
                    <a:pt x="132207" y="814539"/>
                  </a:lnTo>
                  <a:lnTo>
                    <a:pt x="0" y="814539"/>
                  </a:lnTo>
                  <a:lnTo>
                    <a:pt x="0" y="151511"/>
                  </a:lnTo>
                  <a:close/>
                </a:path>
                <a:path w="283845" h="814704">
                  <a:moveTo>
                    <a:pt x="0" y="151511"/>
                  </a:moveTo>
                  <a:lnTo>
                    <a:pt x="132207" y="151511"/>
                  </a:lnTo>
                  <a:lnTo>
                    <a:pt x="283464" y="0"/>
                  </a:lnTo>
                </a:path>
                <a:path w="283845" h="814704">
                  <a:moveTo>
                    <a:pt x="132207" y="151511"/>
                  </a:moveTo>
                  <a:lnTo>
                    <a:pt x="132207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object 58"/>
            <p:cNvSpPr/>
            <p:nvPr/>
          </p:nvSpPr>
          <p:spPr>
            <a:xfrm>
              <a:off x="5221224" y="3876357"/>
              <a:ext cx="132715" cy="663575"/>
            </a:xfrm>
            <a:custGeom>
              <a:avLst/>
              <a:gdLst/>
              <a:ahLst/>
              <a:cxnLst/>
              <a:rect l="l" t="t" r="r" b="b"/>
              <a:pathLst>
                <a:path w="132714" h="663575">
                  <a:moveTo>
                    <a:pt x="132143" y="0"/>
                  </a:moveTo>
                  <a:lnTo>
                    <a:pt x="0" y="0"/>
                  </a:lnTo>
                  <a:lnTo>
                    <a:pt x="0" y="663092"/>
                  </a:lnTo>
                  <a:lnTo>
                    <a:pt x="132143" y="663092"/>
                  </a:lnTo>
                  <a:lnTo>
                    <a:pt x="132143" y="0"/>
                  </a:lnTo>
                  <a:close/>
                </a:path>
              </a:pathLst>
            </a:custGeom>
            <a:solidFill>
              <a:srgbClr val="FBE4CD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9" name="object 59"/>
            <p:cNvSpPr/>
            <p:nvPr/>
          </p:nvSpPr>
          <p:spPr>
            <a:xfrm>
              <a:off x="5353430" y="3724909"/>
              <a:ext cx="151765" cy="814705"/>
            </a:xfrm>
            <a:custGeom>
              <a:avLst/>
              <a:gdLst/>
              <a:ahLst/>
              <a:cxnLst/>
              <a:rect l="l" t="t" r="r" b="b"/>
              <a:pathLst>
                <a:path w="151764" h="814704">
                  <a:moveTo>
                    <a:pt x="151257" y="0"/>
                  </a:moveTo>
                  <a:lnTo>
                    <a:pt x="0" y="151511"/>
                  </a:lnTo>
                  <a:lnTo>
                    <a:pt x="0" y="814539"/>
                  </a:lnTo>
                  <a:lnTo>
                    <a:pt x="151257" y="663092"/>
                  </a:lnTo>
                  <a:lnTo>
                    <a:pt x="151257" y="0"/>
                  </a:lnTo>
                  <a:close/>
                </a:path>
              </a:pathLst>
            </a:custGeom>
            <a:solidFill>
              <a:srgbClr val="CAB8A4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0" name="object 60"/>
            <p:cNvSpPr/>
            <p:nvPr/>
          </p:nvSpPr>
          <p:spPr>
            <a:xfrm>
              <a:off x="5221224" y="3724909"/>
              <a:ext cx="283845" cy="151765"/>
            </a:xfrm>
            <a:custGeom>
              <a:avLst/>
              <a:gdLst/>
              <a:ahLst/>
              <a:cxnLst/>
              <a:rect l="l" t="t" r="r" b="b"/>
              <a:pathLst>
                <a:path w="283845" h="151764">
                  <a:moveTo>
                    <a:pt x="283463" y="0"/>
                  </a:moveTo>
                  <a:lnTo>
                    <a:pt x="151256" y="0"/>
                  </a:lnTo>
                  <a:lnTo>
                    <a:pt x="0" y="151511"/>
                  </a:lnTo>
                  <a:lnTo>
                    <a:pt x="132206" y="151511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CEAD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1" name="object 61"/>
            <p:cNvSpPr/>
            <p:nvPr/>
          </p:nvSpPr>
          <p:spPr>
            <a:xfrm>
              <a:off x="5221224" y="3724909"/>
              <a:ext cx="283845" cy="814705"/>
            </a:xfrm>
            <a:custGeom>
              <a:avLst/>
              <a:gdLst/>
              <a:ahLst/>
              <a:cxnLst/>
              <a:rect l="l" t="t" r="r" b="b"/>
              <a:pathLst>
                <a:path w="283845" h="814704">
                  <a:moveTo>
                    <a:pt x="0" y="151511"/>
                  </a:moveTo>
                  <a:lnTo>
                    <a:pt x="151256" y="0"/>
                  </a:lnTo>
                  <a:lnTo>
                    <a:pt x="283463" y="0"/>
                  </a:lnTo>
                  <a:lnTo>
                    <a:pt x="283463" y="663092"/>
                  </a:lnTo>
                  <a:lnTo>
                    <a:pt x="132206" y="814539"/>
                  </a:lnTo>
                  <a:lnTo>
                    <a:pt x="0" y="814539"/>
                  </a:lnTo>
                  <a:lnTo>
                    <a:pt x="0" y="151511"/>
                  </a:lnTo>
                  <a:close/>
                </a:path>
                <a:path w="283845" h="814704">
                  <a:moveTo>
                    <a:pt x="0" y="151511"/>
                  </a:moveTo>
                  <a:lnTo>
                    <a:pt x="132206" y="151511"/>
                  </a:lnTo>
                  <a:lnTo>
                    <a:pt x="283463" y="0"/>
                  </a:lnTo>
                </a:path>
                <a:path w="283845" h="814704">
                  <a:moveTo>
                    <a:pt x="132206" y="151511"/>
                  </a:moveTo>
                  <a:lnTo>
                    <a:pt x="132206" y="814539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993984" y="2931130"/>
            <a:ext cx="2508963" cy="970956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28751" rIns="0" bIns="0" rtlCol="0">
            <a:spAutoFit/>
          </a:bodyPr>
          <a:lstStyle/>
          <a:p>
            <a:pPr marL="788972" marR="203797" indent="-576719">
              <a:lnSpc>
                <a:spcPct val="102400"/>
              </a:lnSpc>
              <a:spcBef>
                <a:spcPts val="226"/>
              </a:spcBef>
            </a:pPr>
            <a:r>
              <a:rPr sz="3129" spc="-13" dirty="0">
                <a:latin typeface="Tahoma"/>
                <a:cs typeface="Tahoma"/>
              </a:rPr>
              <a:t>Convolution </a:t>
            </a:r>
            <a:r>
              <a:rPr sz="3129" spc="-27" dirty="0">
                <a:latin typeface="Tahoma"/>
                <a:cs typeface="Tahoma"/>
              </a:rPr>
              <a:t>Layer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660739" y="3477538"/>
            <a:ext cx="1654884" cy="102320"/>
          </a:xfrm>
          <a:custGeom>
            <a:avLst/>
            <a:gdLst/>
            <a:ahLst/>
            <a:cxnLst/>
            <a:rect l="l" t="t" r="r" b="b"/>
            <a:pathLst>
              <a:path w="1242695" h="76835">
                <a:moveTo>
                  <a:pt x="1166114" y="0"/>
                </a:moveTo>
                <a:lnTo>
                  <a:pt x="1166114" y="76327"/>
                </a:lnTo>
                <a:lnTo>
                  <a:pt x="1216914" y="50927"/>
                </a:lnTo>
                <a:lnTo>
                  <a:pt x="1178814" y="50927"/>
                </a:lnTo>
                <a:lnTo>
                  <a:pt x="1178814" y="25400"/>
                </a:lnTo>
                <a:lnTo>
                  <a:pt x="1216745" y="25400"/>
                </a:lnTo>
                <a:lnTo>
                  <a:pt x="1166114" y="0"/>
                </a:lnTo>
                <a:close/>
              </a:path>
              <a:path w="1242695" h="76835">
                <a:moveTo>
                  <a:pt x="1166114" y="25400"/>
                </a:moveTo>
                <a:lnTo>
                  <a:pt x="0" y="25400"/>
                </a:lnTo>
                <a:lnTo>
                  <a:pt x="0" y="50927"/>
                </a:lnTo>
                <a:lnTo>
                  <a:pt x="1166114" y="50927"/>
                </a:lnTo>
                <a:lnTo>
                  <a:pt x="1166114" y="25400"/>
                </a:lnTo>
                <a:close/>
              </a:path>
              <a:path w="1242695" h="76835">
                <a:moveTo>
                  <a:pt x="1216745" y="25400"/>
                </a:moveTo>
                <a:lnTo>
                  <a:pt x="1178814" y="25400"/>
                </a:lnTo>
                <a:lnTo>
                  <a:pt x="1178814" y="50927"/>
                </a:lnTo>
                <a:lnTo>
                  <a:pt x="1216914" y="50927"/>
                </a:lnTo>
                <a:lnTo>
                  <a:pt x="1242314" y="38227"/>
                </a:lnTo>
                <a:lnTo>
                  <a:pt x="121674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4" name="object 64"/>
          <p:cNvSpPr/>
          <p:nvPr/>
        </p:nvSpPr>
        <p:spPr>
          <a:xfrm>
            <a:off x="6234005" y="4198684"/>
            <a:ext cx="101475" cy="646056"/>
          </a:xfrm>
          <a:custGeom>
            <a:avLst/>
            <a:gdLst/>
            <a:ahLst/>
            <a:cxnLst/>
            <a:rect l="l" t="t" r="r" b="b"/>
            <a:pathLst>
              <a:path w="76200" h="485139">
                <a:moveTo>
                  <a:pt x="50800" y="63500"/>
                </a:moveTo>
                <a:lnTo>
                  <a:pt x="25400" y="63500"/>
                </a:lnTo>
                <a:lnTo>
                  <a:pt x="25400" y="485139"/>
                </a:lnTo>
                <a:lnTo>
                  <a:pt x="50800" y="485139"/>
                </a:lnTo>
                <a:lnTo>
                  <a:pt x="50800" y="63500"/>
                </a:lnTo>
                <a:close/>
              </a:path>
              <a:path w="76200" h="485139">
                <a:moveTo>
                  <a:pt x="38100" y="0"/>
                </a:moveTo>
                <a:lnTo>
                  <a:pt x="0" y="76326"/>
                </a:lnTo>
                <a:lnTo>
                  <a:pt x="25400" y="76326"/>
                </a:lnTo>
                <a:lnTo>
                  <a:pt x="25400" y="63500"/>
                </a:lnTo>
                <a:lnTo>
                  <a:pt x="69797" y="63500"/>
                </a:lnTo>
                <a:lnTo>
                  <a:pt x="38100" y="0"/>
                </a:lnTo>
                <a:close/>
              </a:path>
              <a:path w="76200" h="485139">
                <a:moveTo>
                  <a:pt x="69797" y="63500"/>
                </a:moveTo>
                <a:lnTo>
                  <a:pt x="50800" y="63500"/>
                </a:lnTo>
                <a:lnTo>
                  <a:pt x="50800" y="76326"/>
                </a:lnTo>
                <a:lnTo>
                  <a:pt x="76200" y="76326"/>
                </a:lnTo>
                <a:lnTo>
                  <a:pt x="69797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5" name="object 65" descr="$PPTXTitle"/>
          <p:cNvSpPr txBox="1">
            <a:spLocks noGrp="1"/>
          </p:cNvSpPr>
          <p:nvPr>
            <p:ph type="title"/>
          </p:nvPr>
        </p:nvSpPr>
        <p:spPr>
          <a:xfrm>
            <a:off x="512576" y="572051"/>
            <a:ext cx="4165033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393" dirty="0"/>
              <a:t> </a:t>
            </a:r>
            <a:r>
              <a:rPr sz="3995" spc="-33" dirty="0"/>
              <a:t>Layer</a:t>
            </a:r>
            <a:endParaRPr sz="3995" dirty="0"/>
          </a:p>
        </p:txBody>
      </p:sp>
      <p:sp>
        <p:nvSpPr>
          <p:cNvPr id="66" name="object 66"/>
          <p:cNvSpPr txBox="1"/>
          <p:nvPr/>
        </p:nvSpPr>
        <p:spPr>
          <a:xfrm>
            <a:off x="3836496" y="5012181"/>
            <a:ext cx="1168649" cy="802809"/>
          </a:xfrm>
          <a:prstGeom prst="rect">
            <a:avLst/>
          </a:prstGeom>
        </p:spPr>
        <p:txBody>
          <a:bodyPr vert="horz" wrap="square" lIns="0" tIns="14376" rIns="0" bIns="0" rtlCol="0">
            <a:spAutoFit/>
          </a:bodyPr>
          <a:lstStyle/>
          <a:p>
            <a:pPr marL="16913">
              <a:lnSpc>
                <a:spcPts val="3183"/>
              </a:lnSpc>
              <a:spcBef>
                <a:spcPts val="113"/>
              </a:spcBef>
            </a:pPr>
            <a:r>
              <a:rPr sz="2663" spc="-113" dirty="0">
                <a:latin typeface="Tahoma"/>
                <a:cs typeface="Tahoma"/>
              </a:rPr>
              <a:t>6x3x5x5</a:t>
            </a:r>
            <a:endParaRPr sz="2663">
              <a:latin typeface="Tahoma"/>
              <a:cs typeface="Tahoma"/>
            </a:endParaRPr>
          </a:p>
          <a:p>
            <a:pPr marL="175045">
              <a:lnSpc>
                <a:spcPts val="3183"/>
              </a:lnSpc>
            </a:pPr>
            <a:r>
              <a:rPr sz="2663" spc="-13" dirty="0">
                <a:latin typeface="Tahoma"/>
                <a:cs typeface="Tahoma"/>
              </a:rPr>
              <a:t>filters</a:t>
            </a:r>
            <a:endParaRPr sz="2663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248756" y="5064920"/>
            <a:ext cx="350933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246588" y="5362815"/>
            <a:ext cx="3576138" cy="803662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6913">
              <a:lnSpc>
                <a:spcPts val="3183"/>
              </a:lnSpc>
              <a:spcBef>
                <a:spcPts val="120"/>
              </a:spcBef>
            </a:pPr>
            <a:r>
              <a:rPr sz="2663" spc="-40" dirty="0">
                <a:latin typeface="Tahoma"/>
                <a:cs typeface="Tahoma"/>
              </a:rPr>
              <a:t>Stack</a:t>
            </a:r>
            <a:r>
              <a:rPr sz="2663" spc="-313" dirty="0">
                <a:latin typeface="Tahoma"/>
                <a:cs typeface="Tahoma"/>
              </a:rPr>
              <a:t> </a:t>
            </a:r>
            <a:r>
              <a:rPr sz="2663" spc="-33" dirty="0">
                <a:latin typeface="Tahoma"/>
                <a:cs typeface="Tahoma"/>
              </a:rPr>
              <a:t>activations</a:t>
            </a:r>
            <a:r>
              <a:rPr sz="2663" spc="-293" dirty="0">
                <a:latin typeface="Tahoma"/>
                <a:cs typeface="Tahoma"/>
              </a:rPr>
              <a:t> </a:t>
            </a:r>
            <a:r>
              <a:rPr sz="2663" spc="-33" dirty="0">
                <a:latin typeface="Tahoma"/>
                <a:cs typeface="Tahoma"/>
              </a:rPr>
              <a:t>to</a:t>
            </a:r>
            <a:r>
              <a:rPr sz="2663" spc="-233" dirty="0">
                <a:latin typeface="Tahoma"/>
                <a:cs typeface="Tahoma"/>
              </a:rPr>
              <a:t> </a:t>
            </a:r>
            <a:r>
              <a:rPr sz="2663" spc="-80" dirty="0">
                <a:latin typeface="Tahoma"/>
                <a:cs typeface="Tahoma"/>
              </a:rPr>
              <a:t>get</a:t>
            </a:r>
            <a:r>
              <a:rPr sz="2663" spc="-253" dirty="0">
                <a:latin typeface="Tahoma"/>
                <a:cs typeface="Tahoma"/>
              </a:rPr>
              <a:t> </a:t>
            </a:r>
            <a:r>
              <a:rPr sz="2663" spc="-67" dirty="0">
                <a:latin typeface="Tahoma"/>
                <a:cs typeface="Tahoma"/>
              </a:rPr>
              <a:t>a</a:t>
            </a:r>
            <a:endParaRPr sz="2663">
              <a:latin typeface="Tahoma"/>
              <a:cs typeface="Tahoma"/>
            </a:endParaRPr>
          </a:p>
          <a:p>
            <a:pPr marL="175891">
              <a:lnSpc>
                <a:spcPts val="3183"/>
              </a:lnSpc>
            </a:pPr>
            <a:r>
              <a:rPr sz="2663" spc="-140" dirty="0">
                <a:latin typeface="Tahoma"/>
                <a:cs typeface="Tahoma"/>
              </a:rPr>
              <a:t>6x28x28</a:t>
            </a:r>
            <a:r>
              <a:rPr sz="2663" spc="-186" dirty="0">
                <a:latin typeface="Tahoma"/>
                <a:cs typeface="Tahoma"/>
              </a:rPr>
              <a:t> </a:t>
            </a:r>
            <a:r>
              <a:rPr sz="2663" spc="-27" dirty="0">
                <a:latin typeface="Tahoma"/>
                <a:cs typeface="Tahoma"/>
              </a:rPr>
              <a:t>output</a:t>
            </a:r>
            <a:r>
              <a:rPr sz="2663" spc="-253" dirty="0">
                <a:latin typeface="Tahoma"/>
                <a:cs typeface="Tahoma"/>
              </a:rPr>
              <a:t> </a:t>
            </a:r>
            <a:r>
              <a:rPr sz="2663" spc="-13" dirty="0">
                <a:latin typeface="Tahoma"/>
                <a:cs typeface="Tahoma"/>
              </a:rPr>
              <a:t>image!</a:t>
            </a:r>
            <a:endParaRPr sz="2663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183" y="1486424"/>
            <a:ext cx="1304796" cy="3706364"/>
            <a:chOff x="164202" y="1116194"/>
            <a:chExt cx="979805" cy="2783205"/>
          </a:xfrm>
        </p:grpSpPr>
        <p:sp>
          <p:nvSpPr>
            <p:cNvPr id="3" name="object 3"/>
            <p:cNvSpPr/>
            <p:nvPr/>
          </p:nvSpPr>
          <p:spPr>
            <a:xfrm>
              <a:off x="173735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3877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73735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5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73735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5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5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5" y="746760"/>
                  </a:moveTo>
                  <a:lnTo>
                    <a:pt x="213995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5056" y="46598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0866" y="1889459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097" y="51830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6274" y="3160767"/>
            <a:ext cx="1315789" cy="101475"/>
          </a:xfrm>
          <a:custGeom>
            <a:avLst/>
            <a:gdLst/>
            <a:ahLst/>
            <a:cxnLst/>
            <a:rect l="l" t="t" r="r" b="b"/>
            <a:pathLst>
              <a:path w="988060" h="76200">
                <a:moveTo>
                  <a:pt x="911351" y="0"/>
                </a:moveTo>
                <a:lnTo>
                  <a:pt x="911351" y="76200"/>
                </a:lnTo>
                <a:lnTo>
                  <a:pt x="974851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60" h="76200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60" h="76200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51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11" name="object 11"/>
          <p:cNvGrpSpPr/>
          <p:nvPr/>
        </p:nvGrpSpPr>
        <p:grpSpPr>
          <a:xfrm>
            <a:off x="3574849" y="1486424"/>
            <a:ext cx="1304796" cy="3706364"/>
            <a:chOff x="2678802" y="1116194"/>
            <a:chExt cx="979805" cy="2783205"/>
          </a:xfrm>
        </p:grpSpPr>
        <p:sp>
          <p:nvSpPr>
            <p:cNvPr id="12" name="object 12"/>
            <p:cNvSpPr/>
            <p:nvPr/>
          </p:nvSpPr>
          <p:spPr>
            <a:xfrm>
              <a:off x="2688336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4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23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4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4" y="2017141"/>
                  </a:lnTo>
                  <a:lnTo>
                    <a:pt x="746124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8336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8336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20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20" h="2764154">
                  <a:moveTo>
                    <a:pt x="213994" y="746760"/>
                  </a:moveTo>
                  <a:lnTo>
                    <a:pt x="213994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17053" y="46598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2948" y="1889459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3060" y="51830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6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523853" y="651126"/>
            <a:ext cx="1071846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26" dirty="0"/>
              <a:t>A</a:t>
            </a:r>
            <a:r>
              <a:rPr sz="3995" spc="-433" dirty="0"/>
              <a:t> </a:t>
            </a:r>
            <a:r>
              <a:rPr sz="3995" spc="-87" dirty="0"/>
              <a:t>ConvNet</a:t>
            </a:r>
            <a:r>
              <a:rPr sz="3995" spc="-413" dirty="0"/>
              <a:t> </a:t>
            </a:r>
            <a:r>
              <a:rPr sz="3995" spc="-47" dirty="0"/>
              <a:t>is</a:t>
            </a:r>
            <a:r>
              <a:rPr sz="3995" spc="-413" dirty="0"/>
              <a:t> </a:t>
            </a:r>
            <a:r>
              <a:rPr sz="3995" spc="-73" dirty="0"/>
              <a:t>a</a:t>
            </a:r>
            <a:r>
              <a:rPr sz="3995" spc="-466" dirty="0"/>
              <a:t> </a:t>
            </a:r>
            <a:r>
              <a:rPr sz="3995" spc="-47" dirty="0"/>
              <a:t>neural</a:t>
            </a:r>
            <a:r>
              <a:rPr sz="3995" spc="-419" dirty="0"/>
              <a:t> </a:t>
            </a:r>
            <a:r>
              <a:rPr sz="3995" spc="-67" dirty="0"/>
              <a:t>network</a:t>
            </a:r>
            <a:r>
              <a:rPr sz="3995" spc="-426" dirty="0"/>
              <a:t> </a:t>
            </a:r>
            <a:r>
              <a:rPr sz="3995" spc="-40" dirty="0"/>
              <a:t>with</a:t>
            </a:r>
            <a:r>
              <a:rPr sz="3995" spc="-439" dirty="0"/>
              <a:t> </a:t>
            </a:r>
            <a:r>
              <a:rPr sz="3995" spc="-73" dirty="0"/>
              <a:t>Conv</a:t>
            </a:r>
            <a:r>
              <a:rPr sz="3995" spc="-506" dirty="0"/>
              <a:t> </a:t>
            </a:r>
            <a:r>
              <a:rPr sz="3995" spc="-13" dirty="0"/>
              <a:t>layers</a:t>
            </a:r>
            <a:endParaRPr sz="3995" dirty="0"/>
          </a:p>
        </p:txBody>
      </p:sp>
      <p:sp>
        <p:nvSpPr>
          <p:cNvPr id="20" name="object 20"/>
          <p:cNvSpPr txBox="1"/>
          <p:nvPr/>
        </p:nvSpPr>
        <p:spPr>
          <a:xfrm>
            <a:off x="2140516" y="3314164"/>
            <a:ext cx="76359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87" dirty="0">
                <a:latin typeface="Tahoma"/>
                <a:cs typeface="Tahoma"/>
              </a:rPr>
              <a:t>CONV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40516" y="4046811"/>
            <a:ext cx="758524" cy="1124581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 algn="just">
              <a:spcBef>
                <a:spcPts val="140"/>
              </a:spcBef>
            </a:pPr>
            <a:r>
              <a:rPr sz="2397" spc="-193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2397" spc="3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80" dirty="0">
                <a:solidFill>
                  <a:srgbClr val="0000FF"/>
                </a:solidFill>
                <a:latin typeface="Tahoma"/>
                <a:cs typeface="Tahoma"/>
              </a:rPr>
              <a:t>6 </a:t>
            </a:r>
            <a:r>
              <a:rPr sz="2397" spc="-140" dirty="0">
                <a:solidFill>
                  <a:srgbClr val="0000FF"/>
                </a:solidFill>
                <a:latin typeface="Tahoma"/>
                <a:cs typeface="Tahoma"/>
              </a:rPr>
              <a:t>5x5x3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filters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183" y="1486424"/>
            <a:ext cx="1304796" cy="3706364"/>
            <a:chOff x="164202" y="1116194"/>
            <a:chExt cx="979805" cy="2783205"/>
          </a:xfrm>
        </p:grpSpPr>
        <p:sp>
          <p:nvSpPr>
            <p:cNvPr id="3" name="object 3"/>
            <p:cNvSpPr/>
            <p:nvPr/>
          </p:nvSpPr>
          <p:spPr>
            <a:xfrm>
              <a:off x="173735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3877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73735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5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73735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5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5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5" y="746760"/>
                  </a:moveTo>
                  <a:lnTo>
                    <a:pt x="213995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5056" y="46598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0866" y="1889459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097" y="51830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6274" y="3160767"/>
            <a:ext cx="1315789" cy="101475"/>
          </a:xfrm>
          <a:custGeom>
            <a:avLst/>
            <a:gdLst/>
            <a:ahLst/>
            <a:cxnLst/>
            <a:rect l="l" t="t" r="r" b="b"/>
            <a:pathLst>
              <a:path w="988060" h="76200">
                <a:moveTo>
                  <a:pt x="911351" y="0"/>
                </a:moveTo>
                <a:lnTo>
                  <a:pt x="911351" y="76200"/>
                </a:lnTo>
                <a:lnTo>
                  <a:pt x="974851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60" h="76200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60" h="76200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51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2140516" y="3314164"/>
            <a:ext cx="76359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87" dirty="0">
                <a:latin typeface="Tahoma"/>
                <a:cs typeface="Tahoma"/>
              </a:rPr>
              <a:t>CONV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40516" y="4046811"/>
            <a:ext cx="758524" cy="1124581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 algn="just">
              <a:spcBef>
                <a:spcPts val="140"/>
              </a:spcBef>
            </a:pPr>
            <a:r>
              <a:rPr sz="2397" spc="-193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2397" spc="3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80" dirty="0">
                <a:solidFill>
                  <a:srgbClr val="0000FF"/>
                </a:solidFill>
                <a:latin typeface="Tahoma"/>
                <a:cs typeface="Tahoma"/>
              </a:rPr>
              <a:t>6 </a:t>
            </a:r>
            <a:r>
              <a:rPr sz="2397" spc="-140" dirty="0">
                <a:solidFill>
                  <a:srgbClr val="0000FF"/>
                </a:solidFill>
                <a:latin typeface="Tahoma"/>
                <a:cs typeface="Tahoma"/>
              </a:rPr>
              <a:t>5x5x3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filters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74849" y="1486424"/>
            <a:ext cx="1304796" cy="3706364"/>
            <a:chOff x="2678802" y="1116194"/>
            <a:chExt cx="979805" cy="2783205"/>
          </a:xfrm>
        </p:grpSpPr>
        <p:sp>
          <p:nvSpPr>
            <p:cNvPr id="14" name="object 14"/>
            <p:cNvSpPr/>
            <p:nvPr/>
          </p:nvSpPr>
          <p:spPr>
            <a:xfrm>
              <a:off x="2688336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4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29023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4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4" y="2017141"/>
                  </a:lnTo>
                  <a:lnTo>
                    <a:pt x="746124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8336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2688336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20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20" h="2764154">
                  <a:moveTo>
                    <a:pt x="213994" y="746760"/>
                  </a:moveTo>
                  <a:lnTo>
                    <a:pt x="213994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17053" y="46598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02948" y="1889459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23060" y="51830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6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39364" y="3258184"/>
            <a:ext cx="1315789" cy="102320"/>
          </a:xfrm>
          <a:custGeom>
            <a:avLst/>
            <a:gdLst/>
            <a:ahLst/>
            <a:cxnLst/>
            <a:rect l="l" t="t" r="r" b="b"/>
            <a:pathLst>
              <a:path w="988060" h="76835">
                <a:moveTo>
                  <a:pt x="911351" y="0"/>
                </a:moveTo>
                <a:lnTo>
                  <a:pt x="911351" y="76327"/>
                </a:lnTo>
                <a:lnTo>
                  <a:pt x="974894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60" h="76835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60" h="76835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94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2" name="object 22"/>
          <p:cNvSpPr txBox="1"/>
          <p:nvPr/>
        </p:nvSpPr>
        <p:spPr>
          <a:xfrm>
            <a:off x="5796988" y="3416146"/>
            <a:ext cx="76528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93" dirty="0">
                <a:latin typeface="Tahoma"/>
                <a:cs typeface="Tahoma"/>
              </a:rPr>
              <a:t>CONV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6988" y="4148455"/>
            <a:ext cx="857461" cy="1124581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140" dirty="0">
                <a:solidFill>
                  <a:srgbClr val="38761D"/>
                </a:solidFill>
                <a:latin typeface="Tahoma"/>
                <a:cs typeface="Tahoma"/>
              </a:rPr>
              <a:t>e.g.</a:t>
            </a:r>
            <a:r>
              <a:rPr sz="2397" spc="-160" dirty="0">
                <a:solidFill>
                  <a:srgbClr val="38761D"/>
                </a:solidFill>
                <a:latin typeface="Tahoma"/>
                <a:cs typeface="Tahoma"/>
              </a:rPr>
              <a:t> 10 </a:t>
            </a:r>
            <a:r>
              <a:rPr sz="2397" spc="-13" dirty="0">
                <a:solidFill>
                  <a:srgbClr val="38761D"/>
                </a:solidFill>
                <a:latin typeface="Tahoma"/>
                <a:cs typeface="Tahoma"/>
              </a:rPr>
              <a:t>5x5x6 filters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27939" y="1596017"/>
            <a:ext cx="1304796" cy="3694526"/>
            <a:chOff x="5422002" y="1198490"/>
            <a:chExt cx="979805" cy="2774315"/>
          </a:xfrm>
        </p:grpSpPr>
        <p:sp>
          <p:nvSpPr>
            <p:cNvPr id="25" name="object 25"/>
            <p:cNvSpPr/>
            <p:nvPr/>
          </p:nvSpPr>
          <p:spPr>
            <a:xfrm>
              <a:off x="5431536" y="1954872"/>
              <a:ext cx="214629" cy="2008505"/>
            </a:xfrm>
            <a:custGeom>
              <a:avLst/>
              <a:gdLst/>
              <a:ahLst/>
              <a:cxnLst/>
              <a:rect l="l" t="t" r="r" b="b"/>
              <a:pathLst>
                <a:path w="214629" h="2008504">
                  <a:moveTo>
                    <a:pt x="214007" y="0"/>
                  </a:moveTo>
                  <a:lnTo>
                    <a:pt x="0" y="0"/>
                  </a:lnTo>
                  <a:lnTo>
                    <a:pt x="0" y="2007997"/>
                  </a:lnTo>
                  <a:lnTo>
                    <a:pt x="214007" y="2007997"/>
                  </a:lnTo>
                  <a:lnTo>
                    <a:pt x="214007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6" name="object 26"/>
            <p:cNvSpPr/>
            <p:nvPr/>
          </p:nvSpPr>
          <p:spPr>
            <a:xfrm>
              <a:off x="5645531" y="1208023"/>
              <a:ext cx="746125" cy="2755265"/>
            </a:xfrm>
            <a:custGeom>
              <a:avLst/>
              <a:gdLst/>
              <a:ahLst/>
              <a:cxnLst/>
              <a:rect l="l" t="t" r="r" b="b"/>
              <a:pathLst>
                <a:path w="746125" h="2755265">
                  <a:moveTo>
                    <a:pt x="746125" y="0"/>
                  </a:moveTo>
                  <a:lnTo>
                    <a:pt x="0" y="746887"/>
                  </a:lnTo>
                  <a:lnTo>
                    <a:pt x="0" y="2754845"/>
                  </a:lnTo>
                  <a:lnTo>
                    <a:pt x="746125" y="2008124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7" name="object 27"/>
            <p:cNvSpPr/>
            <p:nvPr/>
          </p:nvSpPr>
          <p:spPr>
            <a:xfrm>
              <a:off x="5431536" y="1208023"/>
              <a:ext cx="960119" cy="747395"/>
            </a:xfrm>
            <a:custGeom>
              <a:avLst/>
              <a:gdLst/>
              <a:ahLst/>
              <a:cxnLst/>
              <a:rect l="l" t="t" r="r" b="b"/>
              <a:pathLst>
                <a:path w="960120" h="747394">
                  <a:moveTo>
                    <a:pt x="960119" y="0"/>
                  </a:moveTo>
                  <a:lnTo>
                    <a:pt x="746125" y="0"/>
                  </a:lnTo>
                  <a:lnTo>
                    <a:pt x="0" y="746887"/>
                  </a:lnTo>
                  <a:lnTo>
                    <a:pt x="213994" y="74688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object 28"/>
            <p:cNvSpPr/>
            <p:nvPr/>
          </p:nvSpPr>
          <p:spPr>
            <a:xfrm>
              <a:off x="5431536" y="1208023"/>
              <a:ext cx="960119" cy="2755265"/>
            </a:xfrm>
            <a:custGeom>
              <a:avLst/>
              <a:gdLst/>
              <a:ahLst/>
              <a:cxnLst/>
              <a:rect l="l" t="t" r="r" b="b"/>
              <a:pathLst>
                <a:path w="960120" h="2755265">
                  <a:moveTo>
                    <a:pt x="0" y="746887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08124"/>
                  </a:lnTo>
                  <a:lnTo>
                    <a:pt x="213994" y="2754845"/>
                  </a:lnTo>
                  <a:lnTo>
                    <a:pt x="0" y="2754845"/>
                  </a:lnTo>
                  <a:lnTo>
                    <a:pt x="0" y="746887"/>
                  </a:lnTo>
                  <a:close/>
                </a:path>
                <a:path w="960120" h="2755265">
                  <a:moveTo>
                    <a:pt x="0" y="746887"/>
                  </a:moveTo>
                  <a:lnTo>
                    <a:pt x="213994" y="746887"/>
                  </a:lnTo>
                  <a:lnTo>
                    <a:pt x="960119" y="0"/>
                  </a:lnTo>
                </a:path>
                <a:path w="960120" h="2755265">
                  <a:moveTo>
                    <a:pt x="213994" y="746887"/>
                  </a:moveTo>
                  <a:lnTo>
                    <a:pt x="213994" y="2754845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9" name="object 29"/>
          <p:cNvSpPr/>
          <p:nvPr/>
        </p:nvSpPr>
        <p:spPr>
          <a:xfrm>
            <a:off x="9085445" y="3258184"/>
            <a:ext cx="1315789" cy="102320"/>
          </a:xfrm>
          <a:custGeom>
            <a:avLst/>
            <a:gdLst/>
            <a:ahLst/>
            <a:cxnLst/>
            <a:rect l="l" t="t" r="r" b="b"/>
            <a:pathLst>
              <a:path w="988059" h="76835">
                <a:moveTo>
                  <a:pt x="911351" y="0"/>
                </a:moveTo>
                <a:lnTo>
                  <a:pt x="911351" y="76327"/>
                </a:lnTo>
                <a:lnTo>
                  <a:pt x="974894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59" h="76835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59" h="76835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94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30" name="object 30"/>
          <p:cNvSpPr txBox="1"/>
          <p:nvPr/>
        </p:nvSpPr>
        <p:spPr>
          <a:xfrm>
            <a:off x="9250511" y="3416146"/>
            <a:ext cx="76528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93" dirty="0">
                <a:latin typeface="Tahoma"/>
                <a:cs typeface="Tahoma"/>
              </a:rPr>
              <a:t>CONV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72583" y="3069711"/>
            <a:ext cx="532742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166" dirty="0">
                <a:latin typeface="Tahoma"/>
                <a:cs typeface="Tahoma"/>
              </a:rPr>
              <a:t>….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78397" y="5284684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10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73863" y="4761870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24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59758" y="199144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24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523853" y="614626"/>
            <a:ext cx="10394610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26" dirty="0"/>
              <a:t>A</a:t>
            </a:r>
            <a:r>
              <a:rPr sz="3995" spc="-433" dirty="0"/>
              <a:t> </a:t>
            </a:r>
            <a:r>
              <a:rPr sz="3995" spc="-87" dirty="0"/>
              <a:t>ConvNet</a:t>
            </a:r>
            <a:r>
              <a:rPr sz="3995" spc="-413" dirty="0"/>
              <a:t> </a:t>
            </a:r>
            <a:r>
              <a:rPr sz="3995" spc="-47" dirty="0"/>
              <a:t>is</a:t>
            </a:r>
            <a:r>
              <a:rPr sz="3995" spc="-413" dirty="0"/>
              <a:t> </a:t>
            </a:r>
            <a:r>
              <a:rPr sz="3995" spc="-73" dirty="0"/>
              <a:t>a</a:t>
            </a:r>
            <a:r>
              <a:rPr sz="3995" spc="-466" dirty="0"/>
              <a:t> </a:t>
            </a:r>
            <a:r>
              <a:rPr sz="3995" spc="-47" dirty="0"/>
              <a:t>neural</a:t>
            </a:r>
            <a:r>
              <a:rPr sz="3995" spc="-419" dirty="0"/>
              <a:t> </a:t>
            </a:r>
            <a:r>
              <a:rPr sz="3995" spc="-67" dirty="0"/>
              <a:t>network</a:t>
            </a:r>
            <a:r>
              <a:rPr sz="3995" spc="-426" dirty="0"/>
              <a:t> </a:t>
            </a:r>
            <a:r>
              <a:rPr sz="3995" spc="-40" dirty="0"/>
              <a:t>with</a:t>
            </a:r>
            <a:r>
              <a:rPr sz="3995" spc="-439" dirty="0"/>
              <a:t> </a:t>
            </a:r>
            <a:r>
              <a:rPr sz="3995" spc="-73" dirty="0"/>
              <a:t>Conv</a:t>
            </a:r>
            <a:r>
              <a:rPr sz="3995" spc="-506" dirty="0"/>
              <a:t> </a:t>
            </a:r>
            <a:r>
              <a:rPr sz="3995" spc="-13" dirty="0"/>
              <a:t>layers</a:t>
            </a:r>
            <a:endParaRPr sz="399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433" y="2096024"/>
            <a:ext cx="1304796" cy="3706364"/>
            <a:chOff x="164202" y="1116194"/>
            <a:chExt cx="979805" cy="2783205"/>
          </a:xfrm>
        </p:grpSpPr>
        <p:sp>
          <p:nvSpPr>
            <p:cNvPr id="3" name="object 3"/>
            <p:cNvSpPr/>
            <p:nvPr/>
          </p:nvSpPr>
          <p:spPr>
            <a:xfrm>
              <a:off x="173735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3877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73735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5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73735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5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5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5" y="746760"/>
                  </a:moveTo>
                  <a:lnTo>
                    <a:pt x="213995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60306" y="52694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347" y="57926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81524" y="3770367"/>
            <a:ext cx="1315789" cy="101475"/>
          </a:xfrm>
          <a:custGeom>
            <a:avLst/>
            <a:gdLst/>
            <a:ahLst/>
            <a:cxnLst/>
            <a:rect l="l" t="t" r="r" b="b"/>
            <a:pathLst>
              <a:path w="988060" h="76200">
                <a:moveTo>
                  <a:pt x="911351" y="0"/>
                </a:moveTo>
                <a:lnTo>
                  <a:pt x="911351" y="76200"/>
                </a:lnTo>
                <a:lnTo>
                  <a:pt x="974851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60" h="76200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60" h="76200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51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0" name="object 10"/>
          <p:cNvSpPr txBox="1"/>
          <p:nvPr/>
        </p:nvSpPr>
        <p:spPr>
          <a:xfrm>
            <a:off x="2235766" y="3923763"/>
            <a:ext cx="763597" cy="186234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127" dirty="0">
                <a:latin typeface="Tahoma"/>
                <a:cs typeface="Tahoma"/>
              </a:rPr>
              <a:t>CONV </a:t>
            </a:r>
            <a:r>
              <a:rPr sz="2397" spc="-27" dirty="0">
                <a:solidFill>
                  <a:srgbClr val="FF0000"/>
                </a:solidFill>
                <a:latin typeface="Tahoma"/>
                <a:cs typeface="Tahoma"/>
              </a:rPr>
              <a:t>ReLU</a:t>
            </a:r>
            <a:endParaRPr sz="2397">
              <a:latin typeface="Tahoma"/>
              <a:cs typeface="Tahoma"/>
            </a:endParaRPr>
          </a:p>
          <a:p>
            <a:pPr marL="16913" marR="10993" algn="just">
              <a:spcBef>
                <a:spcPts val="13"/>
              </a:spcBef>
            </a:pPr>
            <a:r>
              <a:rPr sz="2397" spc="-193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2397" spc="33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397" spc="-80" dirty="0">
                <a:solidFill>
                  <a:srgbClr val="0000FF"/>
                </a:solidFill>
                <a:latin typeface="Tahoma"/>
                <a:cs typeface="Tahoma"/>
              </a:rPr>
              <a:t>6 </a:t>
            </a:r>
            <a:r>
              <a:rPr sz="2397" spc="-140" dirty="0">
                <a:solidFill>
                  <a:srgbClr val="0000FF"/>
                </a:solidFill>
                <a:latin typeface="Tahoma"/>
                <a:cs typeface="Tahoma"/>
              </a:rPr>
              <a:t>5x5x3 </a:t>
            </a:r>
            <a:r>
              <a:rPr sz="2397" spc="-40" dirty="0">
                <a:solidFill>
                  <a:srgbClr val="0000FF"/>
                </a:solidFill>
                <a:latin typeface="Tahoma"/>
                <a:cs typeface="Tahoma"/>
              </a:rPr>
              <a:t>filters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70099" y="2096024"/>
            <a:ext cx="1304796" cy="3706364"/>
            <a:chOff x="2678802" y="1116194"/>
            <a:chExt cx="979805" cy="2783205"/>
          </a:xfrm>
        </p:grpSpPr>
        <p:sp>
          <p:nvSpPr>
            <p:cNvPr id="12" name="object 12"/>
            <p:cNvSpPr/>
            <p:nvPr/>
          </p:nvSpPr>
          <p:spPr>
            <a:xfrm>
              <a:off x="2688336" y="18725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4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2331" y="1125727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4" y="0"/>
                  </a:moveTo>
                  <a:lnTo>
                    <a:pt x="0" y="746760"/>
                  </a:lnTo>
                  <a:lnTo>
                    <a:pt x="0" y="2763926"/>
                  </a:lnTo>
                  <a:lnTo>
                    <a:pt x="746124" y="2017141"/>
                  </a:lnTo>
                  <a:lnTo>
                    <a:pt x="746124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8336" y="1125727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8336" y="1125727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26"/>
                  </a:lnTo>
                  <a:lnTo>
                    <a:pt x="0" y="2763926"/>
                  </a:lnTo>
                  <a:lnTo>
                    <a:pt x="0" y="746760"/>
                  </a:lnTo>
                  <a:close/>
                </a:path>
                <a:path w="960120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20" h="2764154">
                  <a:moveTo>
                    <a:pt x="213994" y="746760"/>
                  </a:moveTo>
                  <a:lnTo>
                    <a:pt x="213994" y="2763926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12303" y="5269488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6116" y="2499059"/>
            <a:ext cx="3702982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  <a:tabLst>
                <a:tab pos="3368142" algn="l"/>
              </a:tabLst>
            </a:pPr>
            <a:r>
              <a:rPr sz="2397" spc="-33" dirty="0">
                <a:latin typeface="Tahoma"/>
                <a:cs typeface="Tahoma"/>
              </a:rPr>
              <a:t>32</a:t>
            </a:r>
            <a:r>
              <a:rPr sz="2397" dirty="0">
                <a:latin typeface="Tahoma"/>
                <a:cs typeface="Tahoma"/>
              </a:rPr>
              <a:t>	</a:t>
            </a: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8310" y="5792675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6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34614" y="3867784"/>
            <a:ext cx="1315789" cy="102320"/>
          </a:xfrm>
          <a:custGeom>
            <a:avLst/>
            <a:gdLst/>
            <a:ahLst/>
            <a:cxnLst/>
            <a:rect l="l" t="t" r="r" b="b"/>
            <a:pathLst>
              <a:path w="988060" h="76835">
                <a:moveTo>
                  <a:pt x="911351" y="0"/>
                </a:moveTo>
                <a:lnTo>
                  <a:pt x="911351" y="76327"/>
                </a:lnTo>
                <a:lnTo>
                  <a:pt x="974894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60" h="76835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60" h="76835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94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0" name="object 20"/>
          <p:cNvSpPr txBox="1"/>
          <p:nvPr/>
        </p:nvSpPr>
        <p:spPr>
          <a:xfrm>
            <a:off x="5892238" y="4025745"/>
            <a:ext cx="857461" cy="186234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98939">
              <a:spcBef>
                <a:spcPts val="140"/>
              </a:spcBef>
            </a:pPr>
            <a:r>
              <a:rPr sz="2397" spc="-113" dirty="0">
                <a:latin typeface="Tahoma"/>
                <a:cs typeface="Tahoma"/>
              </a:rPr>
              <a:t>CONV </a:t>
            </a:r>
            <a:r>
              <a:rPr sz="2397" spc="-27" dirty="0">
                <a:solidFill>
                  <a:srgbClr val="FF0000"/>
                </a:solidFill>
                <a:latin typeface="Tahoma"/>
                <a:cs typeface="Tahoma"/>
              </a:rPr>
              <a:t>ReLU</a:t>
            </a:r>
            <a:endParaRPr sz="2397">
              <a:latin typeface="Tahoma"/>
              <a:cs typeface="Tahoma"/>
            </a:endParaRPr>
          </a:p>
          <a:p>
            <a:pPr marL="16913" marR="6765">
              <a:spcBef>
                <a:spcPts val="13"/>
              </a:spcBef>
            </a:pPr>
            <a:r>
              <a:rPr sz="2397" spc="-140" dirty="0">
                <a:solidFill>
                  <a:srgbClr val="38761D"/>
                </a:solidFill>
                <a:latin typeface="Tahoma"/>
                <a:cs typeface="Tahoma"/>
              </a:rPr>
              <a:t>e.g.</a:t>
            </a:r>
            <a:r>
              <a:rPr sz="2397" spc="-160" dirty="0">
                <a:solidFill>
                  <a:srgbClr val="38761D"/>
                </a:solidFill>
                <a:latin typeface="Tahoma"/>
                <a:cs typeface="Tahoma"/>
              </a:rPr>
              <a:t> 10 </a:t>
            </a:r>
            <a:r>
              <a:rPr sz="2397" spc="-13" dirty="0">
                <a:solidFill>
                  <a:srgbClr val="38761D"/>
                </a:solidFill>
                <a:latin typeface="Tahoma"/>
                <a:cs typeface="Tahoma"/>
              </a:rPr>
              <a:t>5x5x6 filters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23189" y="2205617"/>
            <a:ext cx="1304796" cy="3694526"/>
            <a:chOff x="5422002" y="1198490"/>
            <a:chExt cx="979805" cy="2774315"/>
          </a:xfrm>
        </p:grpSpPr>
        <p:sp>
          <p:nvSpPr>
            <p:cNvPr id="22" name="object 22"/>
            <p:cNvSpPr/>
            <p:nvPr/>
          </p:nvSpPr>
          <p:spPr>
            <a:xfrm>
              <a:off x="5431536" y="1954872"/>
              <a:ext cx="214629" cy="2008505"/>
            </a:xfrm>
            <a:custGeom>
              <a:avLst/>
              <a:gdLst/>
              <a:ahLst/>
              <a:cxnLst/>
              <a:rect l="l" t="t" r="r" b="b"/>
              <a:pathLst>
                <a:path w="214629" h="2008504">
                  <a:moveTo>
                    <a:pt x="214007" y="0"/>
                  </a:moveTo>
                  <a:lnTo>
                    <a:pt x="0" y="0"/>
                  </a:lnTo>
                  <a:lnTo>
                    <a:pt x="0" y="2007997"/>
                  </a:lnTo>
                  <a:lnTo>
                    <a:pt x="214007" y="2007997"/>
                  </a:lnTo>
                  <a:lnTo>
                    <a:pt x="214007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3" name="object 23"/>
            <p:cNvSpPr/>
            <p:nvPr/>
          </p:nvSpPr>
          <p:spPr>
            <a:xfrm>
              <a:off x="5645531" y="1208023"/>
              <a:ext cx="746125" cy="2755265"/>
            </a:xfrm>
            <a:custGeom>
              <a:avLst/>
              <a:gdLst/>
              <a:ahLst/>
              <a:cxnLst/>
              <a:rect l="l" t="t" r="r" b="b"/>
              <a:pathLst>
                <a:path w="746125" h="2755265">
                  <a:moveTo>
                    <a:pt x="746125" y="0"/>
                  </a:moveTo>
                  <a:lnTo>
                    <a:pt x="0" y="746887"/>
                  </a:lnTo>
                  <a:lnTo>
                    <a:pt x="0" y="2754845"/>
                  </a:lnTo>
                  <a:lnTo>
                    <a:pt x="746125" y="2008124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ADBBAA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4" name="object 24"/>
            <p:cNvSpPr/>
            <p:nvPr/>
          </p:nvSpPr>
          <p:spPr>
            <a:xfrm>
              <a:off x="5431536" y="1208023"/>
              <a:ext cx="960119" cy="747395"/>
            </a:xfrm>
            <a:custGeom>
              <a:avLst/>
              <a:gdLst/>
              <a:ahLst/>
              <a:cxnLst/>
              <a:rect l="l" t="t" r="r" b="b"/>
              <a:pathLst>
                <a:path w="960120" h="747394">
                  <a:moveTo>
                    <a:pt x="960119" y="0"/>
                  </a:moveTo>
                  <a:lnTo>
                    <a:pt x="746125" y="0"/>
                  </a:lnTo>
                  <a:lnTo>
                    <a:pt x="0" y="746887"/>
                  </a:lnTo>
                  <a:lnTo>
                    <a:pt x="213994" y="74688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DFEDD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1536" y="1208023"/>
              <a:ext cx="960119" cy="2755265"/>
            </a:xfrm>
            <a:custGeom>
              <a:avLst/>
              <a:gdLst/>
              <a:ahLst/>
              <a:cxnLst/>
              <a:rect l="l" t="t" r="r" b="b"/>
              <a:pathLst>
                <a:path w="960120" h="2755265">
                  <a:moveTo>
                    <a:pt x="0" y="746887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08124"/>
                  </a:lnTo>
                  <a:lnTo>
                    <a:pt x="213994" y="2754845"/>
                  </a:lnTo>
                  <a:lnTo>
                    <a:pt x="0" y="2754845"/>
                  </a:lnTo>
                  <a:lnTo>
                    <a:pt x="0" y="746887"/>
                  </a:lnTo>
                  <a:close/>
                </a:path>
                <a:path w="960120" h="2755265">
                  <a:moveTo>
                    <a:pt x="0" y="746887"/>
                  </a:moveTo>
                  <a:lnTo>
                    <a:pt x="213994" y="746887"/>
                  </a:lnTo>
                  <a:lnTo>
                    <a:pt x="960119" y="0"/>
                  </a:lnTo>
                </a:path>
                <a:path w="960120" h="2755265">
                  <a:moveTo>
                    <a:pt x="213994" y="746887"/>
                  </a:moveTo>
                  <a:lnTo>
                    <a:pt x="213994" y="2754845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6" name="object 26"/>
          <p:cNvSpPr/>
          <p:nvPr/>
        </p:nvSpPr>
        <p:spPr>
          <a:xfrm>
            <a:off x="9180695" y="3867784"/>
            <a:ext cx="1315789" cy="102320"/>
          </a:xfrm>
          <a:custGeom>
            <a:avLst/>
            <a:gdLst/>
            <a:ahLst/>
            <a:cxnLst/>
            <a:rect l="l" t="t" r="r" b="b"/>
            <a:pathLst>
              <a:path w="988059" h="76835">
                <a:moveTo>
                  <a:pt x="911351" y="0"/>
                </a:moveTo>
                <a:lnTo>
                  <a:pt x="911351" y="76327"/>
                </a:lnTo>
                <a:lnTo>
                  <a:pt x="974894" y="44450"/>
                </a:lnTo>
                <a:lnTo>
                  <a:pt x="924051" y="44450"/>
                </a:lnTo>
                <a:lnTo>
                  <a:pt x="924051" y="31750"/>
                </a:lnTo>
                <a:lnTo>
                  <a:pt x="974851" y="31750"/>
                </a:lnTo>
                <a:lnTo>
                  <a:pt x="911351" y="0"/>
                </a:lnTo>
                <a:close/>
              </a:path>
              <a:path w="988059" h="76835">
                <a:moveTo>
                  <a:pt x="91135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1351" y="44450"/>
                </a:lnTo>
                <a:lnTo>
                  <a:pt x="911351" y="31750"/>
                </a:lnTo>
                <a:close/>
              </a:path>
              <a:path w="988059" h="76835">
                <a:moveTo>
                  <a:pt x="974851" y="31750"/>
                </a:moveTo>
                <a:lnTo>
                  <a:pt x="924051" y="31750"/>
                </a:lnTo>
                <a:lnTo>
                  <a:pt x="924051" y="44450"/>
                </a:lnTo>
                <a:lnTo>
                  <a:pt x="974894" y="44450"/>
                </a:lnTo>
                <a:lnTo>
                  <a:pt x="987551" y="38100"/>
                </a:lnTo>
                <a:lnTo>
                  <a:pt x="974851" y="317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7" name="object 27"/>
          <p:cNvSpPr txBox="1"/>
          <p:nvPr/>
        </p:nvSpPr>
        <p:spPr>
          <a:xfrm>
            <a:off x="9345761" y="4025746"/>
            <a:ext cx="765289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113" dirty="0">
                <a:latin typeface="Tahoma"/>
                <a:cs typeface="Tahoma"/>
              </a:rPr>
              <a:t>CONV </a:t>
            </a:r>
            <a:r>
              <a:rPr sz="2397" spc="-27" dirty="0">
                <a:solidFill>
                  <a:srgbClr val="FF0000"/>
                </a:solidFill>
                <a:latin typeface="Tahoma"/>
                <a:cs typeface="Tahoma"/>
              </a:rPr>
              <a:t>ReLU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67833" y="3679311"/>
            <a:ext cx="532742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166" dirty="0">
                <a:latin typeface="Tahoma"/>
                <a:cs typeface="Tahoma"/>
              </a:rPr>
              <a:t>….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73647" y="5894284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10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69113" y="5371470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24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55008" y="260104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24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468803" y="622485"/>
            <a:ext cx="9960590" cy="1250061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16913" marR="6765">
              <a:lnSpc>
                <a:spcPct val="100299"/>
              </a:lnSpc>
              <a:spcBef>
                <a:spcPts val="160"/>
              </a:spcBef>
            </a:pPr>
            <a:r>
              <a:rPr sz="3995" spc="-226" dirty="0"/>
              <a:t>A</a:t>
            </a:r>
            <a:r>
              <a:rPr sz="3995" spc="-433" dirty="0"/>
              <a:t> </a:t>
            </a:r>
            <a:r>
              <a:rPr sz="3995" spc="-87" dirty="0"/>
              <a:t>ConvNet</a:t>
            </a:r>
            <a:r>
              <a:rPr sz="3995" spc="-413" dirty="0"/>
              <a:t> </a:t>
            </a:r>
            <a:r>
              <a:rPr sz="3995" spc="-47" dirty="0"/>
              <a:t>is</a:t>
            </a:r>
            <a:r>
              <a:rPr sz="3995" spc="-413" dirty="0"/>
              <a:t> </a:t>
            </a:r>
            <a:r>
              <a:rPr sz="3995" spc="-73" dirty="0"/>
              <a:t>a</a:t>
            </a:r>
            <a:r>
              <a:rPr sz="3995" spc="-466" dirty="0"/>
              <a:t> </a:t>
            </a:r>
            <a:r>
              <a:rPr sz="3995" spc="-47" dirty="0"/>
              <a:t>neural</a:t>
            </a:r>
            <a:r>
              <a:rPr sz="3995" spc="-419" dirty="0"/>
              <a:t> </a:t>
            </a:r>
            <a:r>
              <a:rPr sz="3995" spc="-67" dirty="0"/>
              <a:t>network</a:t>
            </a:r>
            <a:r>
              <a:rPr sz="3995" spc="-426" dirty="0"/>
              <a:t> </a:t>
            </a:r>
            <a:r>
              <a:rPr sz="3995" spc="-40" dirty="0"/>
              <a:t>with</a:t>
            </a:r>
            <a:r>
              <a:rPr sz="3995" spc="-439" dirty="0"/>
              <a:t> </a:t>
            </a:r>
            <a:r>
              <a:rPr sz="3995" spc="-73" dirty="0"/>
              <a:t>Conv</a:t>
            </a:r>
            <a:r>
              <a:rPr sz="3995" spc="-506" dirty="0"/>
              <a:t> </a:t>
            </a:r>
            <a:r>
              <a:rPr sz="3995" spc="-13" dirty="0"/>
              <a:t>layers </a:t>
            </a:r>
            <a:r>
              <a:rPr sz="3995" spc="-40" dirty="0">
                <a:solidFill>
                  <a:srgbClr val="FF0000"/>
                </a:solidFill>
              </a:rPr>
              <a:t>with</a:t>
            </a:r>
            <a:r>
              <a:rPr sz="3995" spc="-419" dirty="0">
                <a:solidFill>
                  <a:srgbClr val="FF0000"/>
                </a:solidFill>
              </a:rPr>
              <a:t> </a:t>
            </a:r>
            <a:r>
              <a:rPr sz="3995" spc="-33" dirty="0">
                <a:solidFill>
                  <a:srgbClr val="FF0000"/>
                </a:solidFill>
              </a:rPr>
              <a:t>activation</a:t>
            </a:r>
            <a:r>
              <a:rPr sz="3995" spc="-426" dirty="0">
                <a:solidFill>
                  <a:srgbClr val="FF0000"/>
                </a:solidFill>
              </a:rPr>
              <a:t> </a:t>
            </a:r>
            <a:r>
              <a:rPr sz="3995" spc="-13" dirty="0">
                <a:solidFill>
                  <a:srgbClr val="FF0000"/>
                </a:solidFill>
              </a:rPr>
              <a:t>functions!</a:t>
            </a:r>
            <a:endParaRPr sz="399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9089" y="1776199"/>
            <a:ext cx="1842612" cy="2075158"/>
            <a:chOff x="804671" y="1333794"/>
            <a:chExt cx="1383665" cy="1558290"/>
          </a:xfrm>
        </p:grpSpPr>
        <p:sp>
          <p:nvSpPr>
            <p:cNvPr id="3" name="object 3"/>
            <p:cNvSpPr/>
            <p:nvPr/>
          </p:nvSpPr>
          <p:spPr>
            <a:xfrm>
              <a:off x="1130530" y="1832543"/>
              <a:ext cx="72390" cy="376555"/>
            </a:xfrm>
            <a:custGeom>
              <a:avLst/>
              <a:gdLst/>
              <a:ahLst/>
              <a:cxnLst/>
              <a:rect l="l" t="t" r="r" b="b"/>
              <a:pathLst>
                <a:path w="72390" h="376555">
                  <a:moveTo>
                    <a:pt x="72142" y="0"/>
                  </a:moveTo>
                  <a:lnTo>
                    <a:pt x="0" y="0"/>
                  </a:lnTo>
                  <a:lnTo>
                    <a:pt x="0" y="376289"/>
                  </a:lnTo>
                  <a:lnTo>
                    <a:pt x="72142" y="376289"/>
                  </a:lnTo>
                  <a:lnTo>
                    <a:pt x="7214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1202673" y="1749676"/>
              <a:ext cx="83185" cy="459740"/>
            </a:xfrm>
            <a:custGeom>
              <a:avLst/>
              <a:gdLst/>
              <a:ahLst/>
              <a:cxnLst/>
              <a:rect l="l" t="t" r="r" b="b"/>
              <a:pathLst>
                <a:path w="83184" h="459739">
                  <a:moveTo>
                    <a:pt x="82570" y="0"/>
                  </a:moveTo>
                  <a:lnTo>
                    <a:pt x="0" y="82866"/>
                  </a:lnTo>
                  <a:lnTo>
                    <a:pt x="0" y="459156"/>
                  </a:lnTo>
                  <a:lnTo>
                    <a:pt x="82570" y="376289"/>
                  </a:lnTo>
                  <a:lnTo>
                    <a:pt x="82570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1130530" y="1749676"/>
              <a:ext cx="154940" cy="83185"/>
            </a:xfrm>
            <a:custGeom>
              <a:avLst/>
              <a:gdLst/>
              <a:ahLst/>
              <a:cxnLst/>
              <a:rect l="l" t="t" r="r" b="b"/>
              <a:pathLst>
                <a:path w="154940" h="83185">
                  <a:moveTo>
                    <a:pt x="154713" y="0"/>
                  </a:moveTo>
                  <a:lnTo>
                    <a:pt x="82565" y="0"/>
                  </a:lnTo>
                  <a:lnTo>
                    <a:pt x="0" y="82866"/>
                  </a:lnTo>
                  <a:lnTo>
                    <a:pt x="72142" y="82866"/>
                  </a:lnTo>
                  <a:lnTo>
                    <a:pt x="154713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1125316" y="1744500"/>
              <a:ext cx="165735" cy="469900"/>
            </a:xfrm>
            <a:custGeom>
              <a:avLst/>
              <a:gdLst/>
              <a:ahLst/>
              <a:cxnLst/>
              <a:rect l="l" t="t" r="r" b="b"/>
              <a:pathLst>
                <a:path w="165734" h="469900">
                  <a:moveTo>
                    <a:pt x="159927" y="0"/>
                  </a:moveTo>
                  <a:lnTo>
                    <a:pt x="87778" y="0"/>
                  </a:lnTo>
                  <a:lnTo>
                    <a:pt x="84087" y="1494"/>
                  </a:lnTo>
                  <a:lnTo>
                    <a:pt x="1517" y="84360"/>
                  </a:lnTo>
                  <a:lnTo>
                    <a:pt x="0" y="88042"/>
                  </a:lnTo>
                  <a:lnTo>
                    <a:pt x="0" y="464331"/>
                  </a:lnTo>
                  <a:lnTo>
                    <a:pt x="5213" y="469507"/>
                  </a:lnTo>
                  <a:lnTo>
                    <a:pt x="77356" y="469507"/>
                  </a:lnTo>
                  <a:lnTo>
                    <a:pt x="81053" y="468013"/>
                  </a:lnTo>
                  <a:lnTo>
                    <a:pt x="84721" y="464332"/>
                  </a:lnTo>
                  <a:lnTo>
                    <a:pt x="10422" y="464331"/>
                  </a:lnTo>
                  <a:lnTo>
                    <a:pt x="5213" y="459102"/>
                  </a:lnTo>
                  <a:lnTo>
                    <a:pt x="10422" y="459102"/>
                  </a:lnTo>
                  <a:lnTo>
                    <a:pt x="10422" y="93271"/>
                  </a:lnTo>
                  <a:lnTo>
                    <a:pt x="5213" y="93271"/>
                  </a:lnTo>
                  <a:lnTo>
                    <a:pt x="5213" y="82866"/>
                  </a:lnTo>
                  <a:lnTo>
                    <a:pt x="17730" y="82866"/>
                  </a:lnTo>
                  <a:lnTo>
                    <a:pt x="89928" y="10405"/>
                  </a:lnTo>
                  <a:lnTo>
                    <a:pt x="87778" y="10405"/>
                  </a:lnTo>
                  <a:lnTo>
                    <a:pt x="91470" y="8857"/>
                  </a:lnTo>
                  <a:lnTo>
                    <a:pt x="148893" y="8857"/>
                  </a:lnTo>
                  <a:lnTo>
                    <a:pt x="156230" y="1494"/>
                  </a:lnTo>
                  <a:lnTo>
                    <a:pt x="161430" y="1494"/>
                  </a:lnTo>
                  <a:lnTo>
                    <a:pt x="159927" y="0"/>
                  </a:lnTo>
                  <a:close/>
                </a:path>
                <a:path w="165734" h="469900">
                  <a:moveTo>
                    <a:pt x="10422" y="459102"/>
                  </a:moveTo>
                  <a:lnTo>
                    <a:pt x="5213" y="459102"/>
                  </a:lnTo>
                  <a:lnTo>
                    <a:pt x="10422" y="464331"/>
                  </a:lnTo>
                  <a:lnTo>
                    <a:pt x="10422" y="459102"/>
                  </a:lnTo>
                  <a:close/>
                </a:path>
                <a:path w="165734" h="469900">
                  <a:moveTo>
                    <a:pt x="72148" y="459102"/>
                  </a:moveTo>
                  <a:lnTo>
                    <a:pt x="10422" y="459102"/>
                  </a:lnTo>
                  <a:lnTo>
                    <a:pt x="10422" y="464331"/>
                  </a:lnTo>
                  <a:lnTo>
                    <a:pt x="72148" y="464332"/>
                  </a:lnTo>
                  <a:lnTo>
                    <a:pt x="72148" y="459102"/>
                  </a:lnTo>
                  <a:close/>
                </a:path>
                <a:path w="165734" h="469900">
                  <a:moveTo>
                    <a:pt x="82570" y="88042"/>
                  </a:moveTo>
                  <a:lnTo>
                    <a:pt x="72148" y="88042"/>
                  </a:lnTo>
                  <a:lnTo>
                    <a:pt x="72148" y="464332"/>
                  </a:lnTo>
                  <a:lnTo>
                    <a:pt x="82570" y="464332"/>
                  </a:lnTo>
                  <a:lnTo>
                    <a:pt x="82570" y="460650"/>
                  </a:lnTo>
                  <a:lnTo>
                    <a:pt x="73665" y="460650"/>
                  </a:lnTo>
                  <a:lnTo>
                    <a:pt x="82570" y="451712"/>
                  </a:lnTo>
                  <a:lnTo>
                    <a:pt x="82570" y="93271"/>
                  </a:lnTo>
                  <a:lnTo>
                    <a:pt x="77356" y="93271"/>
                  </a:lnTo>
                  <a:lnTo>
                    <a:pt x="81053" y="91724"/>
                  </a:lnTo>
                  <a:lnTo>
                    <a:pt x="82570" y="90201"/>
                  </a:lnTo>
                  <a:lnTo>
                    <a:pt x="82570" y="88042"/>
                  </a:lnTo>
                  <a:close/>
                </a:path>
                <a:path w="165734" h="469900">
                  <a:moveTo>
                    <a:pt x="154713" y="379306"/>
                  </a:moveTo>
                  <a:lnTo>
                    <a:pt x="82570" y="451712"/>
                  </a:lnTo>
                  <a:lnTo>
                    <a:pt x="82570" y="464332"/>
                  </a:lnTo>
                  <a:lnTo>
                    <a:pt x="84721" y="464332"/>
                  </a:lnTo>
                  <a:lnTo>
                    <a:pt x="163618" y="385146"/>
                  </a:lnTo>
                  <a:lnTo>
                    <a:pt x="165135" y="381465"/>
                  </a:lnTo>
                  <a:lnTo>
                    <a:pt x="154713" y="381465"/>
                  </a:lnTo>
                  <a:lnTo>
                    <a:pt x="154713" y="379306"/>
                  </a:lnTo>
                  <a:close/>
                </a:path>
                <a:path w="165734" h="469900">
                  <a:moveTo>
                    <a:pt x="82570" y="451712"/>
                  </a:moveTo>
                  <a:lnTo>
                    <a:pt x="73665" y="460650"/>
                  </a:lnTo>
                  <a:lnTo>
                    <a:pt x="77356" y="459102"/>
                  </a:lnTo>
                  <a:lnTo>
                    <a:pt x="82570" y="459102"/>
                  </a:lnTo>
                  <a:lnTo>
                    <a:pt x="82570" y="451712"/>
                  </a:lnTo>
                  <a:close/>
                </a:path>
                <a:path w="165734" h="469900">
                  <a:moveTo>
                    <a:pt x="82570" y="459102"/>
                  </a:moveTo>
                  <a:lnTo>
                    <a:pt x="77356" y="459102"/>
                  </a:lnTo>
                  <a:lnTo>
                    <a:pt x="73665" y="460650"/>
                  </a:lnTo>
                  <a:lnTo>
                    <a:pt x="82570" y="460650"/>
                  </a:lnTo>
                  <a:lnTo>
                    <a:pt x="82570" y="459102"/>
                  </a:lnTo>
                  <a:close/>
                </a:path>
                <a:path w="165734" h="469900">
                  <a:moveTo>
                    <a:pt x="156230" y="377783"/>
                  </a:moveTo>
                  <a:lnTo>
                    <a:pt x="154713" y="379306"/>
                  </a:lnTo>
                  <a:lnTo>
                    <a:pt x="154713" y="381465"/>
                  </a:lnTo>
                  <a:lnTo>
                    <a:pt x="156230" y="377783"/>
                  </a:lnTo>
                  <a:close/>
                </a:path>
                <a:path w="165734" h="469900">
                  <a:moveTo>
                    <a:pt x="165135" y="377783"/>
                  </a:moveTo>
                  <a:lnTo>
                    <a:pt x="156230" y="377783"/>
                  </a:lnTo>
                  <a:lnTo>
                    <a:pt x="154713" y="381465"/>
                  </a:lnTo>
                  <a:lnTo>
                    <a:pt x="165135" y="381465"/>
                  </a:lnTo>
                  <a:lnTo>
                    <a:pt x="165135" y="377783"/>
                  </a:lnTo>
                  <a:close/>
                </a:path>
                <a:path w="165734" h="469900">
                  <a:moveTo>
                    <a:pt x="161430" y="1494"/>
                  </a:moveTo>
                  <a:lnTo>
                    <a:pt x="156230" y="1494"/>
                  </a:lnTo>
                  <a:lnTo>
                    <a:pt x="163618" y="8857"/>
                  </a:lnTo>
                  <a:lnTo>
                    <a:pt x="154713" y="17795"/>
                  </a:lnTo>
                  <a:lnTo>
                    <a:pt x="154713" y="379306"/>
                  </a:lnTo>
                  <a:lnTo>
                    <a:pt x="156230" y="377783"/>
                  </a:lnTo>
                  <a:lnTo>
                    <a:pt x="165135" y="377783"/>
                  </a:lnTo>
                  <a:lnTo>
                    <a:pt x="165135" y="5175"/>
                  </a:lnTo>
                  <a:lnTo>
                    <a:pt x="161430" y="1494"/>
                  </a:lnTo>
                  <a:close/>
                </a:path>
                <a:path w="165734" h="469900">
                  <a:moveTo>
                    <a:pt x="17730" y="82866"/>
                  </a:moveTo>
                  <a:lnTo>
                    <a:pt x="5213" y="82866"/>
                  </a:lnTo>
                  <a:lnTo>
                    <a:pt x="5213" y="93271"/>
                  </a:lnTo>
                  <a:lnTo>
                    <a:pt x="10422" y="93271"/>
                  </a:lnTo>
                  <a:lnTo>
                    <a:pt x="10422" y="91724"/>
                  </a:lnTo>
                  <a:lnTo>
                    <a:pt x="8905" y="91724"/>
                  </a:lnTo>
                  <a:lnTo>
                    <a:pt x="10422" y="88042"/>
                  </a:lnTo>
                  <a:lnTo>
                    <a:pt x="12573" y="88042"/>
                  </a:lnTo>
                  <a:lnTo>
                    <a:pt x="17730" y="82866"/>
                  </a:lnTo>
                  <a:close/>
                </a:path>
                <a:path w="165734" h="469900">
                  <a:moveTo>
                    <a:pt x="75154" y="82866"/>
                  </a:moveTo>
                  <a:lnTo>
                    <a:pt x="17730" y="82866"/>
                  </a:lnTo>
                  <a:lnTo>
                    <a:pt x="10422" y="90201"/>
                  </a:lnTo>
                  <a:lnTo>
                    <a:pt x="10422" y="93271"/>
                  </a:lnTo>
                  <a:lnTo>
                    <a:pt x="72148" y="93271"/>
                  </a:lnTo>
                  <a:lnTo>
                    <a:pt x="72148" y="88042"/>
                  </a:lnTo>
                  <a:lnTo>
                    <a:pt x="84721" y="88042"/>
                  </a:lnTo>
                  <a:lnTo>
                    <a:pt x="88390" y="84360"/>
                  </a:lnTo>
                  <a:lnTo>
                    <a:pt x="73665" y="84360"/>
                  </a:lnTo>
                  <a:lnTo>
                    <a:pt x="75154" y="82866"/>
                  </a:lnTo>
                  <a:close/>
                </a:path>
                <a:path w="165734" h="469900">
                  <a:moveTo>
                    <a:pt x="82570" y="90201"/>
                  </a:moveTo>
                  <a:lnTo>
                    <a:pt x="81053" y="91724"/>
                  </a:lnTo>
                  <a:lnTo>
                    <a:pt x="77356" y="93271"/>
                  </a:lnTo>
                  <a:lnTo>
                    <a:pt x="82570" y="93271"/>
                  </a:lnTo>
                  <a:lnTo>
                    <a:pt x="82570" y="90201"/>
                  </a:lnTo>
                  <a:close/>
                </a:path>
                <a:path w="165734" h="469900">
                  <a:moveTo>
                    <a:pt x="10422" y="88042"/>
                  </a:moveTo>
                  <a:lnTo>
                    <a:pt x="8905" y="91724"/>
                  </a:lnTo>
                  <a:lnTo>
                    <a:pt x="10422" y="90201"/>
                  </a:lnTo>
                  <a:lnTo>
                    <a:pt x="10422" y="88042"/>
                  </a:lnTo>
                  <a:close/>
                </a:path>
                <a:path w="165734" h="469900">
                  <a:moveTo>
                    <a:pt x="10422" y="90201"/>
                  </a:moveTo>
                  <a:lnTo>
                    <a:pt x="8905" y="91724"/>
                  </a:lnTo>
                  <a:lnTo>
                    <a:pt x="10422" y="91724"/>
                  </a:lnTo>
                  <a:lnTo>
                    <a:pt x="10422" y="90201"/>
                  </a:lnTo>
                  <a:close/>
                </a:path>
                <a:path w="165734" h="469900">
                  <a:moveTo>
                    <a:pt x="12573" y="88042"/>
                  </a:moveTo>
                  <a:lnTo>
                    <a:pt x="10422" y="88042"/>
                  </a:lnTo>
                  <a:lnTo>
                    <a:pt x="10422" y="90201"/>
                  </a:lnTo>
                  <a:lnTo>
                    <a:pt x="12573" y="88042"/>
                  </a:lnTo>
                  <a:close/>
                </a:path>
                <a:path w="165734" h="469900">
                  <a:moveTo>
                    <a:pt x="84721" y="88042"/>
                  </a:moveTo>
                  <a:lnTo>
                    <a:pt x="82570" y="88042"/>
                  </a:lnTo>
                  <a:lnTo>
                    <a:pt x="82570" y="90201"/>
                  </a:lnTo>
                  <a:lnTo>
                    <a:pt x="84721" y="88042"/>
                  </a:lnTo>
                  <a:close/>
                </a:path>
                <a:path w="165734" h="469900">
                  <a:moveTo>
                    <a:pt x="156230" y="1494"/>
                  </a:moveTo>
                  <a:lnTo>
                    <a:pt x="73665" y="84360"/>
                  </a:lnTo>
                  <a:lnTo>
                    <a:pt x="77356" y="82866"/>
                  </a:lnTo>
                  <a:lnTo>
                    <a:pt x="89878" y="82866"/>
                  </a:lnTo>
                  <a:lnTo>
                    <a:pt x="154713" y="17795"/>
                  </a:lnTo>
                  <a:lnTo>
                    <a:pt x="154713" y="5175"/>
                  </a:lnTo>
                  <a:lnTo>
                    <a:pt x="159924" y="5175"/>
                  </a:lnTo>
                  <a:lnTo>
                    <a:pt x="156230" y="1494"/>
                  </a:lnTo>
                  <a:close/>
                </a:path>
                <a:path w="165734" h="469900">
                  <a:moveTo>
                    <a:pt x="89878" y="82866"/>
                  </a:moveTo>
                  <a:lnTo>
                    <a:pt x="77356" y="82866"/>
                  </a:lnTo>
                  <a:lnTo>
                    <a:pt x="73665" y="84360"/>
                  </a:lnTo>
                  <a:lnTo>
                    <a:pt x="88390" y="84360"/>
                  </a:lnTo>
                  <a:lnTo>
                    <a:pt x="89878" y="82866"/>
                  </a:lnTo>
                  <a:close/>
                </a:path>
                <a:path w="165734" h="469900">
                  <a:moveTo>
                    <a:pt x="154713" y="5175"/>
                  </a:moveTo>
                  <a:lnTo>
                    <a:pt x="154713" y="17795"/>
                  </a:lnTo>
                  <a:lnTo>
                    <a:pt x="162076" y="10405"/>
                  </a:lnTo>
                  <a:lnTo>
                    <a:pt x="159927" y="10405"/>
                  </a:lnTo>
                  <a:lnTo>
                    <a:pt x="154713" y="5175"/>
                  </a:lnTo>
                  <a:close/>
                </a:path>
                <a:path w="165734" h="469900">
                  <a:moveTo>
                    <a:pt x="91470" y="8857"/>
                  </a:moveTo>
                  <a:lnTo>
                    <a:pt x="87778" y="10405"/>
                  </a:lnTo>
                  <a:lnTo>
                    <a:pt x="89928" y="10405"/>
                  </a:lnTo>
                  <a:lnTo>
                    <a:pt x="91470" y="8857"/>
                  </a:lnTo>
                  <a:close/>
                </a:path>
                <a:path w="165734" h="469900">
                  <a:moveTo>
                    <a:pt x="148893" y="8857"/>
                  </a:moveTo>
                  <a:lnTo>
                    <a:pt x="91470" y="8857"/>
                  </a:lnTo>
                  <a:lnTo>
                    <a:pt x="89928" y="10405"/>
                  </a:lnTo>
                  <a:lnTo>
                    <a:pt x="147351" y="10405"/>
                  </a:lnTo>
                  <a:lnTo>
                    <a:pt x="148893" y="8857"/>
                  </a:lnTo>
                  <a:close/>
                </a:path>
                <a:path w="165734" h="469900">
                  <a:moveTo>
                    <a:pt x="159924" y="5175"/>
                  </a:moveTo>
                  <a:lnTo>
                    <a:pt x="154713" y="5175"/>
                  </a:lnTo>
                  <a:lnTo>
                    <a:pt x="159927" y="10405"/>
                  </a:lnTo>
                  <a:lnTo>
                    <a:pt x="162076" y="10405"/>
                  </a:lnTo>
                  <a:lnTo>
                    <a:pt x="163618" y="8857"/>
                  </a:lnTo>
                  <a:lnTo>
                    <a:pt x="159924" y="5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7534" y="1894194"/>
              <a:ext cx="170726" cy="1705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99869" y="1765683"/>
              <a:ext cx="824865" cy="353695"/>
            </a:xfrm>
            <a:custGeom>
              <a:avLst/>
              <a:gdLst/>
              <a:ahLst/>
              <a:cxnLst/>
              <a:rect l="l" t="t" r="r" b="b"/>
              <a:pathLst>
                <a:path w="824864" h="353694">
                  <a:moveTo>
                    <a:pt x="0" y="80092"/>
                  </a:moveTo>
                  <a:lnTo>
                    <a:pt x="0" y="80092"/>
                  </a:lnTo>
                  <a:lnTo>
                    <a:pt x="824475" y="212956"/>
                  </a:lnTo>
                </a:path>
                <a:path w="824864" h="353694">
                  <a:moveTo>
                    <a:pt x="74952" y="0"/>
                  </a:moveTo>
                  <a:lnTo>
                    <a:pt x="74952" y="0"/>
                  </a:lnTo>
                  <a:lnTo>
                    <a:pt x="822873" y="216585"/>
                  </a:lnTo>
                </a:path>
                <a:path w="824864" h="353694">
                  <a:moveTo>
                    <a:pt x="90984" y="353504"/>
                  </a:moveTo>
                  <a:lnTo>
                    <a:pt x="90984" y="353504"/>
                  </a:lnTo>
                  <a:lnTo>
                    <a:pt x="824475" y="213757"/>
                  </a:lnTo>
                </a:path>
              </a:pathLst>
            </a:custGeom>
            <a:ln w="104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804671" y="1333794"/>
              <a:ext cx="544830" cy="1558290"/>
            </a:xfrm>
            <a:custGeom>
              <a:avLst/>
              <a:gdLst/>
              <a:ahLst/>
              <a:cxnLst/>
              <a:rect l="l" t="t" r="r" b="b"/>
              <a:pathLst>
                <a:path w="544830" h="1558289">
                  <a:moveTo>
                    <a:pt x="539483" y="0"/>
                  </a:moveTo>
                  <a:lnTo>
                    <a:pt x="420448" y="0"/>
                  </a:lnTo>
                  <a:lnTo>
                    <a:pt x="416762" y="1494"/>
                  </a:lnTo>
                  <a:lnTo>
                    <a:pt x="1526" y="416201"/>
                  </a:lnTo>
                  <a:lnTo>
                    <a:pt x="0" y="419883"/>
                  </a:lnTo>
                  <a:lnTo>
                    <a:pt x="0" y="1552738"/>
                  </a:lnTo>
                  <a:lnTo>
                    <a:pt x="5210" y="1557942"/>
                  </a:lnTo>
                  <a:lnTo>
                    <a:pt x="124248" y="1557942"/>
                  </a:lnTo>
                  <a:lnTo>
                    <a:pt x="127934" y="1556418"/>
                  </a:lnTo>
                  <a:lnTo>
                    <a:pt x="131618" y="1552738"/>
                  </a:lnTo>
                  <a:lnTo>
                    <a:pt x="10421" y="1552738"/>
                  </a:lnTo>
                  <a:lnTo>
                    <a:pt x="5210" y="1547534"/>
                  </a:lnTo>
                  <a:lnTo>
                    <a:pt x="10421" y="1547534"/>
                  </a:lnTo>
                  <a:lnTo>
                    <a:pt x="10421" y="425112"/>
                  </a:lnTo>
                  <a:lnTo>
                    <a:pt x="5210" y="425112"/>
                  </a:lnTo>
                  <a:lnTo>
                    <a:pt x="5210" y="414707"/>
                  </a:lnTo>
                  <a:lnTo>
                    <a:pt x="17763" y="414707"/>
                  </a:lnTo>
                  <a:lnTo>
                    <a:pt x="422585" y="10405"/>
                  </a:lnTo>
                  <a:lnTo>
                    <a:pt x="420448" y="10405"/>
                  </a:lnTo>
                  <a:lnTo>
                    <a:pt x="424134" y="8857"/>
                  </a:lnTo>
                  <a:lnTo>
                    <a:pt x="528424" y="8857"/>
                  </a:lnTo>
                  <a:lnTo>
                    <a:pt x="535797" y="1494"/>
                  </a:lnTo>
                  <a:lnTo>
                    <a:pt x="540994" y="1494"/>
                  </a:lnTo>
                  <a:lnTo>
                    <a:pt x="539483" y="0"/>
                  </a:lnTo>
                  <a:close/>
                </a:path>
                <a:path w="544830" h="1558289">
                  <a:moveTo>
                    <a:pt x="10421" y="1547534"/>
                  </a:moveTo>
                  <a:lnTo>
                    <a:pt x="5210" y="1547534"/>
                  </a:lnTo>
                  <a:lnTo>
                    <a:pt x="10421" y="1552738"/>
                  </a:lnTo>
                  <a:lnTo>
                    <a:pt x="10421" y="1547534"/>
                  </a:lnTo>
                  <a:close/>
                </a:path>
                <a:path w="544830" h="1558289">
                  <a:moveTo>
                    <a:pt x="119039" y="1547534"/>
                  </a:moveTo>
                  <a:lnTo>
                    <a:pt x="10421" y="1547534"/>
                  </a:lnTo>
                  <a:lnTo>
                    <a:pt x="10421" y="1552738"/>
                  </a:lnTo>
                  <a:lnTo>
                    <a:pt x="119039" y="1552738"/>
                  </a:lnTo>
                  <a:lnTo>
                    <a:pt x="119039" y="1547534"/>
                  </a:lnTo>
                  <a:close/>
                </a:path>
                <a:path w="544830" h="1558289">
                  <a:moveTo>
                    <a:pt x="129462" y="419883"/>
                  </a:moveTo>
                  <a:lnTo>
                    <a:pt x="119039" y="419883"/>
                  </a:lnTo>
                  <a:lnTo>
                    <a:pt x="119039" y="1552738"/>
                  </a:lnTo>
                  <a:lnTo>
                    <a:pt x="129462" y="1552738"/>
                  </a:lnTo>
                  <a:lnTo>
                    <a:pt x="129462" y="1549058"/>
                  </a:lnTo>
                  <a:lnTo>
                    <a:pt x="120567" y="1549058"/>
                  </a:lnTo>
                  <a:lnTo>
                    <a:pt x="129462" y="1540175"/>
                  </a:lnTo>
                  <a:lnTo>
                    <a:pt x="129462" y="425112"/>
                  </a:lnTo>
                  <a:lnTo>
                    <a:pt x="124248" y="425112"/>
                  </a:lnTo>
                  <a:lnTo>
                    <a:pt x="127934" y="423565"/>
                  </a:lnTo>
                  <a:lnTo>
                    <a:pt x="129460" y="422041"/>
                  </a:lnTo>
                  <a:lnTo>
                    <a:pt x="129462" y="419883"/>
                  </a:lnTo>
                  <a:close/>
                </a:path>
                <a:path w="544830" h="1558289">
                  <a:moveTo>
                    <a:pt x="534301" y="1135847"/>
                  </a:moveTo>
                  <a:lnTo>
                    <a:pt x="129462" y="1540175"/>
                  </a:lnTo>
                  <a:lnTo>
                    <a:pt x="129462" y="1552738"/>
                  </a:lnTo>
                  <a:lnTo>
                    <a:pt x="131618" y="1552738"/>
                  </a:lnTo>
                  <a:lnTo>
                    <a:pt x="543169" y="1141711"/>
                  </a:lnTo>
                  <a:lnTo>
                    <a:pt x="544718" y="1138029"/>
                  </a:lnTo>
                  <a:lnTo>
                    <a:pt x="534301" y="1138029"/>
                  </a:lnTo>
                  <a:lnTo>
                    <a:pt x="534301" y="1135847"/>
                  </a:lnTo>
                  <a:close/>
                </a:path>
                <a:path w="544830" h="1558289">
                  <a:moveTo>
                    <a:pt x="129462" y="1540175"/>
                  </a:moveTo>
                  <a:lnTo>
                    <a:pt x="120567" y="1549058"/>
                  </a:lnTo>
                  <a:lnTo>
                    <a:pt x="124248" y="1547534"/>
                  </a:lnTo>
                  <a:lnTo>
                    <a:pt x="129462" y="1547534"/>
                  </a:lnTo>
                  <a:lnTo>
                    <a:pt x="129462" y="1540175"/>
                  </a:lnTo>
                  <a:close/>
                </a:path>
                <a:path w="544830" h="1558289">
                  <a:moveTo>
                    <a:pt x="129462" y="1547534"/>
                  </a:moveTo>
                  <a:lnTo>
                    <a:pt x="124248" y="1547534"/>
                  </a:lnTo>
                  <a:lnTo>
                    <a:pt x="120567" y="1549058"/>
                  </a:lnTo>
                  <a:lnTo>
                    <a:pt x="129462" y="1549058"/>
                  </a:lnTo>
                  <a:lnTo>
                    <a:pt x="129462" y="1547534"/>
                  </a:lnTo>
                  <a:close/>
                </a:path>
                <a:path w="544830" h="1558289">
                  <a:moveTo>
                    <a:pt x="535797" y="1134353"/>
                  </a:moveTo>
                  <a:lnTo>
                    <a:pt x="534301" y="1135847"/>
                  </a:lnTo>
                  <a:lnTo>
                    <a:pt x="534301" y="1138029"/>
                  </a:lnTo>
                  <a:lnTo>
                    <a:pt x="535797" y="1134353"/>
                  </a:lnTo>
                  <a:close/>
                </a:path>
                <a:path w="544830" h="1558289">
                  <a:moveTo>
                    <a:pt x="544718" y="1134353"/>
                  </a:moveTo>
                  <a:lnTo>
                    <a:pt x="535797" y="1134353"/>
                  </a:lnTo>
                  <a:lnTo>
                    <a:pt x="534301" y="1138029"/>
                  </a:lnTo>
                  <a:lnTo>
                    <a:pt x="544718" y="1138029"/>
                  </a:lnTo>
                  <a:lnTo>
                    <a:pt x="544718" y="1134353"/>
                  </a:lnTo>
                  <a:close/>
                </a:path>
                <a:path w="544830" h="1558289">
                  <a:moveTo>
                    <a:pt x="540994" y="1494"/>
                  </a:moveTo>
                  <a:lnTo>
                    <a:pt x="535797" y="1494"/>
                  </a:lnTo>
                  <a:lnTo>
                    <a:pt x="543169" y="8857"/>
                  </a:lnTo>
                  <a:lnTo>
                    <a:pt x="534301" y="17714"/>
                  </a:lnTo>
                  <a:lnTo>
                    <a:pt x="534301" y="1135847"/>
                  </a:lnTo>
                  <a:lnTo>
                    <a:pt x="535797" y="1134353"/>
                  </a:lnTo>
                  <a:lnTo>
                    <a:pt x="544718" y="1134353"/>
                  </a:lnTo>
                  <a:lnTo>
                    <a:pt x="544718" y="5175"/>
                  </a:lnTo>
                  <a:lnTo>
                    <a:pt x="540994" y="1494"/>
                  </a:lnTo>
                  <a:close/>
                </a:path>
                <a:path w="544830" h="1558289">
                  <a:moveTo>
                    <a:pt x="17763" y="414707"/>
                  </a:moveTo>
                  <a:lnTo>
                    <a:pt x="5210" y="414707"/>
                  </a:lnTo>
                  <a:lnTo>
                    <a:pt x="5210" y="425112"/>
                  </a:lnTo>
                  <a:lnTo>
                    <a:pt x="10421" y="425112"/>
                  </a:lnTo>
                  <a:lnTo>
                    <a:pt x="10421" y="423565"/>
                  </a:lnTo>
                  <a:lnTo>
                    <a:pt x="8894" y="423565"/>
                  </a:lnTo>
                  <a:lnTo>
                    <a:pt x="10421" y="419883"/>
                  </a:lnTo>
                  <a:lnTo>
                    <a:pt x="12581" y="419883"/>
                  </a:lnTo>
                  <a:lnTo>
                    <a:pt x="17763" y="414707"/>
                  </a:lnTo>
                  <a:close/>
                </a:path>
                <a:path w="544830" h="1558289">
                  <a:moveTo>
                    <a:pt x="122063" y="414707"/>
                  </a:moveTo>
                  <a:lnTo>
                    <a:pt x="17763" y="414707"/>
                  </a:lnTo>
                  <a:lnTo>
                    <a:pt x="10421" y="422041"/>
                  </a:lnTo>
                  <a:lnTo>
                    <a:pt x="10421" y="425112"/>
                  </a:lnTo>
                  <a:lnTo>
                    <a:pt x="119039" y="425112"/>
                  </a:lnTo>
                  <a:lnTo>
                    <a:pt x="119039" y="419883"/>
                  </a:lnTo>
                  <a:lnTo>
                    <a:pt x="131620" y="419883"/>
                  </a:lnTo>
                  <a:lnTo>
                    <a:pt x="135307" y="416201"/>
                  </a:lnTo>
                  <a:lnTo>
                    <a:pt x="120567" y="416201"/>
                  </a:lnTo>
                  <a:lnTo>
                    <a:pt x="122063" y="414707"/>
                  </a:lnTo>
                  <a:close/>
                </a:path>
                <a:path w="544830" h="1558289">
                  <a:moveTo>
                    <a:pt x="129462" y="422041"/>
                  </a:moveTo>
                  <a:lnTo>
                    <a:pt x="127934" y="423565"/>
                  </a:lnTo>
                  <a:lnTo>
                    <a:pt x="124248" y="425112"/>
                  </a:lnTo>
                  <a:lnTo>
                    <a:pt x="129462" y="425112"/>
                  </a:lnTo>
                  <a:lnTo>
                    <a:pt x="129462" y="422041"/>
                  </a:lnTo>
                  <a:close/>
                </a:path>
                <a:path w="544830" h="1558289">
                  <a:moveTo>
                    <a:pt x="10421" y="419883"/>
                  </a:moveTo>
                  <a:lnTo>
                    <a:pt x="8894" y="423565"/>
                  </a:lnTo>
                  <a:lnTo>
                    <a:pt x="10421" y="422041"/>
                  </a:lnTo>
                  <a:lnTo>
                    <a:pt x="10421" y="419883"/>
                  </a:lnTo>
                  <a:close/>
                </a:path>
                <a:path w="544830" h="1558289">
                  <a:moveTo>
                    <a:pt x="10421" y="422041"/>
                  </a:moveTo>
                  <a:lnTo>
                    <a:pt x="8894" y="423565"/>
                  </a:lnTo>
                  <a:lnTo>
                    <a:pt x="10421" y="423565"/>
                  </a:lnTo>
                  <a:lnTo>
                    <a:pt x="10421" y="422041"/>
                  </a:lnTo>
                  <a:close/>
                </a:path>
                <a:path w="544830" h="1558289">
                  <a:moveTo>
                    <a:pt x="12581" y="419883"/>
                  </a:moveTo>
                  <a:lnTo>
                    <a:pt x="10421" y="419883"/>
                  </a:lnTo>
                  <a:lnTo>
                    <a:pt x="10421" y="422041"/>
                  </a:lnTo>
                  <a:lnTo>
                    <a:pt x="12581" y="419883"/>
                  </a:lnTo>
                  <a:close/>
                </a:path>
                <a:path w="544830" h="1558289">
                  <a:moveTo>
                    <a:pt x="131620" y="419883"/>
                  </a:moveTo>
                  <a:lnTo>
                    <a:pt x="129462" y="419883"/>
                  </a:lnTo>
                  <a:lnTo>
                    <a:pt x="129462" y="422041"/>
                  </a:lnTo>
                  <a:lnTo>
                    <a:pt x="131620" y="419883"/>
                  </a:lnTo>
                  <a:close/>
                </a:path>
                <a:path w="544830" h="1558289">
                  <a:moveTo>
                    <a:pt x="535797" y="1494"/>
                  </a:moveTo>
                  <a:lnTo>
                    <a:pt x="120567" y="416201"/>
                  </a:lnTo>
                  <a:lnTo>
                    <a:pt x="124248" y="414707"/>
                  </a:lnTo>
                  <a:lnTo>
                    <a:pt x="136803" y="414707"/>
                  </a:lnTo>
                  <a:lnTo>
                    <a:pt x="534301" y="17714"/>
                  </a:lnTo>
                  <a:lnTo>
                    <a:pt x="534301" y="5175"/>
                  </a:lnTo>
                  <a:lnTo>
                    <a:pt x="539483" y="5175"/>
                  </a:lnTo>
                  <a:lnTo>
                    <a:pt x="535797" y="1494"/>
                  </a:lnTo>
                  <a:close/>
                </a:path>
                <a:path w="544830" h="1558289">
                  <a:moveTo>
                    <a:pt x="136803" y="414707"/>
                  </a:moveTo>
                  <a:lnTo>
                    <a:pt x="124248" y="414707"/>
                  </a:lnTo>
                  <a:lnTo>
                    <a:pt x="120567" y="416201"/>
                  </a:lnTo>
                  <a:lnTo>
                    <a:pt x="135307" y="416201"/>
                  </a:lnTo>
                  <a:lnTo>
                    <a:pt x="136803" y="414707"/>
                  </a:lnTo>
                  <a:close/>
                </a:path>
                <a:path w="544830" h="1558289">
                  <a:moveTo>
                    <a:pt x="534301" y="5175"/>
                  </a:moveTo>
                  <a:lnTo>
                    <a:pt x="534301" y="17714"/>
                  </a:lnTo>
                  <a:lnTo>
                    <a:pt x="541619" y="10405"/>
                  </a:lnTo>
                  <a:lnTo>
                    <a:pt x="539483" y="10405"/>
                  </a:lnTo>
                  <a:lnTo>
                    <a:pt x="534301" y="5175"/>
                  </a:lnTo>
                  <a:close/>
                </a:path>
                <a:path w="544830" h="1558289">
                  <a:moveTo>
                    <a:pt x="424134" y="8857"/>
                  </a:moveTo>
                  <a:lnTo>
                    <a:pt x="420448" y="10405"/>
                  </a:lnTo>
                  <a:lnTo>
                    <a:pt x="422585" y="10405"/>
                  </a:lnTo>
                  <a:lnTo>
                    <a:pt x="424134" y="8857"/>
                  </a:lnTo>
                  <a:close/>
                </a:path>
                <a:path w="544830" h="1558289">
                  <a:moveTo>
                    <a:pt x="528424" y="8857"/>
                  </a:moveTo>
                  <a:lnTo>
                    <a:pt x="424134" y="8857"/>
                  </a:lnTo>
                  <a:lnTo>
                    <a:pt x="422585" y="10405"/>
                  </a:lnTo>
                  <a:lnTo>
                    <a:pt x="526874" y="10405"/>
                  </a:lnTo>
                  <a:lnTo>
                    <a:pt x="528424" y="8857"/>
                  </a:lnTo>
                  <a:close/>
                </a:path>
                <a:path w="544830" h="1558289">
                  <a:moveTo>
                    <a:pt x="539483" y="5175"/>
                  </a:moveTo>
                  <a:lnTo>
                    <a:pt x="534301" y="5175"/>
                  </a:lnTo>
                  <a:lnTo>
                    <a:pt x="539483" y="10405"/>
                  </a:lnTo>
                  <a:lnTo>
                    <a:pt x="541619" y="10405"/>
                  </a:lnTo>
                  <a:lnTo>
                    <a:pt x="543169" y="8857"/>
                  </a:lnTo>
                  <a:lnTo>
                    <a:pt x="539483" y="5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8640" y="1864766"/>
            <a:ext cx="2398861" cy="187525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9349" y="1224292"/>
            <a:ext cx="6405592" cy="445808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6913">
              <a:spcBef>
                <a:spcPts val="120"/>
              </a:spcBef>
              <a:tabLst>
                <a:tab pos="4044646" algn="l"/>
              </a:tabLst>
            </a:pPr>
            <a:r>
              <a:rPr sz="4195" baseline="2645" dirty="0">
                <a:latin typeface="Arial MT"/>
                <a:cs typeface="Arial MT"/>
              </a:rPr>
              <a:t>Convolution</a:t>
            </a:r>
            <a:r>
              <a:rPr sz="4195" spc="-69" baseline="2645" dirty="0">
                <a:latin typeface="Arial MT"/>
                <a:cs typeface="Arial MT"/>
              </a:rPr>
              <a:t> </a:t>
            </a:r>
            <a:r>
              <a:rPr sz="4195" spc="-20" baseline="2645" dirty="0">
                <a:latin typeface="Arial MT"/>
                <a:cs typeface="Arial MT"/>
              </a:rPr>
              <a:t>Layers</a:t>
            </a:r>
            <a:r>
              <a:rPr sz="4195" baseline="2645" dirty="0">
                <a:latin typeface="Arial MT"/>
                <a:cs typeface="Arial MT"/>
              </a:rPr>
              <a:t>	</a:t>
            </a:r>
            <a:r>
              <a:rPr sz="2797" dirty="0">
                <a:latin typeface="Arial MT"/>
                <a:cs typeface="Arial MT"/>
              </a:rPr>
              <a:t>Pooling</a:t>
            </a:r>
            <a:r>
              <a:rPr sz="2797" spc="-47" dirty="0">
                <a:latin typeface="Arial MT"/>
                <a:cs typeface="Arial MT"/>
              </a:rPr>
              <a:t> </a:t>
            </a:r>
            <a:r>
              <a:rPr sz="2797" spc="-13" dirty="0">
                <a:latin typeface="Arial MT"/>
                <a:cs typeface="Arial MT"/>
              </a:rPr>
              <a:t>Layers</a:t>
            </a:r>
            <a:endParaRPr sz="2797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81549" y="1903253"/>
            <a:ext cx="413509" cy="844426"/>
          </a:xfrm>
          <a:prstGeom prst="rect">
            <a:avLst/>
          </a:prstGeom>
          <a:solidFill>
            <a:srgbClr val="E7E6E6"/>
          </a:solidFill>
          <a:ln w="6372">
            <a:solidFill>
              <a:srgbClr val="44536A"/>
            </a:solidFill>
          </a:ln>
        </p:spPr>
        <p:txBody>
          <a:bodyPr vert="horz" wrap="square" lIns="0" tIns="166588" rIns="0" bIns="0" rtlCol="0">
            <a:spAutoFit/>
          </a:bodyPr>
          <a:lstStyle/>
          <a:p>
            <a:pPr>
              <a:spcBef>
                <a:spcPts val="1312"/>
              </a:spcBef>
            </a:pPr>
            <a:endParaRPr sz="219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97" spc="-67" dirty="0">
                <a:latin typeface="Calibri"/>
                <a:cs typeface="Calibri"/>
              </a:rPr>
              <a:t>x</a:t>
            </a:r>
            <a:endParaRPr sz="2197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19574" y="2213122"/>
            <a:ext cx="413509" cy="550722"/>
          </a:xfrm>
          <a:prstGeom prst="rect">
            <a:avLst/>
          </a:prstGeom>
          <a:solidFill>
            <a:srgbClr val="E7E6E6"/>
          </a:solidFill>
          <a:ln w="6378">
            <a:solidFill>
              <a:srgbClr val="44536A"/>
            </a:solidFill>
          </a:ln>
        </p:spPr>
        <p:txBody>
          <a:bodyPr vert="horz" wrap="square" lIns="0" tIns="210560" rIns="0" bIns="0" rtlCol="0">
            <a:spAutoFit/>
          </a:bodyPr>
          <a:lstStyle/>
          <a:p>
            <a:pPr marL="126844">
              <a:spcBef>
                <a:spcPts val="1658"/>
              </a:spcBef>
            </a:pPr>
            <a:r>
              <a:rPr sz="2197" spc="-67" dirty="0">
                <a:latin typeface="Calibri"/>
                <a:cs typeface="Calibri"/>
              </a:rPr>
              <a:t>h</a:t>
            </a:r>
            <a:endParaRPr sz="2197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94501" y="3011218"/>
            <a:ext cx="833784" cy="253687"/>
          </a:xfrm>
          <a:custGeom>
            <a:avLst/>
            <a:gdLst/>
            <a:ahLst/>
            <a:cxnLst/>
            <a:rect l="l" t="t" r="r" b="b"/>
            <a:pathLst>
              <a:path w="626109" h="190500">
                <a:moveTo>
                  <a:pt x="0" y="190241"/>
                </a:moveTo>
                <a:lnTo>
                  <a:pt x="0" y="190241"/>
                </a:lnTo>
                <a:lnTo>
                  <a:pt x="625883" y="0"/>
                </a:lnTo>
              </a:path>
            </a:pathLst>
          </a:custGeom>
          <a:ln w="6408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5" name="object 15"/>
          <p:cNvSpPr/>
          <p:nvPr/>
        </p:nvSpPr>
        <p:spPr>
          <a:xfrm>
            <a:off x="8694500" y="1911985"/>
            <a:ext cx="841395" cy="306115"/>
          </a:xfrm>
          <a:custGeom>
            <a:avLst/>
            <a:gdLst/>
            <a:ahLst/>
            <a:cxnLst/>
            <a:rect l="l" t="t" r="r" b="b"/>
            <a:pathLst>
              <a:path w="631825" h="229869">
                <a:moveTo>
                  <a:pt x="0" y="0"/>
                </a:moveTo>
                <a:lnTo>
                  <a:pt x="0" y="0"/>
                </a:lnTo>
                <a:lnTo>
                  <a:pt x="631277" y="229243"/>
                </a:lnTo>
              </a:path>
            </a:pathLst>
          </a:custGeom>
          <a:ln w="6407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16" name="object 16"/>
          <p:cNvGrpSpPr/>
          <p:nvPr/>
        </p:nvGrpSpPr>
        <p:grpSpPr>
          <a:xfrm>
            <a:off x="10823121" y="2386010"/>
            <a:ext cx="421966" cy="453254"/>
            <a:chOff x="8121717" y="1791717"/>
            <a:chExt cx="316865" cy="340360"/>
          </a:xfrm>
        </p:grpSpPr>
        <p:sp>
          <p:nvSpPr>
            <p:cNvPr id="17" name="object 17"/>
            <p:cNvSpPr/>
            <p:nvPr/>
          </p:nvSpPr>
          <p:spPr>
            <a:xfrm>
              <a:off x="8125209" y="1795210"/>
              <a:ext cx="309880" cy="333375"/>
            </a:xfrm>
            <a:custGeom>
              <a:avLst/>
              <a:gdLst/>
              <a:ahLst/>
              <a:cxnLst/>
              <a:rect l="l" t="t" r="r" b="b"/>
              <a:pathLst>
                <a:path w="309879" h="333375">
                  <a:moveTo>
                    <a:pt x="309626" y="0"/>
                  </a:moveTo>
                  <a:lnTo>
                    <a:pt x="0" y="0"/>
                  </a:lnTo>
                  <a:lnTo>
                    <a:pt x="0" y="333135"/>
                  </a:lnTo>
                  <a:lnTo>
                    <a:pt x="309626" y="333135"/>
                  </a:lnTo>
                  <a:lnTo>
                    <a:pt x="30962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8125209" y="1795210"/>
              <a:ext cx="309880" cy="333375"/>
            </a:xfrm>
            <a:custGeom>
              <a:avLst/>
              <a:gdLst/>
              <a:ahLst/>
              <a:cxnLst/>
              <a:rect l="l" t="t" r="r" b="b"/>
              <a:pathLst>
                <a:path w="309879" h="333375">
                  <a:moveTo>
                    <a:pt x="0" y="0"/>
                  </a:moveTo>
                  <a:lnTo>
                    <a:pt x="309626" y="0"/>
                  </a:lnTo>
                  <a:lnTo>
                    <a:pt x="309626" y="333135"/>
                  </a:lnTo>
                  <a:lnTo>
                    <a:pt x="0" y="333135"/>
                  </a:lnTo>
                  <a:lnTo>
                    <a:pt x="0" y="0"/>
                  </a:lnTo>
                  <a:close/>
                </a:path>
              </a:pathLst>
            </a:custGeom>
            <a:ln w="6388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948477" y="2403096"/>
            <a:ext cx="144601" cy="35945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2197" spc="-67" dirty="0">
                <a:latin typeface="Calibri"/>
                <a:cs typeface="Calibri"/>
              </a:rPr>
              <a:t>s</a:t>
            </a:r>
            <a:endParaRPr sz="2197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14468" y="2213122"/>
            <a:ext cx="922574" cy="799113"/>
          </a:xfrm>
          <a:custGeom>
            <a:avLst/>
            <a:gdLst/>
            <a:ahLst/>
            <a:cxnLst/>
            <a:rect l="l" t="t" r="r" b="b"/>
            <a:pathLst>
              <a:path w="692784" h="600075">
                <a:moveTo>
                  <a:pt x="0" y="0"/>
                </a:moveTo>
                <a:lnTo>
                  <a:pt x="0" y="0"/>
                </a:lnTo>
                <a:lnTo>
                  <a:pt x="692334" y="140394"/>
                </a:lnTo>
              </a:path>
              <a:path w="692784" h="600075">
                <a:moveTo>
                  <a:pt x="13353" y="599802"/>
                </a:moveTo>
                <a:lnTo>
                  <a:pt x="13353" y="599802"/>
                </a:lnTo>
                <a:lnTo>
                  <a:pt x="683389" y="459381"/>
                </a:lnTo>
              </a:path>
            </a:pathLst>
          </a:custGeom>
          <a:ln w="639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 txBox="1"/>
          <p:nvPr/>
        </p:nvSpPr>
        <p:spPr>
          <a:xfrm>
            <a:off x="8189930" y="1207886"/>
            <a:ext cx="3780779" cy="445808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6913">
              <a:spcBef>
                <a:spcPts val="120"/>
              </a:spcBef>
            </a:pPr>
            <a:r>
              <a:rPr sz="2797" spc="-13" dirty="0">
                <a:latin typeface="Arial MT"/>
                <a:cs typeface="Arial MT"/>
              </a:rPr>
              <a:t>Fully-</a:t>
            </a:r>
            <a:r>
              <a:rPr sz="2797" dirty="0">
                <a:latin typeface="Arial MT"/>
                <a:cs typeface="Arial MT"/>
              </a:rPr>
              <a:t>Connected</a:t>
            </a:r>
            <a:r>
              <a:rPr sz="2797" spc="-7" dirty="0">
                <a:latin typeface="Arial MT"/>
                <a:cs typeface="Arial MT"/>
              </a:rPr>
              <a:t> </a:t>
            </a:r>
            <a:r>
              <a:rPr sz="2797" spc="-13" dirty="0">
                <a:latin typeface="Arial MT"/>
                <a:cs typeface="Arial MT"/>
              </a:rPr>
              <a:t>Layers</a:t>
            </a:r>
            <a:endParaRPr sz="2797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9693" y="4582582"/>
            <a:ext cx="1838721" cy="150994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8086935" y="3942715"/>
            <a:ext cx="3616728" cy="531196"/>
          </a:xfrm>
          <a:prstGeom prst="rect">
            <a:avLst/>
          </a:prstGeom>
          <a:ln w="25422">
            <a:solidFill>
              <a:srgbClr val="C00000"/>
            </a:solidFill>
          </a:ln>
        </p:spPr>
        <p:txBody>
          <a:bodyPr vert="horz" wrap="square" lIns="0" tIns="99783" rIns="0" bIns="0" rtlCol="0">
            <a:spAutoFit/>
          </a:bodyPr>
          <a:lstStyle/>
          <a:p>
            <a:pPr marL="263836">
              <a:spcBef>
                <a:spcPts val="786"/>
              </a:spcBef>
            </a:pPr>
            <a:r>
              <a:rPr sz="2797" dirty="0">
                <a:latin typeface="Arial MT"/>
                <a:cs typeface="Arial MT"/>
              </a:rPr>
              <a:t>Activation</a:t>
            </a:r>
            <a:r>
              <a:rPr sz="2797" spc="-120" dirty="0">
                <a:latin typeface="Arial MT"/>
                <a:cs typeface="Arial MT"/>
              </a:rPr>
              <a:t> </a:t>
            </a:r>
            <a:r>
              <a:rPr sz="2797" spc="-13" dirty="0">
                <a:latin typeface="Arial MT"/>
                <a:cs typeface="Arial MT"/>
              </a:rPr>
              <a:t>Functions</a:t>
            </a:r>
            <a:endParaRPr sz="2797">
              <a:latin typeface="Arial MT"/>
              <a:cs typeface="Arial MT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518724" y="615241"/>
            <a:ext cx="14855899" cy="666909"/>
          </a:xfrm>
          <a:prstGeom prst="rect">
            <a:avLst/>
          </a:prstGeom>
        </p:spPr>
        <p:txBody>
          <a:bodyPr vert="horz" wrap="square" lIns="0" tIns="21141" rIns="0" bIns="0" rtlCol="0" anchor="t">
            <a:spAutoFit/>
          </a:bodyPr>
          <a:lstStyle/>
          <a:p>
            <a:pPr marL="16913">
              <a:spcBef>
                <a:spcPts val="166"/>
              </a:spcBef>
            </a:pPr>
            <a:r>
              <a:rPr sz="4195" dirty="0"/>
              <a:t>Components</a:t>
            </a:r>
            <a:r>
              <a:rPr sz="4195" spc="160" dirty="0"/>
              <a:t> </a:t>
            </a:r>
            <a:r>
              <a:rPr sz="4195" dirty="0"/>
              <a:t>of</a:t>
            </a:r>
            <a:r>
              <a:rPr sz="4195" spc="33" dirty="0"/>
              <a:t> </a:t>
            </a:r>
            <a:r>
              <a:rPr sz="4195" spc="-27" dirty="0"/>
              <a:t>CNNs</a:t>
            </a:r>
            <a:endParaRPr sz="4195" dirty="0"/>
          </a:p>
        </p:txBody>
      </p:sp>
      <p:sp>
        <p:nvSpPr>
          <p:cNvPr id="27" name="object 27"/>
          <p:cNvSpPr txBox="1"/>
          <p:nvPr/>
        </p:nvSpPr>
        <p:spPr>
          <a:xfrm>
            <a:off x="1309911" y="4508284"/>
            <a:ext cx="5412831" cy="1172060"/>
          </a:xfrm>
          <a:prstGeom prst="rect">
            <a:avLst/>
          </a:prstGeom>
        </p:spPr>
        <p:txBody>
          <a:bodyPr vert="horz" wrap="square" lIns="0" tIns="43125" rIns="0" bIns="0" rtlCol="0">
            <a:spAutoFit/>
          </a:bodyPr>
          <a:lstStyle/>
          <a:p>
            <a:pPr marL="16913" marR="6765">
              <a:lnSpc>
                <a:spcPts val="4421"/>
              </a:lnSpc>
              <a:spcBef>
                <a:spcPts val="338"/>
              </a:spcBef>
            </a:pPr>
            <a:r>
              <a:rPr sz="3729" b="1" dirty="0">
                <a:latin typeface="Arial"/>
                <a:cs typeface="Arial"/>
              </a:rPr>
              <a:t>Goal:</a:t>
            </a:r>
            <a:r>
              <a:rPr sz="3729" b="1" spc="-87" dirty="0">
                <a:latin typeface="Arial"/>
                <a:cs typeface="Arial"/>
              </a:rPr>
              <a:t> </a:t>
            </a:r>
            <a:r>
              <a:rPr sz="3729" b="1" dirty="0">
                <a:latin typeface="Arial"/>
                <a:cs typeface="Arial"/>
              </a:rPr>
              <a:t>Introduce</a:t>
            </a:r>
            <a:r>
              <a:rPr sz="3729" b="1" spc="-73" dirty="0">
                <a:latin typeface="Arial"/>
                <a:cs typeface="Arial"/>
              </a:rPr>
              <a:t> </a:t>
            </a:r>
            <a:r>
              <a:rPr sz="3729" b="1" spc="-27" dirty="0">
                <a:solidFill>
                  <a:srgbClr val="C00000"/>
                </a:solidFill>
                <a:latin typeface="Arial"/>
                <a:cs typeface="Arial"/>
              </a:rPr>
              <a:t>non-</a:t>
            </a:r>
            <a:r>
              <a:rPr sz="3729" b="1" dirty="0">
                <a:solidFill>
                  <a:srgbClr val="C00000"/>
                </a:solidFill>
                <a:latin typeface="Arial"/>
                <a:cs typeface="Arial"/>
              </a:rPr>
              <a:t>linearities</a:t>
            </a:r>
            <a:r>
              <a:rPr sz="3729" b="1" spc="-4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729" b="1" dirty="0">
                <a:latin typeface="Arial"/>
                <a:cs typeface="Arial"/>
              </a:rPr>
              <a:t>to</a:t>
            </a:r>
            <a:r>
              <a:rPr sz="3729" b="1" spc="-47" dirty="0">
                <a:latin typeface="Arial"/>
                <a:cs typeface="Arial"/>
              </a:rPr>
              <a:t> </a:t>
            </a:r>
            <a:r>
              <a:rPr sz="3729" b="1" dirty="0">
                <a:latin typeface="Arial"/>
                <a:cs typeface="Arial"/>
              </a:rPr>
              <a:t>our</a:t>
            </a:r>
            <a:r>
              <a:rPr sz="3729" b="1" spc="-67" dirty="0">
                <a:latin typeface="Arial"/>
                <a:cs typeface="Arial"/>
              </a:rPr>
              <a:t> </a:t>
            </a:r>
            <a:r>
              <a:rPr sz="3729" b="1" spc="-13" dirty="0">
                <a:latin typeface="Arial"/>
                <a:cs typeface="Arial"/>
              </a:rPr>
              <a:t>model!</a:t>
            </a:r>
            <a:endParaRPr sz="3729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03036" y="6408787"/>
            <a:ext cx="165065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3103"/>
              </a:lnSpc>
            </a:pP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2663" spc="-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2663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spc="-67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266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0104" y="349566"/>
            <a:ext cx="14855899" cy="940966"/>
          </a:xfrm>
          <a:prstGeom prst="rect">
            <a:avLst/>
          </a:prstGeom>
        </p:spPr>
        <p:txBody>
          <a:bodyPr vert="horz" wrap="square" lIns="0" tIns="323028" rIns="0" bIns="0" rtlCol="0" anchor="t">
            <a:spAutoFit/>
          </a:bodyPr>
          <a:lstStyle/>
          <a:p>
            <a:pPr marL="399137">
              <a:spcBef>
                <a:spcPts val="173"/>
              </a:spcBef>
            </a:pPr>
            <a:r>
              <a:rPr sz="3995" spc="-27" dirty="0"/>
              <a:t>Pooling</a:t>
            </a:r>
            <a:r>
              <a:rPr sz="3995" spc="-366" dirty="0"/>
              <a:t> </a:t>
            </a:r>
            <a:r>
              <a:rPr sz="3995" spc="-160" dirty="0"/>
              <a:t>Layers:</a:t>
            </a:r>
            <a:r>
              <a:rPr sz="3995" spc="-386" dirty="0"/>
              <a:t> </a:t>
            </a:r>
            <a:r>
              <a:rPr sz="3995" spc="-87" dirty="0"/>
              <a:t>Another</a:t>
            </a:r>
            <a:r>
              <a:rPr sz="3995" spc="-406" dirty="0"/>
              <a:t> </a:t>
            </a:r>
            <a:r>
              <a:rPr sz="3995" spc="-120" dirty="0"/>
              <a:t>way</a:t>
            </a:r>
            <a:r>
              <a:rPr sz="3995" spc="-406" dirty="0"/>
              <a:t> </a:t>
            </a:r>
            <a:r>
              <a:rPr sz="3995" dirty="0"/>
              <a:t>to</a:t>
            </a:r>
            <a:r>
              <a:rPr sz="3995" spc="-380" dirty="0"/>
              <a:t> </a:t>
            </a:r>
            <a:r>
              <a:rPr sz="3995" spc="-13" dirty="0"/>
              <a:t>downsample</a:t>
            </a:r>
            <a:endParaRPr sz="399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7487" y="2040818"/>
          <a:ext cx="3226895" cy="3229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75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1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1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2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4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72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5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34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3100" b="1" spc="-305" dirty="0">
                          <a:latin typeface="Tahoma"/>
                          <a:cs typeface="Tahoma"/>
                        </a:rPr>
                        <a:t>6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34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7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34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3100" b="1" spc="-305" dirty="0">
                          <a:latin typeface="Tahoma"/>
                          <a:cs typeface="Tahoma"/>
                        </a:rPr>
                        <a:t>8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34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5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b="1" spc="-305" dirty="0">
                          <a:latin typeface="Tahoma"/>
                          <a:cs typeface="Tahoma"/>
                        </a:rPr>
                        <a:t>3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2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1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0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5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1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76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2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76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3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76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3100" b="1" spc="-305" dirty="0">
                          <a:latin typeface="Tahoma"/>
                          <a:cs typeface="Tahoma"/>
                        </a:rPr>
                        <a:t>4</a:t>
                      </a:r>
                      <a:endParaRPr sz="3100" dirty="0">
                        <a:latin typeface="Tahoma"/>
                        <a:cs typeface="Tahoma"/>
                      </a:endParaRPr>
                    </a:p>
                  </a:txBody>
                  <a:tcPr marL="0" marR="0" marT="1276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4847" y="1455316"/>
            <a:ext cx="3007880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27" dirty="0">
                <a:latin typeface="Tahoma"/>
                <a:cs typeface="Tahoma"/>
              </a:rPr>
              <a:t>Single</a:t>
            </a:r>
            <a:r>
              <a:rPr sz="3129" spc="-305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depth</a:t>
            </a:r>
            <a:r>
              <a:rPr sz="3129" spc="-353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slice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9167" y="2084121"/>
            <a:ext cx="101475" cy="3151636"/>
          </a:xfrm>
          <a:custGeom>
            <a:avLst/>
            <a:gdLst/>
            <a:ahLst/>
            <a:cxnLst/>
            <a:rect l="l" t="t" r="r" b="b"/>
            <a:pathLst>
              <a:path w="76200" h="2366645">
                <a:moveTo>
                  <a:pt x="47625" y="63500"/>
                </a:moveTo>
                <a:lnTo>
                  <a:pt x="28575" y="63500"/>
                </a:lnTo>
                <a:lnTo>
                  <a:pt x="28575" y="2366098"/>
                </a:lnTo>
                <a:lnTo>
                  <a:pt x="47625" y="2366098"/>
                </a:lnTo>
                <a:lnTo>
                  <a:pt x="47625" y="63500"/>
                </a:lnTo>
                <a:close/>
              </a:path>
              <a:path w="76200" h="2366645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366645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" name="object 6"/>
          <p:cNvSpPr txBox="1"/>
          <p:nvPr/>
        </p:nvSpPr>
        <p:spPr>
          <a:xfrm>
            <a:off x="482300" y="2341630"/>
            <a:ext cx="213943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67" dirty="0">
                <a:latin typeface="Tahoma"/>
                <a:cs typeface="Tahoma"/>
              </a:rPr>
              <a:t>x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37391" y="5653106"/>
            <a:ext cx="3297928" cy="102320"/>
          </a:xfrm>
          <a:custGeom>
            <a:avLst/>
            <a:gdLst/>
            <a:ahLst/>
            <a:cxnLst/>
            <a:rect l="l" t="t" r="r" b="b"/>
            <a:pathLst>
              <a:path w="2476500" h="76835">
                <a:moveTo>
                  <a:pt x="2400300" y="0"/>
                </a:moveTo>
                <a:lnTo>
                  <a:pt x="2400300" y="76263"/>
                </a:lnTo>
                <a:lnTo>
                  <a:pt x="2457462" y="47663"/>
                </a:lnTo>
                <a:lnTo>
                  <a:pt x="2413000" y="47663"/>
                </a:lnTo>
                <a:lnTo>
                  <a:pt x="2413000" y="28600"/>
                </a:lnTo>
                <a:lnTo>
                  <a:pt x="2457443" y="28600"/>
                </a:lnTo>
                <a:lnTo>
                  <a:pt x="2400300" y="0"/>
                </a:lnTo>
                <a:close/>
              </a:path>
              <a:path w="2476500" h="76835">
                <a:moveTo>
                  <a:pt x="2400300" y="28600"/>
                </a:moveTo>
                <a:lnTo>
                  <a:pt x="0" y="28600"/>
                </a:lnTo>
                <a:lnTo>
                  <a:pt x="0" y="47663"/>
                </a:lnTo>
                <a:lnTo>
                  <a:pt x="2400300" y="47663"/>
                </a:lnTo>
                <a:lnTo>
                  <a:pt x="2400300" y="28600"/>
                </a:lnTo>
                <a:close/>
              </a:path>
              <a:path w="2476500" h="76835">
                <a:moveTo>
                  <a:pt x="2457443" y="28600"/>
                </a:moveTo>
                <a:lnTo>
                  <a:pt x="2413000" y="28600"/>
                </a:lnTo>
                <a:lnTo>
                  <a:pt x="2413000" y="47663"/>
                </a:lnTo>
                <a:lnTo>
                  <a:pt x="2457462" y="47663"/>
                </a:lnTo>
                <a:lnTo>
                  <a:pt x="2476500" y="38138"/>
                </a:lnTo>
                <a:lnTo>
                  <a:pt x="2457443" y="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 txBox="1"/>
          <p:nvPr/>
        </p:nvSpPr>
        <p:spPr>
          <a:xfrm>
            <a:off x="3949303" y="5013849"/>
            <a:ext cx="5362093" cy="1204538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183881" marR="6765">
              <a:spcBef>
                <a:spcPts val="140"/>
              </a:spcBef>
            </a:pPr>
            <a:r>
              <a:rPr sz="2397" spc="-93" dirty="0">
                <a:latin typeface="Tahoma"/>
                <a:cs typeface="Tahoma"/>
              </a:rPr>
              <a:t>Gives</a:t>
            </a:r>
            <a:r>
              <a:rPr sz="2397" spc="-173" dirty="0">
                <a:latin typeface="Tahoma"/>
                <a:cs typeface="Tahoma"/>
              </a:rPr>
              <a:t> </a:t>
            </a:r>
            <a:r>
              <a:rPr sz="2397" b="1" spc="-152" dirty="0">
                <a:latin typeface="Tahoma"/>
                <a:cs typeface="Tahoma"/>
              </a:rPr>
              <a:t>invariance</a:t>
            </a:r>
            <a:r>
              <a:rPr sz="2397" b="1" spc="-127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to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small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spatial </a:t>
            </a:r>
            <a:r>
              <a:rPr sz="2397" spc="-67" dirty="0">
                <a:latin typeface="Tahoma"/>
                <a:cs typeface="Tahoma"/>
              </a:rPr>
              <a:t>shifts.</a:t>
            </a:r>
            <a:r>
              <a:rPr sz="2397" spc="-140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No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learnable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parameters.</a:t>
            </a:r>
            <a:endParaRPr sz="2397">
              <a:latin typeface="Tahoma"/>
              <a:cs typeface="Tahoma"/>
            </a:endParaRPr>
          </a:p>
          <a:p>
            <a:pPr marL="16913">
              <a:lnSpc>
                <a:spcPts val="3489"/>
              </a:lnSpc>
            </a:pPr>
            <a:r>
              <a:rPr sz="3129" spc="-67" dirty="0">
                <a:latin typeface="Tahoma"/>
                <a:cs typeface="Tahoma"/>
              </a:rPr>
              <a:t>y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12250" y="3617742"/>
            <a:ext cx="2707684" cy="102320"/>
          </a:xfrm>
          <a:custGeom>
            <a:avLst/>
            <a:gdLst/>
            <a:ahLst/>
            <a:cxnLst/>
            <a:rect l="l" t="t" r="r" b="b"/>
            <a:pathLst>
              <a:path w="2033270" h="76835">
                <a:moveTo>
                  <a:pt x="1956562" y="0"/>
                </a:moveTo>
                <a:lnTo>
                  <a:pt x="1956562" y="76326"/>
                </a:lnTo>
                <a:lnTo>
                  <a:pt x="2013775" y="47625"/>
                </a:lnTo>
                <a:lnTo>
                  <a:pt x="1969262" y="47625"/>
                </a:lnTo>
                <a:lnTo>
                  <a:pt x="1969262" y="28575"/>
                </a:lnTo>
                <a:lnTo>
                  <a:pt x="2013712" y="28575"/>
                </a:lnTo>
                <a:lnTo>
                  <a:pt x="1956562" y="0"/>
                </a:lnTo>
                <a:close/>
              </a:path>
              <a:path w="2033270" h="76835">
                <a:moveTo>
                  <a:pt x="195656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956562" y="47625"/>
                </a:lnTo>
                <a:lnTo>
                  <a:pt x="1956562" y="28575"/>
                </a:lnTo>
                <a:close/>
              </a:path>
              <a:path w="2033270" h="76835">
                <a:moveTo>
                  <a:pt x="2013712" y="28575"/>
                </a:moveTo>
                <a:lnTo>
                  <a:pt x="1969262" y="28575"/>
                </a:lnTo>
                <a:lnTo>
                  <a:pt x="1969262" y="47625"/>
                </a:lnTo>
                <a:lnTo>
                  <a:pt x="2013775" y="47625"/>
                </a:lnTo>
                <a:lnTo>
                  <a:pt x="2032762" y="38100"/>
                </a:lnTo>
                <a:lnTo>
                  <a:pt x="201371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0" name="object 10"/>
          <p:cNvSpPr txBox="1"/>
          <p:nvPr/>
        </p:nvSpPr>
        <p:spPr>
          <a:xfrm>
            <a:off x="4993307" y="2641894"/>
            <a:ext cx="2934311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spc="-107" dirty="0">
                <a:latin typeface="Tahoma"/>
                <a:cs typeface="Tahoma"/>
              </a:rPr>
              <a:t>Max</a:t>
            </a:r>
            <a:r>
              <a:rPr sz="2397" spc="-240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pooling</a:t>
            </a:r>
            <a:r>
              <a:rPr sz="2397" spc="-193" dirty="0">
                <a:latin typeface="Tahoma"/>
                <a:cs typeface="Tahoma"/>
              </a:rPr>
              <a:t> </a:t>
            </a:r>
            <a:r>
              <a:rPr sz="2397" spc="-40" dirty="0">
                <a:latin typeface="Tahoma"/>
                <a:cs typeface="Tahoma"/>
              </a:rPr>
              <a:t>with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2x2 </a:t>
            </a:r>
            <a:r>
              <a:rPr sz="2397" spc="-53" dirty="0">
                <a:latin typeface="Tahoma"/>
                <a:cs typeface="Tahoma"/>
              </a:rPr>
              <a:t>kernel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0" dirty="0">
                <a:latin typeface="Tahoma"/>
                <a:cs typeface="Tahoma"/>
              </a:rPr>
              <a:t>size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27" dirty="0">
                <a:latin typeface="Tahoma"/>
                <a:cs typeface="Tahoma"/>
              </a:rPr>
              <a:t>and</a:t>
            </a:r>
            <a:r>
              <a:rPr sz="2397" spc="-220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stride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2</a:t>
            </a:r>
            <a:endParaRPr sz="2397"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817882" y="2796467"/>
          <a:ext cx="1613448" cy="1614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57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6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8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724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3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Tahoma"/>
                          <a:cs typeface="Tahoma"/>
                        </a:rPr>
                        <a:t>4</a:t>
                      </a:r>
                      <a:endParaRPr sz="3100">
                        <a:latin typeface="Tahoma"/>
                        <a:cs typeface="Tahoma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2937" y="1767266"/>
            <a:ext cx="681909" cy="6696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706676" y="1317141"/>
            <a:ext cx="1581314" cy="340706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2064" spc="-100" dirty="0">
                <a:latin typeface="Tahoma"/>
                <a:cs typeface="Tahoma"/>
              </a:rPr>
              <a:t>64</a:t>
            </a:r>
            <a:r>
              <a:rPr sz="2064" spc="-140" dirty="0">
                <a:latin typeface="Tahoma"/>
                <a:cs typeface="Tahoma"/>
              </a:rPr>
              <a:t> </a:t>
            </a:r>
            <a:r>
              <a:rPr sz="2064" spc="-93" dirty="0">
                <a:latin typeface="Tahoma"/>
                <a:cs typeface="Tahoma"/>
              </a:rPr>
              <a:t>x</a:t>
            </a:r>
            <a:r>
              <a:rPr sz="2064" spc="-233" dirty="0">
                <a:latin typeface="Tahoma"/>
                <a:cs typeface="Tahoma"/>
              </a:rPr>
              <a:t> </a:t>
            </a:r>
            <a:r>
              <a:rPr sz="2064" spc="-100" dirty="0">
                <a:latin typeface="Tahoma"/>
                <a:cs typeface="Tahoma"/>
              </a:rPr>
              <a:t>224</a:t>
            </a:r>
            <a:r>
              <a:rPr sz="2064" spc="-146" dirty="0">
                <a:latin typeface="Tahoma"/>
                <a:cs typeface="Tahoma"/>
              </a:rPr>
              <a:t> </a:t>
            </a:r>
            <a:r>
              <a:rPr sz="2064" spc="-93" dirty="0">
                <a:latin typeface="Tahoma"/>
                <a:cs typeface="Tahoma"/>
              </a:rPr>
              <a:t>x</a:t>
            </a:r>
            <a:r>
              <a:rPr sz="2064" spc="-226" dirty="0">
                <a:latin typeface="Tahoma"/>
                <a:cs typeface="Tahoma"/>
              </a:rPr>
              <a:t> </a:t>
            </a:r>
            <a:r>
              <a:rPr sz="2064" spc="-33" dirty="0">
                <a:latin typeface="Tahoma"/>
                <a:cs typeface="Tahoma"/>
              </a:rPr>
              <a:t>224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67487" y="1870510"/>
          <a:ext cx="3226895" cy="3229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75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1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1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2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4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5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6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7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8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2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3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2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1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0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515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72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1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2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3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4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68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4847" y="1296102"/>
            <a:ext cx="3214212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dirty="0">
                <a:latin typeface="Arial MT"/>
                <a:cs typeface="Arial MT"/>
              </a:rPr>
              <a:t>Single</a:t>
            </a:r>
            <a:r>
              <a:rPr sz="3129" spc="93" dirty="0">
                <a:latin typeface="Arial MT"/>
                <a:cs typeface="Arial MT"/>
              </a:rPr>
              <a:t> </a:t>
            </a:r>
            <a:r>
              <a:rPr sz="3129" dirty="0">
                <a:latin typeface="Arial MT"/>
                <a:cs typeface="Arial MT"/>
              </a:rPr>
              <a:t>depth</a:t>
            </a:r>
            <a:r>
              <a:rPr sz="3129" spc="93" dirty="0">
                <a:latin typeface="Arial MT"/>
                <a:cs typeface="Arial MT"/>
              </a:rPr>
              <a:t> </a:t>
            </a:r>
            <a:r>
              <a:rPr sz="3129" spc="-27" dirty="0">
                <a:latin typeface="Arial MT"/>
                <a:cs typeface="Arial MT"/>
              </a:rPr>
              <a:t>slice</a:t>
            </a:r>
            <a:endParaRPr sz="3129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9167" y="1913474"/>
            <a:ext cx="101475" cy="3151636"/>
          </a:xfrm>
          <a:custGeom>
            <a:avLst/>
            <a:gdLst/>
            <a:ahLst/>
            <a:cxnLst/>
            <a:rect l="l" t="t" r="r" b="b"/>
            <a:pathLst>
              <a:path w="76200" h="2366645">
                <a:moveTo>
                  <a:pt x="47625" y="63500"/>
                </a:moveTo>
                <a:lnTo>
                  <a:pt x="28575" y="63500"/>
                </a:lnTo>
                <a:lnTo>
                  <a:pt x="28575" y="2366137"/>
                </a:lnTo>
                <a:lnTo>
                  <a:pt x="47625" y="2366137"/>
                </a:lnTo>
                <a:lnTo>
                  <a:pt x="47625" y="63500"/>
                </a:lnTo>
                <a:close/>
              </a:path>
              <a:path w="76200" h="2366645">
                <a:moveTo>
                  <a:pt x="38100" y="0"/>
                </a:moveTo>
                <a:lnTo>
                  <a:pt x="0" y="76327"/>
                </a:lnTo>
                <a:lnTo>
                  <a:pt x="28575" y="76327"/>
                </a:lnTo>
                <a:lnTo>
                  <a:pt x="28575" y="63500"/>
                </a:lnTo>
                <a:lnTo>
                  <a:pt x="69797" y="63500"/>
                </a:lnTo>
                <a:lnTo>
                  <a:pt x="38100" y="0"/>
                </a:lnTo>
                <a:close/>
              </a:path>
              <a:path w="76200" h="2366645">
                <a:moveTo>
                  <a:pt x="69797" y="63500"/>
                </a:moveTo>
                <a:lnTo>
                  <a:pt x="47625" y="63500"/>
                </a:lnTo>
                <a:lnTo>
                  <a:pt x="47625" y="76327"/>
                </a:lnTo>
                <a:lnTo>
                  <a:pt x="76200" y="76327"/>
                </a:lnTo>
                <a:lnTo>
                  <a:pt x="69797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5" name="object 5"/>
          <p:cNvSpPr txBox="1"/>
          <p:nvPr/>
        </p:nvSpPr>
        <p:spPr>
          <a:xfrm>
            <a:off x="482300" y="2183735"/>
            <a:ext cx="235929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67" dirty="0">
                <a:latin typeface="Arial MT"/>
                <a:cs typeface="Arial MT"/>
              </a:rPr>
              <a:t>x</a:t>
            </a:r>
            <a:endParaRPr sz="3129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7391" y="5482476"/>
            <a:ext cx="3297928" cy="102320"/>
          </a:xfrm>
          <a:custGeom>
            <a:avLst/>
            <a:gdLst/>
            <a:ahLst/>
            <a:cxnLst/>
            <a:rect l="l" t="t" r="r" b="b"/>
            <a:pathLst>
              <a:path w="2476500" h="76835">
                <a:moveTo>
                  <a:pt x="2400300" y="0"/>
                </a:moveTo>
                <a:lnTo>
                  <a:pt x="2400300" y="76263"/>
                </a:lnTo>
                <a:lnTo>
                  <a:pt x="2457462" y="47663"/>
                </a:lnTo>
                <a:lnTo>
                  <a:pt x="2413000" y="47663"/>
                </a:lnTo>
                <a:lnTo>
                  <a:pt x="2413000" y="28600"/>
                </a:lnTo>
                <a:lnTo>
                  <a:pt x="2457443" y="28600"/>
                </a:lnTo>
                <a:lnTo>
                  <a:pt x="2400300" y="0"/>
                </a:lnTo>
                <a:close/>
              </a:path>
              <a:path w="2476500" h="76835">
                <a:moveTo>
                  <a:pt x="2400300" y="28600"/>
                </a:moveTo>
                <a:lnTo>
                  <a:pt x="0" y="28600"/>
                </a:lnTo>
                <a:lnTo>
                  <a:pt x="0" y="47663"/>
                </a:lnTo>
                <a:lnTo>
                  <a:pt x="2400300" y="47663"/>
                </a:lnTo>
                <a:lnTo>
                  <a:pt x="2400300" y="28600"/>
                </a:lnTo>
                <a:close/>
              </a:path>
              <a:path w="2476500" h="76835">
                <a:moveTo>
                  <a:pt x="2457443" y="28600"/>
                </a:moveTo>
                <a:lnTo>
                  <a:pt x="2413000" y="28600"/>
                </a:lnTo>
                <a:lnTo>
                  <a:pt x="2413000" y="47663"/>
                </a:lnTo>
                <a:lnTo>
                  <a:pt x="2457462" y="47663"/>
                </a:lnTo>
                <a:lnTo>
                  <a:pt x="2476500" y="38138"/>
                </a:lnTo>
                <a:lnTo>
                  <a:pt x="2457443" y="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3949303" y="5547132"/>
            <a:ext cx="235929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spc="-67" dirty="0">
                <a:latin typeface="Arial MT"/>
                <a:cs typeface="Arial MT"/>
              </a:rPr>
              <a:t>y</a:t>
            </a:r>
            <a:endParaRPr sz="3129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12250" y="3447096"/>
            <a:ext cx="2707684" cy="102320"/>
          </a:xfrm>
          <a:custGeom>
            <a:avLst/>
            <a:gdLst/>
            <a:ahLst/>
            <a:cxnLst/>
            <a:rect l="l" t="t" r="r" b="b"/>
            <a:pathLst>
              <a:path w="2033270" h="76835">
                <a:moveTo>
                  <a:pt x="1956562" y="0"/>
                </a:moveTo>
                <a:lnTo>
                  <a:pt x="1956562" y="76326"/>
                </a:lnTo>
                <a:lnTo>
                  <a:pt x="2013775" y="47625"/>
                </a:lnTo>
                <a:lnTo>
                  <a:pt x="1969262" y="47625"/>
                </a:lnTo>
                <a:lnTo>
                  <a:pt x="1969262" y="28575"/>
                </a:lnTo>
                <a:lnTo>
                  <a:pt x="2013712" y="28575"/>
                </a:lnTo>
                <a:lnTo>
                  <a:pt x="1956562" y="0"/>
                </a:lnTo>
                <a:close/>
              </a:path>
              <a:path w="2033270" h="76835">
                <a:moveTo>
                  <a:pt x="195656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956562" y="47625"/>
                </a:lnTo>
                <a:lnTo>
                  <a:pt x="1956562" y="28575"/>
                </a:lnTo>
                <a:close/>
              </a:path>
              <a:path w="2033270" h="76835">
                <a:moveTo>
                  <a:pt x="2013712" y="28575"/>
                </a:moveTo>
                <a:lnTo>
                  <a:pt x="1969262" y="28575"/>
                </a:lnTo>
                <a:lnTo>
                  <a:pt x="1969262" y="47625"/>
                </a:lnTo>
                <a:lnTo>
                  <a:pt x="2013775" y="47625"/>
                </a:lnTo>
                <a:lnTo>
                  <a:pt x="2032762" y="38100"/>
                </a:lnTo>
                <a:lnTo>
                  <a:pt x="201371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4993307" y="2483593"/>
            <a:ext cx="3209138" cy="755697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>
              <a:spcBef>
                <a:spcPts val="140"/>
              </a:spcBef>
            </a:pPr>
            <a:r>
              <a:rPr sz="2397" dirty="0">
                <a:latin typeface="Arial MT"/>
                <a:cs typeface="Arial MT"/>
              </a:rPr>
              <a:t>pool</a:t>
            </a:r>
            <a:r>
              <a:rPr sz="2397" spc="-73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with</a:t>
            </a:r>
            <a:r>
              <a:rPr sz="2397" spc="-27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2x2</a:t>
            </a:r>
            <a:r>
              <a:rPr sz="2397" spc="-20" dirty="0">
                <a:latin typeface="Arial MT"/>
                <a:cs typeface="Arial MT"/>
              </a:rPr>
              <a:t> </a:t>
            </a:r>
            <a:r>
              <a:rPr sz="2397" dirty="0">
                <a:latin typeface="Arial MT"/>
                <a:cs typeface="Arial MT"/>
              </a:rPr>
              <a:t>filters</a:t>
            </a:r>
            <a:r>
              <a:rPr sz="2397" spc="-73" dirty="0">
                <a:latin typeface="Arial MT"/>
                <a:cs typeface="Arial MT"/>
              </a:rPr>
              <a:t> </a:t>
            </a:r>
            <a:r>
              <a:rPr sz="2397" spc="-33" dirty="0">
                <a:latin typeface="Arial MT"/>
                <a:cs typeface="Arial MT"/>
              </a:rPr>
              <a:t>and </a:t>
            </a:r>
            <a:r>
              <a:rPr sz="2397" dirty="0">
                <a:latin typeface="Arial MT"/>
                <a:cs typeface="Arial MT"/>
              </a:rPr>
              <a:t>stride</a:t>
            </a:r>
            <a:r>
              <a:rPr sz="2397" spc="-60" dirty="0">
                <a:latin typeface="Arial MT"/>
                <a:cs typeface="Arial MT"/>
              </a:rPr>
              <a:t> </a:t>
            </a:r>
            <a:r>
              <a:rPr sz="2397" spc="-80" dirty="0">
                <a:latin typeface="Arial MT"/>
                <a:cs typeface="Arial MT"/>
              </a:rPr>
              <a:t>2</a:t>
            </a:r>
            <a:endParaRPr sz="239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3036" y="6408787"/>
            <a:ext cx="165065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3103"/>
              </a:lnSpc>
            </a:pP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2663" spc="-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2663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spc="-67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2663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802830" y="1268427"/>
          <a:ext cx="1613448" cy="1614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57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6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183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8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183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72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3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4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209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82300" y="624044"/>
            <a:ext cx="14855899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56657">
              <a:spcBef>
                <a:spcPts val="173"/>
              </a:spcBef>
            </a:pPr>
            <a:r>
              <a:rPr sz="3995" dirty="0"/>
              <a:t>Recap:</a:t>
            </a:r>
            <a:r>
              <a:rPr sz="3995" spc="-47" dirty="0"/>
              <a:t> </a:t>
            </a:r>
            <a:r>
              <a:rPr sz="3995" dirty="0"/>
              <a:t>Pooling</a:t>
            </a:r>
            <a:r>
              <a:rPr sz="3995" spc="-20" dirty="0"/>
              <a:t> </a:t>
            </a:r>
            <a:r>
              <a:rPr sz="3995" spc="-13" dirty="0"/>
              <a:t>Layer</a:t>
            </a:r>
            <a:endParaRPr sz="3995" dirty="0"/>
          </a:p>
        </p:txBody>
      </p:sp>
      <p:sp>
        <p:nvSpPr>
          <p:cNvPr id="12" name="object 12"/>
          <p:cNvSpPr txBox="1"/>
          <p:nvPr/>
        </p:nvSpPr>
        <p:spPr>
          <a:xfrm>
            <a:off x="10686547" y="1926327"/>
            <a:ext cx="819408" cy="586674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33" dirty="0">
                <a:latin typeface="Arial MT"/>
                <a:cs typeface="Arial MT"/>
              </a:rPr>
              <a:t>Max</a:t>
            </a:r>
            <a:endParaRPr sz="1798">
              <a:latin typeface="Arial MT"/>
              <a:cs typeface="Arial MT"/>
            </a:endParaRPr>
          </a:p>
          <a:p>
            <a:pPr marL="16913">
              <a:spcBef>
                <a:spcPts val="60"/>
              </a:spcBef>
            </a:pPr>
            <a:r>
              <a:rPr sz="1798" spc="-13" dirty="0">
                <a:latin typeface="Arial MT"/>
                <a:cs typeface="Arial MT"/>
              </a:rPr>
              <a:t>Pooling</a:t>
            </a:r>
            <a:endParaRPr sz="1798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02830" y="3815949"/>
          <a:ext cx="1613448" cy="1614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57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100" spc="-20" dirty="0">
                          <a:latin typeface="Arial MT"/>
                          <a:cs typeface="Arial MT"/>
                        </a:rPr>
                        <a:t>3.25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587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100" spc="-20" dirty="0">
                          <a:latin typeface="Arial MT"/>
                          <a:cs typeface="Arial MT"/>
                        </a:rPr>
                        <a:t>5.25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5876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72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2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657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3100" spc="-50" dirty="0">
                          <a:latin typeface="Arial MT"/>
                          <a:cs typeface="Arial MT"/>
                        </a:rPr>
                        <a:t>2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T="1657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0686547" y="4480616"/>
            <a:ext cx="905662" cy="560030"/>
          </a:xfrm>
          <a:prstGeom prst="rect">
            <a:avLst/>
          </a:prstGeom>
        </p:spPr>
        <p:txBody>
          <a:bodyPr vert="horz" wrap="square" lIns="0" tIns="13530" rIns="0" bIns="0" rtlCol="0">
            <a:spAutoFit/>
          </a:bodyPr>
          <a:lstStyle/>
          <a:p>
            <a:pPr marL="16913" marR="6765">
              <a:lnSpc>
                <a:spcPct val="102499"/>
              </a:lnSpc>
              <a:spcBef>
                <a:spcPts val="107"/>
              </a:spcBef>
            </a:pPr>
            <a:r>
              <a:rPr sz="1798" spc="-13" dirty="0">
                <a:latin typeface="Arial MT"/>
                <a:cs typeface="Arial MT"/>
              </a:rPr>
              <a:t>Average Pooling</a:t>
            </a:r>
            <a:endParaRPr sz="1798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717" y="484049"/>
            <a:ext cx="14855899" cy="780351"/>
          </a:xfrm>
          <a:prstGeom prst="rect">
            <a:avLst/>
          </a:prstGeom>
        </p:spPr>
        <p:txBody>
          <a:bodyPr vert="horz" wrap="square" lIns="0" tIns="163966" rIns="0" bIns="0" rtlCol="0" anchor="t">
            <a:spAutoFit/>
          </a:bodyPr>
          <a:lstStyle/>
          <a:p>
            <a:pPr marL="219864">
              <a:spcBef>
                <a:spcPts val="173"/>
              </a:spcBef>
            </a:pPr>
            <a:r>
              <a:rPr sz="3995" spc="-40" dirty="0"/>
              <a:t>Convolution</a:t>
            </a:r>
            <a:r>
              <a:rPr sz="3995" spc="-413" dirty="0"/>
              <a:t> </a:t>
            </a:r>
            <a:r>
              <a:rPr sz="3995" spc="-40" dirty="0"/>
              <a:t>and</a:t>
            </a:r>
            <a:r>
              <a:rPr sz="3995" spc="-338" dirty="0"/>
              <a:t> </a:t>
            </a:r>
            <a:r>
              <a:rPr sz="3995" spc="-73" dirty="0"/>
              <a:t>Pooling:</a:t>
            </a:r>
            <a:r>
              <a:rPr sz="3995" spc="-353" dirty="0"/>
              <a:t> </a:t>
            </a:r>
            <a:r>
              <a:rPr sz="3995" spc="-60" dirty="0"/>
              <a:t>Translation</a:t>
            </a:r>
            <a:r>
              <a:rPr sz="3995" spc="-406" dirty="0"/>
              <a:t> </a:t>
            </a:r>
            <a:r>
              <a:rPr sz="3995" spc="-27" dirty="0"/>
              <a:t>Equivariance</a:t>
            </a:r>
            <a:endParaRPr sz="39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324" y="1694119"/>
            <a:ext cx="1546475" cy="160736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40325" y="3388240"/>
            <a:ext cx="1546644" cy="2278106"/>
            <a:chOff x="1901951" y="2544317"/>
            <a:chExt cx="1161415" cy="171068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1951" y="3056813"/>
              <a:ext cx="1161288" cy="11978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20873" y="2544317"/>
              <a:ext cx="114300" cy="497205"/>
            </a:xfrm>
            <a:custGeom>
              <a:avLst/>
              <a:gdLst/>
              <a:ahLst/>
              <a:cxnLst/>
              <a:rect l="l" t="t" r="r" b="b"/>
              <a:pathLst>
                <a:path w="114300" h="497205">
                  <a:moveTo>
                    <a:pt x="38100" y="382397"/>
                  </a:moveTo>
                  <a:lnTo>
                    <a:pt x="0" y="382397"/>
                  </a:lnTo>
                  <a:lnTo>
                    <a:pt x="57150" y="496697"/>
                  </a:lnTo>
                  <a:lnTo>
                    <a:pt x="104775" y="401447"/>
                  </a:lnTo>
                  <a:lnTo>
                    <a:pt x="38100" y="401447"/>
                  </a:lnTo>
                  <a:lnTo>
                    <a:pt x="38100" y="382397"/>
                  </a:lnTo>
                  <a:close/>
                </a:path>
                <a:path w="114300" h="497205">
                  <a:moveTo>
                    <a:pt x="76200" y="0"/>
                  </a:moveTo>
                  <a:lnTo>
                    <a:pt x="38100" y="0"/>
                  </a:lnTo>
                  <a:lnTo>
                    <a:pt x="38100" y="401447"/>
                  </a:lnTo>
                  <a:lnTo>
                    <a:pt x="76200" y="401447"/>
                  </a:lnTo>
                  <a:lnTo>
                    <a:pt x="76200" y="0"/>
                  </a:lnTo>
                  <a:close/>
                </a:path>
                <a:path w="114300" h="497205">
                  <a:moveTo>
                    <a:pt x="114300" y="382397"/>
                  </a:moveTo>
                  <a:lnTo>
                    <a:pt x="76200" y="382397"/>
                  </a:lnTo>
                  <a:lnTo>
                    <a:pt x="76200" y="401447"/>
                  </a:lnTo>
                  <a:lnTo>
                    <a:pt x="104775" y="401447"/>
                  </a:lnTo>
                  <a:lnTo>
                    <a:pt x="114300" y="3823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/>
          <p:nvPr/>
        </p:nvSpPr>
        <p:spPr>
          <a:xfrm>
            <a:off x="4281632" y="2410531"/>
            <a:ext cx="3819678" cy="153058"/>
          </a:xfrm>
          <a:custGeom>
            <a:avLst/>
            <a:gdLst/>
            <a:ahLst/>
            <a:cxnLst/>
            <a:rect l="l" t="t" r="r" b="b"/>
            <a:pathLst>
              <a:path w="2868295" h="114935">
                <a:moveTo>
                  <a:pt x="2753360" y="0"/>
                </a:moveTo>
                <a:lnTo>
                  <a:pt x="2753487" y="38155"/>
                </a:lnTo>
                <a:lnTo>
                  <a:pt x="2753549" y="56895"/>
                </a:lnTo>
                <a:lnTo>
                  <a:pt x="2753641" y="84454"/>
                </a:lnTo>
                <a:lnTo>
                  <a:pt x="2753741" y="114426"/>
                </a:lnTo>
                <a:lnTo>
                  <a:pt x="2829491" y="76256"/>
                </a:lnTo>
                <a:lnTo>
                  <a:pt x="2772664" y="76256"/>
                </a:lnTo>
                <a:lnTo>
                  <a:pt x="2772564" y="46227"/>
                </a:lnTo>
                <a:lnTo>
                  <a:pt x="2772537" y="38155"/>
                </a:lnTo>
                <a:lnTo>
                  <a:pt x="2830182" y="38155"/>
                </a:lnTo>
                <a:lnTo>
                  <a:pt x="2753360" y="0"/>
                </a:lnTo>
                <a:close/>
              </a:path>
              <a:path w="2868295" h="114935">
                <a:moveTo>
                  <a:pt x="2753487" y="38155"/>
                </a:moveTo>
                <a:lnTo>
                  <a:pt x="0" y="46227"/>
                </a:lnTo>
                <a:lnTo>
                  <a:pt x="0" y="84454"/>
                </a:lnTo>
                <a:lnTo>
                  <a:pt x="2753613" y="76256"/>
                </a:lnTo>
                <a:lnTo>
                  <a:pt x="2753487" y="38155"/>
                </a:lnTo>
                <a:close/>
              </a:path>
              <a:path w="2868295" h="114935">
                <a:moveTo>
                  <a:pt x="2830182" y="38155"/>
                </a:moveTo>
                <a:lnTo>
                  <a:pt x="2772537" y="38155"/>
                </a:lnTo>
                <a:lnTo>
                  <a:pt x="2772564" y="46227"/>
                </a:lnTo>
                <a:lnTo>
                  <a:pt x="2772664" y="76256"/>
                </a:lnTo>
                <a:lnTo>
                  <a:pt x="2829491" y="76256"/>
                </a:lnTo>
                <a:lnTo>
                  <a:pt x="2867914" y="56895"/>
                </a:lnTo>
                <a:lnTo>
                  <a:pt x="2830182" y="381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 txBox="1"/>
          <p:nvPr/>
        </p:nvSpPr>
        <p:spPr>
          <a:xfrm>
            <a:off x="1696564" y="3459441"/>
            <a:ext cx="1441787" cy="430285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2663" spc="-13" dirty="0">
                <a:latin typeface="Arial MT"/>
                <a:cs typeface="Arial MT"/>
              </a:rPr>
              <a:t>Translate</a:t>
            </a:r>
            <a:endParaRPr sz="2663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00961" y="1682874"/>
            <a:ext cx="1435022" cy="1509436"/>
            <a:chOff x="6227762" y="1263713"/>
            <a:chExt cx="1077595" cy="1133475"/>
          </a:xfrm>
        </p:grpSpPr>
        <p:sp>
          <p:nvSpPr>
            <p:cNvPr id="10" name="object 10"/>
            <p:cNvSpPr/>
            <p:nvPr/>
          </p:nvSpPr>
          <p:spPr>
            <a:xfrm>
              <a:off x="6240779" y="1555343"/>
              <a:ext cx="773430" cy="829310"/>
            </a:xfrm>
            <a:custGeom>
              <a:avLst/>
              <a:gdLst/>
              <a:ahLst/>
              <a:cxnLst/>
              <a:rect l="l" t="t" r="r" b="b"/>
              <a:pathLst>
                <a:path w="773429" h="829310">
                  <a:moveTo>
                    <a:pt x="773226" y="0"/>
                  </a:moveTo>
                  <a:lnTo>
                    <a:pt x="0" y="0"/>
                  </a:lnTo>
                  <a:lnTo>
                    <a:pt x="0" y="828827"/>
                  </a:lnTo>
                  <a:lnTo>
                    <a:pt x="773226" y="828827"/>
                  </a:lnTo>
                  <a:lnTo>
                    <a:pt x="77322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7013955" y="1276730"/>
              <a:ext cx="278765" cy="1107440"/>
            </a:xfrm>
            <a:custGeom>
              <a:avLst/>
              <a:gdLst/>
              <a:ahLst/>
              <a:cxnLst/>
              <a:rect l="l" t="t" r="r" b="b"/>
              <a:pathLst>
                <a:path w="278765" h="1107439">
                  <a:moveTo>
                    <a:pt x="278384" y="0"/>
                  </a:moveTo>
                  <a:lnTo>
                    <a:pt x="0" y="278511"/>
                  </a:lnTo>
                  <a:lnTo>
                    <a:pt x="0" y="1107439"/>
                  </a:lnTo>
                  <a:lnTo>
                    <a:pt x="278384" y="828801"/>
                  </a:lnTo>
                  <a:lnTo>
                    <a:pt x="27838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0779" y="1276730"/>
              <a:ext cx="1051560" cy="278765"/>
            </a:xfrm>
            <a:custGeom>
              <a:avLst/>
              <a:gdLst/>
              <a:ahLst/>
              <a:cxnLst/>
              <a:rect l="l" t="t" r="r" b="b"/>
              <a:pathLst>
                <a:path w="1051559" h="278765">
                  <a:moveTo>
                    <a:pt x="1051560" y="0"/>
                  </a:moveTo>
                  <a:lnTo>
                    <a:pt x="278384" y="0"/>
                  </a:lnTo>
                  <a:lnTo>
                    <a:pt x="0" y="278511"/>
                  </a:lnTo>
                  <a:lnTo>
                    <a:pt x="773176" y="278511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0779" y="1276730"/>
              <a:ext cx="1051560" cy="1107440"/>
            </a:xfrm>
            <a:custGeom>
              <a:avLst/>
              <a:gdLst/>
              <a:ahLst/>
              <a:cxnLst/>
              <a:rect l="l" t="t" r="r" b="b"/>
              <a:pathLst>
                <a:path w="1051559" h="1107439">
                  <a:moveTo>
                    <a:pt x="0" y="278511"/>
                  </a:moveTo>
                  <a:lnTo>
                    <a:pt x="278384" y="0"/>
                  </a:lnTo>
                  <a:lnTo>
                    <a:pt x="1051560" y="0"/>
                  </a:lnTo>
                  <a:lnTo>
                    <a:pt x="1051560" y="828801"/>
                  </a:lnTo>
                  <a:lnTo>
                    <a:pt x="773176" y="1107439"/>
                  </a:lnTo>
                  <a:lnTo>
                    <a:pt x="0" y="1107439"/>
                  </a:lnTo>
                  <a:lnTo>
                    <a:pt x="0" y="278511"/>
                  </a:lnTo>
                  <a:close/>
                </a:path>
                <a:path w="1051559" h="1107439">
                  <a:moveTo>
                    <a:pt x="0" y="278511"/>
                  </a:moveTo>
                  <a:lnTo>
                    <a:pt x="773176" y="278511"/>
                  </a:lnTo>
                  <a:lnTo>
                    <a:pt x="1051560" y="0"/>
                  </a:lnTo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32207" y="1199092"/>
            <a:ext cx="7449090" cy="1109381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  <a:tabLst>
                <a:tab pos="5686013" algn="l"/>
              </a:tabLst>
            </a:pPr>
            <a:r>
              <a:rPr sz="2663" dirty="0">
                <a:latin typeface="Arial MT"/>
                <a:cs typeface="Arial MT"/>
              </a:rPr>
              <a:t>H</a:t>
            </a:r>
            <a:r>
              <a:rPr sz="2663" spc="1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x</a:t>
            </a:r>
            <a:r>
              <a:rPr sz="2663" spc="-6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W</a:t>
            </a:r>
            <a:r>
              <a:rPr sz="2663" spc="-1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x</a:t>
            </a:r>
            <a:r>
              <a:rPr sz="2663" spc="33" dirty="0">
                <a:latin typeface="Arial MT"/>
                <a:cs typeface="Arial MT"/>
              </a:rPr>
              <a:t> </a:t>
            </a:r>
            <a:r>
              <a:rPr sz="2663" spc="-67" dirty="0">
                <a:latin typeface="Arial MT"/>
                <a:cs typeface="Arial MT"/>
              </a:rPr>
              <a:t>C</a:t>
            </a:r>
            <a:r>
              <a:rPr sz="2663" dirty="0">
                <a:latin typeface="Arial MT"/>
                <a:cs typeface="Arial MT"/>
              </a:rPr>
              <a:t>	H’</a:t>
            </a:r>
            <a:r>
              <a:rPr sz="2663" spc="-1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x</a:t>
            </a:r>
            <a:r>
              <a:rPr sz="2663" spc="1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W’</a:t>
            </a:r>
            <a:r>
              <a:rPr sz="2663" spc="-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x</a:t>
            </a:r>
            <a:r>
              <a:rPr sz="2663" spc="-87" dirty="0">
                <a:latin typeface="Arial MT"/>
                <a:cs typeface="Arial MT"/>
              </a:rPr>
              <a:t> </a:t>
            </a:r>
            <a:r>
              <a:rPr sz="2663" spc="-33" dirty="0">
                <a:latin typeface="Arial MT"/>
                <a:cs typeface="Arial MT"/>
              </a:rPr>
              <a:t>C’</a:t>
            </a:r>
            <a:endParaRPr sz="2663">
              <a:latin typeface="Arial MT"/>
              <a:cs typeface="Arial MT"/>
            </a:endParaRPr>
          </a:p>
          <a:p>
            <a:pPr marR="516680" algn="ctr">
              <a:spcBef>
                <a:spcPts val="2064"/>
              </a:spcBef>
            </a:pPr>
            <a:r>
              <a:rPr sz="2663" dirty="0">
                <a:latin typeface="Arial MT"/>
                <a:cs typeface="Arial MT"/>
              </a:rPr>
              <a:t>Conv</a:t>
            </a:r>
            <a:r>
              <a:rPr sz="2663" spc="-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or</a:t>
            </a:r>
            <a:r>
              <a:rPr sz="2663" spc="-33" dirty="0">
                <a:latin typeface="Arial MT"/>
                <a:cs typeface="Arial MT"/>
              </a:rPr>
              <a:t> </a:t>
            </a:r>
            <a:r>
              <a:rPr sz="2663" spc="-27" dirty="0">
                <a:latin typeface="Arial MT"/>
                <a:cs typeface="Arial MT"/>
              </a:rPr>
              <a:t>Pool</a:t>
            </a:r>
            <a:endParaRPr sz="2663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59862" y="4047642"/>
            <a:ext cx="5576036" cy="1496752"/>
            <a:chOff x="3118104" y="3039479"/>
            <a:chExt cx="4187190" cy="1123950"/>
          </a:xfrm>
        </p:grpSpPr>
        <p:sp>
          <p:nvSpPr>
            <p:cNvPr id="16" name="object 16"/>
            <p:cNvSpPr/>
            <p:nvPr/>
          </p:nvSpPr>
          <p:spPr>
            <a:xfrm>
              <a:off x="3118104" y="3676903"/>
              <a:ext cx="3068320" cy="114935"/>
            </a:xfrm>
            <a:custGeom>
              <a:avLst/>
              <a:gdLst/>
              <a:ahLst/>
              <a:cxnLst/>
              <a:rect l="l" t="t" r="r" b="b"/>
              <a:pathLst>
                <a:path w="3068320" h="114935">
                  <a:moveTo>
                    <a:pt x="2953893" y="0"/>
                  </a:moveTo>
                  <a:lnTo>
                    <a:pt x="2953893" y="114427"/>
                  </a:lnTo>
                  <a:lnTo>
                    <a:pt x="3030177" y="76200"/>
                  </a:lnTo>
                  <a:lnTo>
                    <a:pt x="2972943" y="76200"/>
                  </a:lnTo>
                  <a:lnTo>
                    <a:pt x="2972943" y="38100"/>
                  </a:lnTo>
                  <a:lnTo>
                    <a:pt x="3030093" y="38100"/>
                  </a:lnTo>
                  <a:lnTo>
                    <a:pt x="2953893" y="0"/>
                  </a:lnTo>
                  <a:close/>
                </a:path>
                <a:path w="3068320" h="114935">
                  <a:moveTo>
                    <a:pt x="295389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953893" y="76200"/>
                  </a:lnTo>
                  <a:lnTo>
                    <a:pt x="2953893" y="38100"/>
                  </a:lnTo>
                  <a:close/>
                </a:path>
                <a:path w="3068320" h="114935">
                  <a:moveTo>
                    <a:pt x="3030093" y="38100"/>
                  </a:moveTo>
                  <a:lnTo>
                    <a:pt x="2972943" y="38100"/>
                  </a:lnTo>
                  <a:lnTo>
                    <a:pt x="2972943" y="76200"/>
                  </a:lnTo>
                  <a:lnTo>
                    <a:pt x="3030177" y="76200"/>
                  </a:lnTo>
                  <a:lnTo>
                    <a:pt x="3068193" y="57150"/>
                  </a:lnTo>
                  <a:lnTo>
                    <a:pt x="303009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0780" y="3330803"/>
              <a:ext cx="773430" cy="819785"/>
            </a:xfrm>
            <a:custGeom>
              <a:avLst/>
              <a:gdLst/>
              <a:ahLst/>
              <a:cxnLst/>
              <a:rect l="l" t="t" r="r" b="b"/>
              <a:pathLst>
                <a:path w="773429" h="819785">
                  <a:moveTo>
                    <a:pt x="773226" y="0"/>
                  </a:moveTo>
                  <a:lnTo>
                    <a:pt x="0" y="0"/>
                  </a:lnTo>
                  <a:lnTo>
                    <a:pt x="0" y="819683"/>
                  </a:lnTo>
                  <a:lnTo>
                    <a:pt x="773226" y="819683"/>
                  </a:lnTo>
                  <a:lnTo>
                    <a:pt x="77322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7013956" y="3052190"/>
              <a:ext cx="278765" cy="1098550"/>
            </a:xfrm>
            <a:custGeom>
              <a:avLst/>
              <a:gdLst/>
              <a:ahLst/>
              <a:cxnLst/>
              <a:rect l="l" t="t" r="r" b="b"/>
              <a:pathLst>
                <a:path w="278765" h="1098550">
                  <a:moveTo>
                    <a:pt x="278384" y="0"/>
                  </a:moveTo>
                  <a:lnTo>
                    <a:pt x="0" y="278638"/>
                  </a:lnTo>
                  <a:lnTo>
                    <a:pt x="0" y="1098296"/>
                  </a:lnTo>
                  <a:lnTo>
                    <a:pt x="278384" y="819785"/>
                  </a:lnTo>
                  <a:lnTo>
                    <a:pt x="27838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40780" y="3052190"/>
              <a:ext cx="1051560" cy="278765"/>
            </a:xfrm>
            <a:custGeom>
              <a:avLst/>
              <a:gdLst/>
              <a:ahLst/>
              <a:cxnLst/>
              <a:rect l="l" t="t" r="r" b="b"/>
              <a:pathLst>
                <a:path w="1051559" h="278764">
                  <a:moveTo>
                    <a:pt x="1051560" y="0"/>
                  </a:moveTo>
                  <a:lnTo>
                    <a:pt x="278384" y="0"/>
                  </a:lnTo>
                  <a:lnTo>
                    <a:pt x="0" y="278638"/>
                  </a:lnTo>
                  <a:lnTo>
                    <a:pt x="773176" y="278638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0780" y="3052190"/>
              <a:ext cx="1051560" cy="1098550"/>
            </a:xfrm>
            <a:custGeom>
              <a:avLst/>
              <a:gdLst/>
              <a:ahLst/>
              <a:cxnLst/>
              <a:rect l="l" t="t" r="r" b="b"/>
              <a:pathLst>
                <a:path w="1051559" h="1098550">
                  <a:moveTo>
                    <a:pt x="0" y="278638"/>
                  </a:moveTo>
                  <a:lnTo>
                    <a:pt x="278384" y="0"/>
                  </a:lnTo>
                  <a:lnTo>
                    <a:pt x="1051560" y="0"/>
                  </a:lnTo>
                  <a:lnTo>
                    <a:pt x="1051560" y="819785"/>
                  </a:lnTo>
                  <a:lnTo>
                    <a:pt x="773176" y="1098296"/>
                  </a:lnTo>
                  <a:lnTo>
                    <a:pt x="0" y="1098296"/>
                  </a:lnTo>
                  <a:lnTo>
                    <a:pt x="0" y="278638"/>
                  </a:lnTo>
                  <a:close/>
                </a:path>
                <a:path w="1051559" h="1098550">
                  <a:moveTo>
                    <a:pt x="0" y="278638"/>
                  </a:moveTo>
                  <a:lnTo>
                    <a:pt x="773176" y="278638"/>
                  </a:lnTo>
                  <a:lnTo>
                    <a:pt x="1051560" y="0"/>
                  </a:lnTo>
                </a:path>
              </a:pathLst>
            </a:custGeom>
            <a:ln w="2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7920" y="3322230"/>
              <a:ext cx="808747" cy="83209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64109" y="4489409"/>
            <a:ext cx="10747019" cy="176225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44603" algn="ctr">
              <a:spcBef>
                <a:spcPts val="160"/>
              </a:spcBef>
            </a:pPr>
            <a:r>
              <a:rPr sz="2663" dirty="0">
                <a:latin typeface="Arial MT"/>
                <a:cs typeface="Arial MT"/>
              </a:rPr>
              <a:t>Conv</a:t>
            </a:r>
            <a:r>
              <a:rPr sz="2663" spc="-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or</a:t>
            </a:r>
            <a:r>
              <a:rPr sz="2663" spc="-33" dirty="0">
                <a:latin typeface="Arial MT"/>
                <a:cs typeface="Arial MT"/>
              </a:rPr>
              <a:t> </a:t>
            </a:r>
            <a:r>
              <a:rPr sz="2663" spc="-27" dirty="0">
                <a:latin typeface="Arial MT"/>
                <a:cs typeface="Arial MT"/>
              </a:rPr>
              <a:t>Pool</a:t>
            </a:r>
            <a:endParaRPr sz="2663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663">
              <a:latin typeface="Arial MT"/>
              <a:cs typeface="Arial MT"/>
            </a:endParaRPr>
          </a:p>
          <a:p>
            <a:pPr>
              <a:spcBef>
                <a:spcPts val="766"/>
              </a:spcBef>
            </a:pPr>
            <a:endParaRPr sz="2663">
              <a:latin typeface="Arial MT"/>
              <a:cs typeface="Arial MT"/>
            </a:endParaRPr>
          </a:p>
          <a:p>
            <a:pPr marL="16913"/>
            <a:r>
              <a:rPr sz="2663" dirty="0">
                <a:latin typeface="Arial MT"/>
                <a:cs typeface="Arial MT"/>
              </a:rPr>
              <a:t>Intuition:</a:t>
            </a:r>
            <a:r>
              <a:rPr sz="2663" spc="-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Features</a:t>
            </a:r>
            <a:r>
              <a:rPr sz="2663" spc="-2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of</a:t>
            </a:r>
            <a:r>
              <a:rPr sz="2663" spc="-8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images</a:t>
            </a:r>
            <a:r>
              <a:rPr sz="2663" spc="-27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don’t depend</a:t>
            </a:r>
            <a:r>
              <a:rPr sz="2663" spc="-80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on</a:t>
            </a:r>
            <a:r>
              <a:rPr sz="2663" spc="-7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their</a:t>
            </a:r>
            <a:r>
              <a:rPr sz="2663" spc="-5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location</a:t>
            </a:r>
            <a:r>
              <a:rPr sz="2663" spc="13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in</a:t>
            </a:r>
            <a:r>
              <a:rPr sz="2663" spc="-80" dirty="0">
                <a:latin typeface="Arial MT"/>
                <a:cs typeface="Arial MT"/>
              </a:rPr>
              <a:t> </a:t>
            </a:r>
            <a:r>
              <a:rPr sz="2663" dirty="0">
                <a:latin typeface="Arial MT"/>
                <a:cs typeface="Arial MT"/>
              </a:rPr>
              <a:t>the</a:t>
            </a:r>
            <a:r>
              <a:rPr sz="2663" spc="-80" dirty="0">
                <a:latin typeface="Arial MT"/>
                <a:cs typeface="Arial MT"/>
              </a:rPr>
              <a:t> </a:t>
            </a:r>
            <a:r>
              <a:rPr sz="2663" spc="-13" dirty="0">
                <a:latin typeface="Arial MT"/>
                <a:cs typeface="Arial MT"/>
              </a:rPr>
              <a:t>image</a:t>
            </a:r>
            <a:endParaRPr sz="2663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2208" y="2071098"/>
            <a:ext cx="1052646" cy="110387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187936" y="3357290"/>
            <a:ext cx="1445169" cy="430285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2663" spc="-13" dirty="0">
                <a:latin typeface="Arial MT"/>
                <a:cs typeface="Arial MT"/>
              </a:rPr>
              <a:t>Translate</a:t>
            </a:r>
            <a:endParaRPr sz="2663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3536" y="3183194"/>
            <a:ext cx="3210829" cy="81635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lnSpc>
                <a:spcPts val="3183"/>
              </a:lnSpc>
              <a:spcBef>
                <a:spcPts val="160"/>
              </a:spcBef>
            </a:pPr>
            <a:r>
              <a:rPr sz="2663" spc="-13" dirty="0">
                <a:latin typeface="Arial MT"/>
                <a:cs typeface="Arial MT"/>
              </a:rPr>
              <a:t>Conv(Translate(X))</a:t>
            </a:r>
            <a:endParaRPr sz="2663">
              <a:latin typeface="Arial MT"/>
              <a:cs typeface="Arial MT"/>
            </a:endParaRPr>
          </a:p>
          <a:p>
            <a:pPr marL="16913">
              <a:lnSpc>
                <a:spcPts val="3183"/>
              </a:lnSpc>
            </a:pPr>
            <a:r>
              <a:rPr sz="2663" dirty="0">
                <a:latin typeface="Arial MT"/>
                <a:cs typeface="Arial MT"/>
              </a:rPr>
              <a:t>= </a:t>
            </a:r>
            <a:r>
              <a:rPr sz="2663" spc="-13" dirty="0">
                <a:latin typeface="Arial MT"/>
                <a:cs typeface="Arial MT"/>
              </a:rPr>
              <a:t>Translate(Conv(X))</a:t>
            </a:r>
            <a:endParaRPr sz="2663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893657" y="3302832"/>
            <a:ext cx="152212" cy="662123"/>
          </a:xfrm>
          <a:custGeom>
            <a:avLst/>
            <a:gdLst/>
            <a:ahLst/>
            <a:cxnLst/>
            <a:rect l="l" t="t" r="r" b="b"/>
            <a:pathLst>
              <a:path w="114300" h="497205">
                <a:moveTo>
                  <a:pt x="38100" y="382396"/>
                </a:moveTo>
                <a:lnTo>
                  <a:pt x="0" y="382396"/>
                </a:lnTo>
                <a:lnTo>
                  <a:pt x="57150" y="496824"/>
                </a:lnTo>
                <a:lnTo>
                  <a:pt x="104785" y="401446"/>
                </a:lnTo>
                <a:lnTo>
                  <a:pt x="38100" y="401446"/>
                </a:lnTo>
                <a:lnTo>
                  <a:pt x="38100" y="382396"/>
                </a:lnTo>
                <a:close/>
              </a:path>
              <a:path w="114300" h="497205">
                <a:moveTo>
                  <a:pt x="76200" y="0"/>
                </a:moveTo>
                <a:lnTo>
                  <a:pt x="38100" y="0"/>
                </a:lnTo>
                <a:lnTo>
                  <a:pt x="38100" y="401446"/>
                </a:lnTo>
                <a:lnTo>
                  <a:pt x="76200" y="401446"/>
                </a:lnTo>
                <a:lnTo>
                  <a:pt x="76200" y="0"/>
                </a:lnTo>
                <a:close/>
              </a:path>
              <a:path w="114300" h="497205">
                <a:moveTo>
                  <a:pt x="114300" y="382396"/>
                </a:moveTo>
                <a:lnTo>
                  <a:pt x="76200" y="382396"/>
                </a:lnTo>
                <a:lnTo>
                  <a:pt x="76200" y="401446"/>
                </a:lnTo>
                <a:lnTo>
                  <a:pt x="104785" y="401446"/>
                </a:lnTo>
                <a:lnTo>
                  <a:pt x="114300" y="382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8" name="object 28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5829" y="320495"/>
            <a:ext cx="14855899" cy="940966"/>
          </a:xfrm>
          <a:prstGeom prst="rect">
            <a:avLst/>
          </a:prstGeom>
        </p:spPr>
        <p:txBody>
          <a:bodyPr vert="horz" wrap="square" lIns="0" tIns="323028" rIns="0" bIns="0" rtlCol="0" anchor="t">
            <a:spAutoFit/>
          </a:bodyPr>
          <a:lstStyle/>
          <a:p>
            <a:pPr marL="399137">
              <a:spcBef>
                <a:spcPts val="173"/>
              </a:spcBef>
            </a:pPr>
            <a:r>
              <a:rPr sz="3995" spc="-133" dirty="0"/>
              <a:t>Summary:</a:t>
            </a:r>
            <a:r>
              <a:rPr sz="3995" spc="-353" dirty="0"/>
              <a:t> </a:t>
            </a:r>
            <a:r>
              <a:rPr sz="3995" spc="-33" dirty="0"/>
              <a:t>Convolutional</a:t>
            </a:r>
            <a:r>
              <a:rPr sz="3995" spc="-373" dirty="0"/>
              <a:t> </a:t>
            </a:r>
            <a:r>
              <a:rPr sz="3995" spc="-33" dirty="0"/>
              <a:t>Networks</a:t>
            </a:r>
            <a:endParaRPr sz="3995" dirty="0"/>
          </a:p>
        </p:txBody>
      </p:sp>
      <p:sp>
        <p:nvSpPr>
          <p:cNvPr id="3" name="object 3"/>
          <p:cNvSpPr txBox="1"/>
          <p:nvPr/>
        </p:nvSpPr>
        <p:spPr>
          <a:xfrm>
            <a:off x="2190407" y="2061723"/>
            <a:ext cx="504190" cy="844426"/>
          </a:xfrm>
          <a:prstGeom prst="rect">
            <a:avLst/>
          </a:prstGeom>
          <a:solidFill>
            <a:srgbClr val="E7E6E6"/>
          </a:solidFill>
          <a:ln w="6419">
            <a:solidFill>
              <a:srgbClr val="44536A"/>
            </a:solidFill>
          </a:ln>
        </p:spPr>
        <p:txBody>
          <a:bodyPr vert="horz" wrap="square" lIns="0" tIns="166588" rIns="0" bIns="0" rtlCol="0">
            <a:spAutoFit/>
          </a:bodyPr>
          <a:lstStyle/>
          <a:p>
            <a:pPr>
              <a:spcBef>
                <a:spcPts val="1312"/>
              </a:spcBef>
            </a:pPr>
            <a:endParaRPr sz="2197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97" spc="-67" dirty="0">
                <a:latin typeface="Calibri"/>
                <a:cs typeface="Calibri"/>
              </a:rPr>
              <a:t>x</a:t>
            </a:r>
            <a:endParaRPr sz="2197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6642" y="2371591"/>
            <a:ext cx="398104" cy="550722"/>
          </a:xfrm>
          <a:prstGeom prst="rect">
            <a:avLst/>
          </a:prstGeom>
          <a:solidFill>
            <a:srgbClr val="E7E6E6"/>
          </a:solidFill>
          <a:ln w="6418">
            <a:solidFill>
              <a:srgbClr val="44536A"/>
            </a:solidFill>
          </a:ln>
        </p:spPr>
        <p:txBody>
          <a:bodyPr vert="horz" wrap="square" lIns="0" tIns="210560" rIns="0" bIns="0" rtlCol="0">
            <a:spAutoFit/>
          </a:bodyPr>
          <a:lstStyle/>
          <a:p>
            <a:pPr marL="127690">
              <a:spcBef>
                <a:spcPts val="1658"/>
              </a:spcBef>
            </a:pPr>
            <a:r>
              <a:rPr sz="2197" spc="-67" dirty="0">
                <a:latin typeface="Calibri"/>
                <a:cs typeface="Calibri"/>
              </a:rPr>
              <a:t>h</a:t>
            </a:r>
            <a:endParaRPr sz="2197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94860" y="3169688"/>
            <a:ext cx="840549" cy="253687"/>
          </a:xfrm>
          <a:custGeom>
            <a:avLst/>
            <a:gdLst/>
            <a:ahLst/>
            <a:cxnLst/>
            <a:rect l="l" t="t" r="r" b="b"/>
            <a:pathLst>
              <a:path w="631189" h="190500">
                <a:moveTo>
                  <a:pt x="0" y="190241"/>
                </a:moveTo>
                <a:lnTo>
                  <a:pt x="0" y="190241"/>
                </a:lnTo>
                <a:lnTo>
                  <a:pt x="630972" y="0"/>
                </a:lnTo>
              </a:path>
            </a:pathLst>
          </a:custGeom>
          <a:ln w="6413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" name="object 6"/>
          <p:cNvSpPr/>
          <p:nvPr/>
        </p:nvSpPr>
        <p:spPr>
          <a:xfrm>
            <a:off x="2694859" y="2070455"/>
            <a:ext cx="848160" cy="306115"/>
          </a:xfrm>
          <a:custGeom>
            <a:avLst/>
            <a:gdLst/>
            <a:ahLst/>
            <a:cxnLst/>
            <a:rect l="l" t="t" r="r" b="b"/>
            <a:pathLst>
              <a:path w="636905" h="229869">
                <a:moveTo>
                  <a:pt x="0" y="0"/>
                </a:moveTo>
                <a:lnTo>
                  <a:pt x="0" y="0"/>
                </a:lnTo>
                <a:lnTo>
                  <a:pt x="636410" y="229243"/>
                </a:lnTo>
              </a:path>
            </a:pathLst>
          </a:custGeom>
          <a:ln w="6413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7" name="object 7"/>
          <p:cNvGrpSpPr/>
          <p:nvPr/>
        </p:nvGrpSpPr>
        <p:grpSpPr>
          <a:xfrm>
            <a:off x="4840824" y="2544481"/>
            <a:ext cx="425348" cy="453254"/>
            <a:chOff x="3629455" y="1910717"/>
            <a:chExt cx="319405" cy="340360"/>
          </a:xfrm>
        </p:grpSpPr>
        <p:sp>
          <p:nvSpPr>
            <p:cNvPr id="8" name="object 8"/>
            <p:cNvSpPr/>
            <p:nvPr/>
          </p:nvSpPr>
          <p:spPr>
            <a:xfrm>
              <a:off x="3632947" y="1914209"/>
              <a:ext cx="312420" cy="333375"/>
            </a:xfrm>
            <a:custGeom>
              <a:avLst/>
              <a:gdLst/>
              <a:ahLst/>
              <a:cxnLst/>
              <a:rect l="l" t="t" r="r" b="b"/>
              <a:pathLst>
                <a:path w="312420" h="333375">
                  <a:moveTo>
                    <a:pt x="312143" y="0"/>
                  </a:moveTo>
                  <a:lnTo>
                    <a:pt x="0" y="0"/>
                  </a:lnTo>
                  <a:lnTo>
                    <a:pt x="0" y="333135"/>
                  </a:lnTo>
                  <a:lnTo>
                    <a:pt x="312143" y="333135"/>
                  </a:lnTo>
                  <a:lnTo>
                    <a:pt x="31214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3632947" y="1914209"/>
              <a:ext cx="312420" cy="333375"/>
            </a:xfrm>
            <a:custGeom>
              <a:avLst/>
              <a:gdLst/>
              <a:ahLst/>
              <a:cxnLst/>
              <a:rect l="l" t="t" r="r" b="b"/>
              <a:pathLst>
                <a:path w="312420" h="333375">
                  <a:moveTo>
                    <a:pt x="0" y="0"/>
                  </a:moveTo>
                  <a:lnTo>
                    <a:pt x="312143" y="0"/>
                  </a:lnTo>
                  <a:lnTo>
                    <a:pt x="312143" y="333135"/>
                  </a:lnTo>
                  <a:lnTo>
                    <a:pt x="0" y="333135"/>
                  </a:lnTo>
                  <a:lnTo>
                    <a:pt x="0" y="0"/>
                  </a:lnTo>
                  <a:close/>
                </a:path>
              </a:pathLst>
            </a:custGeom>
            <a:ln w="6416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7298" y="2561566"/>
            <a:ext cx="145447" cy="35945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2197" spc="-67" dirty="0">
                <a:latin typeface="Calibri"/>
                <a:cs typeface="Calibri"/>
              </a:rPr>
              <a:t>s</a:t>
            </a:r>
            <a:endParaRPr sz="2197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24746" y="2371592"/>
            <a:ext cx="930185" cy="799113"/>
          </a:xfrm>
          <a:custGeom>
            <a:avLst/>
            <a:gdLst/>
            <a:ahLst/>
            <a:cxnLst/>
            <a:rect l="l" t="t" r="r" b="b"/>
            <a:pathLst>
              <a:path w="698500" h="600075">
                <a:moveTo>
                  <a:pt x="0" y="0"/>
                </a:moveTo>
                <a:lnTo>
                  <a:pt x="0" y="0"/>
                </a:lnTo>
                <a:lnTo>
                  <a:pt x="697963" y="140394"/>
                </a:lnTo>
              </a:path>
              <a:path w="698500" h="600075">
                <a:moveTo>
                  <a:pt x="13462" y="599802"/>
                </a:moveTo>
                <a:lnTo>
                  <a:pt x="13462" y="599802"/>
                </a:lnTo>
                <a:lnTo>
                  <a:pt x="688944" y="459381"/>
                </a:lnTo>
              </a:path>
            </a:pathLst>
          </a:custGeom>
          <a:ln w="641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5397" y="1937845"/>
            <a:ext cx="1741305" cy="143686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76112" y="4555893"/>
            <a:ext cx="1354686" cy="1525503"/>
            <a:chOff x="2304287" y="3421138"/>
            <a:chExt cx="1017269" cy="1145540"/>
          </a:xfrm>
        </p:grpSpPr>
        <p:sp>
          <p:nvSpPr>
            <p:cNvPr id="14" name="object 14"/>
            <p:cNvSpPr/>
            <p:nvPr/>
          </p:nvSpPr>
          <p:spPr>
            <a:xfrm>
              <a:off x="2543826" y="3787864"/>
              <a:ext cx="53340" cy="276860"/>
            </a:xfrm>
            <a:custGeom>
              <a:avLst/>
              <a:gdLst/>
              <a:ahLst/>
              <a:cxnLst/>
              <a:rect l="l" t="t" r="r" b="b"/>
              <a:pathLst>
                <a:path w="53339" h="276860">
                  <a:moveTo>
                    <a:pt x="53032" y="0"/>
                  </a:moveTo>
                  <a:lnTo>
                    <a:pt x="0" y="0"/>
                  </a:lnTo>
                  <a:lnTo>
                    <a:pt x="0" y="276682"/>
                  </a:lnTo>
                  <a:lnTo>
                    <a:pt x="53032" y="276682"/>
                  </a:lnTo>
                  <a:lnTo>
                    <a:pt x="53032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6858" y="3726932"/>
              <a:ext cx="60960" cy="337820"/>
            </a:xfrm>
            <a:custGeom>
              <a:avLst/>
              <a:gdLst/>
              <a:ahLst/>
              <a:cxnLst/>
              <a:rect l="l" t="t" r="r" b="b"/>
              <a:pathLst>
                <a:path w="60960" h="337820">
                  <a:moveTo>
                    <a:pt x="60697" y="0"/>
                  </a:moveTo>
                  <a:lnTo>
                    <a:pt x="0" y="60931"/>
                  </a:lnTo>
                  <a:lnTo>
                    <a:pt x="0" y="337614"/>
                  </a:lnTo>
                  <a:lnTo>
                    <a:pt x="60697" y="276682"/>
                  </a:lnTo>
                  <a:lnTo>
                    <a:pt x="60697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3826" y="3726932"/>
              <a:ext cx="114300" cy="60960"/>
            </a:xfrm>
            <a:custGeom>
              <a:avLst/>
              <a:gdLst/>
              <a:ahLst/>
              <a:cxnLst/>
              <a:rect l="l" t="t" r="r" b="b"/>
              <a:pathLst>
                <a:path w="114300" h="60960">
                  <a:moveTo>
                    <a:pt x="113729" y="0"/>
                  </a:moveTo>
                  <a:lnTo>
                    <a:pt x="60693" y="0"/>
                  </a:lnTo>
                  <a:lnTo>
                    <a:pt x="0" y="60931"/>
                  </a:lnTo>
                  <a:lnTo>
                    <a:pt x="53032" y="60931"/>
                  </a:lnTo>
                  <a:lnTo>
                    <a:pt x="113729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2539993" y="3723127"/>
              <a:ext cx="121920" cy="345440"/>
            </a:xfrm>
            <a:custGeom>
              <a:avLst/>
              <a:gdLst/>
              <a:ahLst/>
              <a:cxnLst/>
              <a:rect l="l" t="t" r="r" b="b"/>
              <a:pathLst>
                <a:path w="121919" h="345439">
                  <a:moveTo>
                    <a:pt x="117562" y="0"/>
                  </a:moveTo>
                  <a:lnTo>
                    <a:pt x="64526" y="0"/>
                  </a:lnTo>
                  <a:lnTo>
                    <a:pt x="61812" y="1098"/>
                  </a:lnTo>
                  <a:lnTo>
                    <a:pt x="1115" y="62029"/>
                  </a:lnTo>
                  <a:lnTo>
                    <a:pt x="0" y="64737"/>
                  </a:lnTo>
                  <a:lnTo>
                    <a:pt x="0" y="341419"/>
                  </a:lnTo>
                  <a:lnTo>
                    <a:pt x="3832" y="345225"/>
                  </a:lnTo>
                  <a:lnTo>
                    <a:pt x="56864" y="345225"/>
                  </a:lnTo>
                  <a:lnTo>
                    <a:pt x="59582" y="344126"/>
                  </a:lnTo>
                  <a:lnTo>
                    <a:pt x="62278" y="341419"/>
                  </a:lnTo>
                  <a:lnTo>
                    <a:pt x="7661" y="341419"/>
                  </a:lnTo>
                  <a:lnTo>
                    <a:pt x="3832" y="337574"/>
                  </a:lnTo>
                  <a:lnTo>
                    <a:pt x="7661" y="337574"/>
                  </a:lnTo>
                  <a:lnTo>
                    <a:pt x="7661" y="68582"/>
                  </a:lnTo>
                  <a:lnTo>
                    <a:pt x="3832" y="68582"/>
                  </a:lnTo>
                  <a:lnTo>
                    <a:pt x="3832" y="60931"/>
                  </a:lnTo>
                  <a:lnTo>
                    <a:pt x="13033" y="60931"/>
                  </a:lnTo>
                  <a:lnTo>
                    <a:pt x="66106" y="7650"/>
                  </a:lnTo>
                  <a:lnTo>
                    <a:pt x="64526" y="7650"/>
                  </a:lnTo>
                  <a:lnTo>
                    <a:pt x="67239" y="6512"/>
                  </a:lnTo>
                  <a:lnTo>
                    <a:pt x="109451" y="6512"/>
                  </a:lnTo>
                  <a:lnTo>
                    <a:pt x="114844" y="1098"/>
                  </a:lnTo>
                  <a:lnTo>
                    <a:pt x="118667" y="1098"/>
                  </a:lnTo>
                  <a:lnTo>
                    <a:pt x="117562" y="0"/>
                  </a:lnTo>
                  <a:close/>
                </a:path>
                <a:path w="121919" h="345439">
                  <a:moveTo>
                    <a:pt x="7661" y="337574"/>
                  </a:moveTo>
                  <a:lnTo>
                    <a:pt x="3832" y="337574"/>
                  </a:lnTo>
                  <a:lnTo>
                    <a:pt x="7661" y="341419"/>
                  </a:lnTo>
                  <a:lnTo>
                    <a:pt x="7661" y="337574"/>
                  </a:lnTo>
                  <a:close/>
                </a:path>
                <a:path w="121919" h="345439">
                  <a:moveTo>
                    <a:pt x="53036" y="337574"/>
                  </a:moveTo>
                  <a:lnTo>
                    <a:pt x="7661" y="337574"/>
                  </a:lnTo>
                  <a:lnTo>
                    <a:pt x="7661" y="341419"/>
                  </a:lnTo>
                  <a:lnTo>
                    <a:pt x="53036" y="341419"/>
                  </a:lnTo>
                  <a:lnTo>
                    <a:pt x="53036" y="337574"/>
                  </a:lnTo>
                  <a:close/>
                </a:path>
                <a:path w="121919" h="345439">
                  <a:moveTo>
                    <a:pt x="60697" y="64737"/>
                  </a:moveTo>
                  <a:lnTo>
                    <a:pt x="53036" y="64737"/>
                  </a:lnTo>
                  <a:lnTo>
                    <a:pt x="53036" y="341419"/>
                  </a:lnTo>
                  <a:lnTo>
                    <a:pt x="60697" y="341419"/>
                  </a:lnTo>
                  <a:lnTo>
                    <a:pt x="60697" y="338712"/>
                  </a:lnTo>
                  <a:lnTo>
                    <a:pt x="54151" y="338712"/>
                  </a:lnTo>
                  <a:lnTo>
                    <a:pt x="60697" y="332140"/>
                  </a:lnTo>
                  <a:lnTo>
                    <a:pt x="60697" y="68582"/>
                  </a:lnTo>
                  <a:lnTo>
                    <a:pt x="56864" y="68582"/>
                  </a:lnTo>
                  <a:lnTo>
                    <a:pt x="59582" y="67444"/>
                  </a:lnTo>
                  <a:lnTo>
                    <a:pt x="60697" y="66324"/>
                  </a:lnTo>
                  <a:lnTo>
                    <a:pt x="60697" y="64737"/>
                  </a:lnTo>
                  <a:close/>
                </a:path>
                <a:path w="121919" h="345439">
                  <a:moveTo>
                    <a:pt x="113729" y="278900"/>
                  </a:moveTo>
                  <a:lnTo>
                    <a:pt x="60697" y="332140"/>
                  </a:lnTo>
                  <a:lnTo>
                    <a:pt x="60697" y="341419"/>
                  </a:lnTo>
                  <a:lnTo>
                    <a:pt x="62278" y="341419"/>
                  </a:lnTo>
                  <a:lnTo>
                    <a:pt x="120275" y="283195"/>
                  </a:lnTo>
                  <a:lnTo>
                    <a:pt x="121391" y="280488"/>
                  </a:lnTo>
                  <a:lnTo>
                    <a:pt x="113729" y="280488"/>
                  </a:lnTo>
                  <a:lnTo>
                    <a:pt x="113729" y="278900"/>
                  </a:lnTo>
                  <a:close/>
                </a:path>
                <a:path w="121919" h="345439">
                  <a:moveTo>
                    <a:pt x="60697" y="332140"/>
                  </a:moveTo>
                  <a:lnTo>
                    <a:pt x="54151" y="338712"/>
                  </a:lnTo>
                  <a:lnTo>
                    <a:pt x="56864" y="337574"/>
                  </a:lnTo>
                  <a:lnTo>
                    <a:pt x="60697" y="337574"/>
                  </a:lnTo>
                  <a:lnTo>
                    <a:pt x="60697" y="332140"/>
                  </a:lnTo>
                  <a:close/>
                </a:path>
                <a:path w="121919" h="345439">
                  <a:moveTo>
                    <a:pt x="60697" y="337574"/>
                  </a:moveTo>
                  <a:lnTo>
                    <a:pt x="56864" y="337574"/>
                  </a:lnTo>
                  <a:lnTo>
                    <a:pt x="54151" y="338712"/>
                  </a:lnTo>
                  <a:lnTo>
                    <a:pt x="60697" y="338712"/>
                  </a:lnTo>
                  <a:lnTo>
                    <a:pt x="60697" y="337574"/>
                  </a:lnTo>
                  <a:close/>
                </a:path>
                <a:path w="121919" h="345439">
                  <a:moveTo>
                    <a:pt x="114844" y="277781"/>
                  </a:moveTo>
                  <a:lnTo>
                    <a:pt x="113729" y="278900"/>
                  </a:lnTo>
                  <a:lnTo>
                    <a:pt x="113729" y="280488"/>
                  </a:lnTo>
                  <a:lnTo>
                    <a:pt x="114844" y="277781"/>
                  </a:lnTo>
                  <a:close/>
                </a:path>
                <a:path w="121919" h="345439">
                  <a:moveTo>
                    <a:pt x="121391" y="277781"/>
                  </a:moveTo>
                  <a:lnTo>
                    <a:pt x="114844" y="277781"/>
                  </a:lnTo>
                  <a:lnTo>
                    <a:pt x="113729" y="280488"/>
                  </a:lnTo>
                  <a:lnTo>
                    <a:pt x="121391" y="280488"/>
                  </a:lnTo>
                  <a:lnTo>
                    <a:pt x="121391" y="277781"/>
                  </a:lnTo>
                  <a:close/>
                </a:path>
                <a:path w="121919" h="345439">
                  <a:moveTo>
                    <a:pt x="118667" y="1098"/>
                  </a:moveTo>
                  <a:lnTo>
                    <a:pt x="114844" y="1098"/>
                  </a:lnTo>
                  <a:lnTo>
                    <a:pt x="120275" y="6512"/>
                  </a:lnTo>
                  <a:lnTo>
                    <a:pt x="113729" y="13084"/>
                  </a:lnTo>
                  <a:lnTo>
                    <a:pt x="113729" y="278900"/>
                  </a:lnTo>
                  <a:lnTo>
                    <a:pt x="114844" y="277781"/>
                  </a:lnTo>
                  <a:lnTo>
                    <a:pt x="121391" y="277781"/>
                  </a:lnTo>
                  <a:lnTo>
                    <a:pt x="121391" y="3805"/>
                  </a:lnTo>
                  <a:lnTo>
                    <a:pt x="118667" y="1098"/>
                  </a:lnTo>
                  <a:close/>
                </a:path>
                <a:path w="121919" h="345439">
                  <a:moveTo>
                    <a:pt x="13033" y="60931"/>
                  </a:moveTo>
                  <a:lnTo>
                    <a:pt x="3832" y="60931"/>
                  </a:lnTo>
                  <a:lnTo>
                    <a:pt x="3832" y="68582"/>
                  </a:lnTo>
                  <a:lnTo>
                    <a:pt x="7661" y="68582"/>
                  </a:lnTo>
                  <a:lnTo>
                    <a:pt x="7661" y="67444"/>
                  </a:lnTo>
                  <a:lnTo>
                    <a:pt x="6546" y="67444"/>
                  </a:lnTo>
                  <a:lnTo>
                    <a:pt x="7661" y="64737"/>
                  </a:lnTo>
                  <a:lnTo>
                    <a:pt x="9242" y="64737"/>
                  </a:lnTo>
                  <a:lnTo>
                    <a:pt x="13033" y="60931"/>
                  </a:lnTo>
                  <a:close/>
                </a:path>
                <a:path w="121919" h="345439">
                  <a:moveTo>
                    <a:pt x="55245" y="60931"/>
                  </a:moveTo>
                  <a:lnTo>
                    <a:pt x="13033" y="60931"/>
                  </a:lnTo>
                  <a:lnTo>
                    <a:pt x="7661" y="66324"/>
                  </a:lnTo>
                  <a:lnTo>
                    <a:pt x="7661" y="68582"/>
                  </a:lnTo>
                  <a:lnTo>
                    <a:pt x="53036" y="68582"/>
                  </a:lnTo>
                  <a:lnTo>
                    <a:pt x="53036" y="64737"/>
                  </a:lnTo>
                  <a:lnTo>
                    <a:pt x="62278" y="64737"/>
                  </a:lnTo>
                  <a:lnTo>
                    <a:pt x="64975" y="62029"/>
                  </a:lnTo>
                  <a:lnTo>
                    <a:pt x="54151" y="62029"/>
                  </a:lnTo>
                  <a:lnTo>
                    <a:pt x="55245" y="60931"/>
                  </a:lnTo>
                  <a:close/>
                </a:path>
                <a:path w="121919" h="345439">
                  <a:moveTo>
                    <a:pt x="60697" y="66324"/>
                  </a:moveTo>
                  <a:lnTo>
                    <a:pt x="59582" y="67444"/>
                  </a:lnTo>
                  <a:lnTo>
                    <a:pt x="56864" y="68582"/>
                  </a:lnTo>
                  <a:lnTo>
                    <a:pt x="60697" y="68582"/>
                  </a:lnTo>
                  <a:lnTo>
                    <a:pt x="60697" y="66324"/>
                  </a:lnTo>
                  <a:close/>
                </a:path>
                <a:path w="121919" h="345439">
                  <a:moveTo>
                    <a:pt x="7661" y="64737"/>
                  </a:moveTo>
                  <a:lnTo>
                    <a:pt x="6546" y="67444"/>
                  </a:lnTo>
                  <a:lnTo>
                    <a:pt x="7661" y="66324"/>
                  </a:lnTo>
                  <a:lnTo>
                    <a:pt x="7661" y="64737"/>
                  </a:lnTo>
                  <a:close/>
                </a:path>
                <a:path w="121919" h="345439">
                  <a:moveTo>
                    <a:pt x="7661" y="66324"/>
                  </a:moveTo>
                  <a:lnTo>
                    <a:pt x="6546" y="67444"/>
                  </a:lnTo>
                  <a:lnTo>
                    <a:pt x="7661" y="67444"/>
                  </a:lnTo>
                  <a:lnTo>
                    <a:pt x="7661" y="66324"/>
                  </a:lnTo>
                  <a:close/>
                </a:path>
                <a:path w="121919" h="345439">
                  <a:moveTo>
                    <a:pt x="9242" y="64737"/>
                  </a:moveTo>
                  <a:lnTo>
                    <a:pt x="7661" y="64737"/>
                  </a:lnTo>
                  <a:lnTo>
                    <a:pt x="7661" y="66324"/>
                  </a:lnTo>
                  <a:lnTo>
                    <a:pt x="9242" y="64737"/>
                  </a:lnTo>
                  <a:close/>
                </a:path>
                <a:path w="121919" h="345439">
                  <a:moveTo>
                    <a:pt x="62278" y="64737"/>
                  </a:moveTo>
                  <a:lnTo>
                    <a:pt x="60697" y="64737"/>
                  </a:lnTo>
                  <a:lnTo>
                    <a:pt x="60697" y="66324"/>
                  </a:lnTo>
                  <a:lnTo>
                    <a:pt x="62278" y="64737"/>
                  </a:lnTo>
                  <a:close/>
                </a:path>
                <a:path w="121919" h="345439">
                  <a:moveTo>
                    <a:pt x="114844" y="1098"/>
                  </a:moveTo>
                  <a:lnTo>
                    <a:pt x="54151" y="62029"/>
                  </a:lnTo>
                  <a:lnTo>
                    <a:pt x="56864" y="60931"/>
                  </a:lnTo>
                  <a:lnTo>
                    <a:pt x="66069" y="60931"/>
                  </a:lnTo>
                  <a:lnTo>
                    <a:pt x="113729" y="13084"/>
                  </a:lnTo>
                  <a:lnTo>
                    <a:pt x="113729" y="3805"/>
                  </a:lnTo>
                  <a:lnTo>
                    <a:pt x="117560" y="3805"/>
                  </a:lnTo>
                  <a:lnTo>
                    <a:pt x="114844" y="1098"/>
                  </a:lnTo>
                  <a:close/>
                </a:path>
                <a:path w="121919" h="345439">
                  <a:moveTo>
                    <a:pt x="66069" y="60931"/>
                  </a:moveTo>
                  <a:lnTo>
                    <a:pt x="56864" y="60931"/>
                  </a:lnTo>
                  <a:lnTo>
                    <a:pt x="54151" y="62029"/>
                  </a:lnTo>
                  <a:lnTo>
                    <a:pt x="64975" y="62029"/>
                  </a:lnTo>
                  <a:lnTo>
                    <a:pt x="66069" y="60931"/>
                  </a:lnTo>
                  <a:close/>
                </a:path>
                <a:path w="121919" h="345439">
                  <a:moveTo>
                    <a:pt x="113729" y="3805"/>
                  </a:moveTo>
                  <a:lnTo>
                    <a:pt x="113729" y="13084"/>
                  </a:lnTo>
                  <a:lnTo>
                    <a:pt x="119142" y="7650"/>
                  </a:lnTo>
                  <a:lnTo>
                    <a:pt x="117562" y="7650"/>
                  </a:lnTo>
                  <a:lnTo>
                    <a:pt x="113729" y="3805"/>
                  </a:lnTo>
                  <a:close/>
                </a:path>
                <a:path w="121919" h="345439">
                  <a:moveTo>
                    <a:pt x="67239" y="6512"/>
                  </a:moveTo>
                  <a:lnTo>
                    <a:pt x="64526" y="7650"/>
                  </a:lnTo>
                  <a:lnTo>
                    <a:pt x="66106" y="7650"/>
                  </a:lnTo>
                  <a:lnTo>
                    <a:pt x="67239" y="6512"/>
                  </a:lnTo>
                  <a:close/>
                </a:path>
                <a:path w="121919" h="345439">
                  <a:moveTo>
                    <a:pt x="109451" y="6512"/>
                  </a:moveTo>
                  <a:lnTo>
                    <a:pt x="67239" y="6512"/>
                  </a:lnTo>
                  <a:lnTo>
                    <a:pt x="66106" y="7650"/>
                  </a:lnTo>
                  <a:lnTo>
                    <a:pt x="108318" y="7650"/>
                  </a:lnTo>
                  <a:lnTo>
                    <a:pt x="109451" y="6512"/>
                  </a:lnTo>
                  <a:close/>
                </a:path>
                <a:path w="121919" h="345439">
                  <a:moveTo>
                    <a:pt x="117560" y="3805"/>
                  </a:moveTo>
                  <a:lnTo>
                    <a:pt x="113729" y="3805"/>
                  </a:lnTo>
                  <a:lnTo>
                    <a:pt x="117562" y="7650"/>
                  </a:lnTo>
                  <a:lnTo>
                    <a:pt x="119142" y="7650"/>
                  </a:lnTo>
                  <a:lnTo>
                    <a:pt x="120275" y="6512"/>
                  </a:lnTo>
                  <a:lnTo>
                    <a:pt x="117560" y="38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5862" y="3833196"/>
              <a:ext cx="125502" cy="1254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594796" y="3738703"/>
              <a:ext cx="606425" cy="260350"/>
            </a:xfrm>
            <a:custGeom>
              <a:avLst/>
              <a:gdLst/>
              <a:ahLst/>
              <a:cxnLst/>
              <a:rect l="l" t="t" r="r" b="b"/>
              <a:pathLst>
                <a:path w="606425" h="260350">
                  <a:moveTo>
                    <a:pt x="0" y="58891"/>
                  </a:moveTo>
                  <a:lnTo>
                    <a:pt x="0" y="58891"/>
                  </a:lnTo>
                  <a:lnTo>
                    <a:pt x="606071" y="156585"/>
                  </a:lnTo>
                </a:path>
                <a:path w="606425" h="260350">
                  <a:moveTo>
                    <a:pt x="55097" y="0"/>
                  </a:moveTo>
                  <a:lnTo>
                    <a:pt x="55097" y="0"/>
                  </a:lnTo>
                  <a:lnTo>
                    <a:pt x="604893" y="159253"/>
                  </a:lnTo>
                </a:path>
                <a:path w="606425" h="260350">
                  <a:moveTo>
                    <a:pt x="66882" y="259929"/>
                  </a:moveTo>
                  <a:lnTo>
                    <a:pt x="66882" y="259929"/>
                  </a:lnTo>
                  <a:lnTo>
                    <a:pt x="606071" y="157173"/>
                  </a:lnTo>
                </a:path>
              </a:pathLst>
            </a:custGeom>
            <a:ln w="7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4287" y="3421138"/>
              <a:ext cx="400685" cy="1145540"/>
            </a:xfrm>
            <a:custGeom>
              <a:avLst/>
              <a:gdLst/>
              <a:ahLst/>
              <a:cxnLst/>
              <a:rect l="l" t="t" r="r" b="b"/>
              <a:pathLst>
                <a:path w="400685" h="1145539">
                  <a:moveTo>
                    <a:pt x="396573" y="0"/>
                  </a:moveTo>
                  <a:lnTo>
                    <a:pt x="309071" y="0"/>
                  </a:lnTo>
                  <a:lnTo>
                    <a:pt x="306361" y="1098"/>
                  </a:lnTo>
                  <a:lnTo>
                    <a:pt x="1121" y="306030"/>
                  </a:lnTo>
                  <a:lnTo>
                    <a:pt x="0" y="308737"/>
                  </a:lnTo>
                  <a:lnTo>
                    <a:pt x="0" y="1141716"/>
                  </a:lnTo>
                  <a:lnTo>
                    <a:pt x="3830" y="1145543"/>
                  </a:lnTo>
                  <a:lnTo>
                    <a:pt x="91334" y="1145543"/>
                  </a:lnTo>
                  <a:lnTo>
                    <a:pt x="94044" y="1144422"/>
                  </a:lnTo>
                  <a:lnTo>
                    <a:pt x="96752" y="1141716"/>
                  </a:lnTo>
                  <a:lnTo>
                    <a:pt x="7660" y="1141716"/>
                  </a:lnTo>
                  <a:lnTo>
                    <a:pt x="3830" y="1137890"/>
                  </a:lnTo>
                  <a:lnTo>
                    <a:pt x="7660" y="1137890"/>
                  </a:lnTo>
                  <a:lnTo>
                    <a:pt x="7660" y="312582"/>
                  </a:lnTo>
                  <a:lnTo>
                    <a:pt x="3830" y="312582"/>
                  </a:lnTo>
                  <a:lnTo>
                    <a:pt x="3830" y="304931"/>
                  </a:lnTo>
                  <a:lnTo>
                    <a:pt x="13058" y="304931"/>
                  </a:lnTo>
                  <a:lnTo>
                    <a:pt x="310641" y="7650"/>
                  </a:lnTo>
                  <a:lnTo>
                    <a:pt x="309071" y="7650"/>
                  </a:lnTo>
                  <a:lnTo>
                    <a:pt x="311780" y="6512"/>
                  </a:lnTo>
                  <a:lnTo>
                    <a:pt x="388444" y="6512"/>
                  </a:lnTo>
                  <a:lnTo>
                    <a:pt x="393864" y="1098"/>
                  </a:lnTo>
                  <a:lnTo>
                    <a:pt x="397684" y="1098"/>
                  </a:lnTo>
                  <a:lnTo>
                    <a:pt x="396573" y="0"/>
                  </a:lnTo>
                  <a:close/>
                </a:path>
                <a:path w="400685" h="1145539">
                  <a:moveTo>
                    <a:pt x="7660" y="1137890"/>
                  </a:moveTo>
                  <a:lnTo>
                    <a:pt x="3830" y="1137890"/>
                  </a:lnTo>
                  <a:lnTo>
                    <a:pt x="7660" y="1141716"/>
                  </a:lnTo>
                  <a:lnTo>
                    <a:pt x="7660" y="1137890"/>
                  </a:lnTo>
                  <a:close/>
                </a:path>
                <a:path w="400685" h="1145539">
                  <a:moveTo>
                    <a:pt x="87506" y="1137890"/>
                  </a:moveTo>
                  <a:lnTo>
                    <a:pt x="7660" y="1137890"/>
                  </a:lnTo>
                  <a:lnTo>
                    <a:pt x="7660" y="1141716"/>
                  </a:lnTo>
                  <a:lnTo>
                    <a:pt x="87506" y="1141716"/>
                  </a:lnTo>
                  <a:lnTo>
                    <a:pt x="87506" y="1137890"/>
                  </a:lnTo>
                  <a:close/>
                </a:path>
                <a:path w="400685" h="1145539">
                  <a:moveTo>
                    <a:pt x="95167" y="308737"/>
                  </a:moveTo>
                  <a:lnTo>
                    <a:pt x="87506" y="308737"/>
                  </a:lnTo>
                  <a:lnTo>
                    <a:pt x="87506" y="1141716"/>
                  </a:lnTo>
                  <a:lnTo>
                    <a:pt x="95167" y="1141716"/>
                  </a:lnTo>
                  <a:lnTo>
                    <a:pt x="95167" y="1139011"/>
                  </a:lnTo>
                  <a:lnTo>
                    <a:pt x="88629" y="1139011"/>
                  </a:lnTo>
                  <a:lnTo>
                    <a:pt x="95167" y="1132479"/>
                  </a:lnTo>
                  <a:lnTo>
                    <a:pt x="95167" y="312582"/>
                  </a:lnTo>
                  <a:lnTo>
                    <a:pt x="91334" y="312582"/>
                  </a:lnTo>
                  <a:lnTo>
                    <a:pt x="94044" y="311444"/>
                  </a:lnTo>
                  <a:lnTo>
                    <a:pt x="95166" y="310323"/>
                  </a:lnTo>
                  <a:lnTo>
                    <a:pt x="95167" y="308737"/>
                  </a:lnTo>
                  <a:close/>
                </a:path>
                <a:path w="400685" h="1145539">
                  <a:moveTo>
                    <a:pt x="392764" y="835179"/>
                  </a:moveTo>
                  <a:lnTo>
                    <a:pt x="95167" y="1132479"/>
                  </a:lnTo>
                  <a:lnTo>
                    <a:pt x="95167" y="1141716"/>
                  </a:lnTo>
                  <a:lnTo>
                    <a:pt x="96752" y="1141716"/>
                  </a:lnTo>
                  <a:lnTo>
                    <a:pt x="399283" y="839491"/>
                  </a:lnTo>
                  <a:lnTo>
                    <a:pt x="400422" y="836784"/>
                  </a:lnTo>
                  <a:lnTo>
                    <a:pt x="392764" y="836784"/>
                  </a:lnTo>
                  <a:lnTo>
                    <a:pt x="392764" y="835179"/>
                  </a:lnTo>
                  <a:close/>
                </a:path>
                <a:path w="400685" h="1145539">
                  <a:moveTo>
                    <a:pt x="95167" y="1132479"/>
                  </a:moveTo>
                  <a:lnTo>
                    <a:pt x="88629" y="1139011"/>
                  </a:lnTo>
                  <a:lnTo>
                    <a:pt x="91334" y="1137890"/>
                  </a:lnTo>
                  <a:lnTo>
                    <a:pt x="95167" y="1137890"/>
                  </a:lnTo>
                  <a:lnTo>
                    <a:pt x="95167" y="1132479"/>
                  </a:lnTo>
                  <a:close/>
                </a:path>
                <a:path w="400685" h="1145539">
                  <a:moveTo>
                    <a:pt x="95167" y="1137890"/>
                  </a:moveTo>
                  <a:lnTo>
                    <a:pt x="91334" y="1137890"/>
                  </a:lnTo>
                  <a:lnTo>
                    <a:pt x="88629" y="1139011"/>
                  </a:lnTo>
                  <a:lnTo>
                    <a:pt x="95167" y="1139011"/>
                  </a:lnTo>
                  <a:lnTo>
                    <a:pt x="95167" y="1137890"/>
                  </a:lnTo>
                  <a:close/>
                </a:path>
                <a:path w="400685" h="1145539">
                  <a:moveTo>
                    <a:pt x="393864" y="834081"/>
                  </a:moveTo>
                  <a:lnTo>
                    <a:pt x="392764" y="835179"/>
                  </a:lnTo>
                  <a:lnTo>
                    <a:pt x="392764" y="836784"/>
                  </a:lnTo>
                  <a:lnTo>
                    <a:pt x="393864" y="834081"/>
                  </a:lnTo>
                  <a:close/>
                </a:path>
                <a:path w="400685" h="1145539">
                  <a:moveTo>
                    <a:pt x="400422" y="834081"/>
                  </a:moveTo>
                  <a:lnTo>
                    <a:pt x="393864" y="834081"/>
                  </a:lnTo>
                  <a:lnTo>
                    <a:pt x="392764" y="836784"/>
                  </a:lnTo>
                  <a:lnTo>
                    <a:pt x="400422" y="836784"/>
                  </a:lnTo>
                  <a:lnTo>
                    <a:pt x="400422" y="834081"/>
                  </a:lnTo>
                  <a:close/>
                </a:path>
                <a:path w="400685" h="1145539">
                  <a:moveTo>
                    <a:pt x="397684" y="1098"/>
                  </a:moveTo>
                  <a:lnTo>
                    <a:pt x="393864" y="1098"/>
                  </a:lnTo>
                  <a:lnTo>
                    <a:pt x="399283" y="6512"/>
                  </a:lnTo>
                  <a:lnTo>
                    <a:pt x="392764" y="13024"/>
                  </a:lnTo>
                  <a:lnTo>
                    <a:pt x="392764" y="835179"/>
                  </a:lnTo>
                  <a:lnTo>
                    <a:pt x="393864" y="834081"/>
                  </a:lnTo>
                  <a:lnTo>
                    <a:pt x="400422" y="834081"/>
                  </a:lnTo>
                  <a:lnTo>
                    <a:pt x="400421" y="3805"/>
                  </a:lnTo>
                  <a:lnTo>
                    <a:pt x="397684" y="1098"/>
                  </a:lnTo>
                  <a:close/>
                </a:path>
                <a:path w="400685" h="1145539">
                  <a:moveTo>
                    <a:pt x="13058" y="304931"/>
                  </a:moveTo>
                  <a:lnTo>
                    <a:pt x="3830" y="304931"/>
                  </a:lnTo>
                  <a:lnTo>
                    <a:pt x="3830" y="312582"/>
                  </a:lnTo>
                  <a:lnTo>
                    <a:pt x="7660" y="312582"/>
                  </a:lnTo>
                  <a:lnTo>
                    <a:pt x="7660" y="311444"/>
                  </a:lnTo>
                  <a:lnTo>
                    <a:pt x="6538" y="311444"/>
                  </a:lnTo>
                  <a:lnTo>
                    <a:pt x="7660" y="308737"/>
                  </a:lnTo>
                  <a:lnTo>
                    <a:pt x="9248" y="308737"/>
                  </a:lnTo>
                  <a:lnTo>
                    <a:pt x="13058" y="304931"/>
                  </a:lnTo>
                  <a:close/>
                </a:path>
                <a:path w="400685" h="1145539">
                  <a:moveTo>
                    <a:pt x="89728" y="304931"/>
                  </a:moveTo>
                  <a:lnTo>
                    <a:pt x="13058" y="304931"/>
                  </a:lnTo>
                  <a:lnTo>
                    <a:pt x="7660" y="310323"/>
                  </a:lnTo>
                  <a:lnTo>
                    <a:pt x="7660" y="312582"/>
                  </a:lnTo>
                  <a:lnTo>
                    <a:pt x="87506" y="312582"/>
                  </a:lnTo>
                  <a:lnTo>
                    <a:pt x="87506" y="308737"/>
                  </a:lnTo>
                  <a:lnTo>
                    <a:pt x="96754" y="308737"/>
                  </a:lnTo>
                  <a:lnTo>
                    <a:pt x="99464" y="306030"/>
                  </a:lnTo>
                  <a:lnTo>
                    <a:pt x="88629" y="306030"/>
                  </a:lnTo>
                  <a:lnTo>
                    <a:pt x="89728" y="304931"/>
                  </a:lnTo>
                  <a:close/>
                </a:path>
                <a:path w="400685" h="1145539">
                  <a:moveTo>
                    <a:pt x="95167" y="310323"/>
                  </a:moveTo>
                  <a:lnTo>
                    <a:pt x="94044" y="311444"/>
                  </a:lnTo>
                  <a:lnTo>
                    <a:pt x="91334" y="312582"/>
                  </a:lnTo>
                  <a:lnTo>
                    <a:pt x="95167" y="312582"/>
                  </a:lnTo>
                  <a:lnTo>
                    <a:pt x="95167" y="310323"/>
                  </a:lnTo>
                  <a:close/>
                </a:path>
                <a:path w="400685" h="1145539">
                  <a:moveTo>
                    <a:pt x="7660" y="308737"/>
                  </a:moveTo>
                  <a:lnTo>
                    <a:pt x="6538" y="311444"/>
                  </a:lnTo>
                  <a:lnTo>
                    <a:pt x="7660" y="310323"/>
                  </a:lnTo>
                  <a:lnTo>
                    <a:pt x="7660" y="308737"/>
                  </a:lnTo>
                  <a:close/>
                </a:path>
                <a:path w="400685" h="1145539">
                  <a:moveTo>
                    <a:pt x="7660" y="310323"/>
                  </a:moveTo>
                  <a:lnTo>
                    <a:pt x="6538" y="311444"/>
                  </a:lnTo>
                  <a:lnTo>
                    <a:pt x="7660" y="311444"/>
                  </a:lnTo>
                  <a:lnTo>
                    <a:pt x="7660" y="310323"/>
                  </a:lnTo>
                  <a:close/>
                </a:path>
                <a:path w="400685" h="1145539">
                  <a:moveTo>
                    <a:pt x="9248" y="308737"/>
                  </a:moveTo>
                  <a:lnTo>
                    <a:pt x="7660" y="308737"/>
                  </a:lnTo>
                  <a:lnTo>
                    <a:pt x="7660" y="310323"/>
                  </a:lnTo>
                  <a:lnTo>
                    <a:pt x="9248" y="308737"/>
                  </a:lnTo>
                  <a:close/>
                </a:path>
                <a:path w="400685" h="1145539">
                  <a:moveTo>
                    <a:pt x="96754" y="308737"/>
                  </a:moveTo>
                  <a:lnTo>
                    <a:pt x="95167" y="308737"/>
                  </a:lnTo>
                  <a:lnTo>
                    <a:pt x="95167" y="310323"/>
                  </a:lnTo>
                  <a:lnTo>
                    <a:pt x="96754" y="308737"/>
                  </a:lnTo>
                  <a:close/>
                </a:path>
                <a:path w="400685" h="1145539">
                  <a:moveTo>
                    <a:pt x="393864" y="1098"/>
                  </a:moveTo>
                  <a:lnTo>
                    <a:pt x="88629" y="306030"/>
                  </a:lnTo>
                  <a:lnTo>
                    <a:pt x="91334" y="304931"/>
                  </a:lnTo>
                  <a:lnTo>
                    <a:pt x="100563" y="304931"/>
                  </a:lnTo>
                  <a:lnTo>
                    <a:pt x="392764" y="13024"/>
                  </a:lnTo>
                  <a:lnTo>
                    <a:pt x="392764" y="3805"/>
                  </a:lnTo>
                  <a:lnTo>
                    <a:pt x="396573" y="3805"/>
                  </a:lnTo>
                  <a:lnTo>
                    <a:pt x="393864" y="1098"/>
                  </a:lnTo>
                  <a:close/>
                </a:path>
                <a:path w="400685" h="1145539">
                  <a:moveTo>
                    <a:pt x="100563" y="304931"/>
                  </a:moveTo>
                  <a:lnTo>
                    <a:pt x="91334" y="304931"/>
                  </a:lnTo>
                  <a:lnTo>
                    <a:pt x="88629" y="306030"/>
                  </a:lnTo>
                  <a:lnTo>
                    <a:pt x="99464" y="306030"/>
                  </a:lnTo>
                  <a:lnTo>
                    <a:pt x="100563" y="304931"/>
                  </a:lnTo>
                  <a:close/>
                </a:path>
                <a:path w="400685" h="1145539">
                  <a:moveTo>
                    <a:pt x="392764" y="3805"/>
                  </a:moveTo>
                  <a:lnTo>
                    <a:pt x="392764" y="13024"/>
                  </a:lnTo>
                  <a:lnTo>
                    <a:pt x="398144" y="7650"/>
                  </a:lnTo>
                  <a:lnTo>
                    <a:pt x="396573" y="7650"/>
                  </a:lnTo>
                  <a:lnTo>
                    <a:pt x="392764" y="3805"/>
                  </a:lnTo>
                  <a:close/>
                </a:path>
                <a:path w="400685" h="1145539">
                  <a:moveTo>
                    <a:pt x="311780" y="6512"/>
                  </a:moveTo>
                  <a:lnTo>
                    <a:pt x="309071" y="7650"/>
                  </a:lnTo>
                  <a:lnTo>
                    <a:pt x="310641" y="7650"/>
                  </a:lnTo>
                  <a:lnTo>
                    <a:pt x="311780" y="6512"/>
                  </a:lnTo>
                  <a:close/>
                </a:path>
                <a:path w="400685" h="1145539">
                  <a:moveTo>
                    <a:pt x="388444" y="6512"/>
                  </a:moveTo>
                  <a:lnTo>
                    <a:pt x="311780" y="6512"/>
                  </a:lnTo>
                  <a:lnTo>
                    <a:pt x="310641" y="7650"/>
                  </a:lnTo>
                  <a:lnTo>
                    <a:pt x="387305" y="7650"/>
                  </a:lnTo>
                  <a:lnTo>
                    <a:pt x="388444" y="6512"/>
                  </a:lnTo>
                  <a:close/>
                </a:path>
                <a:path w="400685" h="1145539">
                  <a:moveTo>
                    <a:pt x="396573" y="3805"/>
                  </a:moveTo>
                  <a:lnTo>
                    <a:pt x="392764" y="3805"/>
                  </a:lnTo>
                  <a:lnTo>
                    <a:pt x="396573" y="7650"/>
                  </a:lnTo>
                  <a:lnTo>
                    <a:pt x="398144" y="7650"/>
                  </a:lnTo>
                  <a:lnTo>
                    <a:pt x="399283" y="6512"/>
                  </a:lnTo>
                  <a:lnTo>
                    <a:pt x="396573" y="38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5396" y="4399824"/>
            <a:ext cx="2228385" cy="174127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836936" y="1293228"/>
            <a:ext cx="8101911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  <a:tabLst>
                <a:tab pos="4781189" algn="l"/>
              </a:tabLst>
            </a:pPr>
            <a:r>
              <a:rPr sz="3129" spc="-27" dirty="0">
                <a:latin typeface="Tahoma"/>
                <a:cs typeface="Tahoma"/>
              </a:rPr>
              <a:t>Fully-</a:t>
            </a:r>
            <a:r>
              <a:rPr sz="3129" spc="-33" dirty="0">
                <a:latin typeface="Tahoma"/>
                <a:cs typeface="Tahoma"/>
              </a:rPr>
              <a:t>Connected</a:t>
            </a:r>
            <a:r>
              <a:rPr sz="3129" spc="-18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Layer</a:t>
            </a:r>
            <a:r>
              <a:rPr sz="3129" dirty="0">
                <a:latin typeface="Tahoma"/>
                <a:cs typeface="Tahoma"/>
              </a:rPr>
              <a:t>	</a:t>
            </a:r>
            <a:r>
              <a:rPr sz="3129" spc="-13" dirty="0">
                <a:latin typeface="Tahoma"/>
                <a:cs typeface="Tahoma"/>
              </a:rPr>
              <a:t>Activation</a:t>
            </a:r>
            <a:r>
              <a:rPr sz="3129" spc="-220" dirty="0">
                <a:latin typeface="Tahoma"/>
                <a:cs typeface="Tahoma"/>
              </a:rPr>
              <a:t> </a:t>
            </a:r>
            <a:r>
              <a:rPr sz="3129" spc="-13" dirty="0">
                <a:latin typeface="Tahoma"/>
                <a:cs typeface="Tahoma"/>
              </a:rPr>
              <a:t>Function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90407" y="3840310"/>
            <a:ext cx="3130495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dirty="0">
                <a:latin typeface="Tahoma"/>
                <a:cs typeface="Tahoma"/>
              </a:rPr>
              <a:t>Convolution</a:t>
            </a:r>
            <a:r>
              <a:rPr sz="3129" spc="-266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Layer</a:t>
            </a:r>
            <a:endParaRPr sz="3129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6879" y="3840310"/>
            <a:ext cx="2343220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dirty="0">
                <a:latin typeface="Tahoma"/>
                <a:cs typeface="Tahoma"/>
              </a:rPr>
              <a:t>Pooling</a:t>
            </a:r>
            <a:r>
              <a:rPr sz="3129" spc="-260" dirty="0">
                <a:latin typeface="Tahoma"/>
                <a:cs typeface="Tahoma"/>
              </a:rPr>
              <a:t> </a:t>
            </a:r>
            <a:r>
              <a:rPr sz="3129" spc="-27" dirty="0">
                <a:latin typeface="Tahoma"/>
                <a:cs typeface="Tahoma"/>
              </a:rPr>
              <a:t>Layer</a:t>
            </a:r>
            <a:endParaRPr sz="3129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8426" y="1291011"/>
            <a:ext cx="1304796" cy="3707210"/>
            <a:chOff x="301053" y="969454"/>
            <a:chExt cx="979805" cy="2783840"/>
          </a:xfrm>
        </p:grpSpPr>
        <p:sp>
          <p:nvSpPr>
            <p:cNvPr id="3" name="object 3"/>
            <p:cNvSpPr/>
            <p:nvPr/>
          </p:nvSpPr>
          <p:spPr>
            <a:xfrm>
              <a:off x="310895" y="1726056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524890" y="979296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01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" name="object 5"/>
            <p:cNvSpPr/>
            <p:nvPr/>
          </p:nvSpPr>
          <p:spPr>
            <a:xfrm>
              <a:off x="310895" y="979296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6" name="object 6"/>
            <p:cNvSpPr/>
            <p:nvPr/>
          </p:nvSpPr>
          <p:spPr>
            <a:xfrm>
              <a:off x="310895" y="979296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01"/>
                  </a:lnTo>
                  <a:lnTo>
                    <a:pt x="0" y="2763901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4" y="746760"/>
                  </a:moveTo>
                  <a:lnTo>
                    <a:pt x="213994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3651" y="4462520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9104" y="1692429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097" y="4985301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8117" y="1120365"/>
            <a:ext cx="1304796" cy="3707210"/>
            <a:chOff x="3281997" y="841311"/>
            <a:chExt cx="979805" cy="2783840"/>
          </a:xfrm>
        </p:grpSpPr>
        <p:sp>
          <p:nvSpPr>
            <p:cNvPr id="11" name="object 11"/>
            <p:cNvSpPr/>
            <p:nvPr/>
          </p:nvSpPr>
          <p:spPr>
            <a:xfrm>
              <a:off x="3291839" y="15979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2" name="object 12"/>
            <p:cNvSpPr/>
            <p:nvPr/>
          </p:nvSpPr>
          <p:spPr>
            <a:xfrm>
              <a:off x="3505834" y="851153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59"/>
                  </a:lnTo>
                  <a:lnTo>
                    <a:pt x="0" y="2763901"/>
                  </a:lnTo>
                  <a:lnTo>
                    <a:pt x="746125" y="2017140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3" name="object 13"/>
            <p:cNvSpPr/>
            <p:nvPr/>
          </p:nvSpPr>
          <p:spPr>
            <a:xfrm>
              <a:off x="3291839" y="851153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20" y="0"/>
                  </a:moveTo>
                  <a:lnTo>
                    <a:pt x="746125" y="0"/>
                  </a:lnTo>
                  <a:lnTo>
                    <a:pt x="0" y="746759"/>
                  </a:lnTo>
                  <a:lnTo>
                    <a:pt x="213995" y="74675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4" name="object 14"/>
            <p:cNvSpPr/>
            <p:nvPr/>
          </p:nvSpPr>
          <p:spPr>
            <a:xfrm>
              <a:off x="3291839" y="851153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59"/>
                  </a:moveTo>
                  <a:lnTo>
                    <a:pt x="746125" y="0"/>
                  </a:lnTo>
                  <a:lnTo>
                    <a:pt x="960120" y="0"/>
                  </a:lnTo>
                  <a:lnTo>
                    <a:pt x="960120" y="2017140"/>
                  </a:lnTo>
                  <a:lnTo>
                    <a:pt x="213995" y="2763901"/>
                  </a:lnTo>
                  <a:lnTo>
                    <a:pt x="0" y="2763901"/>
                  </a:lnTo>
                  <a:lnTo>
                    <a:pt x="0" y="746759"/>
                  </a:lnTo>
                  <a:close/>
                </a:path>
                <a:path w="960120" h="2764154">
                  <a:moveTo>
                    <a:pt x="0" y="746759"/>
                  </a:moveTo>
                  <a:lnTo>
                    <a:pt x="213995" y="746759"/>
                  </a:lnTo>
                  <a:lnTo>
                    <a:pt x="960120" y="0"/>
                  </a:lnTo>
                </a:path>
                <a:path w="960120" h="2764154">
                  <a:moveTo>
                    <a:pt x="213995" y="746759"/>
                  </a:moveTo>
                  <a:lnTo>
                    <a:pt x="213995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42306" y="425551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38423" y="1579454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0628" y="2857968"/>
            <a:ext cx="816026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162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Conv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6483" y="3026651"/>
            <a:ext cx="335373" cy="10147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167438" y="2857968"/>
            <a:ext cx="950480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754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ReLU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0557" y="3038828"/>
            <a:ext cx="283622" cy="1014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7244" y="3026651"/>
            <a:ext cx="279901" cy="1014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3822" y="2413170"/>
            <a:ext cx="5759704" cy="121877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71645" y="3753804"/>
            <a:ext cx="5782368" cy="123097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518304" y="1834747"/>
            <a:ext cx="5073736" cy="385961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sz="2397" spc="-47" dirty="0">
                <a:latin typeface="Tahoma"/>
                <a:cs typeface="Tahoma"/>
              </a:rPr>
              <a:t>Linear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60" dirty="0">
                <a:latin typeface="Tahoma"/>
                <a:cs typeface="Tahoma"/>
              </a:rPr>
              <a:t>classifier:</a:t>
            </a:r>
            <a:r>
              <a:rPr sz="2397" spc="-240" dirty="0">
                <a:latin typeface="Tahoma"/>
                <a:cs typeface="Tahoma"/>
              </a:rPr>
              <a:t> </a:t>
            </a:r>
            <a:r>
              <a:rPr sz="2397" spc="-93" dirty="0">
                <a:latin typeface="Tahoma"/>
                <a:cs typeface="Tahoma"/>
              </a:rPr>
              <a:t>One</a:t>
            </a:r>
            <a:r>
              <a:rPr sz="2397" spc="-146" dirty="0">
                <a:latin typeface="Tahoma"/>
                <a:cs typeface="Tahoma"/>
              </a:rPr>
              <a:t> </a:t>
            </a:r>
            <a:r>
              <a:rPr sz="2397" spc="-33" dirty="0">
                <a:latin typeface="Tahoma"/>
                <a:cs typeface="Tahoma"/>
              </a:rPr>
              <a:t>template</a:t>
            </a:r>
            <a:r>
              <a:rPr sz="2397" spc="-253" dirty="0">
                <a:latin typeface="Tahoma"/>
                <a:cs typeface="Tahoma"/>
              </a:rPr>
              <a:t> </a:t>
            </a:r>
            <a:r>
              <a:rPr sz="2397" spc="-60" dirty="0">
                <a:latin typeface="Tahoma"/>
                <a:cs typeface="Tahoma"/>
              </a:rPr>
              <a:t>per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class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424766" y="637907"/>
            <a:ext cx="6679861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146" dirty="0"/>
              <a:t>What</a:t>
            </a:r>
            <a:r>
              <a:rPr sz="3995" spc="-466" dirty="0"/>
              <a:t> </a:t>
            </a:r>
            <a:r>
              <a:rPr sz="3995" dirty="0"/>
              <a:t>do</a:t>
            </a:r>
            <a:r>
              <a:rPr sz="3995" spc="-426" dirty="0"/>
              <a:t> </a:t>
            </a:r>
            <a:r>
              <a:rPr sz="3995" spc="-100" dirty="0"/>
              <a:t>Conv</a:t>
            </a:r>
            <a:r>
              <a:rPr sz="3995" spc="-413" dirty="0"/>
              <a:t> </a:t>
            </a:r>
            <a:r>
              <a:rPr sz="3995" spc="-47" dirty="0"/>
              <a:t>filters</a:t>
            </a:r>
            <a:r>
              <a:rPr sz="3995" spc="-406" dirty="0"/>
              <a:t> </a:t>
            </a:r>
            <a:r>
              <a:rPr sz="3995" spc="-33" dirty="0"/>
              <a:t>learn?</a:t>
            </a:r>
            <a:endParaRPr sz="399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5741" y="639970"/>
            <a:ext cx="5238633" cy="646598"/>
          </a:xfrm>
          <a:prstGeom prst="rect">
            <a:avLst/>
          </a:prstGeom>
        </p:spPr>
        <p:txBody>
          <a:bodyPr vert="horz" wrap="square" lIns="0" tIns="8456" rIns="0" bIns="0" rtlCol="0">
            <a:spAutoFit/>
          </a:bodyPr>
          <a:lstStyle/>
          <a:p>
            <a:pPr marL="16913" marR="6765">
              <a:lnSpc>
                <a:spcPct val="104800"/>
              </a:lnSpc>
              <a:spcBef>
                <a:spcPts val="67"/>
              </a:spcBef>
            </a:pPr>
            <a:r>
              <a:rPr sz="2064" spc="-27" dirty="0">
                <a:latin typeface="Tahoma"/>
                <a:cs typeface="Tahoma"/>
              </a:rPr>
              <a:t>First-</a:t>
            </a:r>
            <a:r>
              <a:rPr sz="2064" spc="-13" dirty="0">
                <a:latin typeface="Tahoma"/>
                <a:cs typeface="Tahoma"/>
              </a:rPr>
              <a:t>layer</a:t>
            </a:r>
            <a:r>
              <a:rPr sz="2064" spc="-5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conv</a:t>
            </a:r>
            <a:r>
              <a:rPr sz="2064" spc="-127" dirty="0">
                <a:latin typeface="Tahoma"/>
                <a:cs typeface="Tahoma"/>
              </a:rPr>
              <a:t> </a:t>
            </a:r>
            <a:r>
              <a:rPr sz="2064" spc="-33" dirty="0">
                <a:latin typeface="Tahoma"/>
                <a:cs typeface="Tahoma"/>
              </a:rPr>
              <a:t>filters:</a:t>
            </a:r>
            <a:r>
              <a:rPr sz="2064" spc="-152" dirty="0">
                <a:latin typeface="Tahoma"/>
                <a:cs typeface="Tahoma"/>
              </a:rPr>
              <a:t> </a:t>
            </a:r>
            <a:r>
              <a:rPr sz="2064" dirty="0">
                <a:latin typeface="Tahoma"/>
                <a:cs typeface="Tahoma"/>
              </a:rPr>
              <a:t>local</a:t>
            </a:r>
            <a:r>
              <a:rPr sz="2064" spc="-160" dirty="0">
                <a:latin typeface="Tahoma"/>
                <a:cs typeface="Tahoma"/>
              </a:rPr>
              <a:t> </a:t>
            </a:r>
            <a:r>
              <a:rPr sz="2064" spc="-27" dirty="0">
                <a:latin typeface="Tahoma"/>
                <a:cs typeface="Tahoma"/>
              </a:rPr>
              <a:t>image</a:t>
            </a:r>
            <a:r>
              <a:rPr sz="2064" spc="-87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templates </a:t>
            </a:r>
            <a:r>
              <a:rPr sz="2064" spc="-60" dirty="0">
                <a:latin typeface="Tahoma"/>
                <a:cs typeface="Tahoma"/>
              </a:rPr>
              <a:t>(Often</a:t>
            </a:r>
            <a:r>
              <a:rPr sz="2064" spc="-120" dirty="0">
                <a:latin typeface="Tahoma"/>
                <a:cs typeface="Tahoma"/>
              </a:rPr>
              <a:t> </a:t>
            </a:r>
            <a:r>
              <a:rPr sz="2064" dirty="0">
                <a:latin typeface="Tahoma"/>
                <a:cs typeface="Tahoma"/>
              </a:rPr>
              <a:t>learns</a:t>
            </a:r>
            <a:r>
              <a:rPr sz="2064" spc="-13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oriented</a:t>
            </a:r>
            <a:r>
              <a:rPr sz="2064" spc="-127" dirty="0">
                <a:latin typeface="Tahoma"/>
                <a:cs typeface="Tahoma"/>
              </a:rPr>
              <a:t> </a:t>
            </a:r>
            <a:r>
              <a:rPr sz="2064" spc="-53" dirty="0">
                <a:latin typeface="Tahoma"/>
                <a:cs typeface="Tahoma"/>
              </a:rPr>
              <a:t>edges,</a:t>
            </a:r>
            <a:r>
              <a:rPr sz="2064" spc="-16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opposing</a:t>
            </a:r>
            <a:r>
              <a:rPr sz="2064" spc="-120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colors)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3" name="object 3" descr="https://lh3.googleusercontent.com/6SDufmNatRKAaxNJWGsaWdSAGFtPthQHMADKkjtW7g-cNaC__eQc0rV3ejOPA7SQmL9WFAkZrj6eb4Z81j5PzqqxLFWHXK5mZxrdciJaHjwpaQgzQvY5lB_8QcirvXGGU1GvMuXO6Aw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4511" y="1377180"/>
            <a:ext cx="4127992" cy="41438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69942" y="5717593"/>
            <a:ext cx="4086894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93" dirty="0">
                <a:latin typeface="Tahoma"/>
                <a:cs typeface="Tahoma"/>
              </a:rPr>
              <a:t>AlexNet:</a:t>
            </a:r>
            <a:r>
              <a:rPr sz="2397" spc="-246" dirty="0">
                <a:latin typeface="Tahoma"/>
                <a:cs typeface="Tahoma"/>
              </a:rPr>
              <a:t> </a:t>
            </a:r>
            <a:r>
              <a:rPr sz="2397" spc="-120" dirty="0">
                <a:latin typeface="Tahoma"/>
                <a:cs typeface="Tahoma"/>
              </a:rPr>
              <a:t>64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filters,</a:t>
            </a:r>
            <a:r>
              <a:rPr sz="2397" spc="-240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each</a:t>
            </a:r>
            <a:r>
              <a:rPr sz="2397" spc="-293" dirty="0">
                <a:latin typeface="Tahoma"/>
                <a:cs typeface="Tahoma"/>
              </a:rPr>
              <a:t> </a:t>
            </a:r>
            <a:r>
              <a:rPr sz="2397" spc="-80" dirty="0">
                <a:latin typeface="Tahoma"/>
                <a:cs typeface="Tahoma"/>
              </a:rPr>
              <a:t>3x11x11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8426" y="1291011"/>
            <a:ext cx="1304796" cy="3707210"/>
            <a:chOff x="301053" y="969454"/>
            <a:chExt cx="979805" cy="2783840"/>
          </a:xfrm>
        </p:grpSpPr>
        <p:sp>
          <p:nvSpPr>
            <p:cNvPr id="6" name="object 6"/>
            <p:cNvSpPr/>
            <p:nvPr/>
          </p:nvSpPr>
          <p:spPr>
            <a:xfrm>
              <a:off x="310895" y="1726056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7" name="object 7"/>
            <p:cNvSpPr/>
            <p:nvPr/>
          </p:nvSpPr>
          <p:spPr>
            <a:xfrm>
              <a:off x="524890" y="979296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01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8" name="object 8"/>
            <p:cNvSpPr/>
            <p:nvPr/>
          </p:nvSpPr>
          <p:spPr>
            <a:xfrm>
              <a:off x="310895" y="979296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310895" y="979296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01"/>
                  </a:lnTo>
                  <a:lnTo>
                    <a:pt x="0" y="2763901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4" y="746760"/>
                  </a:moveTo>
                  <a:lnTo>
                    <a:pt x="213994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3651" y="4462520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9104" y="1692429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097" y="4985301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8117" y="1120365"/>
            <a:ext cx="1304796" cy="3707210"/>
            <a:chOff x="3281997" y="841311"/>
            <a:chExt cx="979805" cy="2783840"/>
          </a:xfrm>
        </p:grpSpPr>
        <p:sp>
          <p:nvSpPr>
            <p:cNvPr id="14" name="object 14"/>
            <p:cNvSpPr/>
            <p:nvPr/>
          </p:nvSpPr>
          <p:spPr>
            <a:xfrm>
              <a:off x="3291839" y="15979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834" y="851153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59"/>
                  </a:lnTo>
                  <a:lnTo>
                    <a:pt x="0" y="2763901"/>
                  </a:lnTo>
                  <a:lnTo>
                    <a:pt x="746125" y="2017140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6" name="object 16"/>
            <p:cNvSpPr/>
            <p:nvPr/>
          </p:nvSpPr>
          <p:spPr>
            <a:xfrm>
              <a:off x="3291839" y="851153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20" y="0"/>
                  </a:moveTo>
                  <a:lnTo>
                    <a:pt x="746125" y="0"/>
                  </a:lnTo>
                  <a:lnTo>
                    <a:pt x="0" y="746759"/>
                  </a:lnTo>
                  <a:lnTo>
                    <a:pt x="213995" y="74675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1839" y="851153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59"/>
                  </a:moveTo>
                  <a:lnTo>
                    <a:pt x="746125" y="0"/>
                  </a:lnTo>
                  <a:lnTo>
                    <a:pt x="960120" y="0"/>
                  </a:lnTo>
                  <a:lnTo>
                    <a:pt x="960120" y="2017140"/>
                  </a:lnTo>
                  <a:lnTo>
                    <a:pt x="213995" y="2763901"/>
                  </a:lnTo>
                  <a:lnTo>
                    <a:pt x="0" y="2763901"/>
                  </a:lnTo>
                  <a:lnTo>
                    <a:pt x="0" y="746759"/>
                  </a:lnTo>
                  <a:close/>
                </a:path>
                <a:path w="960120" h="2764154">
                  <a:moveTo>
                    <a:pt x="0" y="746759"/>
                  </a:moveTo>
                  <a:lnTo>
                    <a:pt x="213995" y="746759"/>
                  </a:lnTo>
                  <a:lnTo>
                    <a:pt x="960120" y="0"/>
                  </a:lnTo>
                </a:path>
                <a:path w="960120" h="2764154">
                  <a:moveTo>
                    <a:pt x="213995" y="746759"/>
                  </a:moveTo>
                  <a:lnTo>
                    <a:pt x="213995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42306" y="425551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38423" y="1579454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0628" y="2857968"/>
            <a:ext cx="816026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162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Conv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6483" y="3026651"/>
            <a:ext cx="335373" cy="10147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67438" y="2857968"/>
            <a:ext cx="950480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754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ReLU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0557" y="3038828"/>
            <a:ext cx="283622" cy="10147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7244" y="3026651"/>
            <a:ext cx="279901" cy="101475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501782" y="639970"/>
            <a:ext cx="5992167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146" dirty="0"/>
              <a:t>What</a:t>
            </a:r>
            <a:r>
              <a:rPr sz="3995" spc="-466" dirty="0"/>
              <a:t> </a:t>
            </a:r>
            <a:r>
              <a:rPr sz="3995" dirty="0"/>
              <a:t>do</a:t>
            </a:r>
            <a:r>
              <a:rPr sz="3995" spc="-426" dirty="0"/>
              <a:t> </a:t>
            </a:r>
            <a:r>
              <a:rPr sz="3995" spc="-100" dirty="0"/>
              <a:t>Conv</a:t>
            </a:r>
            <a:r>
              <a:rPr sz="3995" spc="-413" dirty="0"/>
              <a:t> </a:t>
            </a:r>
            <a:r>
              <a:rPr sz="3995" spc="-47" dirty="0"/>
              <a:t>filters</a:t>
            </a:r>
            <a:r>
              <a:rPr sz="3995" spc="-406" dirty="0"/>
              <a:t> </a:t>
            </a:r>
            <a:r>
              <a:rPr sz="3995" spc="-33" dirty="0"/>
              <a:t>learn?</a:t>
            </a:r>
            <a:endParaRPr sz="3995" dirty="0"/>
          </a:p>
        </p:txBody>
      </p:sp>
      <p:sp>
        <p:nvSpPr>
          <p:cNvPr id="27" name="object 2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4710" y="643518"/>
            <a:ext cx="5326577" cy="671181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2064" spc="-40" dirty="0">
                <a:latin typeface="Tahoma"/>
                <a:cs typeface="Tahoma"/>
              </a:rPr>
              <a:t>Deeper</a:t>
            </a:r>
            <a:r>
              <a:rPr sz="2064" spc="-17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conv</a:t>
            </a:r>
            <a:r>
              <a:rPr sz="2064" spc="-140" dirty="0">
                <a:latin typeface="Tahoma"/>
                <a:cs typeface="Tahoma"/>
              </a:rPr>
              <a:t> </a:t>
            </a:r>
            <a:r>
              <a:rPr sz="2064" spc="-40" dirty="0">
                <a:latin typeface="Tahoma"/>
                <a:cs typeface="Tahoma"/>
              </a:rPr>
              <a:t>layers:</a:t>
            </a:r>
            <a:r>
              <a:rPr sz="2064" spc="-160" dirty="0">
                <a:latin typeface="Tahoma"/>
                <a:cs typeface="Tahoma"/>
              </a:rPr>
              <a:t> </a:t>
            </a:r>
            <a:r>
              <a:rPr sz="2064" spc="-33" dirty="0">
                <a:latin typeface="Tahoma"/>
                <a:cs typeface="Tahoma"/>
              </a:rPr>
              <a:t>Harder</a:t>
            </a:r>
            <a:r>
              <a:rPr sz="2064" spc="-173" dirty="0">
                <a:latin typeface="Tahoma"/>
                <a:cs typeface="Tahoma"/>
              </a:rPr>
              <a:t> </a:t>
            </a:r>
            <a:r>
              <a:rPr sz="2064" dirty="0">
                <a:latin typeface="Tahoma"/>
                <a:cs typeface="Tahoma"/>
              </a:rPr>
              <a:t>to</a:t>
            </a:r>
            <a:r>
              <a:rPr sz="2064" spc="-20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visualize</a:t>
            </a:r>
            <a:endParaRPr sz="2064">
              <a:latin typeface="Tahoma"/>
              <a:cs typeface="Tahoma"/>
            </a:endParaRPr>
          </a:p>
          <a:p>
            <a:pPr marL="16913">
              <a:spcBef>
                <a:spcPts val="127"/>
              </a:spcBef>
            </a:pPr>
            <a:r>
              <a:rPr sz="2064" spc="-27" dirty="0">
                <a:latin typeface="Tahoma"/>
                <a:cs typeface="Tahoma"/>
              </a:rPr>
              <a:t>Tend</a:t>
            </a:r>
            <a:r>
              <a:rPr sz="2064" spc="-173" dirty="0">
                <a:latin typeface="Tahoma"/>
                <a:cs typeface="Tahoma"/>
              </a:rPr>
              <a:t> </a:t>
            </a:r>
            <a:r>
              <a:rPr sz="2064" dirty="0">
                <a:latin typeface="Tahoma"/>
                <a:cs typeface="Tahoma"/>
              </a:rPr>
              <a:t>to</a:t>
            </a:r>
            <a:r>
              <a:rPr sz="2064" spc="-13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learn</a:t>
            </a:r>
            <a:r>
              <a:rPr sz="2064" spc="-146" dirty="0">
                <a:latin typeface="Tahoma"/>
                <a:cs typeface="Tahoma"/>
              </a:rPr>
              <a:t> </a:t>
            </a:r>
            <a:r>
              <a:rPr sz="2064" spc="-27" dirty="0">
                <a:latin typeface="Tahoma"/>
                <a:cs typeface="Tahoma"/>
              </a:rPr>
              <a:t>larger</a:t>
            </a:r>
            <a:r>
              <a:rPr sz="2064" spc="-20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structures</a:t>
            </a:r>
            <a:r>
              <a:rPr sz="2064" spc="-160" dirty="0">
                <a:latin typeface="Tahoma"/>
                <a:cs typeface="Tahoma"/>
              </a:rPr>
              <a:t> </a:t>
            </a:r>
            <a:r>
              <a:rPr sz="2064" spc="-87" dirty="0">
                <a:latin typeface="Tahoma"/>
                <a:cs typeface="Tahoma"/>
              </a:rPr>
              <a:t>e.g.</a:t>
            </a:r>
            <a:r>
              <a:rPr sz="2064" spc="-193" dirty="0">
                <a:latin typeface="Tahoma"/>
                <a:cs typeface="Tahoma"/>
              </a:rPr>
              <a:t> </a:t>
            </a:r>
            <a:r>
              <a:rPr sz="2064" spc="-73" dirty="0">
                <a:latin typeface="Tahoma"/>
                <a:cs typeface="Tahoma"/>
              </a:rPr>
              <a:t>eyes,</a:t>
            </a:r>
            <a:r>
              <a:rPr sz="2064" spc="-9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letters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0397" y="612229"/>
            <a:ext cx="6184561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146" dirty="0"/>
              <a:t>What</a:t>
            </a:r>
            <a:r>
              <a:rPr sz="3995" spc="-466" dirty="0"/>
              <a:t> </a:t>
            </a:r>
            <a:r>
              <a:rPr sz="3995" dirty="0"/>
              <a:t>do</a:t>
            </a:r>
            <a:r>
              <a:rPr sz="3995" spc="-426" dirty="0"/>
              <a:t> </a:t>
            </a:r>
            <a:r>
              <a:rPr sz="3995" spc="-100" dirty="0"/>
              <a:t>Conv</a:t>
            </a:r>
            <a:r>
              <a:rPr sz="3995" spc="-413" dirty="0"/>
              <a:t> </a:t>
            </a:r>
            <a:r>
              <a:rPr sz="3995" spc="-47" dirty="0"/>
              <a:t>filters</a:t>
            </a:r>
            <a:r>
              <a:rPr sz="3995" spc="-406" dirty="0"/>
              <a:t> </a:t>
            </a:r>
            <a:r>
              <a:rPr sz="3995" spc="-33" dirty="0"/>
              <a:t>learn?</a:t>
            </a:r>
            <a:endParaRPr sz="399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4442" y="1816059"/>
            <a:ext cx="4736839" cy="28763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65294" y="5095315"/>
            <a:ext cx="5094031" cy="341559"/>
          </a:xfrm>
          <a:prstGeom prst="rect">
            <a:avLst/>
          </a:prstGeom>
        </p:spPr>
        <p:txBody>
          <a:bodyPr vert="horz" wrap="square" lIns="0" tIns="23677" rIns="0" bIns="0" rtlCol="0">
            <a:spAutoFit/>
          </a:bodyPr>
          <a:lstStyle/>
          <a:p>
            <a:pPr marL="50738">
              <a:spcBef>
                <a:spcPts val="186"/>
              </a:spcBef>
            </a:pPr>
            <a:r>
              <a:rPr sz="2064" dirty="0">
                <a:latin typeface="Tahoma"/>
                <a:cs typeface="Tahoma"/>
              </a:rPr>
              <a:t>6</a:t>
            </a:r>
            <a:r>
              <a:rPr sz="2097" baseline="26455" dirty="0">
                <a:latin typeface="Tahoma"/>
                <a:cs typeface="Tahoma"/>
              </a:rPr>
              <a:t>th</a:t>
            </a:r>
            <a:r>
              <a:rPr sz="2097" spc="-9" baseline="26455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layer</a:t>
            </a:r>
            <a:r>
              <a:rPr sz="2064" spc="-11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conv</a:t>
            </a:r>
            <a:r>
              <a:rPr sz="2064" spc="-180" dirty="0">
                <a:latin typeface="Tahoma"/>
                <a:cs typeface="Tahoma"/>
              </a:rPr>
              <a:t> </a:t>
            </a:r>
            <a:r>
              <a:rPr sz="2064" spc="-27" dirty="0">
                <a:latin typeface="Tahoma"/>
                <a:cs typeface="Tahoma"/>
              </a:rPr>
              <a:t>layer</a:t>
            </a:r>
            <a:r>
              <a:rPr sz="2064" spc="-20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from</a:t>
            </a:r>
            <a:r>
              <a:rPr sz="2064" spc="-180" dirty="0">
                <a:latin typeface="Tahoma"/>
                <a:cs typeface="Tahoma"/>
              </a:rPr>
              <a:t> </a:t>
            </a:r>
            <a:r>
              <a:rPr sz="2064" spc="-27" dirty="0">
                <a:latin typeface="Tahoma"/>
                <a:cs typeface="Tahoma"/>
              </a:rPr>
              <a:t>an</a:t>
            </a:r>
            <a:r>
              <a:rPr sz="2064" spc="-160" dirty="0">
                <a:latin typeface="Tahoma"/>
                <a:cs typeface="Tahoma"/>
              </a:rPr>
              <a:t> </a:t>
            </a:r>
            <a:r>
              <a:rPr sz="2064" spc="-53" dirty="0">
                <a:latin typeface="Tahoma"/>
                <a:cs typeface="Tahoma"/>
              </a:rPr>
              <a:t>ImageNet</a:t>
            </a:r>
            <a:r>
              <a:rPr sz="2064" spc="-193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model</a:t>
            </a:r>
            <a:endParaRPr sz="2064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9118" y="5742369"/>
            <a:ext cx="5601405" cy="341559"/>
          </a:xfrm>
          <a:prstGeom prst="rect">
            <a:avLst/>
          </a:prstGeom>
        </p:spPr>
        <p:txBody>
          <a:bodyPr vert="horz" wrap="square" lIns="0" tIns="23677" rIns="0" bIns="0" rtlCol="0">
            <a:spAutoFit/>
          </a:bodyPr>
          <a:lstStyle/>
          <a:p>
            <a:pPr marL="16913">
              <a:spcBef>
                <a:spcPts val="186"/>
              </a:spcBef>
            </a:pPr>
            <a:r>
              <a:rPr sz="2064" dirty="0">
                <a:latin typeface="Tahoma"/>
                <a:cs typeface="Tahoma"/>
              </a:rPr>
              <a:t>Visualization</a:t>
            </a:r>
            <a:r>
              <a:rPr sz="2064" spc="-127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from</a:t>
            </a:r>
            <a:r>
              <a:rPr sz="2064" spc="-146" dirty="0">
                <a:latin typeface="Tahoma"/>
                <a:cs typeface="Tahoma"/>
              </a:rPr>
              <a:t> </a:t>
            </a:r>
            <a:r>
              <a:rPr sz="2064" spc="-33" dirty="0">
                <a:latin typeface="Tahoma"/>
                <a:cs typeface="Tahoma"/>
              </a:rPr>
              <a:t>[Springenberg</a:t>
            </a:r>
            <a:r>
              <a:rPr sz="2064" spc="-20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et</a:t>
            </a:r>
            <a:r>
              <a:rPr sz="2064" spc="-166" dirty="0">
                <a:latin typeface="Tahoma"/>
                <a:cs typeface="Tahoma"/>
              </a:rPr>
              <a:t> </a:t>
            </a:r>
            <a:r>
              <a:rPr sz="2064" spc="-13" dirty="0">
                <a:latin typeface="Tahoma"/>
                <a:cs typeface="Tahoma"/>
              </a:rPr>
              <a:t>al,</a:t>
            </a:r>
            <a:r>
              <a:rPr sz="2064" spc="-173" dirty="0">
                <a:latin typeface="Tahoma"/>
                <a:cs typeface="Tahoma"/>
              </a:rPr>
              <a:t> </a:t>
            </a:r>
            <a:r>
              <a:rPr sz="2064" spc="-100" dirty="0">
                <a:latin typeface="Tahoma"/>
                <a:cs typeface="Tahoma"/>
              </a:rPr>
              <a:t>ICLR</a:t>
            </a:r>
            <a:r>
              <a:rPr sz="2064" spc="-73" dirty="0">
                <a:latin typeface="Tahoma"/>
                <a:cs typeface="Tahoma"/>
              </a:rPr>
              <a:t> </a:t>
            </a:r>
            <a:r>
              <a:rPr sz="2064" spc="-27" dirty="0">
                <a:latin typeface="Tahoma"/>
                <a:cs typeface="Tahoma"/>
              </a:rPr>
              <a:t>2015]</a:t>
            </a:r>
            <a:endParaRPr sz="2064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8426" y="1291011"/>
            <a:ext cx="1304796" cy="3707210"/>
            <a:chOff x="301053" y="969454"/>
            <a:chExt cx="979805" cy="2783840"/>
          </a:xfrm>
        </p:grpSpPr>
        <p:sp>
          <p:nvSpPr>
            <p:cNvPr id="8" name="object 8"/>
            <p:cNvSpPr/>
            <p:nvPr/>
          </p:nvSpPr>
          <p:spPr>
            <a:xfrm>
              <a:off x="310895" y="1726056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4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4" y="2017141"/>
                  </a:lnTo>
                  <a:lnTo>
                    <a:pt x="213994" y="0"/>
                  </a:lnTo>
                  <a:close/>
                </a:path>
              </a:pathLst>
            </a:custGeom>
            <a:solidFill>
              <a:srgbClr val="F4CCCC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9" name="object 9"/>
            <p:cNvSpPr/>
            <p:nvPr/>
          </p:nvSpPr>
          <p:spPr>
            <a:xfrm>
              <a:off x="524890" y="979296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60"/>
                  </a:lnTo>
                  <a:lnTo>
                    <a:pt x="0" y="2763901"/>
                  </a:lnTo>
                  <a:lnTo>
                    <a:pt x="746125" y="2017141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C4A3A3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0" name="object 10"/>
            <p:cNvSpPr/>
            <p:nvPr/>
          </p:nvSpPr>
          <p:spPr>
            <a:xfrm>
              <a:off x="310895" y="979296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19" h="746760">
                  <a:moveTo>
                    <a:pt x="960119" y="0"/>
                  </a:moveTo>
                  <a:lnTo>
                    <a:pt x="746125" y="0"/>
                  </a:lnTo>
                  <a:lnTo>
                    <a:pt x="0" y="746760"/>
                  </a:lnTo>
                  <a:lnTo>
                    <a:pt x="213994" y="74676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6D5D5">
                <a:alpha val="51763"/>
              </a:srgbClr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1" name="object 11"/>
            <p:cNvSpPr/>
            <p:nvPr/>
          </p:nvSpPr>
          <p:spPr>
            <a:xfrm>
              <a:off x="310895" y="979296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19" h="2764154">
                  <a:moveTo>
                    <a:pt x="0" y="746760"/>
                  </a:moveTo>
                  <a:lnTo>
                    <a:pt x="746125" y="0"/>
                  </a:lnTo>
                  <a:lnTo>
                    <a:pt x="960119" y="0"/>
                  </a:lnTo>
                  <a:lnTo>
                    <a:pt x="960119" y="2017141"/>
                  </a:lnTo>
                  <a:lnTo>
                    <a:pt x="213994" y="2763901"/>
                  </a:lnTo>
                  <a:lnTo>
                    <a:pt x="0" y="2763901"/>
                  </a:lnTo>
                  <a:lnTo>
                    <a:pt x="0" y="746760"/>
                  </a:lnTo>
                  <a:close/>
                </a:path>
                <a:path w="960119" h="2764154">
                  <a:moveTo>
                    <a:pt x="0" y="746760"/>
                  </a:moveTo>
                  <a:lnTo>
                    <a:pt x="213994" y="746760"/>
                  </a:lnTo>
                  <a:lnTo>
                    <a:pt x="960119" y="0"/>
                  </a:lnTo>
                </a:path>
                <a:path w="960119" h="2764154">
                  <a:moveTo>
                    <a:pt x="213994" y="746760"/>
                  </a:moveTo>
                  <a:lnTo>
                    <a:pt x="213994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3651" y="4462520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9104" y="1692429"/>
            <a:ext cx="351779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32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097" y="4985301"/>
            <a:ext cx="186037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67" dirty="0">
                <a:latin typeface="Tahoma"/>
                <a:cs typeface="Tahoma"/>
              </a:rPr>
              <a:t>3</a:t>
            </a:r>
            <a:endParaRPr sz="2397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78117" y="1120365"/>
            <a:ext cx="1304796" cy="3707210"/>
            <a:chOff x="3281997" y="841311"/>
            <a:chExt cx="979805" cy="2783840"/>
          </a:xfrm>
        </p:grpSpPr>
        <p:sp>
          <p:nvSpPr>
            <p:cNvPr id="16" name="object 16"/>
            <p:cNvSpPr/>
            <p:nvPr/>
          </p:nvSpPr>
          <p:spPr>
            <a:xfrm>
              <a:off x="3291839" y="1597913"/>
              <a:ext cx="213995" cy="2017395"/>
            </a:xfrm>
            <a:custGeom>
              <a:avLst/>
              <a:gdLst/>
              <a:ahLst/>
              <a:cxnLst/>
              <a:rect l="l" t="t" r="r" b="b"/>
              <a:pathLst>
                <a:path w="213995" h="2017395">
                  <a:moveTo>
                    <a:pt x="213995" y="0"/>
                  </a:moveTo>
                  <a:lnTo>
                    <a:pt x="0" y="0"/>
                  </a:lnTo>
                  <a:lnTo>
                    <a:pt x="0" y="2017141"/>
                  </a:lnTo>
                  <a:lnTo>
                    <a:pt x="213995" y="2017141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7" name="object 17"/>
            <p:cNvSpPr/>
            <p:nvPr/>
          </p:nvSpPr>
          <p:spPr>
            <a:xfrm>
              <a:off x="3505834" y="851153"/>
              <a:ext cx="746125" cy="2764155"/>
            </a:xfrm>
            <a:custGeom>
              <a:avLst/>
              <a:gdLst/>
              <a:ahLst/>
              <a:cxnLst/>
              <a:rect l="l" t="t" r="r" b="b"/>
              <a:pathLst>
                <a:path w="746125" h="2764154">
                  <a:moveTo>
                    <a:pt x="746125" y="0"/>
                  </a:moveTo>
                  <a:lnTo>
                    <a:pt x="0" y="746759"/>
                  </a:lnTo>
                  <a:lnTo>
                    <a:pt x="0" y="2763901"/>
                  </a:lnTo>
                  <a:lnTo>
                    <a:pt x="746125" y="2017140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A1AEC6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8" name="object 18"/>
            <p:cNvSpPr/>
            <p:nvPr/>
          </p:nvSpPr>
          <p:spPr>
            <a:xfrm>
              <a:off x="3291839" y="851153"/>
              <a:ext cx="960119" cy="746760"/>
            </a:xfrm>
            <a:custGeom>
              <a:avLst/>
              <a:gdLst/>
              <a:ahLst/>
              <a:cxnLst/>
              <a:rect l="l" t="t" r="r" b="b"/>
              <a:pathLst>
                <a:path w="960120" h="746760">
                  <a:moveTo>
                    <a:pt x="960120" y="0"/>
                  </a:moveTo>
                  <a:lnTo>
                    <a:pt x="746125" y="0"/>
                  </a:lnTo>
                  <a:lnTo>
                    <a:pt x="0" y="746759"/>
                  </a:lnTo>
                  <a:lnTo>
                    <a:pt x="213995" y="74675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3E0F8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19" name="object 19"/>
            <p:cNvSpPr/>
            <p:nvPr/>
          </p:nvSpPr>
          <p:spPr>
            <a:xfrm>
              <a:off x="3291839" y="851153"/>
              <a:ext cx="960119" cy="2764155"/>
            </a:xfrm>
            <a:custGeom>
              <a:avLst/>
              <a:gdLst/>
              <a:ahLst/>
              <a:cxnLst/>
              <a:rect l="l" t="t" r="r" b="b"/>
              <a:pathLst>
                <a:path w="960120" h="2764154">
                  <a:moveTo>
                    <a:pt x="0" y="746759"/>
                  </a:moveTo>
                  <a:lnTo>
                    <a:pt x="746125" y="0"/>
                  </a:lnTo>
                  <a:lnTo>
                    <a:pt x="960120" y="0"/>
                  </a:lnTo>
                  <a:lnTo>
                    <a:pt x="960120" y="2017140"/>
                  </a:lnTo>
                  <a:lnTo>
                    <a:pt x="213995" y="2763901"/>
                  </a:lnTo>
                  <a:lnTo>
                    <a:pt x="0" y="2763901"/>
                  </a:lnTo>
                  <a:lnTo>
                    <a:pt x="0" y="746759"/>
                  </a:lnTo>
                  <a:close/>
                </a:path>
                <a:path w="960120" h="2764154">
                  <a:moveTo>
                    <a:pt x="0" y="746759"/>
                  </a:moveTo>
                  <a:lnTo>
                    <a:pt x="213995" y="746759"/>
                  </a:lnTo>
                  <a:lnTo>
                    <a:pt x="960120" y="0"/>
                  </a:lnTo>
                </a:path>
                <a:path w="960120" h="2764154">
                  <a:moveTo>
                    <a:pt x="213995" y="746759"/>
                  </a:moveTo>
                  <a:lnTo>
                    <a:pt x="213995" y="2763901"/>
                  </a:lnTo>
                </a:path>
              </a:pathLst>
            </a:custGeom>
            <a:ln w="19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42306" y="4255511"/>
            <a:ext cx="350933" cy="386815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33" dirty="0">
                <a:latin typeface="Tahoma"/>
                <a:cs typeface="Tahoma"/>
              </a:rPr>
              <a:t>28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0628" y="2857968"/>
            <a:ext cx="816026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162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Conv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6483" y="3026651"/>
            <a:ext cx="335373" cy="1014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167438" y="2857968"/>
            <a:ext cx="950480" cy="369738"/>
          </a:xfrm>
          <a:prstGeom prst="rect">
            <a:avLst/>
          </a:prstGeom>
          <a:ln w="25422">
            <a:solidFill>
              <a:srgbClr val="000000"/>
            </a:solidFill>
          </a:ln>
        </p:spPr>
        <p:txBody>
          <a:bodyPr vert="horz" wrap="square" lIns="0" tIns="51583" rIns="0" bIns="0" rtlCol="0">
            <a:spAutoFit/>
          </a:bodyPr>
          <a:lstStyle/>
          <a:p>
            <a:pPr marL="117543">
              <a:spcBef>
                <a:spcPts val="406"/>
              </a:spcBef>
            </a:pPr>
            <a:r>
              <a:rPr sz="2064" spc="-27" dirty="0">
                <a:latin typeface="Tahoma"/>
                <a:cs typeface="Tahoma"/>
              </a:rPr>
              <a:t>ReLU</a:t>
            </a:r>
            <a:endParaRPr sz="2064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0557" y="3038828"/>
            <a:ext cx="283622" cy="10147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7244" y="3026651"/>
            <a:ext cx="279901" cy="10147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B47A-693C-1327-AEB8-DD5CB76A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CNN Architecture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18E24CFB-6BC9-7DB8-5B44-23393B24517B}"/>
              </a:ext>
            </a:extLst>
          </p:cNvPr>
          <p:cNvGrpSpPr/>
          <p:nvPr/>
        </p:nvGrpSpPr>
        <p:grpSpPr>
          <a:xfrm>
            <a:off x="1286827" y="2796063"/>
            <a:ext cx="9618345" cy="2876550"/>
            <a:chOff x="279082" y="2224563"/>
            <a:chExt cx="9618345" cy="287655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DCA6D5E-2EE3-D656-3103-697A3B3A0F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839" y="2224563"/>
              <a:ext cx="9444204" cy="2876073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FB25772-D756-D69E-A5C1-51605B82042F}"/>
                </a:ext>
              </a:extLst>
            </p:cNvPr>
            <p:cNvSpPr/>
            <p:nvPr/>
          </p:nvSpPr>
          <p:spPr>
            <a:xfrm>
              <a:off x="293370" y="2728722"/>
              <a:ext cx="1971039" cy="2042160"/>
            </a:xfrm>
            <a:custGeom>
              <a:avLst/>
              <a:gdLst/>
              <a:ahLst/>
              <a:cxnLst/>
              <a:rect l="l" t="t" r="r" b="b"/>
              <a:pathLst>
                <a:path w="1971039" h="2042160">
                  <a:moveTo>
                    <a:pt x="0" y="328422"/>
                  </a:moveTo>
                  <a:lnTo>
                    <a:pt x="3560" y="279896"/>
                  </a:lnTo>
                  <a:lnTo>
                    <a:pt x="13905" y="233579"/>
                  </a:lnTo>
                  <a:lnTo>
                    <a:pt x="30524" y="189979"/>
                  </a:lnTo>
                  <a:lnTo>
                    <a:pt x="52911" y="149604"/>
                  </a:lnTo>
                  <a:lnTo>
                    <a:pt x="80556" y="112963"/>
                  </a:lnTo>
                  <a:lnTo>
                    <a:pt x="112953" y="80565"/>
                  </a:lnTo>
                  <a:lnTo>
                    <a:pt x="149593" y="52917"/>
                  </a:lnTo>
                  <a:lnTo>
                    <a:pt x="189968" y="30528"/>
                  </a:lnTo>
                  <a:lnTo>
                    <a:pt x="233569" y="13907"/>
                  </a:lnTo>
                  <a:lnTo>
                    <a:pt x="279890" y="3561"/>
                  </a:lnTo>
                  <a:lnTo>
                    <a:pt x="328422" y="0"/>
                  </a:lnTo>
                  <a:lnTo>
                    <a:pt x="1642110" y="0"/>
                  </a:lnTo>
                  <a:lnTo>
                    <a:pt x="1690635" y="3561"/>
                  </a:lnTo>
                  <a:lnTo>
                    <a:pt x="1736952" y="13907"/>
                  </a:lnTo>
                  <a:lnTo>
                    <a:pt x="1780552" y="30528"/>
                  </a:lnTo>
                  <a:lnTo>
                    <a:pt x="1820927" y="52917"/>
                  </a:lnTo>
                  <a:lnTo>
                    <a:pt x="1857568" y="80565"/>
                  </a:lnTo>
                  <a:lnTo>
                    <a:pt x="1889966" y="112963"/>
                  </a:lnTo>
                  <a:lnTo>
                    <a:pt x="1917614" y="149604"/>
                  </a:lnTo>
                  <a:lnTo>
                    <a:pt x="1940003" y="189979"/>
                  </a:lnTo>
                  <a:lnTo>
                    <a:pt x="1956624" y="233579"/>
                  </a:lnTo>
                  <a:lnTo>
                    <a:pt x="1966970" y="279896"/>
                  </a:lnTo>
                  <a:lnTo>
                    <a:pt x="1970532" y="328422"/>
                  </a:lnTo>
                  <a:lnTo>
                    <a:pt x="1970532" y="1713738"/>
                  </a:lnTo>
                  <a:lnTo>
                    <a:pt x="1966970" y="1762263"/>
                  </a:lnTo>
                  <a:lnTo>
                    <a:pt x="1956624" y="1808580"/>
                  </a:lnTo>
                  <a:lnTo>
                    <a:pt x="1940003" y="1852180"/>
                  </a:lnTo>
                  <a:lnTo>
                    <a:pt x="1917614" y="1892555"/>
                  </a:lnTo>
                  <a:lnTo>
                    <a:pt x="1889966" y="1929196"/>
                  </a:lnTo>
                  <a:lnTo>
                    <a:pt x="1857568" y="1961594"/>
                  </a:lnTo>
                  <a:lnTo>
                    <a:pt x="1820927" y="1989242"/>
                  </a:lnTo>
                  <a:lnTo>
                    <a:pt x="1780552" y="2011631"/>
                  </a:lnTo>
                  <a:lnTo>
                    <a:pt x="1736952" y="2028252"/>
                  </a:lnTo>
                  <a:lnTo>
                    <a:pt x="1690635" y="2038598"/>
                  </a:lnTo>
                  <a:lnTo>
                    <a:pt x="1642110" y="2042159"/>
                  </a:lnTo>
                  <a:lnTo>
                    <a:pt x="328422" y="2042159"/>
                  </a:lnTo>
                  <a:lnTo>
                    <a:pt x="279890" y="2038598"/>
                  </a:lnTo>
                  <a:lnTo>
                    <a:pt x="233569" y="2028252"/>
                  </a:lnTo>
                  <a:lnTo>
                    <a:pt x="189968" y="2011631"/>
                  </a:lnTo>
                  <a:lnTo>
                    <a:pt x="149593" y="1989242"/>
                  </a:lnTo>
                  <a:lnTo>
                    <a:pt x="112953" y="1961594"/>
                  </a:lnTo>
                  <a:lnTo>
                    <a:pt x="80556" y="1929196"/>
                  </a:lnTo>
                  <a:lnTo>
                    <a:pt x="52911" y="1892555"/>
                  </a:lnTo>
                  <a:lnTo>
                    <a:pt x="30524" y="1852180"/>
                  </a:lnTo>
                  <a:lnTo>
                    <a:pt x="13905" y="1808580"/>
                  </a:lnTo>
                  <a:lnTo>
                    <a:pt x="3560" y="1762263"/>
                  </a:lnTo>
                  <a:lnTo>
                    <a:pt x="0" y="1713738"/>
                  </a:lnTo>
                  <a:lnTo>
                    <a:pt x="0" y="328422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38473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98A0-10E1-0A28-9527-687B8B06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CNN</a:t>
            </a:r>
          </a:p>
        </p:txBody>
      </p:sp>
      <p:pic>
        <p:nvPicPr>
          <p:cNvPr id="4" name="object 3" descr="http://cs231n.github.io/assets/cnn/convnet.jpeg">
            <a:extLst>
              <a:ext uri="{FF2B5EF4-FFF2-40B4-BE49-F238E27FC236}">
                <a16:creationId xmlns:a16="http://schemas.microsoft.com/office/drawing/2014/main" id="{D37BC681-6D78-3320-2B9E-8DEF36B583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2703" y="1807699"/>
            <a:ext cx="9206484" cy="440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108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9544" y="571588"/>
            <a:ext cx="4855565" cy="730058"/>
          </a:xfrm>
          <a:prstGeom prst="rect">
            <a:avLst/>
          </a:prstGeom>
        </p:spPr>
        <p:txBody>
          <a:bodyPr vert="horz" wrap="square" lIns="0" tIns="114159" rIns="0" bIns="0" rtlCol="0" anchor="t">
            <a:spAutoFit/>
          </a:bodyPr>
          <a:lstStyle/>
          <a:p>
            <a:pPr marL="16913">
              <a:spcBef>
                <a:spcPts val="899"/>
              </a:spcBef>
            </a:pPr>
            <a:r>
              <a:rPr lang="en-US" sz="3995" dirty="0"/>
              <a:t>CNN Architectures</a:t>
            </a:r>
            <a:endParaRPr sz="399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15219"/>
              </p:ext>
            </p:extLst>
          </p:nvPr>
        </p:nvGraphicFramePr>
        <p:xfrm>
          <a:off x="2944158" y="1716001"/>
          <a:ext cx="1101846" cy="460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1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890">
                <a:tc>
                  <a:txBody>
                    <a:bodyPr/>
                    <a:lstStyle/>
                    <a:p>
                      <a:pPr marL="11430" algn="ctr">
                        <a:lnSpc>
                          <a:spcPts val="795"/>
                        </a:lnSpc>
                      </a:pPr>
                      <a:r>
                        <a:rPr sz="9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Softmax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5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1000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906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32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4096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906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5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4096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979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134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4985E8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134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4985E8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1288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0442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178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1288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985E8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4985E8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16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8897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8053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985E8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256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8053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4985E8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256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7207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6362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985E8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128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4985E8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332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128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985E8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0590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4985E8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6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 </a:t>
                      </a:r>
                      <a:r>
                        <a:rPr sz="900" spc="-3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64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0590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6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 </a:t>
                      </a:r>
                      <a:r>
                        <a:rPr sz="900" spc="-3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64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9744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34343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890">
                <a:tc>
                  <a:txBody>
                    <a:bodyPr/>
                    <a:lstStyle/>
                    <a:p>
                      <a:pPr marL="10160" algn="ctr">
                        <a:lnSpc>
                          <a:spcPts val="710"/>
                        </a:lnSpc>
                        <a:spcBef>
                          <a:spcPts val="234"/>
                        </a:spcBef>
                      </a:pPr>
                      <a:r>
                        <a:rPr sz="900" spc="-10" dirty="0">
                          <a:solidFill>
                            <a:srgbClr val="434343"/>
                          </a:solidFill>
                          <a:latin typeface="Tahoma"/>
                          <a:cs typeface="Tahoma"/>
                        </a:rPr>
                        <a:t>Input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9743" marB="0">
                    <a:lnL w="19050">
                      <a:solidFill>
                        <a:srgbClr val="434343"/>
                      </a:solidFill>
                      <a:prstDash val="solid"/>
                    </a:lnL>
                    <a:lnR w="19050">
                      <a:solidFill>
                        <a:srgbClr val="434343"/>
                      </a:solidFill>
                      <a:prstDash val="solid"/>
                    </a:lnR>
                    <a:lnT w="19050">
                      <a:solidFill>
                        <a:srgbClr val="434343"/>
                      </a:solidFill>
                      <a:prstDash val="solid"/>
                    </a:lnT>
                    <a:lnB w="19050">
                      <a:solidFill>
                        <a:srgbClr val="434343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56326" y="5348481"/>
            <a:ext cx="1108611" cy="141064"/>
          </a:xfrm>
          <a:prstGeom prst="rect">
            <a:avLst/>
          </a:prstGeom>
          <a:solidFill>
            <a:srgbClr val="FBE4CD"/>
          </a:solidFill>
          <a:ln w="19066">
            <a:solidFill>
              <a:srgbClr val="FF99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4495">
              <a:lnSpc>
                <a:spcPts val="1059"/>
              </a:lnSpc>
            </a:pP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3x3</a:t>
            </a:r>
            <a:r>
              <a:rPr sz="932" spc="-67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spc="-33" dirty="0">
                <a:solidFill>
                  <a:srgbClr val="FF9900"/>
                </a:solidFill>
                <a:latin typeface="Tahoma"/>
                <a:cs typeface="Tahoma"/>
              </a:rPr>
              <a:t>384</a:t>
            </a:r>
            <a:endParaRPr sz="932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6326" y="5555646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4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856326" y="5555646"/>
            <a:ext cx="1108611" cy="145334"/>
          </a:xfrm>
          <a:prstGeom prst="rect">
            <a:avLst/>
          </a:prstGeom>
          <a:solidFill>
            <a:srgbClr val="C8DAF8"/>
          </a:solidFill>
        </p:spPr>
        <p:txBody>
          <a:bodyPr vert="horz" wrap="square" lIns="0" tIns="4228" rIns="0" bIns="0" rtlCol="0">
            <a:spAutoFit/>
          </a:bodyPr>
          <a:lstStyle/>
          <a:p>
            <a:pPr marL="16913" algn="ctr">
              <a:lnSpc>
                <a:spcPts val="1112"/>
              </a:lnSpc>
              <a:spcBef>
                <a:spcPts val="33"/>
              </a:spcBef>
            </a:pPr>
            <a:r>
              <a:rPr sz="932" spc="-27" dirty="0">
                <a:solidFill>
                  <a:srgbClr val="4985E8"/>
                </a:solidFill>
                <a:latin typeface="Tahoma"/>
                <a:cs typeface="Tahoma"/>
              </a:rPr>
              <a:t>Pool</a:t>
            </a:r>
            <a:endParaRPr sz="932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6326" y="5762824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4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869022" y="5745057"/>
            <a:ext cx="1083243" cy="15641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27906" rIns="0" bIns="0" rtlCol="0">
            <a:spAutoFit/>
          </a:bodyPr>
          <a:lstStyle/>
          <a:p>
            <a:pPr marL="181810">
              <a:lnSpc>
                <a:spcPts val="972"/>
              </a:lnSpc>
              <a:spcBef>
                <a:spcPts val="220"/>
              </a:spcBef>
            </a:pP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5x5</a:t>
            </a:r>
            <a:r>
              <a:rPr sz="932" spc="-67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spc="-33" dirty="0">
                <a:solidFill>
                  <a:srgbClr val="FF9900"/>
                </a:solidFill>
                <a:latin typeface="Tahoma"/>
                <a:cs typeface="Tahoma"/>
              </a:rPr>
              <a:t>256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6326" y="5982213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4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 txBox="1"/>
          <p:nvPr/>
        </p:nvSpPr>
        <p:spPr>
          <a:xfrm>
            <a:off x="856326" y="5982213"/>
            <a:ext cx="1108611" cy="146852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3382" rIns="0" bIns="0" rtlCol="0">
            <a:spAutoFit/>
          </a:bodyPr>
          <a:lstStyle/>
          <a:p>
            <a:pPr marL="162361">
              <a:spcBef>
                <a:spcPts val="27"/>
              </a:spcBef>
            </a:pP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11x11</a:t>
            </a:r>
            <a:r>
              <a:rPr sz="932" spc="-67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932" spc="20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spc="-33" dirty="0">
                <a:solidFill>
                  <a:srgbClr val="FF9900"/>
                </a:solidFill>
                <a:latin typeface="Tahoma"/>
                <a:cs typeface="Tahoma"/>
              </a:rPr>
              <a:t>96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6326" y="6189406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4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3" name="object 13"/>
          <p:cNvSpPr txBox="1"/>
          <p:nvPr/>
        </p:nvSpPr>
        <p:spPr>
          <a:xfrm>
            <a:off x="869022" y="6171632"/>
            <a:ext cx="1083243" cy="155564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7060" rIns="0" bIns="0" rtlCol="0">
            <a:spAutoFit/>
          </a:bodyPr>
          <a:lstStyle/>
          <a:p>
            <a:pPr marL="13530" algn="ctr">
              <a:lnSpc>
                <a:spcPts val="979"/>
              </a:lnSpc>
              <a:spcBef>
                <a:spcPts val="213"/>
              </a:spcBef>
            </a:pPr>
            <a:r>
              <a:rPr sz="932" spc="-13" dirty="0">
                <a:solidFill>
                  <a:srgbClr val="434343"/>
                </a:solidFill>
                <a:latin typeface="Tahoma"/>
                <a:cs typeface="Tahoma"/>
              </a:rPr>
              <a:t>Input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6326" y="5129114"/>
            <a:ext cx="1108611" cy="146852"/>
          </a:xfrm>
          <a:prstGeom prst="rect">
            <a:avLst/>
          </a:prstGeom>
          <a:solidFill>
            <a:srgbClr val="C8DAF8"/>
          </a:solidFill>
          <a:ln w="19066">
            <a:solidFill>
              <a:srgbClr val="4985E8"/>
            </a:solidFill>
          </a:ln>
        </p:spPr>
        <p:txBody>
          <a:bodyPr vert="horz" wrap="square" lIns="0" tIns="3382" rIns="0" bIns="0" rtlCol="0">
            <a:spAutoFit/>
          </a:bodyPr>
          <a:lstStyle/>
          <a:p>
            <a:pPr marL="7611" algn="ctr">
              <a:spcBef>
                <a:spcPts val="27"/>
              </a:spcBef>
            </a:pPr>
            <a:r>
              <a:rPr sz="932" spc="-27" dirty="0">
                <a:solidFill>
                  <a:srgbClr val="4985E8"/>
                </a:solidFill>
                <a:latin typeface="Tahoma"/>
                <a:cs typeface="Tahoma"/>
              </a:rPr>
              <a:t>Pool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6326" y="4921949"/>
            <a:ext cx="1108611" cy="141064"/>
          </a:xfrm>
          <a:prstGeom prst="rect">
            <a:avLst/>
          </a:prstGeom>
          <a:solidFill>
            <a:srgbClr val="FBE4CD"/>
          </a:solidFill>
          <a:ln w="19066">
            <a:solidFill>
              <a:srgbClr val="FF99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267">
              <a:lnSpc>
                <a:spcPts val="1059"/>
              </a:lnSpc>
            </a:pP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3x3</a:t>
            </a:r>
            <a:r>
              <a:rPr sz="932" spc="-67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spc="-33" dirty="0">
                <a:solidFill>
                  <a:srgbClr val="FF9900"/>
                </a:solidFill>
                <a:latin typeface="Tahoma"/>
                <a:cs typeface="Tahoma"/>
              </a:rPr>
              <a:t>384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6326" y="4702414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5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7" name="object 17"/>
          <p:cNvSpPr txBox="1"/>
          <p:nvPr/>
        </p:nvSpPr>
        <p:spPr>
          <a:xfrm>
            <a:off x="869022" y="4684647"/>
            <a:ext cx="1083243" cy="151295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22832" rIns="0" bIns="0" rtlCol="0">
            <a:spAutoFit/>
          </a:bodyPr>
          <a:lstStyle/>
          <a:p>
            <a:pPr marL="177582">
              <a:lnSpc>
                <a:spcPts val="1012"/>
              </a:lnSpc>
              <a:spcBef>
                <a:spcPts val="180"/>
              </a:spcBef>
            </a:pP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3x3</a:t>
            </a:r>
            <a:r>
              <a:rPr sz="932" spc="-67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932" spc="-13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932" spc="-33" dirty="0">
                <a:solidFill>
                  <a:srgbClr val="FF9900"/>
                </a:solidFill>
                <a:latin typeface="Tahoma"/>
                <a:cs typeface="Tahoma"/>
              </a:rPr>
              <a:t>256</a:t>
            </a:r>
            <a:endParaRPr sz="932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6326" y="4495237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5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9" name="object 19"/>
          <p:cNvSpPr txBox="1"/>
          <p:nvPr/>
        </p:nvSpPr>
        <p:spPr>
          <a:xfrm>
            <a:off x="856326" y="4495237"/>
            <a:ext cx="1108611" cy="143437"/>
          </a:xfrm>
          <a:prstGeom prst="rect">
            <a:avLst/>
          </a:prstGeom>
          <a:solidFill>
            <a:srgbClr val="C8DAF8"/>
          </a:solidFill>
        </p:spPr>
        <p:txBody>
          <a:bodyPr vert="horz" wrap="square" lIns="0" tIns="0" rIns="0" bIns="0" rtlCol="0">
            <a:spAutoFit/>
          </a:bodyPr>
          <a:lstStyle/>
          <a:p>
            <a:pPr marL="7611" algn="ctr"/>
            <a:r>
              <a:rPr sz="932" spc="-27" dirty="0">
                <a:solidFill>
                  <a:srgbClr val="4985E8"/>
                </a:solidFill>
                <a:latin typeface="Tahoma"/>
                <a:cs typeface="Tahoma"/>
              </a:rPr>
              <a:t>Pool</a:t>
            </a:r>
            <a:endParaRPr sz="932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56326" y="4275882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5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 txBox="1"/>
          <p:nvPr/>
        </p:nvSpPr>
        <p:spPr>
          <a:xfrm>
            <a:off x="869022" y="4258114"/>
            <a:ext cx="1083243" cy="152148"/>
          </a:xfrm>
          <a:prstGeom prst="rect">
            <a:avLst/>
          </a:prstGeom>
          <a:solidFill>
            <a:srgbClr val="D9EAD2"/>
          </a:solidFill>
        </p:spPr>
        <p:txBody>
          <a:bodyPr vert="horz" wrap="square" lIns="0" tIns="23677" rIns="0" bIns="0" rtlCol="0">
            <a:spAutoFit/>
          </a:bodyPr>
          <a:lstStyle/>
          <a:p>
            <a:pPr marL="322185">
              <a:lnSpc>
                <a:spcPts val="999"/>
              </a:lnSpc>
              <a:spcBef>
                <a:spcPts val="186"/>
              </a:spcBef>
            </a:pPr>
            <a:r>
              <a:rPr sz="932" dirty="0">
                <a:solidFill>
                  <a:srgbClr val="38761D"/>
                </a:solidFill>
                <a:latin typeface="Tahoma"/>
                <a:cs typeface="Tahoma"/>
              </a:rPr>
              <a:t>FC</a:t>
            </a:r>
            <a:r>
              <a:rPr sz="932" spc="87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932" spc="-27" dirty="0">
                <a:solidFill>
                  <a:srgbClr val="38761D"/>
                </a:solidFill>
                <a:latin typeface="Tahoma"/>
                <a:cs typeface="Tahoma"/>
              </a:rPr>
              <a:t>4096</a:t>
            </a:r>
            <a:endParaRPr sz="932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56326" y="4068705"/>
            <a:ext cx="1108611" cy="146293"/>
          </a:xfrm>
          <a:custGeom>
            <a:avLst/>
            <a:gdLst/>
            <a:ahLst/>
            <a:cxnLst/>
            <a:rect l="l" t="t" r="r" b="b"/>
            <a:pathLst>
              <a:path w="832485" h="109855">
                <a:moveTo>
                  <a:pt x="0" y="109825"/>
                </a:moveTo>
                <a:lnTo>
                  <a:pt x="832103" y="109825"/>
                </a:lnTo>
                <a:lnTo>
                  <a:pt x="832103" y="0"/>
                </a:lnTo>
                <a:lnTo>
                  <a:pt x="0" y="0"/>
                </a:lnTo>
                <a:lnTo>
                  <a:pt x="0" y="109825"/>
                </a:lnTo>
                <a:close/>
              </a:path>
            </a:pathLst>
          </a:custGeom>
          <a:ln w="19066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3" name="object 23"/>
          <p:cNvSpPr txBox="1"/>
          <p:nvPr/>
        </p:nvSpPr>
        <p:spPr>
          <a:xfrm>
            <a:off x="856326" y="4068705"/>
            <a:ext cx="1108611" cy="143437"/>
          </a:xfrm>
          <a:prstGeom prst="rect">
            <a:avLst/>
          </a:prstGeom>
          <a:solidFill>
            <a:srgbClr val="D9EAD2"/>
          </a:solidFill>
        </p:spPr>
        <p:txBody>
          <a:bodyPr vert="horz" wrap="square" lIns="0" tIns="0" rIns="0" bIns="0" rtlCol="0">
            <a:spAutoFit/>
          </a:bodyPr>
          <a:lstStyle/>
          <a:p>
            <a:pPr marL="334869"/>
            <a:r>
              <a:rPr sz="932" dirty="0">
                <a:solidFill>
                  <a:srgbClr val="38761D"/>
                </a:solidFill>
                <a:latin typeface="Tahoma"/>
                <a:cs typeface="Tahoma"/>
              </a:rPr>
              <a:t>FC</a:t>
            </a:r>
            <a:r>
              <a:rPr sz="932" spc="87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932" spc="-27" dirty="0">
                <a:solidFill>
                  <a:srgbClr val="38761D"/>
                </a:solidFill>
                <a:latin typeface="Tahoma"/>
                <a:cs typeface="Tahoma"/>
              </a:rPr>
              <a:t>4096</a:t>
            </a:r>
            <a:endParaRPr sz="932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03036" y="6408787"/>
            <a:ext cx="165065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3103"/>
              </a:lnSpc>
            </a:pP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2663" spc="-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2663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3" spc="-67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2663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326" y="3642171"/>
            <a:ext cx="1108611" cy="145145"/>
          </a:xfrm>
          <a:prstGeom prst="rect">
            <a:avLst/>
          </a:prstGeom>
          <a:solidFill>
            <a:srgbClr val="F4CCCC"/>
          </a:solidFill>
          <a:ln w="19066">
            <a:solidFill>
              <a:srgbClr val="FF0000"/>
            </a:solidFill>
          </a:ln>
        </p:spPr>
        <p:txBody>
          <a:bodyPr vert="horz" wrap="square" lIns="0" tIns="1691" rIns="0" bIns="0" rtlCol="0">
            <a:spAutoFit/>
          </a:bodyPr>
          <a:lstStyle/>
          <a:p>
            <a:pPr marL="345016">
              <a:spcBef>
                <a:spcPts val="13"/>
              </a:spcBef>
            </a:pPr>
            <a:r>
              <a:rPr sz="932" spc="-13" dirty="0">
                <a:solidFill>
                  <a:srgbClr val="FF0000"/>
                </a:solidFill>
                <a:latin typeface="Tahoma"/>
                <a:cs typeface="Tahoma"/>
              </a:rPr>
              <a:t>Softmax</a:t>
            </a:r>
            <a:endParaRPr sz="932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326" y="3861537"/>
            <a:ext cx="1108611" cy="141064"/>
          </a:xfrm>
          <a:prstGeom prst="rect">
            <a:avLst/>
          </a:prstGeom>
          <a:solidFill>
            <a:srgbClr val="D9EAD2"/>
          </a:solidFill>
          <a:ln w="19066">
            <a:solidFill>
              <a:srgbClr val="38761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4869">
              <a:lnSpc>
                <a:spcPts val="1059"/>
              </a:lnSpc>
            </a:pPr>
            <a:r>
              <a:rPr sz="932" dirty="0">
                <a:solidFill>
                  <a:srgbClr val="38761D"/>
                </a:solidFill>
                <a:latin typeface="Tahoma"/>
                <a:cs typeface="Tahoma"/>
              </a:rPr>
              <a:t>FC</a:t>
            </a:r>
            <a:r>
              <a:rPr sz="932" spc="87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932" spc="-27" dirty="0">
                <a:solidFill>
                  <a:srgbClr val="38761D"/>
                </a:solidFill>
                <a:latin typeface="Tahoma"/>
                <a:cs typeface="Tahoma"/>
              </a:rPr>
              <a:t>1000</a:t>
            </a:r>
            <a:endParaRPr sz="932">
              <a:latin typeface="Tahoma"/>
              <a:cs typeface="Tahoma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304835"/>
              </p:ext>
            </p:extLst>
          </p:nvPr>
        </p:nvGraphicFramePr>
        <p:xfrm>
          <a:off x="4320155" y="1301646"/>
          <a:ext cx="1101846" cy="5015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1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890">
                <a:tc>
                  <a:txBody>
                    <a:bodyPr/>
                    <a:lstStyle/>
                    <a:p>
                      <a:pPr marL="13335" algn="ctr">
                        <a:lnSpc>
                          <a:spcPts val="790"/>
                        </a:lnSpc>
                      </a:pPr>
                      <a:r>
                        <a:rPr sz="9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Softmax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5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1000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060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4096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060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178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FC</a:t>
                      </a:r>
                      <a:r>
                        <a:rPr sz="900" spc="65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38761D"/>
                          </a:solidFill>
                          <a:latin typeface="Tahoma"/>
                          <a:cs typeface="Tahoma"/>
                        </a:rPr>
                        <a:t>4096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214" marB="0">
                    <a:lnL w="19050">
                      <a:solidFill>
                        <a:srgbClr val="38761D"/>
                      </a:solidFill>
                      <a:prstDash val="solid"/>
                    </a:lnL>
                    <a:lnR w="19050">
                      <a:solidFill>
                        <a:srgbClr val="38761D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38761D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1288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38761D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9597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78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90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979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6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134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178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0442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2134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6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6362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6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512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4669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8053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256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8053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256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7207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6362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128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6362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633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128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5516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20" dirty="0">
                          <a:solidFill>
                            <a:srgbClr val="4985E8"/>
                          </a:solidFill>
                          <a:latin typeface="Tahoma"/>
                          <a:cs typeface="Tahoma"/>
                        </a:rPr>
                        <a:t>Pool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0590" marB="0">
                    <a:lnL w="19050">
                      <a:solidFill>
                        <a:srgbClr val="4985E8"/>
                      </a:solidFill>
                      <a:prstDash val="solid"/>
                    </a:lnL>
                    <a:lnR w="19050">
                      <a:solidFill>
                        <a:srgbClr val="4985E8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64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0590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3097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3x3</a:t>
                      </a:r>
                      <a:r>
                        <a:rPr sz="900" spc="-5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conv,</a:t>
                      </a:r>
                      <a:r>
                        <a:rPr sz="900" spc="-10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solidFill>
                            <a:srgbClr val="FF9900"/>
                          </a:solidFill>
                          <a:latin typeface="Tahoma"/>
                          <a:cs typeface="Tahoma"/>
                        </a:rPr>
                        <a:t>64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9744" marB="0">
                    <a:lnL w="19050">
                      <a:solidFill>
                        <a:srgbClr val="FF9900"/>
                      </a:solidFill>
                      <a:prstDash val="solid"/>
                    </a:lnL>
                    <a:lnR w="19050">
                      <a:solidFill>
                        <a:srgbClr val="FF9900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FF9900"/>
                      </a:solidFill>
                      <a:prstDash val="solid"/>
                    </a:lnB>
                    <a:solidFill>
                      <a:srgbClr val="FB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5890">
                <a:tc>
                  <a:txBody>
                    <a:bodyPr/>
                    <a:lstStyle/>
                    <a:p>
                      <a:pPr marL="10160" algn="ctr">
                        <a:lnSpc>
                          <a:spcPts val="710"/>
                        </a:lnSpc>
                        <a:spcBef>
                          <a:spcPts val="234"/>
                        </a:spcBef>
                      </a:pPr>
                      <a:r>
                        <a:rPr sz="900" spc="-10" dirty="0">
                          <a:solidFill>
                            <a:srgbClr val="434343"/>
                          </a:solidFill>
                          <a:latin typeface="Tahoma"/>
                          <a:cs typeface="Tahoma"/>
                        </a:rPr>
                        <a:t>Input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39743" marB="0">
                    <a:lnL w="19050">
                      <a:solidFill>
                        <a:srgbClr val="434343"/>
                      </a:solidFill>
                      <a:prstDash val="solid"/>
                    </a:lnL>
                    <a:lnR w="19050">
                      <a:solidFill>
                        <a:srgbClr val="434343"/>
                      </a:solidFill>
                      <a:prstDash val="solid"/>
                    </a:lnR>
                    <a:lnT w="19050">
                      <a:solidFill>
                        <a:srgbClr val="FF9900"/>
                      </a:solidFill>
                      <a:prstDash val="solid"/>
                    </a:lnT>
                    <a:lnB w="19050">
                      <a:solidFill>
                        <a:srgbClr val="434343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980463" y="6461760"/>
            <a:ext cx="865072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13" dirty="0">
                <a:latin typeface="Arial MT"/>
                <a:cs typeface="Arial MT"/>
              </a:rPr>
              <a:t>AlexNet</a:t>
            </a:r>
            <a:endParaRPr sz="1798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13631" y="6461760"/>
            <a:ext cx="821100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13" dirty="0">
                <a:latin typeface="Arial MT"/>
                <a:cs typeface="Arial MT"/>
              </a:rPr>
              <a:t>VGG16</a:t>
            </a:r>
            <a:endParaRPr sz="1798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35800" y="6461760"/>
            <a:ext cx="820254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sz="1798" spc="-13" dirty="0">
                <a:latin typeface="Arial MT"/>
                <a:cs typeface="Arial MT"/>
              </a:rPr>
              <a:t>VGG19</a:t>
            </a:r>
            <a:endParaRPr sz="1798">
              <a:latin typeface="Arial MT"/>
              <a:cs typeface="Arial MT"/>
            </a:endParaRPr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C97098A2-A804-DF3D-521C-919A2FEDC72F}"/>
              </a:ext>
            </a:extLst>
          </p:cNvPr>
          <p:cNvSpPr/>
          <p:nvPr/>
        </p:nvSpPr>
        <p:spPr>
          <a:xfrm>
            <a:off x="6411064" y="5660946"/>
            <a:ext cx="1393771" cy="172731"/>
          </a:xfrm>
          <a:custGeom>
            <a:avLst/>
            <a:gdLst/>
            <a:ahLst/>
            <a:cxnLst/>
            <a:rect l="l" t="t" r="r" b="b"/>
            <a:pathLst>
              <a:path w="868679" h="92075">
                <a:moveTo>
                  <a:pt x="0" y="91521"/>
                </a:moveTo>
                <a:lnTo>
                  <a:pt x="868679" y="91521"/>
                </a:lnTo>
                <a:lnTo>
                  <a:pt x="868679" y="0"/>
                </a:lnTo>
                <a:lnTo>
                  <a:pt x="0" y="0"/>
                </a:lnTo>
                <a:lnTo>
                  <a:pt x="0" y="91521"/>
                </a:lnTo>
                <a:close/>
              </a:path>
            </a:pathLst>
          </a:custGeom>
          <a:ln w="19066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8DC9D03-76AD-2BA4-B20B-08A4C7743FE4}"/>
              </a:ext>
            </a:extLst>
          </p:cNvPr>
          <p:cNvSpPr txBox="1"/>
          <p:nvPr/>
        </p:nvSpPr>
        <p:spPr>
          <a:xfrm>
            <a:off x="6420598" y="5647598"/>
            <a:ext cx="1363205" cy="96821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6985" rIns="0" bIns="0" rtlCol="0">
            <a:spAutoFit/>
          </a:bodyPr>
          <a:lstStyle/>
          <a:p>
            <a:pPr marL="12700" algn="ctr">
              <a:lnSpc>
                <a:spcPts val="695"/>
              </a:lnSpc>
              <a:spcBef>
                <a:spcPts val="55"/>
              </a:spcBef>
            </a:pPr>
            <a:r>
              <a:rPr sz="700" spc="-10" dirty="0">
                <a:solidFill>
                  <a:srgbClr val="434343"/>
                </a:solidFill>
                <a:latin typeface="Tahoma"/>
                <a:cs typeface="Tahoma"/>
              </a:rPr>
              <a:t>Input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6B889E1F-776D-DA62-D5B4-80728F9ECF0F}"/>
              </a:ext>
            </a:extLst>
          </p:cNvPr>
          <p:cNvSpPr/>
          <p:nvPr/>
        </p:nvSpPr>
        <p:spPr>
          <a:xfrm>
            <a:off x="6411065" y="1450960"/>
            <a:ext cx="1409052" cy="172731"/>
          </a:xfrm>
          <a:custGeom>
            <a:avLst/>
            <a:gdLst/>
            <a:ahLst/>
            <a:cxnLst/>
            <a:rect l="l" t="t" r="r" b="b"/>
            <a:pathLst>
              <a:path w="878204" h="92075">
                <a:moveTo>
                  <a:pt x="0" y="91521"/>
                </a:moveTo>
                <a:lnTo>
                  <a:pt x="877824" y="91521"/>
                </a:lnTo>
                <a:lnTo>
                  <a:pt x="877824" y="0"/>
                </a:lnTo>
                <a:lnTo>
                  <a:pt x="0" y="0"/>
                </a:lnTo>
                <a:lnTo>
                  <a:pt x="0" y="91521"/>
                </a:lnTo>
                <a:close/>
              </a:path>
            </a:pathLst>
          </a:custGeom>
          <a:ln w="1906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3465E7D6-11D7-FDCE-E2C6-6C0716DF4D79}"/>
              </a:ext>
            </a:extLst>
          </p:cNvPr>
          <p:cNvSpPr txBox="1"/>
          <p:nvPr/>
        </p:nvSpPr>
        <p:spPr>
          <a:xfrm>
            <a:off x="6411065" y="1450961"/>
            <a:ext cx="1409052" cy="89768"/>
          </a:xfrm>
          <a:prstGeom prst="rect">
            <a:avLst/>
          </a:prstGeom>
          <a:solidFill>
            <a:srgbClr val="F4CCCC"/>
          </a:solidFill>
        </p:spPr>
        <p:txBody>
          <a:bodyPr vert="horz" wrap="square" lIns="0" tIns="0" rIns="0" bIns="0" rtlCol="0">
            <a:spAutoFit/>
          </a:bodyPr>
          <a:lstStyle/>
          <a:p>
            <a:pPr marL="285115">
              <a:lnSpc>
                <a:spcPts val="720"/>
              </a:lnSpc>
            </a:pPr>
            <a:r>
              <a:rPr sz="700" spc="-10" dirty="0">
                <a:solidFill>
                  <a:srgbClr val="FF0000"/>
                </a:solidFill>
                <a:latin typeface="Tahoma"/>
                <a:cs typeface="Tahoma"/>
              </a:rPr>
              <a:t>Softmax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35" name="object 6">
            <a:extLst>
              <a:ext uri="{FF2B5EF4-FFF2-40B4-BE49-F238E27FC236}">
                <a16:creationId xmlns:a16="http://schemas.microsoft.com/office/drawing/2014/main" id="{528D5A3D-D6F4-FAA7-FAFB-2A1FE62D7296}"/>
              </a:ext>
            </a:extLst>
          </p:cNvPr>
          <p:cNvGrpSpPr/>
          <p:nvPr/>
        </p:nvGrpSpPr>
        <p:grpSpPr>
          <a:xfrm>
            <a:off x="6401223" y="5028754"/>
            <a:ext cx="1425354" cy="1118584"/>
            <a:chOff x="5366829" y="3779133"/>
            <a:chExt cx="888365" cy="596265"/>
          </a:xfrm>
        </p:grpSpPr>
        <p:sp>
          <p:nvSpPr>
            <p:cNvPr id="36" name="object 7">
              <a:extLst>
                <a:ext uri="{FF2B5EF4-FFF2-40B4-BE49-F238E27FC236}">
                  <a16:creationId xmlns:a16="http://schemas.microsoft.com/office/drawing/2014/main" id="{6C95BC11-EBF1-6BB4-949B-BEB25E0CF5AA}"/>
                </a:ext>
              </a:extLst>
            </p:cNvPr>
            <p:cNvSpPr/>
            <p:nvPr/>
          </p:nvSpPr>
          <p:spPr>
            <a:xfrm>
              <a:off x="5376671" y="378897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8">
              <a:extLst>
                <a:ext uri="{FF2B5EF4-FFF2-40B4-BE49-F238E27FC236}">
                  <a16:creationId xmlns:a16="http://schemas.microsoft.com/office/drawing/2014/main" id="{03D9732B-F613-35E1-A2E5-B75C55F7D80C}"/>
                </a:ext>
              </a:extLst>
            </p:cNvPr>
            <p:cNvSpPr/>
            <p:nvPr/>
          </p:nvSpPr>
          <p:spPr>
            <a:xfrm>
              <a:off x="5376671" y="378897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9">
              <a:extLst>
                <a:ext uri="{FF2B5EF4-FFF2-40B4-BE49-F238E27FC236}">
                  <a16:creationId xmlns:a16="http://schemas.microsoft.com/office/drawing/2014/main" id="{A278A88E-3387-9B65-2652-0C3B49DB26FC}"/>
                </a:ext>
              </a:extLst>
            </p:cNvPr>
            <p:cNvSpPr/>
            <p:nvPr/>
          </p:nvSpPr>
          <p:spPr>
            <a:xfrm>
              <a:off x="5376671" y="4274039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10">
            <a:extLst>
              <a:ext uri="{FF2B5EF4-FFF2-40B4-BE49-F238E27FC236}">
                <a16:creationId xmlns:a16="http://schemas.microsoft.com/office/drawing/2014/main" id="{790D23EA-68B1-85E3-ABD0-0E65B4E7FF07}"/>
              </a:ext>
            </a:extLst>
          </p:cNvPr>
          <p:cNvSpPr txBox="1"/>
          <p:nvPr/>
        </p:nvSpPr>
        <p:spPr>
          <a:xfrm>
            <a:off x="6420598" y="5510317"/>
            <a:ext cx="1363205" cy="116699"/>
          </a:xfrm>
          <a:prstGeom prst="rect">
            <a:avLst/>
          </a:prstGeom>
          <a:solidFill>
            <a:srgbClr val="FBE4CD"/>
          </a:solidFill>
        </p:spPr>
        <p:txBody>
          <a:bodyPr vert="horz" wrap="square" lIns="0" tIns="88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70"/>
              </a:spcBef>
            </a:pPr>
            <a:r>
              <a:rPr sz="700" spc="-10" dirty="0">
                <a:solidFill>
                  <a:srgbClr val="FF9900"/>
                </a:solidFill>
                <a:latin typeface="Tahoma"/>
                <a:cs typeface="Tahoma"/>
              </a:rPr>
              <a:t>7x7</a:t>
            </a:r>
            <a:r>
              <a:rPr sz="700" spc="-50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FF9900"/>
                </a:solidFill>
                <a:latin typeface="Tahoma"/>
                <a:cs typeface="Tahoma"/>
              </a:rPr>
              <a:t>conv,</a:t>
            </a:r>
            <a:r>
              <a:rPr sz="700" spc="-5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FF9900"/>
                </a:solidFill>
                <a:latin typeface="Tahoma"/>
                <a:cs typeface="Tahoma"/>
              </a:rPr>
              <a:t>64,</a:t>
            </a:r>
            <a:r>
              <a:rPr sz="700" spc="-65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FF9900"/>
                </a:solidFill>
                <a:latin typeface="Tahoma"/>
                <a:cs typeface="Tahoma"/>
              </a:rPr>
              <a:t>/</a:t>
            </a:r>
            <a:r>
              <a:rPr sz="700" spc="-35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700" spc="-50" dirty="0">
                <a:solidFill>
                  <a:srgbClr val="FF9900"/>
                </a:solidFill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0" name="object 11">
            <a:extLst>
              <a:ext uri="{FF2B5EF4-FFF2-40B4-BE49-F238E27FC236}">
                <a16:creationId xmlns:a16="http://schemas.microsoft.com/office/drawing/2014/main" id="{1365ED0D-EF18-439B-BCB1-D8250F575818}"/>
              </a:ext>
            </a:extLst>
          </p:cNvPr>
          <p:cNvSpPr/>
          <p:nvPr/>
        </p:nvSpPr>
        <p:spPr>
          <a:xfrm>
            <a:off x="6411064" y="1588247"/>
            <a:ext cx="1393771" cy="172731"/>
          </a:xfrm>
          <a:custGeom>
            <a:avLst/>
            <a:gdLst/>
            <a:ahLst/>
            <a:cxnLst/>
            <a:rect l="l" t="t" r="r" b="b"/>
            <a:pathLst>
              <a:path w="868679" h="92075">
                <a:moveTo>
                  <a:pt x="0" y="91521"/>
                </a:moveTo>
                <a:lnTo>
                  <a:pt x="868679" y="91521"/>
                </a:lnTo>
                <a:lnTo>
                  <a:pt x="868679" y="0"/>
                </a:lnTo>
                <a:lnTo>
                  <a:pt x="0" y="0"/>
                </a:lnTo>
                <a:lnTo>
                  <a:pt x="0" y="91521"/>
                </a:lnTo>
                <a:close/>
              </a:path>
            </a:pathLst>
          </a:custGeom>
          <a:ln w="19066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71A639CB-E15E-EBE5-A700-531B7CD7EE0D}"/>
              </a:ext>
            </a:extLst>
          </p:cNvPr>
          <p:cNvSpPr txBox="1"/>
          <p:nvPr/>
        </p:nvSpPr>
        <p:spPr>
          <a:xfrm>
            <a:off x="6420598" y="1574898"/>
            <a:ext cx="1365242" cy="108363"/>
          </a:xfrm>
          <a:prstGeom prst="rect">
            <a:avLst/>
          </a:prstGeom>
          <a:solidFill>
            <a:srgbClr val="D9EAD2"/>
          </a:solidFill>
        </p:spPr>
        <p:txBody>
          <a:bodyPr vert="horz" wrap="square" lIns="0" tIns="635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FC</a:t>
            </a:r>
            <a:r>
              <a:rPr sz="700" spc="6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38761D"/>
                </a:solidFill>
                <a:latin typeface="Tahoma"/>
                <a:cs typeface="Tahoma"/>
              </a:rPr>
              <a:t>1000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2" name="object 13">
            <a:extLst>
              <a:ext uri="{FF2B5EF4-FFF2-40B4-BE49-F238E27FC236}">
                <a16:creationId xmlns:a16="http://schemas.microsoft.com/office/drawing/2014/main" id="{A110D6CF-224D-E815-E635-DCCF04921B83}"/>
              </a:ext>
            </a:extLst>
          </p:cNvPr>
          <p:cNvSpPr/>
          <p:nvPr/>
        </p:nvSpPr>
        <p:spPr>
          <a:xfrm>
            <a:off x="6411064" y="5386385"/>
            <a:ext cx="1393771" cy="172731"/>
          </a:xfrm>
          <a:custGeom>
            <a:avLst/>
            <a:gdLst/>
            <a:ahLst/>
            <a:cxnLst/>
            <a:rect l="l" t="t" r="r" b="b"/>
            <a:pathLst>
              <a:path w="868679" h="92075">
                <a:moveTo>
                  <a:pt x="0" y="91521"/>
                </a:moveTo>
                <a:lnTo>
                  <a:pt x="868679" y="91521"/>
                </a:lnTo>
                <a:lnTo>
                  <a:pt x="868679" y="0"/>
                </a:lnTo>
                <a:lnTo>
                  <a:pt x="0" y="0"/>
                </a:lnTo>
                <a:lnTo>
                  <a:pt x="0" y="91521"/>
                </a:lnTo>
                <a:close/>
              </a:path>
            </a:pathLst>
          </a:custGeom>
          <a:ln w="19066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>
            <a:extLst>
              <a:ext uri="{FF2B5EF4-FFF2-40B4-BE49-F238E27FC236}">
                <a16:creationId xmlns:a16="http://schemas.microsoft.com/office/drawing/2014/main" id="{BF6FEB30-599C-B368-0DF4-66D2F932B697}"/>
              </a:ext>
            </a:extLst>
          </p:cNvPr>
          <p:cNvSpPr txBox="1"/>
          <p:nvPr/>
        </p:nvSpPr>
        <p:spPr>
          <a:xfrm>
            <a:off x="6411064" y="5386386"/>
            <a:ext cx="1393771" cy="89768"/>
          </a:xfrm>
          <a:prstGeom prst="rect">
            <a:avLst/>
          </a:prstGeom>
          <a:solidFill>
            <a:srgbClr val="C8DAF8"/>
          </a:solidFill>
        </p:spPr>
        <p:txBody>
          <a:bodyPr vert="horz" wrap="square" lIns="0" tIns="0" rIns="0" bIns="0" rtlCol="0">
            <a:spAutoFit/>
          </a:bodyPr>
          <a:lstStyle/>
          <a:p>
            <a:pPr marL="15240" algn="ctr">
              <a:lnSpc>
                <a:spcPts val="720"/>
              </a:lnSpc>
            </a:pPr>
            <a:r>
              <a:rPr sz="700" spc="-20" dirty="0">
                <a:solidFill>
                  <a:srgbClr val="4985E8"/>
                </a:solidFill>
                <a:latin typeface="Tahoma"/>
                <a:cs typeface="Tahoma"/>
              </a:rPr>
              <a:t>Pool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44" name="object 15">
            <a:extLst>
              <a:ext uri="{FF2B5EF4-FFF2-40B4-BE49-F238E27FC236}">
                <a16:creationId xmlns:a16="http://schemas.microsoft.com/office/drawing/2014/main" id="{8229F15A-D233-264F-C60A-46D7AC262478}"/>
              </a:ext>
            </a:extLst>
          </p:cNvPr>
          <p:cNvGrpSpPr/>
          <p:nvPr/>
        </p:nvGrpSpPr>
        <p:grpSpPr>
          <a:xfrm>
            <a:off x="6401222" y="4342306"/>
            <a:ext cx="2046845" cy="1970328"/>
            <a:chOff x="5366829" y="3092686"/>
            <a:chExt cx="1275715" cy="1050290"/>
          </a:xfrm>
        </p:grpSpPr>
        <p:sp>
          <p:nvSpPr>
            <p:cNvPr id="45" name="object 16">
              <a:extLst>
                <a:ext uri="{FF2B5EF4-FFF2-40B4-BE49-F238E27FC236}">
                  <a16:creationId xmlns:a16="http://schemas.microsoft.com/office/drawing/2014/main" id="{ADF4671C-DA6B-910D-0DE1-6BF7B94996CF}"/>
                </a:ext>
              </a:extLst>
            </p:cNvPr>
            <p:cNvSpPr/>
            <p:nvPr/>
          </p:nvSpPr>
          <p:spPr>
            <a:xfrm>
              <a:off x="5376671" y="391710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7">
              <a:extLst>
                <a:ext uri="{FF2B5EF4-FFF2-40B4-BE49-F238E27FC236}">
                  <a16:creationId xmlns:a16="http://schemas.microsoft.com/office/drawing/2014/main" id="{091DAEC0-1596-F4C7-A8E4-12B1FBDDC1E4}"/>
                </a:ext>
              </a:extLst>
            </p:cNvPr>
            <p:cNvSpPr/>
            <p:nvPr/>
          </p:nvSpPr>
          <p:spPr>
            <a:xfrm>
              <a:off x="5376671" y="391710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8">
              <a:extLst>
                <a:ext uri="{FF2B5EF4-FFF2-40B4-BE49-F238E27FC236}">
                  <a16:creationId xmlns:a16="http://schemas.microsoft.com/office/drawing/2014/main" id="{D35D8853-2DA1-F74B-326D-3CA41F13DE8E}"/>
                </a:ext>
              </a:extLst>
            </p:cNvPr>
            <p:cNvSpPr/>
            <p:nvPr/>
          </p:nvSpPr>
          <p:spPr>
            <a:xfrm>
              <a:off x="5820155" y="3885082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0" y="38125"/>
                  </a:moveTo>
                  <a:lnTo>
                    <a:pt x="0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9">
              <a:extLst>
                <a:ext uri="{FF2B5EF4-FFF2-40B4-BE49-F238E27FC236}">
                  <a16:creationId xmlns:a16="http://schemas.microsoft.com/office/drawing/2014/main" id="{E270C5CA-ED6D-76D1-0F60-9A3BB9473D1E}"/>
                </a:ext>
              </a:extLst>
            </p:cNvPr>
            <p:cNvSpPr/>
            <p:nvPr/>
          </p:nvSpPr>
          <p:spPr>
            <a:xfrm>
              <a:off x="5792723" y="4058970"/>
              <a:ext cx="45720" cy="36830"/>
            </a:xfrm>
            <a:custGeom>
              <a:avLst/>
              <a:gdLst/>
              <a:ahLst/>
              <a:cxnLst/>
              <a:rect l="l" t="t" r="r" b="b"/>
              <a:pathLst>
                <a:path w="45720" h="36829">
                  <a:moveTo>
                    <a:pt x="22860" y="0"/>
                  </a:moveTo>
                  <a:lnTo>
                    <a:pt x="13983" y="1437"/>
                  </a:lnTo>
                  <a:lnTo>
                    <a:pt x="6715" y="5359"/>
                  </a:lnTo>
                  <a:lnTo>
                    <a:pt x="1803" y="11176"/>
                  </a:lnTo>
                  <a:lnTo>
                    <a:pt x="0" y="18300"/>
                  </a:lnTo>
                  <a:lnTo>
                    <a:pt x="1803" y="25425"/>
                  </a:lnTo>
                  <a:lnTo>
                    <a:pt x="6715" y="31241"/>
                  </a:lnTo>
                  <a:lnTo>
                    <a:pt x="13983" y="35163"/>
                  </a:lnTo>
                  <a:lnTo>
                    <a:pt x="22860" y="36601"/>
                  </a:lnTo>
                  <a:lnTo>
                    <a:pt x="31736" y="35163"/>
                  </a:lnTo>
                  <a:lnTo>
                    <a:pt x="39004" y="31241"/>
                  </a:lnTo>
                  <a:lnTo>
                    <a:pt x="43916" y="25425"/>
                  </a:lnTo>
                  <a:lnTo>
                    <a:pt x="45720" y="18300"/>
                  </a:lnTo>
                  <a:lnTo>
                    <a:pt x="43916" y="11176"/>
                  </a:lnTo>
                  <a:lnTo>
                    <a:pt x="39004" y="5359"/>
                  </a:lnTo>
                  <a:lnTo>
                    <a:pt x="31736" y="1437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0">
              <a:extLst>
                <a:ext uri="{FF2B5EF4-FFF2-40B4-BE49-F238E27FC236}">
                  <a16:creationId xmlns:a16="http://schemas.microsoft.com/office/drawing/2014/main" id="{3BCED880-191F-D2D7-1BD4-511FAE806CB9}"/>
                </a:ext>
              </a:extLst>
            </p:cNvPr>
            <p:cNvSpPr/>
            <p:nvPr/>
          </p:nvSpPr>
          <p:spPr>
            <a:xfrm>
              <a:off x="5792723" y="4013212"/>
              <a:ext cx="45720" cy="124460"/>
            </a:xfrm>
            <a:custGeom>
              <a:avLst/>
              <a:gdLst/>
              <a:ahLst/>
              <a:cxnLst/>
              <a:rect l="l" t="t" r="r" b="b"/>
              <a:pathLst>
                <a:path w="45720" h="124460">
                  <a:moveTo>
                    <a:pt x="0" y="64058"/>
                  </a:moveTo>
                  <a:lnTo>
                    <a:pt x="1803" y="56934"/>
                  </a:lnTo>
                  <a:lnTo>
                    <a:pt x="6715" y="51117"/>
                  </a:lnTo>
                  <a:lnTo>
                    <a:pt x="13983" y="47195"/>
                  </a:lnTo>
                  <a:lnTo>
                    <a:pt x="22860" y="45758"/>
                  </a:lnTo>
                  <a:lnTo>
                    <a:pt x="31736" y="47195"/>
                  </a:lnTo>
                  <a:lnTo>
                    <a:pt x="39004" y="51117"/>
                  </a:lnTo>
                  <a:lnTo>
                    <a:pt x="43916" y="56934"/>
                  </a:lnTo>
                  <a:lnTo>
                    <a:pt x="45720" y="64058"/>
                  </a:lnTo>
                  <a:lnTo>
                    <a:pt x="43916" y="71183"/>
                  </a:lnTo>
                  <a:lnTo>
                    <a:pt x="39004" y="77000"/>
                  </a:lnTo>
                  <a:lnTo>
                    <a:pt x="31736" y="80921"/>
                  </a:lnTo>
                  <a:lnTo>
                    <a:pt x="22860" y="82359"/>
                  </a:lnTo>
                  <a:lnTo>
                    <a:pt x="13983" y="80921"/>
                  </a:lnTo>
                  <a:lnTo>
                    <a:pt x="6715" y="77000"/>
                  </a:lnTo>
                  <a:lnTo>
                    <a:pt x="1803" y="71183"/>
                  </a:lnTo>
                  <a:lnTo>
                    <a:pt x="0" y="64058"/>
                  </a:lnTo>
                  <a:close/>
                </a:path>
                <a:path w="45720" h="124460">
                  <a:moveTo>
                    <a:pt x="27431" y="124396"/>
                  </a:moveTo>
                  <a:lnTo>
                    <a:pt x="27431" y="82359"/>
                  </a:lnTo>
                </a:path>
                <a:path w="45720" h="124460">
                  <a:moveTo>
                    <a:pt x="27431" y="42036"/>
                  </a:moveTo>
                  <a:lnTo>
                    <a:pt x="27431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1">
              <a:extLst>
                <a:ext uri="{FF2B5EF4-FFF2-40B4-BE49-F238E27FC236}">
                  <a16:creationId xmlns:a16="http://schemas.microsoft.com/office/drawing/2014/main" id="{821FD3C1-7362-E021-09AA-E1FC845E0CA5}"/>
                </a:ext>
              </a:extLst>
            </p:cNvPr>
            <p:cNvSpPr/>
            <p:nvPr/>
          </p:nvSpPr>
          <p:spPr>
            <a:xfrm>
              <a:off x="5792723" y="371119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89"/>
                  </a:lnTo>
                  <a:lnTo>
                    <a:pt x="6715" y="39052"/>
                  </a:lnTo>
                  <a:lnTo>
                    <a:pt x="13983" y="43934"/>
                  </a:lnTo>
                  <a:lnTo>
                    <a:pt x="22860" y="45719"/>
                  </a:lnTo>
                  <a:lnTo>
                    <a:pt x="31736" y="43934"/>
                  </a:lnTo>
                  <a:lnTo>
                    <a:pt x="39004" y="39052"/>
                  </a:lnTo>
                  <a:lnTo>
                    <a:pt x="43916" y="31789"/>
                  </a:lnTo>
                  <a:lnTo>
                    <a:pt x="45720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2">
              <a:extLst>
                <a:ext uri="{FF2B5EF4-FFF2-40B4-BE49-F238E27FC236}">
                  <a16:creationId xmlns:a16="http://schemas.microsoft.com/office/drawing/2014/main" id="{A5C6E993-9A4B-83FC-DB58-623277391B6D}"/>
                </a:ext>
              </a:extLst>
            </p:cNvPr>
            <p:cNvSpPr/>
            <p:nvPr/>
          </p:nvSpPr>
          <p:spPr>
            <a:xfrm>
              <a:off x="5792723" y="3711193"/>
              <a:ext cx="843280" cy="371475"/>
            </a:xfrm>
            <a:custGeom>
              <a:avLst/>
              <a:gdLst/>
              <a:ahLst/>
              <a:cxnLst/>
              <a:rect l="l" t="t" r="r" b="b"/>
              <a:pathLst>
                <a:path w="843279" h="371475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59"/>
                  </a:lnTo>
                  <a:lnTo>
                    <a:pt x="43916" y="31789"/>
                  </a:lnTo>
                  <a:lnTo>
                    <a:pt x="39004" y="39052"/>
                  </a:lnTo>
                  <a:lnTo>
                    <a:pt x="31736" y="43934"/>
                  </a:lnTo>
                  <a:lnTo>
                    <a:pt x="22860" y="45719"/>
                  </a:lnTo>
                  <a:lnTo>
                    <a:pt x="13983" y="43934"/>
                  </a:lnTo>
                  <a:lnTo>
                    <a:pt x="6715" y="39052"/>
                  </a:lnTo>
                  <a:lnTo>
                    <a:pt x="1803" y="31789"/>
                  </a:lnTo>
                  <a:lnTo>
                    <a:pt x="0" y="22859"/>
                  </a:lnTo>
                  <a:close/>
                </a:path>
                <a:path w="843279" h="371475">
                  <a:moveTo>
                    <a:pt x="27431" y="81533"/>
                  </a:moveTo>
                  <a:lnTo>
                    <a:pt x="27431" y="45719"/>
                  </a:lnTo>
                </a:path>
                <a:path w="843279" h="371475">
                  <a:moveTo>
                    <a:pt x="45720" y="27431"/>
                  </a:moveTo>
                  <a:lnTo>
                    <a:pt x="112093" y="28212"/>
                  </a:lnTo>
                  <a:lnTo>
                    <a:pt x="178057" y="30494"/>
                  </a:lnTo>
                  <a:lnTo>
                    <a:pt x="243200" y="34189"/>
                  </a:lnTo>
                  <a:lnTo>
                    <a:pt x="307113" y="39209"/>
                  </a:lnTo>
                  <a:lnTo>
                    <a:pt x="369386" y="45466"/>
                  </a:lnTo>
                  <a:lnTo>
                    <a:pt x="429608" y="52871"/>
                  </a:lnTo>
                  <a:lnTo>
                    <a:pt x="487369" y="61337"/>
                  </a:lnTo>
                  <a:lnTo>
                    <a:pt x="542258" y="70775"/>
                  </a:lnTo>
                  <a:lnTo>
                    <a:pt x="593867" y="81097"/>
                  </a:lnTo>
                  <a:lnTo>
                    <a:pt x="641785" y="92214"/>
                  </a:lnTo>
                  <a:lnTo>
                    <a:pt x="685601" y="104039"/>
                  </a:lnTo>
                  <a:lnTo>
                    <a:pt x="724906" y="116482"/>
                  </a:lnTo>
                  <a:lnTo>
                    <a:pt x="788341" y="142873"/>
                  </a:lnTo>
                  <a:lnTo>
                    <a:pt x="828807" y="170681"/>
                  </a:lnTo>
                  <a:lnTo>
                    <a:pt x="843026" y="199199"/>
                  </a:lnTo>
                  <a:lnTo>
                    <a:pt x="839405" y="213497"/>
                  </a:lnTo>
                  <a:lnTo>
                    <a:pt x="811671" y="241740"/>
                  </a:lnTo>
                  <a:lnTo>
                    <a:pt x="759345" y="268923"/>
                  </a:lnTo>
                  <a:lnTo>
                    <a:pt x="685709" y="294339"/>
                  </a:lnTo>
                  <a:lnTo>
                    <a:pt x="641924" y="306163"/>
                  </a:lnTo>
                  <a:lnTo>
                    <a:pt x="594042" y="317280"/>
                  </a:lnTo>
                  <a:lnTo>
                    <a:pt x="542472" y="327603"/>
                  </a:lnTo>
                  <a:lnTo>
                    <a:pt x="487624" y="337042"/>
                  </a:lnTo>
                  <a:lnTo>
                    <a:pt x="429909" y="345509"/>
                  </a:lnTo>
                  <a:lnTo>
                    <a:pt x="369735" y="352915"/>
                  </a:lnTo>
                  <a:lnTo>
                    <a:pt x="307515" y="359174"/>
                  </a:lnTo>
                  <a:lnTo>
                    <a:pt x="243656" y="364195"/>
                  </a:lnTo>
                  <a:lnTo>
                    <a:pt x="178570" y="367891"/>
                  </a:lnTo>
                  <a:lnTo>
                    <a:pt x="112666" y="370173"/>
                  </a:lnTo>
                  <a:lnTo>
                    <a:pt x="46354" y="370954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3">
              <a:extLst>
                <a:ext uri="{FF2B5EF4-FFF2-40B4-BE49-F238E27FC236}">
                  <a16:creationId xmlns:a16="http://schemas.microsoft.com/office/drawing/2014/main" id="{958C1BDD-B142-208E-2072-17BAA448824A}"/>
                </a:ext>
              </a:extLst>
            </p:cNvPr>
            <p:cNvSpPr/>
            <p:nvPr/>
          </p:nvSpPr>
          <p:spPr>
            <a:xfrm>
              <a:off x="5376671" y="3450381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24">
              <a:extLst>
                <a:ext uri="{FF2B5EF4-FFF2-40B4-BE49-F238E27FC236}">
                  <a16:creationId xmlns:a16="http://schemas.microsoft.com/office/drawing/2014/main" id="{4D4BBF33-01F9-10AD-43DB-6DBEE054B20D}"/>
                </a:ext>
              </a:extLst>
            </p:cNvPr>
            <p:cNvSpPr/>
            <p:nvPr/>
          </p:nvSpPr>
          <p:spPr>
            <a:xfrm>
              <a:off x="5376671" y="3450381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5">
              <a:extLst>
                <a:ext uri="{FF2B5EF4-FFF2-40B4-BE49-F238E27FC236}">
                  <a16:creationId xmlns:a16="http://schemas.microsoft.com/office/drawing/2014/main" id="{70B389E3-7610-A382-9C2C-97BAA36B2F05}"/>
                </a:ext>
              </a:extLst>
            </p:cNvPr>
            <p:cNvSpPr/>
            <p:nvPr/>
          </p:nvSpPr>
          <p:spPr>
            <a:xfrm>
              <a:off x="5376671" y="357852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26">
              <a:extLst>
                <a:ext uri="{FF2B5EF4-FFF2-40B4-BE49-F238E27FC236}">
                  <a16:creationId xmlns:a16="http://schemas.microsoft.com/office/drawing/2014/main" id="{058EC0E2-196A-3EA5-9A66-FF0B7844EE76}"/>
                </a:ext>
              </a:extLst>
            </p:cNvPr>
            <p:cNvSpPr/>
            <p:nvPr/>
          </p:nvSpPr>
          <p:spPr>
            <a:xfrm>
              <a:off x="5376671" y="357852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7">
              <a:extLst>
                <a:ext uri="{FF2B5EF4-FFF2-40B4-BE49-F238E27FC236}">
                  <a16:creationId xmlns:a16="http://schemas.microsoft.com/office/drawing/2014/main" id="{C4AB72CE-F685-E9A8-248C-5CAC91AA9DA2}"/>
                </a:ext>
              </a:extLst>
            </p:cNvPr>
            <p:cNvSpPr/>
            <p:nvPr/>
          </p:nvSpPr>
          <p:spPr>
            <a:xfrm>
              <a:off x="5811011" y="3546474"/>
              <a:ext cx="1905" cy="167005"/>
            </a:xfrm>
            <a:custGeom>
              <a:avLst/>
              <a:gdLst/>
              <a:ahLst/>
              <a:cxnLst/>
              <a:rect l="l" t="t" r="r" b="b"/>
              <a:pathLst>
                <a:path w="1904" h="167004">
                  <a:moveTo>
                    <a:pt x="0" y="38100"/>
                  </a:moveTo>
                  <a:lnTo>
                    <a:pt x="0" y="0"/>
                  </a:lnTo>
                </a:path>
                <a:path w="1904" h="167004">
                  <a:moveTo>
                    <a:pt x="1777" y="166878"/>
                  </a:moveTo>
                  <a:lnTo>
                    <a:pt x="0" y="128143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8">
              <a:extLst>
                <a:ext uri="{FF2B5EF4-FFF2-40B4-BE49-F238E27FC236}">
                  <a16:creationId xmlns:a16="http://schemas.microsoft.com/office/drawing/2014/main" id="{68473EC8-CC90-E464-A658-B855C57DDC8A}"/>
                </a:ext>
              </a:extLst>
            </p:cNvPr>
            <p:cNvSpPr/>
            <p:nvPr/>
          </p:nvSpPr>
          <p:spPr>
            <a:xfrm>
              <a:off x="5792723" y="33634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785"/>
                  </a:lnTo>
                  <a:lnTo>
                    <a:pt x="6715" y="6667"/>
                  </a:lnTo>
                  <a:lnTo>
                    <a:pt x="1803" y="13930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59"/>
                  </a:lnTo>
                  <a:lnTo>
                    <a:pt x="43916" y="13930"/>
                  </a:lnTo>
                  <a:lnTo>
                    <a:pt x="39004" y="6667"/>
                  </a:lnTo>
                  <a:lnTo>
                    <a:pt x="31736" y="1785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29">
              <a:extLst>
                <a:ext uri="{FF2B5EF4-FFF2-40B4-BE49-F238E27FC236}">
                  <a16:creationId xmlns:a16="http://schemas.microsoft.com/office/drawing/2014/main" id="{D5C03AAB-FB41-1409-F61F-67D20FAC6C6E}"/>
                </a:ext>
              </a:extLst>
            </p:cNvPr>
            <p:cNvSpPr/>
            <p:nvPr/>
          </p:nvSpPr>
          <p:spPr>
            <a:xfrm>
              <a:off x="5792723" y="3363467"/>
              <a:ext cx="844550" cy="372745"/>
            </a:xfrm>
            <a:custGeom>
              <a:avLst/>
              <a:gdLst/>
              <a:ahLst/>
              <a:cxnLst/>
              <a:rect l="l" t="t" r="r" b="b"/>
              <a:pathLst>
                <a:path w="844550" h="372745">
                  <a:moveTo>
                    <a:pt x="0" y="22859"/>
                  </a:moveTo>
                  <a:lnTo>
                    <a:pt x="1803" y="13930"/>
                  </a:lnTo>
                  <a:lnTo>
                    <a:pt x="6715" y="6667"/>
                  </a:lnTo>
                  <a:lnTo>
                    <a:pt x="13983" y="1785"/>
                  </a:lnTo>
                  <a:lnTo>
                    <a:pt x="22860" y="0"/>
                  </a:lnTo>
                  <a:lnTo>
                    <a:pt x="31736" y="1785"/>
                  </a:lnTo>
                  <a:lnTo>
                    <a:pt x="39004" y="6667"/>
                  </a:lnTo>
                  <a:lnTo>
                    <a:pt x="43916" y="13930"/>
                  </a:lnTo>
                  <a:lnTo>
                    <a:pt x="45720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  <a:path w="844550" h="372745">
                  <a:moveTo>
                    <a:pt x="18287" y="86232"/>
                  </a:moveTo>
                  <a:lnTo>
                    <a:pt x="18541" y="45719"/>
                  </a:lnTo>
                </a:path>
                <a:path w="844550" h="372745">
                  <a:moveTo>
                    <a:pt x="47243" y="372744"/>
                  </a:moveTo>
                  <a:lnTo>
                    <a:pt x="113617" y="371960"/>
                  </a:lnTo>
                  <a:lnTo>
                    <a:pt x="179581" y="369664"/>
                  </a:lnTo>
                  <a:lnTo>
                    <a:pt x="244724" y="365948"/>
                  </a:lnTo>
                  <a:lnTo>
                    <a:pt x="308637" y="360898"/>
                  </a:lnTo>
                  <a:lnTo>
                    <a:pt x="370910" y="354605"/>
                  </a:lnTo>
                  <a:lnTo>
                    <a:pt x="431132" y="347156"/>
                  </a:lnTo>
                  <a:lnTo>
                    <a:pt x="488893" y="338642"/>
                  </a:lnTo>
                  <a:lnTo>
                    <a:pt x="543782" y="329150"/>
                  </a:lnTo>
                  <a:lnTo>
                    <a:pt x="595391" y="318769"/>
                  </a:lnTo>
                  <a:lnTo>
                    <a:pt x="643309" y="307589"/>
                  </a:lnTo>
                  <a:lnTo>
                    <a:pt x="687125" y="295699"/>
                  </a:lnTo>
                  <a:lnTo>
                    <a:pt x="726430" y="283186"/>
                  </a:lnTo>
                  <a:lnTo>
                    <a:pt x="789865" y="256650"/>
                  </a:lnTo>
                  <a:lnTo>
                    <a:pt x="830331" y="228693"/>
                  </a:lnTo>
                  <a:lnTo>
                    <a:pt x="844550" y="200024"/>
                  </a:lnTo>
                  <a:lnTo>
                    <a:pt x="840920" y="185647"/>
                  </a:lnTo>
                  <a:lnTo>
                    <a:pt x="813114" y="157254"/>
                  </a:lnTo>
                  <a:lnTo>
                    <a:pt x="760653" y="129933"/>
                  </a:lnTo>
                  <a:lnTo>
                    <a:pt x="686824" y="104393"/>
                  </a:lnTo>
                  <a:lnTo>
                    <a:pt x="642924" y="92512"/>
                  </a:lnTo>
                  <a:lnTo>
                    <a:pt x="594915" y="81343"/>
                  </a:lnTo>
                  <a:lnTo>
                    <a:pt x="543208" y="70973"/>
                  </a:lnTo>
                  <a:lnTo>
                    <a:pt x="488213" y="61492"/>
                  </a:lnTo>
                  <a:lnTo>
                    <a:pt x="430341" y="52987"/>
                  </a:lnTo>
                  <a:lnTo>
                    <a:pt x="370004" y="45547"/>
                  </a:lnTo>
                  <a:lnTo>
                    <a:pt x="307613" y="39262"/>
                  </a:lnTo>
                  <a:lnTo>
                    <a:pt x="243578" y="34219"/>
                  </a:lnTo>
                  <a:lnTo>
                    <a:pt x="178310" y="30507"/>
                  </a:lnTo>
                  <a:lnTo>
                    <a:pt x="112220" y="28215"/>
                  </a:lnTo>
                  <a:lnTo>
                    <a:pt x="45720" y="27431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30">
              <a:extLst>
                <a:ext uri="{FF2B5EF4-FFF2-40B4-BE49-F238E27FC236}">
                  <a16:creationId xmlns:a16="http://schemas.microsoft.com/office/drawing/2014/main" id="{ECDC200E-E695-434B-5D6A-A6C19249F1CF}"/>
                </a:ext>
              </a:extLst>
            </p:cNvPr>
            <p:cNvSpPr/>
            <p:nvPr/>
          </p:nvSpPr>
          <p:spPr>
            <a:xfrm>
              <a:off x="5376671" y="3102528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31">
              <a:extLst>
                <a:ext uri="{FF2B5EF4-FFF2-40B4-BE49-F238E27FC236}">
                  <a16:creationId xmlns:a16="http://schemas.microsoft.com/office/drawing/2014/main" id="{ECFDEFF7-5790-94FF-ADC5-19AD0F35A7A7}"/>
                </a:ext>
              </a:extLst>
            </p:cNvPr>
            <p:cNvSpPr/>
            <p:nvPr/>
          </p:nvSpPr>
          <p:spPr>
            <a:xfrm>
              <a:off x="5376671" y="3102528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32">
              <a:extLst>
                <a:ext uri="{FF2B5EF4-FFF2-40B4-BE49-F238E27FC236}">
                  <a16:creationId xmlns:a16="http://schemas.microsoft.com/office/drawing/2014/main" id="{114FCCA4-6DAF-EB42-ECBB-9AA98A6A3D96}"/>
                </a:ext>
              </a:extLst>
            </p:cNvPr>
            <p:cNvSpPr/>
            <p:nvPr/>
          </p:nvSpPr>
          <p:spPr>
            <a:xfrm>
              <a:off x="5376671" y="3230671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33">
              <a:extLst>
                <a:ext uri="{FF2B5EF4-FFF2-40B4-BE49-F238E27FC236}">
                  <a16:creationId xmlns:a16="http://schemas.microsoft.com/office/drawing/2014/main" id="{A3B66001-6A86-812F-67A8-15CCE793B850}"/>
                </a:ext>
              </a:extLst>
            </p:cNvPr>
            <p:cNvSpPr/>
            <p:nvPr/>
          </p:nvSpPr>
          <p:spPr>
            <a:xfrm>
              <a:off x="5376671" y="3230671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741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4">
            <a:extLst>
              <a:ext uri="{FF2B5EF4-FFF2-40B4-BE49-F238E27FC236}">
                <a16:creationId xmlns:a16="http://schemas.microsoft.com/office/drawing/2014/main" id="{FBCDDCCE-F0F0-A3D3-D384-79DD9D208885}"/>
              </a:ext>
            </a:extLst>
          </p:cNvPr>
          <p:cNvSpPr txBox="1"/>
          <p:nvPr/>
        </p:nvSpPr>
        <p:spPr>
          <a:xfrm>
            <a:off x="6420598" y="4308986"/>
            <a:ext cx="1363205" cy="97013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285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5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815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195"/>
              </a:spcBef>
            </a:pP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741B46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741B46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741B46"/>
                </a:solidFill>
                <a:latin typeface="Tahoma"/>
                <a:cs typeface="Tahoma"/>
              </a:rPr>
              <a:t>64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64" name="object 35">
            <a:extLst>
              <a:ext uri="{FF2B5EF4-FFF2-40B4-BE49-F238E27FC236}">
                <a16:creationId xmlns:a16="http://schemas.microsoft.com/office/drawing/2014/main" id="{8838CEBF-FCC5-A4CD-AA07-854E1F18F849}"/>
              </a:ext>
            </a:extLst>
          </p:cNvPr>
          <p:cNvGrpSpPr/>
          <p:nvPr/>
        </p:nvGrpSpPr>
        <p:grpSpPr>
          <a:xfrm>
            <a:off x="6401222" y="3308145"/>
            <a:ext cx="2046845" cy="2513539"/>
            <a:chOff x="5366829" y="2058525"/>
            <a:chExt cx="1275715" cy="1339850"/>
          </a:xfrm>
        </p:grpSpPr>
        <p:sp>
          <p:nvSpPr>
            <p:cNvPr id="65" name="object 36">
              <a:extLst>
                <a:ext uri="{FF2B5EF4-FFF2-40B4-BE49-F238E27FC236}">
                  <a16:creationId xmlns:a16="http://schemas.microsoft.com/office/drawing/2014/main" id="{5175E159-3415-A83C-B9C7-7102BB4E7DF0}"/>
                </a:ext>
              </a:extLst>
            </p:cNvPr>
            <p:cNvSpPr/>
            <p:nvPr/>
          </p:nvSpPr>
          <p:spPr>
            <a:xfrm>
              <a:off x="5811011" y="3198621"/>
              <a:ext cx="635" cy="167005"/>
            </a:xfrm>
            <a:custGeom>
              <a:avLst/>
              <a:gdLst/>
              <a:ahLst/>
              <a:cxnLst/>
              <a:rect l="l" t="t" r="r" b="b"/>
              <a:pathLst>
                <a:path w="635" h="167004">
                  <a:moveTo>
                    <a:pt x="0" y="38226"/>
                  </a:moveTo>
                  <a:lnTo>
                    <a:pt x="0" y="0"/>
                  </a:lnTo>
                </a:path>
                <a:path w="635" h="167004">
                  <a:moveTo>
                    <a:pt x="253" y="166877"/>
                  </a:moveTo>
                  <a:lnTo>
                    <a:pt x="0" y="128143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37">
              <a:extLst>
                <a:ext uri="{FF2B5EF4-FFF2-40B4-BE49-F238E27FC236}">
                  <a16:creationId xmlns:a16="http://schemas.microsoft.com/office/drawing/2014/main" id="{0142DCD7-30BF-6D2E-64B0-549E216DA239}"/>
                </a:ext>
              </a:extLst>
            </p:cNvPr>
            <p:cNvSpPr/>
            <p:nvPr/>
          </p:nvSpPr>
          <p:spPr>
            <a:xfrm>
              <a:off x="5792723" y="302475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89"/>
                  </a:lnTo>
                  <a:lnTo>
                    <a:pt x="6715" y="39052"/>
                  </a:lnTo>
                  <a:lnTo>
                    <a:pt x="13983" y="43934"/>
                  </a:lnTo>
                  <a:lnTo>
                    <a:pt x="22860" y="45719"/>
                  </a:lnTo>
                  <a:lnTo>
                    <a:pt x="31736" y="43934"/>
                  </a:lnTo>
                  <a:lnTo>
                    <a:pt x="39004" y="39052"/>
                  </a:lnTo>
                  <a:lnTo>
                    <a:pt x="43916" y="31789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38">
              <a:extLst>
                <a:ext uri="{FF2B5EF4-FFF2-40B4-BE49-F238E27FC236}">
                  <a16:creationId xmlns:a16="http://schemas.microsoft.com/office/drawing/2014/main" id="{0401DD79-3075-D8DE-7F97-2489AA55F426}"/>
                </a:ext>
              </a:extLst>
            </p:cNvPr>
            <p:cNvSpPr/>
            <p:nvPr/>
          </p:nvSpPr>
          <p:spPr>
            <a:xfrm>
              <a:off x="5792723" y="3024758"/>
              <a:ext cx="827405" cy="368300"/>
            </a:xfrm>
            <a:custGeom>
              <a:avLst/>
              <a:gdLst/>
              <a:ahLst/>
              <a:cxnLst/>
              <a:rect l="l" t="t" r="r" b="b"/>
              <a:pathLst>
                <a:path w="827404" h="36830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60"/>
                  </a:lnTo>
                  <a:lnTo>
                    <a:pt x="43916" y="31789"/>
                  </a:lnTo>
                  <a:lnTo>
                    <a:pt x="39004" y="39052"/>
                  </a:lnTo>
                  <a:lnTo>
                    <a:pt x="31736" y="43934"/>
                  </a:lnTo>
                  <a:lnTo>
                    <a:pt x="22860" y="45719"/>
                  </a:lnTo>
                  <a:lnTo>
                    <a:pt x="13983" y="43934"/>
                  </a:lnTo>
                  <a:lnTo>
                    <a:pt x="6715" y="39052"/>
                  </a:lnTo>
                  <a:lnTo>
                    <a:pt x="1803" y="31789"/>
                  </a:lnTo>
                  <a:lnTo>
                    <a:pt x="0" y="22860"/>
                  </a:lnTo>
                  <a:close/>
                </a:path>
                <a:path w="827404" h="368300">
                  <a:moveTo>
                    <a:pt x="18287" y="81787"/>
                  </a:moveTo>
                  <a:lnTo>
                    <a:pt x="18541" y="45719"/>
                  </a:lnTo>
                </a:path>
                <a:path w="827404" h="368300">
                  <a:moveTo>
                    <a:pt x="45720" y="367919"/>
                  </a:moveTo>
                  <a:lnTo>
                    <a:pt x="114601" y="367053"/>
                  </a:lnTo>
                  <a:lnTo>
                    <a:pt x="183005" y="364524"/>
                  </a:lnTo>
                  <a:lnTo>
                    <a:pt x="250455" y="360437"/>
                  </a:lnTo>
                  <a:lnTo>
                    <a:pt x="316473" y="354894"/>
                  </a:lnTo>
                  <a:lnTo>
                    <a:pt x="380582" y="348001"/>
                  </a:lnTo>
                  <a:lnTo>
                    <a:pt x="442305" y="339861"/>
                  </a:lnTo>
                  <a:lnTo>
                    <a:pt x="501164" y="330578"/>
                  </a:lnTo>
                  <a:lnTo>
                    <a:pt x="556683" y="320256"/>
                  </a:lnTo>
                  <a:lnTo>
                    <a:pt x="608384" y="308998"/>
                  </a:lnTo>
                  <a:lnTo>
                    <a:pt x="655790" y="296909"/>
                  </a:lnTo>
                  <a:lnTo>
                    <a:pt x="698423" y="284093"/>
                  </a:lnTo>
                  <a:lnTo>
                    <a:pt x="735807" y="270653"/>
                  </a:lnTo>
                  <a:lnTo>
                    <a:pt x="792916" y="242319"/>
                  </a:lnTo>
                  <a:lnTo>
                    <a:pt x="823301" y="212737"/>
                  </a:lnTo>
                  <a:lnTo>
                    <a:pt x="827277" y="197738"/>
                  </a:lnTo>
                  <a:lnTo>
                    <a:pt x="823303" y="182739"/>
                  </a:lnTo>
                  <a:lnTo>
                    <a:pt x="792939" y="153148"/>
                  </a:lnTo>
                  <a:lnTo>
                    <a:pt x="735869" y="124798"/>
                  </a:lnTo>
                  <a:lnTo>
                    <a:pt x="698512" y="111348"/>
                  </a:lnTo>
                  <a:lnTo>
                    <a:pt x="655910" y="98521"/>
                  </a:lnTo>
                  <a:lnTo>
                    <a:pt x="608540" y="86421"/>
                  </a:lnTo>
                  <a:lnTo>
                    <a:pt x="556878" y="75152"/>
                  </a:lnTo>
                  <a:lnTo>
                    <a:pt x="501402" y="64819"/>
                  </a:lnTo>
                  <a:lnTo>
                    <a:pt x="442590" y="55525"/>
                  </a:lnTo>
                  <a:lnTo>
                    <a:pt x="380917" y="47375"/>
                  </a:lnTo>
                  <a:lnTo>
                    <a:pt x="316862" y="40473"/>
                  </a:lnTo>
                  <a:lnTo>
                    <a:pt x="250901" y="34924"/>
                  </a:lnTo>
                  <a:lnTo>
                    <a:pt x="183511" y="30831"/>
                  </a:lnTo>
                  <a:lnTo>
                    <a:pt x="115170" y="28299"/>
                  </a:lnTo>
                  <a:lnTo>
                    <a:pt x="46354" y="27431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A11B5B49-4508-C703-B3AF-A3AEB911348B}"/>
                </a:ext>
              </a:extLst>
            </p:cNvPr>
            <p:cNvSpPr/>
            <p:nvPr/>
          </p:nvSpPr>
          <p:spPr>
            <a:xfrm>
              <a:off x="5376671" y="2754802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40">
              <a:extLst>
                <a:ext uri="{FF2B5EF4-FFF2-40B4-BE49-F238E27FC236}">
                  <a16:creationId xmlns:a16="http://schemas.microsoft.com/office/drawing/2014/main" id="{50DCB03B-4DA4-2796-0B6A-32AB9E10FE62}"/>
                </a:ext>
              </a:extLst>
            </p:cNvPr>
            <p:cNvSpPr/>
            <p:nvPr/>
          </p:nvSpPr>
          <p:spPr>
            <a:xfrm>
              <a:off x="5376671" y="2754802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41">
              <a:extLst>
                <a:ext uri="{FF2B5EF4-FFF2-40B4-BE49-F238E27FC236}">
                  <a16:creationId xmlns:a16="http://schemas.microsoft.com/office/drawing/2014/main" id="{1AE62909-8060-2E21-AB56-980E05B7D540}"/>
                </a:ext>
              </a:extLst>
            </p:cNvPr>
            <p:cNvSpPr/>
            <p:nvPr/>
          </p:nvSpPr>
          <p:spPr>
            <a:xfrm>
              <a:off x="5376671" y="2892089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42">
              <a:extLst>
                <a:ext uri="{FF2B5EF4-FFF2-40B4-BE49-F238E27FC236}">
                  <a16:creationId xmlns:a16="http://schemas.microsoft.com/office/drawing/2014/main" id="{42C61D1C-7728-8E3F-1192-D7EC7F2B7607}"/>
                </a:ext>
              </a:extLst>
            </p:cNvPr>
            <p:cNvSpPr/>
            <p:nvPr/>
          </p:nvSpPr>
          <p:spPr>
            <a:xfrm>
              <a:off x="5376671" y="2892089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43">
              <a:extLst>
                <a:ext uri="{FF2B5EF4-FFF2-40B4-BE49-F238E27FC236}">
                  <a16:creationId xmlns:a16="http://schemas.microsoft.com/office/drawing/2014/main" id="{EC24BAFC-3CA6-F697-8DD5-35DD237DA7CA}"/>
                </a:ext>
              </a:extLst>
            </p:cNvPr>
            <p:cNvSpPr/>
            <p:nvPr/>
          </p:nvSpPr>
          <p:spPr>
            <a:xfrm>
              <a:off x="5811011" y="2850895"/>
              <a:ext cx="635" cy="179705"/>
            </a:xfrm>
            <a:custGeom>
              <a:avLst/>
              <a:gdLst/>
              <a:ahLst/>
              <a:cxnLst/>
              <a:rect l="l" t="t" r="r" b="b"/>
              <a:pathLst>
                <a:path w="635" h="179705">
                  <a:moveTo>
                    <a:pt x="0" y="38100"/>
                  </a:moveTo>
                  <a:lnTo>
                    <a:pt x="0" y="0"/>
                  </a:lnTo>
                </a:path>
                <a:path w="635" h="179705">
                  <a:moveTo>
                    <a:pt x="0" y="179324"/>
                  </a:moveTo>
                  <a:lnTo>
                    <a:pt x="635" y="137287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44">
              <a:extLst>
                <a:ext uri="{FF2B5EF4-FFF2-40B4-BE49-F238E27FC236}">
                  <a16:creationId xmlns:a16="http://schemas.microsoft.com/office/drawing/2014/main" id="{F7F19D1C-8F66-C3B3-B060-8503AAD8B39A}"/>
                </a:ext>
              </a:extLst>
            </p:cNvPr>
            <p:cNvSpPr/>
            <p:nvPr/>
          </p:nvSpPr>
          <p:spPr>
            <a:xfrm>
              <a:off x="5792723" y="2686176"/>
              <a:ext cx="45720" cy="36830"/>
            </a:xfrm>
            <a:custGeom>
              <a:avLst/>
              <a:gdLst/>
              <a:ahLst/>
              <a:cxnLst/>
              <a:rect l="l" t="t" r="r" b="b"/>
              <a:pathLst>
                <a:path w="45720" h="36830">
                  <a:moveTo>
                    <a:pt x="22860" y="0"/>
                  </a:moveTo>
                  <a:lnTo>
                    <a:pt x="13983" y="1428"/>
                  </a:lnTo>
                  <a:lnTo>
                    <a:pt x="6715" y="5333"/>
                  </a:lnTo>
                  <a:lnTo>
                    <a:pt x="1803" y="11144"/>
                  </a:lnTo>
                  <a:lnTo>
                    <a:pt x="0" y="18287"/>
                  </a:lnTo>
                  <a:lnTo>
                    <a:pt x="1803" y="25431"/>
                  </a:lnTo>
                  <a:lnTo>
                    <a:pt x="6715" y="31241"/>
                  </a:lnTo>
                  <a:lnTo>
                    <a:pt x="13983" y="35147"/>
                  </a:lnTo>
                  <a:lnTo>
                    <a:pt x="22860" y="36575"/>
                  </a:lnTo>
                  <a:lnTo>
                    <a:pt x="31736" y="35147"/>
                  </a:lnTo>
                  <a:lnTo>
                    <a:pt x="39004" y="31242"/>
                  </a:lnTo>
                  <a:lnTo>
                    <a:pt x="43916" y="25431"/>
                  </a:lnTo>
                  <a:lnTo>
                    <a:pt x="45720" y="18287"/>
                  </a:lnTo>
                  <a:lnTo>
                    <a:pt x="43916" y="11144"/>
                  </a:lnTo>
                  <a:lnTo>
                    <a:pt x="39004" y="5334"/>
                  </a:lnTo>
                  <a:lnTo>
                    <a:pt x="31736" y="1428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45">
              <a:extLst>
                <a:ext uri="{FF2B5EF4-FFF2-40B4-BE49-F238E27FC236}">
                  <a16:creationId xmlns:a16="http://schemas.microsoft.com/office/drawing/2014/main" id="{25965361-F948-9A36-31B7-34A33DF97594}"/>
                </a:ext>
              </a:extLst>
            </p:cNvPr>
            <p:cNvSpPr/>
            <p:nvPr/>
          </p:nvSpPr>
          <p:spPr>
            <a:xfrm>
              <a:off x="5792723" y="2686176"/>
              <a:ext cx="844550" cy="362585"/>
            </a:xfrm>
            <a:custGeom>
              <a:avLst/>
              <a:gdLst/>
              <a:ahLst/>
              <a:cxnLst/>
              <a:rect l="l" t="t" r="r" b="b"/>
              <a:pathLst>
                <a:path w="844550" h="362585">
                  <a:moveTo>
                    <a:pt x="0" y="18287"/>
                  </a:moveTo>
                  <a:lnTo>
                    <a:pt x="1803" y="11144"/>
                  </a:lnTo>
                  <a:lnTo>
                    <a:pt x="6715" y="5333"/>
                  </a:lnTo>
                  <a:lnTo>
                    <a:pt x="13983" y="1428"/>
                  </a:lnTo>
                  <a:lnTo>
                    <a:pt x="22860" y="0"/>
                  </a:lnTo>
                  <a:lnTo>
                    <a:pt x="31736" y="1428"/>
                  </a:lnTo>
                  <a:lnTo>
                    <a:pt x="39004" y="5334"/>
                  </a:lnTo>
                  <a:lnTo>
                    <a:pt x="43916" y="11144"/>
                  </a:lnTo>
                  <a:lnTo>
                    <a:pt x="45720" y="18287"/>
                  </a:lnTo>
                  <a:lnTo>
                    <a:pt x="43916" y="25431"/>
                  </a:lnTo>
                  <a:lnTo>
                    <a:pt x="39004" y="31242"/>
                  </a:lnTo>
                  <a:lnTo>
                    <a:pt x="31736" y="35147"/>
                  </a:lnTo>
                  <a:lnTo>
                    <a:pt x="22860" y="36575"/>
                  </a:lnTo>
                  <a:lnTo>
                    <a:pt x="13983" y="35147"/>
                  </a:lnTo>
                  <a:lnTo>
                    <a:pt x="6715" y="31241"/>
                  </a:lnTo>
                  <a:lnTo>
                    <a:pt x="1803" y="25431"/>
                  </a:lnTo>
                  <a:lnTo>
                    <a:pt x="0" y="18287"/>
                  </a:lnTo>
                  <a:close/>
                </a:path>
                <a:path w="844550" h="362585">
                  <a:moveTo>
                    <a:pt x="18287" y="72262"/>
                  </a:moveTo>
                  <a:lnTo>
                    <a:pt x="18541" y="36575"/>
                  </a:lnTo>
                </a:path>
                <a:path w="844550" h="362585">
                  <a:moveTo>
                    <a:pt x="46354" y="18287"/>
                  </a:moveTo>
                  <a:lnTo>
                    <a:pt x="112772" y="19069"/>
                  </a:lnTo>
                  <a:lnTo>
                    <a:pt x="178781" y="21354"/>
                  </a:lnTo>
                  <a:lnTo>
                    <a:pt x="243971" y="25054"/>
                  </a:lnTo>
                  <a:lnTo>
                    <a:pt x="307931" y="30080"/>
                  </a:lnTo>
                  <a:lnTo>
                    <a:pt x="370251" y="36344"/>
                  </a:lnTo>
                  <a:lnTo>
                    <a:pt x="430520" y="43758"/>
                  </a:lnTo>
                  <a:lnTo>
                    <a:pt x="488328" y="52232"/>
                  </a:lnTo>
                  <a:lnTo>
                    <a:pt x="543263" y="61679"/>
                  </a:lnTo>
                  <a:lnTo>
                    <a:pt x="594915" y="72008"/>
                  </a:lnTo>
                  <a:lnTo>
                    <a:pt x="642874" y="83133"/>
                  </a:lnTo>
                  <a:lnTo>
                    <a:pt x="686728" y="94964"/>
                  </a:lnTo>
                  <a:lnTo>
                    <a:pt x="726068" y="107413"/>
                  </a:lnTo>
                  <a:lnTo>
                    <a:pt x="789560" y="133810"/>
                  </a:lnTo>
                  <a:lnTo>
                    <a:pt x="830064" y="161615"/>
                  </a:lnTo>
                  <a:lnTo>
                    <a:pt x="844296" y="190119"/>
                  </a:lnTo>
                  <a:lnTo>
                    <a:pt x="840667" y="204434"/>
                  </a:lnTo>
                  <a:lnTo>
                    <a:pt x="812870" y="232710"/>
                  </a:lnTo>
                  <a:lnTo>
                    <a:pt x="760426" y="259925"/>
                  </a:lnTo>
                  <a:lnTo>
                    <a:pt x="686621" y="285371"/>
                  </a:lnTo>
                  <a:lnTo>
                    <a:pt x="642734" y="297209"/>
                  </a:lnTo>
                  <a:lnTo>
                    <a:pt x="594741" y="308340"/>
                  </a:lnTo>
                  <a:lnTo>
                    <a:pt x="543049" y="318674"/>
                  </a:lnTo>
                  <a:lnTo>
                    <a:pt x="488072" y="328124"/>
                  </a:lnTo>
                  <a:lnTo>
                    <a:pt x="430219" y="336601"/>
                  </a:lnTo>
                  <a:lnTo>
                    <a:pt x="369901" y="344017"/>
                  </a:lnTo>
                  <a:lnTo>
                    <a:pt x="307530" y="350282"/>
                  </a:lnTo>
                  <a:lnTo>
                    <a:pt x="243515" y="355310"/>
                  </a:lnTo>
                  <a:lnTo>
                    <a:pt x="178268" y="359010"/>
                  </a:lnTo>
                  <a:lnTo>
                    <a:pt x="112199" y="361295"/>
                  </a:lnTo>
                  <a:lnTo>
                    <a:pt x="45720" y="362076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46">
              <a:extLst>
                <a:ext uri="{FF2B5EF4-FFF2-40B4-BE49-F238E27FC236}">
                  <a16:creationId xmlns:a16="http://schemas.microsoft.com/office/drawing/2014/main" id="{A9AA70C0-21DF-FBB4-8C9B-0CB2CB3BFEE9}"/>
                </a:ext>
              </a:extLst>
            </p:cNvPr>
            <p:cNvSpPr/>
            <p:nvPr/>
          </p:nvSpPr>
          <p:spPr>
            <a:xfrm>
              <a:off x="5376671" y="2416220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47">
              <a:extLst>
                <a:ext uri="{FF2B5EF4-FFF2-40B4-BE49-F238E27FC236}">
                  <a16:creationId xmlns:a16="http://schemas.microsoft.com/office/drawing/2014/main" id="{C656F885-6758-E079-00CD-9B5C77ADB965}"/>
                </a:ext>
              </a:extLst>
            </p:cNvPr>
            <p:cNvSpPr/>
            <p:nvPr/>
          </p:nvSpPr>
          <p:spPr>
            <a:xfrm>
              <a:off x="5376671" y="2416220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48">
              <a:extLst>
                <a:ext uri="{FF2B5EF4-FFF2-40B4-BE49-F238E27FC236}">
                  <a16:creationId xmlns:a16="http://schemas.microsoft.com/office/drawing/2014/main" id="{F3CFB04B-8C2C-D1AA-F624-4E0F583339B3}"/>
                </a:ext>
              </a:extLst>
            </p:cNvPr>
            <p:cNvSpPr/>
            <p:nvPr/>
          </p:nvSpPr>
          <p:spPr>
            <a:xfrm>
              <a:off x="5376671" y="2544229"/>
              <a:ext cx="868680" cy="100965"/>
            </a:xfrm>
            <a:custGeom>
              <a:avLst/>
              <a:gdLst/>
              <a:ahLst/>
              <a:cxnLst/>
              <a:rect l="l" t="t" r="r" b="b"/>
              <a:pathLst>
                <a:path w="868679" h="100964">
                  <a:moveTo>
                    <a:pt x="868679" y="0"/>
                  </a:moveTo>
                  <a:lnTo>
                    <a:pt x="0" y="0"/>
                  </a:lnTo>
                  <a:lnTo>
                    <a:pt x="0" y="100672"/>
                  </a:lnTo>
                  <a:lnTo>
                    <a:pt x="868679" y="100672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49">
              <a:extLst>
                <a:ext uri="{FF2B5EF4-FFF2-40B4-BE49-F238E27FC236}">
                  <a16:creationId xmlns:a16="http://schemas.microsoft.com/office/drawing/2014/main" id="{8346C67E-9B51-FFE4-406C-13DFE22B8241}"/>
                </a:ext>
              </a:extLst>
            </p:cNvPr>
            <p:cNvSpPr/>
            <p:nvPr/>
          </p:nvSpPr>
          <p:spPr>
            <a:xfrm>
              <a:off x="5376671" y="2544229"/>
              <a:ext cx="868680" cy="100965"/>
            </a:xfrm>
            <a:custGeom>
              <a:avLst/>
              <a:gdLst/>
              <a:ahLst/>
              <a:cxnLst/>
              <a:rect l="l" t="t" r="r" b="b"/>
              <a:pathLst>
                <a:path w="868679" h="100964">
                  <a:moveTo>
                    <a:pt x="0" y="100672"/>
                  </a:moveTo>
                  <a:lnTo>
                    <a:pt x="868679" y="100672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100672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50">
              <a:extLst>
                <a:ext uri="{FF2B5EF4-FFF2-40B4-BE49-F238E27FC236}">
                  <a16:creationId xmlns:a16="http://schemas.microsoft.com/office/drawing/2014/main" id="{C1C99AF8-48BC-B60D-126F-0B5500FE8F29}"/>
                </a:ext>
              </a:extLst>
            </p:cNvPr>
            <p:cNvSpPr/>
            <p:nvPr/>
          </p:nvSpPr>
          <p:spPr>
            <a:xfrm>
              <a:off x="5811011" y="2512313"/>
              <a:ext cx="2540" cy="167005"/>
            </a:xfrm>
            <a:custGeom>
              <a:avLst/>
              <a:gdLst/>
              <a:ahLst/>
              <a:cxnLst/>
              <a:rect l="l" t="t" r="r" b="b"/>
              <a:pathLst>
                <a:path w="2539" h="167005">
                  <a:moveTo>
                    <a:pt x="0" y="38100"/>
                  </a:moveTo>
                  <a:lnTo>
                    <a:pt x="0" y="0"/>
                  </a:lnTo>
                </a:path>
                <a:path w="2539" h="167005">
                  <a:moveTo>
                    <a:pt x="2159" y="166750"/>
                  </a:moveTo>
                  <a:lnTo>
                    <a:pt x="0" y="128015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51">
              <a:extLst>
                <a:ext uri="{FF2B5EF4-FFF2-40B4-BE49-F238E27FC236}">
                  <a16:creationId xmlns:a16="http://schemas.microsoft.com/office/drawing/2014/main" id="{86A19691-EEC8-9A46-2E8C-AC2737AC8A54}"/>
                </a:ext>
              </a:extLst>
            </p:cNvPr>
            <p:cNvSpPr/>
            <p:nvPr/>
          </p:nvSpPr>
          <p:spPr>
            <a:xfrm>
              <a:off x="5792723" y="2338323"/>
              <a:ext cx="45720" cy="46355"/>
            </a:xfrm>
            <a:custGeom>
              <a:avLst/>
              <a:gdLst/>
              <a:ahLst/>
              <a:cxnLst/>
              <a:rect l="l" t="t" r="r" b="b"/>
              <a:pathLst>
                <a:path w="45720" h="46355">
                  <a:moveTo>
                    <a:pt x="22860" y="0"/>
                  </a:moveTo>
                  <a:lnTo>
                    <a:pt x="13983" y="1805"/>
                  </a:lnTo>
                  <a:lnTo>
                    <a:pt x="6715" y="6731"/>
                  </a:lnTo>
                  <a:lnTo>
                    <a:pt x="1803" y="14037"/>
                  </a:lnTo>
                  <a:lnTo>
                    <a:pt x="0" y="22987"/>
                  </a:lnTo>
                  <a:lnTo>
                    <a:pt x="1803" y="31863"/>
                  </a:lnTo>
                  <a:lnTo>
                    <a:pt x="6715" y="39131"/>
                  </a:lnTo>
                  <a:lnTo>
                    <a:pt x="13983" y="44043"/>
                  </a:lnTo>
                  <a:lnTo>
                    <a:pt x="22860" y="45847"/>
                  </a:lnTo>
                  <a:lnTo>
                    <a:pt x="31736" y="44043"/>
                  </a:lnTo>
                  <a:lnTo>
                    <a:pt x="39004" y="39131"/>
                  </a:lnTo>
                  <a:lnTo>
                    <a:pt x="43916" y="31863"/>
                  </a:lnTo>
                  <a:lnTo>
                    <a:pt x="45720" y="22987"/>
                  </a:lnTo>
                  <a:lnTo>
                    <a:pt x="43916" y="14037"/>
                  </a:lnTo>
                  <a:lnTo>
                    <a:pt x="39004" y="6731"/>
                  </a:lnTo>
                  <a:lnTo>
                    <a:pt x="31736" y="1805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52">
              <a:extLst>
                <a:ext uri="{FF2B5EF4-FFF2-40B4-BE49-F238E27FC236}">
                  <a16:creationId xmlns:a16="http://schemas.microsoft.com/office/drawing/2014/main" id="{E5654DFD-0C4F-E675-6E92-EAFE9D11F16E}"/>
                </a:ext>
              </a:extLst>
            </p:cNvPr>
            <p:cNvSpPr/>
            <p:nvPr/>
          </p:nvSpPr>
          <p:spPr>
            <a:xfrm>
              <a:off x="5792723" y="2338323"/>
              <a:ext cx="828040" cy="363855"/>
            </a:xfrm>
            <a:custGeom>
              <a:avLst/>
              <a:gdLst/>
              <a:ahLst/>
              <a:cxnLst/>
              <a:rect l="l" t="t" r="r" b="b"/>
              <a:pathLst>
                <a:path w="828040" h="363855">
                  <a:moveTo>
                    <a:pt x="0" y="22987"/>
                  </a:moveTo>
                  <a:lnTo>
                    <a:pt x="1803" y="14037"/>
                  </a:lnTo>
                  <a:lnTo>
                    <a:pt x="6715" y="6731"/>
                  </a:lnTo>
                  <a:lnTo>
                    <a:pt x="13983" y="1805"/>
                  </a:lnTo>
                  <a:lnTo>
                    <a:pt x="22860" y="0"/>
                  </a:lnTo>
                  <a:lnTo>
                    <a:pt x="31736" y="1805"/>
                  </a:lnTo>
                  <a:lnTo>
                    <a:pt x="39004" y="6731"/>
                  </a:lnTo>
                  <a:lnTo>
                    <a:pt x="43916" y="14037"/>
                  </a:lnTo>
                  <a:lnTo>
                    <a:pt x="45720" y="22987"/>
                  </a:lnTo>
                  <a:lnTo>
                    <a:pt x="43916" y="31863"/>
                  </a:lnTo>
                  <a:lnTo>
                    <a:pt x="39004" y="39131"/>
                  </a:lnTo>
                  <a:lnTo>
                    <a:pt x="31736" y="44043"/>
                  </a:lnTo>
                  <a:lnTo>
                    <a:pt x="22860" y="45847"/>
                  </a:lnTo>
                  <a:lnTo>
                    <a:pt x="13983" y="44043"/>
                  </a:lnTo>
                  <a:lnTo>
                    <a:pt x="6715" y="39131"/>
                  </a:lnTo>
                  <a:lnTo>
                    <a:pt x="1803" y="31863"/>
                  </a:lnTo>
                  <a:lnTo>
                    <a:pt x="0" y="22987"/>
                  </a:lnTo>
                  <a:close/>
                </a:path>
                <a:path w="828040" h="363855">
                  <a:moveTo>
                    <a:pt x="18287" y="86360"/>
                  </a:moveTo>
                  <a:lnTo>
                    <a:pt x="18923" y="45847"/>
                  </a:lnTo>
                </a:path>
                <a:path w="828040" h="363855">
                  <a:moveTo>
                    <a:pt x="47243" y="363600"/>
                  </a:moveTo>
                  <a:lnTo>
                    <a:pt x="116058" y="362723"/>
                  </a:lnTo>
                  <a:lnTo>
                    <a:pt x="184395" y="360160"/>
                  </a:lnTo>
                  <a:lnTo>
                    <a:pt x="251779" y="356017"/>
                  </a:lnTo>
                  <a:lnTo>
                    <a:pt x="317733" y="350400"/>
                  </a:lnTo>
                  <a:lnTo>
                    <a:pt x="381780" y="343412"/>
                  </a:lnTo>
                  <a:lnTo>
                    <a:pt x="443442" y="335161"/>
                  </a:lnTo>
                  <a:lnTo>
                    <a:pt x="502244" y="325750"/>
                  </a:lnTo>
                  <a:lnTo>
                    <a:pt x="557709" y="315284"/>
                  </a:lnTo>
                  <a:lnTo>
                    <a:pt x="609359" y="303870"/>
                  </a:lnTo>
                  <a:lnTo>
                    <a:pt x="656719" y="291611"/>
                  </a:lnTo>
                  <a:lnTo>
                    <a:pt x="699311" y="278614"/>
                  </a:lnTo>
                  <a:lnTo>
                    <a:pt x="736658" y="264984"/>
                  </a:lnTo>
                  <a:lnTo>
                    <a:pt x="793712" y="236242"/>
                  </a:lnTo>
                  <a:lnTo>
                    <a:pt x="824066" y="206229"/>
                  </a:lnTo>
                  <a:lnTo>
                    <a:pt x="828040" y="191008"/>
                  </a:lnTo>
                  <a:lnTo>
                    <a:pt x="824059" y="175785"/>
                  </a:lnTo>
                  <a:lnTo>
                    <a:pt x="793645" y="145762"/>
                  </a:lnTo>
                  <a:lnTo>
                    <a:pt x="736480" y="117005"/>
                  </a:lnTo>
                  <a:lnTo>
                    <a:pt x="699059" y="103364"/>
                  </a:lnTo>
                  <a:lnTo>
                    <a:pt x="656385" y="90357"/>
                  </a:lnTo>
                  <a:lnTo>
                    <a:pt x="608933" y="78087"/>
                  </a:lnTo>
                  <a:lnTo>
                    <a:pt x="557181" y="66662"/>
                  </a:lnTo>
                  <a:lnTo>
                    <a:pt x="501608" y="56185"/>
                  </a:lnTo>
                  <a:lnTo>
                    <a:pt x="442692" y="46764"/>
                  </a:lnTo>
                  <a:lnTo>
                    <a:pt x="380909" y="38502"/>
                  </a:lnTo>
                  <a:lnTo>
                    <a:pt x="316737" y="31506"/>
                  </a:lnTo>
                  <a:lnTo>
                    <a:pt x="250655" y="25881"/>
                  </a:lnTo>
                  <a:lnTo>
                    <a:pt x="183139" y="21733"/>
                  </a:lnTo>
                  <a:lnTo>
                    <a:pt x="114668" y="19166"/>
                  </a:lnTo>
                  <a:lnTo>
                    <a:pt x="45720" y="18287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53">
              <a:extLst>
                <a:ext uri="{FF2B5EF4-FFF2-40B4-BE49-F238E27FC236}">
                  <a16:creationId xmlns:a16="http://schemas.microsoft.com/office/drawing/2014/main" id="{1413EC83-8CDE-DEBD-4C17-E7D8B8D42274}"/>
                </a:ext>
              </a:extLst>
            </p:cNvPr>
            <p:cNvSpPr/>
            <p:nvPr/>
          </p:nvSpPr>
          <p:spPr>
            <a:xfrm>
              <a:off x="5376671" y="2068367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54">
              <a:extLst>
                <a:ext uri="{FF2B5EF4-FFF2-40B4-BE49-F238E27FC236}">
                  <a16:creationId xmlns:a16="http://schemas.microsoft.com/office/drawing/2014/main" id="{2F7E4516-8837-95BC-9EBB-2F5D65558BDA}"/>
                </a:ext>
              </a:extLst>
            </p:cNvPr>
            <p:cNvSpPr/>
            <p:nvPr/>
          </p:nvSpPr>
          <p:spPr>
            <a:xfrm>
              <a:off x="5376671" y="2068367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55">
            <a:extLst>
              <a:ext uri="{FF2B5EF4-FFF2-40B4-BE49-F238E27FC236}">
                <a16:creationId xmlns:a16="http://schemas.microsoft.com/office/drawing/2014/main" id="{C581AABA-5183-DF52-D756-21DA0C85C3D8}"/>
              </a:ext>
            </a:extLst>
          </p:cNvPr>
          <p:cNvSpPr txBox="1"/>
          <p:nvPr/>
        </p:nvSpPr>
        <p:spPr>
          <a:xfrm>
            <a:off x="6420598" y="3298384"/>
            <a:ext cx="1363205" cy="12311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700" spc="-5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8A81D2"/>
                </a:solidFill>
                <a:latin typeface="Tahoma"/>
                <a:cs typeface="Tahoma"/>
              </a:rPr>
              <a:t>128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85" name="object 56">
            <a:extLst>
              <a:ext uri="{FF2B5EF4-FFF2-40B4-BE49-F238E27FC236}">
                <a16:creationId xmlns:a16="http://schemas.microsoft.com/office/drawing/2014/main" id="{3E5F87A3-1A1E-3E4C-F602-BFF24DAFB078}"/>
              </a:ext>
            </a:extLst>
          </p:cNvPr>
          <p:cNvGrpSpPr/>
          <p:nvPr/>
        </p:nvGrpSpPr>
        <p:grpSpPr>
          <a:xfrm>
            <a:off x="6401223" y="3445432"/>
            <a:ext cx="1425354" cy="209661"/>
            <a:chOff x="5366829" y="2195812"/>
            <a:chExt cx="888365" cy="111760"/>
          </a:xfrm>
        </p:grpSpPr>
        <p:sp>
          <p:nvSpPr>
            <p:cNvPr id="86" name="object 57">
              <a:extLst>
                <a:ext uri="{FF2B5EF4-FFF2-40B4-BE49-F238E27FC236}">
                  <a16:creationId xmlns:a16="http://schemas.microsoft.com/office/drawing/2014/main" id="{45544C6C-69C1-828E-6D35-19B53B86FCEC}"/>
                </a:ext>
              </a:extLst>
            </p:cNvPr>
            <p:cNvSpPr/>
            <p:nvPr/>
          </p:nvSpPr>
          <p:spPr>
            <a:xfrm>
              <a:off x="5376671" y="220565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9D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58">
              <a:extLst>
                <a:ext uri="{FF2B5EF4-FFF2-40B4-BE49-F238E27FC236}">
                  <a16:creationId xmlns:a16="http://schemas.microsoft.com/office/drawing/2014/main" id="{5AEF2FA2-575E-24E0-3E18-1BD235024956}"/>
                </a:ext>
              </a:extLst>
            </p:cNvPr>
            <p:cNvSpPr/>
            <p:nvPr/>
          </p:nvSpPr>
          <p:spPr>
            <a:xfrm>
              <a:off x="5376671" y="220565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59">
            <a:extLst>
              <a:ext uri="{FF2B5EF4-FFF2-40B4-BE49-F238E27FC236}">
                <a16:creationId xmlns:a16="http://schemas.microsoft.com/office/drawing/2014/main" id="{BE44EF5A-F6D7-6875-308A-474C20122C3F}"/>
              </a:ext>
            </a:extLst>
          </p:cNvPr>
          <p:cNvSpPr txBox="1"/>
          <p:nvPr/>
        </p:nvSpPr>
        <p:spPr>
          <a:xfrm>
            <a:off x="6420598" y="3429006"/>
            <a:ext cx="1363205" cy="8053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8A81D2"/>
                </a:solidFill>
                <a:latin typeface="Tahoma"/>
                <a:cs typeface="Tahoma"/>
              </a:rPr>
              <a:t>128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</a:pP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8A81D2"/>
                </a:solidFill>
                <a:latin typeface="Tahoma"/>
                <a:cs typeface="Tahoma"/>
              </a:rPr>
              <a:t>128</a:t>
            </a:r>
            <a:endParaRPr sz="70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190"/>
              </a:spcBef>
            </a:pP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8A81D2"/>
                </a:solidFill>
                <a:latin typeface="Tahoma"/>
                <a:cs typeface="Tahoma"/>
              </a:rPr>
              <a:t>128</a:t>
            </a:r>
            <a:endParaRPr sz="70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spcBef>
                <a:spcPts val="815"/>
              </a:spcBef>
            </a:pP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8A81D2"/>
                </a:solidFill>
                <a:latin typeface="Tahoma"/>
                <a:cs typeface="Tahoma"/>
              </a:rPr>
              <a:t>128</a:t>
            </a:r>
            <a:endParaRPr sz="700">
              <a:latin typeface="Tahoma"/>
              <a:cs typeface="Tahoma"/>
            </a:endParaRPr>
          </a:p>
          <a:p>
            <a:pPr marL="128905">
              <a:lnSpc>
                <a:spcPct val="100000"/>
              </a:lnSpc>
              <a:spcBef>
                <a:spcPts val="330"/>
              </a:spcBef>
            </a:pPr>
            <a:r>
              <a:rPr sz="550" spc="10" dirty="0">
                <a:solidFill>
                  <a:srgbClr val="8A81D2"/>
                </a:solidFill>
                <a:latin typeface="Tahoma"/>
                <a:cs typeface="Tahoma"/>
              </a:rPr>
              <a:t>3x3</a:t>
            </a:r>
            <a:r>
              <a:rPr sz="550" spc="5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550" spc="10" dirty="0">
                <a:solidFill>
                  <a:srgbClr val="8A81D2"/>
                </a:solidFill>
                <a:latin typeface="Tahoma"/>
                <a:cs typeface="Tahoma"/>
              </a:rPr>
              <a:t>conv,</a:t>
            </a:r>
            <a:r>
              <a:rPr sz="55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550" spc="10" dirty="0">
                <a:solidFill>
                  <a:srgbClr val="8A81D2"/>
                </a:solidFill>
                <a:latin typeface="Tahoma"/>
                <a:cs typeface="Tahoma"/>
              </a:rPr>
              <a:t>128,</a:t>
            </a:r>
            <a:r>
              <a:rPr sz="550" spc="-10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550" spc="10" dirty="0">
                <a:solidFill>
                  <a:srgbClr val="8A81D2"/>
                </a:solidFill>
                <a:latin typeface="Tahoma"/>
                <a:cs typeface="Tahoma"/>
              </a:rPr>
              <a:t>/</a:t>
            </a:r>
            <a:r>
              <a:rPr sz="550" spc="35" dirty="0">
                <a:solidFill>
                  <a:srgbClr val="8A81D2"/>
                </a:solidFill>
                <a:latin typeface="Tahoma"/>
                <a:cs typeface="Tahoma"/>
              </a:rPr>
              <a:t> </a:t>
            </a:r>
            <a:r>
              <a:rPr sz="550" spc="-50" dirty="0">
                <a:solidFill>
                  <a:srgbClr val="8A81D2"/>
                </a:solidFill>
                <a:latin typeface="Tahoma"/>
                <a:cs typeface="Tahoma"/>
              </a:rPr>
              <a:t>2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89" name="object 60">
            <a:extLst>
              <a:ext uri="{FF2B5EF4-FFF2-40B4-BE49-F238E27FC236}">
                <a16:creationId xmlns:a16="http://schemas.microsoft.com/office/drawing/2014/main" id="{C5C99180-2875-25C6-E4D4-7C51359A8CF3}"/>
              </a:ext>
            </a:extLst>
          </p:cNvPr>
          <p:cNvGrpSpPr/>
          <p:nvPr/>
        </p:nvGrpSpPr>
        <p:grpSpPr>
          <a:xfrm>
            <a:off x="6816513" y="3130362"/>
            <a:ext cx="1380526" cy="905350"/>
            <a:chOff x="5782119" y="1880742"/>
            <a:chExt cx="860425" cy="482600"/>
          </a:xfrm>
        </p:grpSpPr>
        <p:sp>
          <p:nvSpPr>
            <p:cNvPr id="90" name="object 61">
              <a:extLst>
                <a:ext uri="{FF2B5EF4-FFF2-40B4-BE49-F238E27FC236}">
                  <a16:creationId xmlns:a16="http://schemas.microsoft.com/office/drawing/2014/main" id="{C8E5348E-4F9E-2956-8E24-347832E83E7A}"/>
                </a:ext>
              </a:extLst>
            </p:cNvPr>
            <p:cNvSpPr/>
            <p:nvPr/>
          </p:nvSpPr>
          <p:spPr>
            <a:xfrm>
              <a:off x="5811011" y="2164460"/>
              <a:ext cx="635" cy="176530"/>
            </a:xfrm>
            <a:custGeom>
              <a:avLst/>
              <a:gdLst/>
              <a:ahLst/>
              <a:cxnLst/>
              <a:rect l="l" t="t" r="r" b="b"/>
              <a:pathLst>
                <a:path w="635" h="176530">
                  <a:moveTo>
                    <a:pt x="0" y="38100"/>
                  </a:moveTo>
                  <a:lnTo>
                    <a:pt x="0" y="0"/>
                  </a:lnTo>
                </a:path>
                <a:path w="635" h="176530">
                  <a:moveTo>
                    <a:pt x="635" y="176022"/>
                  </a:moveTo>
                  <a:lnTo>
                    <a:pt x="0" y="137287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62">
              <a:extLst>
                <a:ext uri="{FF2B5EF4-FFF2-40B4-BE49-F238E27FC236}">
                  <a16:creationId xmlns:a16="http://schemas.microsoft.com/office/drawing/2014/main" id="{4704C0F5-FD32-2CB3-1DFF-2186273C9FB6}"/>
                </a:ext>
              </a:extLst>
            </p:cNvPr>
            <p:cNvSpPr/>
            <p:nvPr/>
          </p:nvSpPr>
          <p:spPr>
            <a:xfrm>
              <a:off x="5792723" y="1999741"/>
              <a:ext cx="45720" cy="36830"/>
            </a:xfrm>
            <a:custGeom>
              <a:avLst/>
              <a:gdLst/>
              <a:ahLst/>
              <a:cxnLst/>
              <a:rect l="l" t="t" r="r" b="b"/>
              <a:pathLst>
                <a:path w="45720" h="36830">
                  <a:moveTo>
                    <a:pt x="22860" y="0"/>
                  </a:moveTo>
                  <a:lnTo>
                    <a:pt x="13983" y="1446"/>
                  </a:lnTo>
                  <a:lnTo>
                    <a:pt x="6715" y="5381"/>
                  </a:lnTo>
                  <a:lnTo>
                    <a:pt x="1803" y="11197"/>
                  </a:lnTo>
                  <a:lnTo>
                    <a:pt x="0" y="18287"/>
                  </a:lnTo>
                  <a:lnTo>
                    <a:pt x="1803" y="25431"/>
                  </a:lnTo>
                  <a:lnTo>
                    <a:pt x="6715" y="31241"/>
                  </a:lnTo>
                  <a:lnTo>
                    <a:pt x="13983" y="35147"/>
                  </a:lnTo>
                  <a:lnTo>
                    <a:pt x="22860" y="36575"/>
                  </a:lnTo>
                  <a:lnTo>
                    <a:pt x="31736" y="35147"/>
                  </a:lnTo>
                  <a:lnTo>
                    <a:pt x="39004" y="31242"/>
                  </a:lnTo>
                  <a:lnTo>
                    <a:pt x="43916" y="25431"/>
                  </a:lnTo>
                  <a:lnTo>
                    <a:pt x="45720" y="18287"/>
                  </a:lnTo>
                  <a:lnTo>
                    <a:pt x="43916" y="11197"/>
                  </a:lnTo>
                  <a:lnTo>
                    <a:pt x="39004" y="5381"/>
                  </a:lnTo>
                  <a:lnTo>
                    <a:pt x="31736" y="1446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63">
              <a:extLst>
                <a:ext uri="{FF2B5EF4-FFF2-40B4-BE49-F238E27FC236}">
                  <a16:creationId xmlns:a16="http://schemas.microsoft.com/office/drawing/2014/main" id="{EC9B382E-91D4-09C3-208A-84B87910E77D}"/>
                </a:ext>
              </a:extLst>
            </p:cNvPr>
            <p:cNvSpPr/>
            <p:nvPr/>
          </p:nvSpPr>
          <p:spPr>
            <a:xfrm>
              <a:off x="5792723" y="1999741"/>
              <a:ext cx="845185" cy="358775"/>
            </a:xfrm>
            <a:custGeom>
              <a:avLst/>
              <a:gdLst/>
              <a:ahLst/>
              <a:cxnLst/>
              <a:rect l="l" t="t" r="r" b="b"/>
              <a:pathLst>
                <a:path w="845184" h="358775">
                  <a:moveTo>
                    <a:pt x="0" y="18287"/>
                  </a:moveTo>
                  <a:lnTo>
                    <a:pt x="1803" y="11197"/>
                  </a:lnTo>
                  <a:lnTo>
                    <a:pt x="6715" y="5381"/>
                  </a:lnTo>
                  <a:lnTo>
                    <a:pt x="13983" y="1446"/>
                  </a:lnTo>
                  <a:lnTo>
                    <a:pt x="22860" y="0"/>
                  </a:lnTo>
                  <a:lnTo>
                    <a:pt x="31736" y="1446"/>
                  </a:lnTo>
                  <a:lnTo>
                    <a:pt x="39004" y="5381"/>
                  </a:lnTo>
                  <a:lnTo>
                    <a:pt x="43916" y="11197"/>
                  </a:lnTo>
                  <a:lnTo>
                    <a:pt x="45720" y="18287"/>
                  </a:lnTo>
                  <a:lnTo>
                    <a:pt x="43916" y="25431"/>
                  </a:lnTo>
                  <a:lnTo>
                    <a:pt x="39004" y="31242"/>
                  </a:lnTo>
                  <a:lnTo>
                    <a:pt x="31736" y="35147"/>
                  </a:lnTo>
                  <a:lnTo>
                    <a:pt x="22860" y="36575"/>
                  </a:lnTo>
                  <a:lnTo>
                    <a:pt x="13983" y="35147"/>
                  </a:lnTo>
                  <a:lnTo>
                    <a:pt x="6715" y="31241"/>
                  </a:lnTo>
                  <a:lnTo>
                    <a:pt x="1803" y="25431"/>
                  </a:lnTo>
                  <a:lnTo>
                    <a:pt x="0" y="18287"/>
                  </a:lnTo>
                  <a:close/>
                </a:path>
                <a:path w="845184" h="358775">
                  <a:moveTo>
                    <a:pt x="18287" y="72643"/>
                  </a:moveTo>
                  <a:lnTo>
                    <a:pt x="18923" y="36575"/>
                  </a:lnTo>
                </a:path>
                <a:path w="845184" h="358775">
                  <a:moveTo>
                    <a:pt x="45720" y="358775"/>
                  </a:moveTo>
                  <a:lnTo>
                    <a:pt x="112262" y="358001"/>
                  </a:lnTo>
                  <a:lnTo>
                    <a:pt x="178394" y="355740"/>
                  </a:lnTo>
                  <a:lnTo>
                    <a:pt x="243704" y="352078"/>
                  </a:lnTo>
                  <a:lnTo>
                    <a:pt x="307780" y="347102"/>
                  </a:lnTo>
                  <a:lnTo>
                    <a:pt x="370211" y="340902"/>
                  </a:lnTo>
                  <a:lnTo>
                    <a:pt x="430586" y="333563"/>
                  </a:lnTo>
                  <a:lnTo>
                    <a:pt x="488494" y="325173"/>
                  </a:lnTo>
                  <a:lnTo>
                    <a:pt x="543524" y="315821"/>
                  </a:lnTo>
                  <a:lnTo>
                    <a:pt x="595264" y="305593"/>
                  </a:lnTo>
                  <a:lnTo>
                    <a:pt x="643304" y="294578"/>
                  </a:lnTo>
                  <a:lnTo>
                    <a:pt x="687232" y="282862"/>
                  </a:lnTo>
                  <a:lnTo>
                    <a:pt x="726637" y="270533"/>
                  </a:lnTo>
                  <a:lnTo>
                    <a:pt x="790233" y="244387"/>
                  </a:lnTo>
                  <a:lnTo>
                    <a:pt x="830803" y="216841"/>
                  </a:lnTo>
                  <a:lnTo>
                    <a:pt x="845057" y="188594"/>
                  </a:lnTo>
                  <a:lnTo>
                    <a:pt x="841429" y="174407"/>
                  </a:lnTo>
                  <a:lnTo>
                    <a:pt x="813631" y="146390"/>
                  </a:lnTo>
                  <a:lnTo>
                    <a:pt x="761185" y="119431"/>
                  </a:lnTo>
                  <a:lnTo>
                    <a:pt x="687375" y="94229"/>
                  </a:lnTo>
                  <a:lnTo>
                    <a:pt x="643485" y="82506"/>
                  </a:lnTo>
                  <a:lnTo>
                    <a:pt x="595487" y="71485"/>
                  </a:lnTo>
                  <a:lnTo>
                    <a:pt x="543790" y="61252"/>
                  </a:lnTo>
                  <a:lnTo>
                    <a:pt x="488805" y="51896"/>
                  </a:lnTo>
                  <a:lnTo>
                    <a:pt x="430943" y="43504"/>
                  </a:lnTo>
                  <a:lnTo>
                    <a:pt x="370616" y="36163"/>
                  </a:lnTo>
                  <a:lnTo>
                    <a:pt x="308232" y="29961"/>
                  </a:lnTo>
                  <a:lnTo>
                    <a:pt x="244203" y="24985"/>
                  </a:lnTo>
                  <a:lnTo>
                    <a:pt x="178941" y="21322"/>
                  </a:lnTo>
                  <a:lnTo>
                    <a:pt x="112854" y="19061"/>
                  </a:lnTo>
                  <a:lnTo>
                    <a:pt x="46354" y="18287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64">
              <a:extLst>
                <a:ext uri="{FF2B5EF4-FFF2-40B4-BE49-F238E27FC236}">
                  <a16:creationId xmlns:a16="http://schemas.microsoft.com/office/drawing/2014/main" id="{84397D65-D258-0FFC-6CE9-DF23805332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2119" y="1880742"/>
              <a:ext cx="76263" cy="117474"/>
            </a:xfrm>
            <a:prstGeom prst="rect">
              <a:avLst/>
            </a:prstGeom>
          </p:spPr>
        </p:pic>
      </p:grpSp>
      <p:sp>
        <p:nvSpPr>
          <p:cNvPr id="94" name="object 65">
            <a:extLst>
              <a:ext uri="{FF2B5EF4-FFF2-40B4-BE49-F238E27FC236}">
                <a16:creationId xmlns:a16="http://schemas.microsoft.com/office/drawing/2014/main" id="{FA6E6FBB-10EA-DD4E-1C53-0C78CF2CAB04}"/>
              </a:ext>
            </a:extLst>
          </p:cNvPr>
          <p:cNvSpPr txBox="1"/>
          <p:nvPr/>
        </p:nvSpPr>
        <p:spPr>
          <a:xfrm>
            <a:off x="6812385" y="2988758"/>
            <a:ext cx="159957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180"/>
              </a:lnSpc>
              <a:spcBef>
                <a:spcPts val="110"/>
              </a:spcBef>
            </a:pPr>
            <a:r>
              <a:rPr sz="1000" spc="-25" dirty="0">
                <a:latin typeface="Arial MT"/>
                <a:cs typeface="Arial MT"/>
              </a:rPr>
              <a:t>..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80"/>
              </a:lnSpc>
            </a:pPr>
            <a:r>
              <a:rPr sz="1000" spc="-5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5" name="object 66">
            <a:extLst>
              <a:ext uri="{FF2B5EF4-FFF2-40B4-BE49-F238E27FC236}">
                <a16:creationId xmlns:a16="http://schemas.microsoft.com/office/drawing/2014/main" id="{B92A24CC-1F54-407C-5E1F-9020E3DADF0F}"/>
              </a:ext>
            </a:extLst>
          </p:cNvPr>
          <p:cNvGrpSpPr/>
          <p:nvPr/>
        </p:nvGrpSpPr>
        <p:grpSpPr>
          <a:xfrm>
            <a:off x="6401223" y="2630855"/>
            <a:ext cx="1425354" cy="837450"/>
            <a:chOff x="5366829" y="1381234"/>
            <a:chExt cx="888365" cy="446405"/>
          </a:xfrm>
        </p:grpSpPr>
        <p:pic>
          <p:nvPicPr>
            <p:cNvPr id="96" name="object 67">
              <a:extLst>
                <a:ext uri="{FF2B5EF4-FFF2-40B4-BE49-F238E27FC236}">
                  <a16:creationId xmlns:a16="http://schemas.microsoft.com/office/drawing/2014/main" id="{2BDDF762-4125-70AC-F0E9-126EA34D2FF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2309" y="1697735"/>
              <a:ext cx="76200" cy="129666"/>
            </a:xfrm>
            <a:prstGeom prst="rect">
              <a:avLst/>
            </a:prstGeom>
          </p:spPr>
        </p:pic>
        <p:sp>
          <p:nvSpPr>
            <p:cNvPr id="97" name="object 68">
              <a:extLst>
                <a:ext uri="{FF2B5EF4-FFF2-40B4-BE49-F238E27FC236}">
                  <a16:creationId xmlns:a16="http://schemas.microsoft.com/office/drawing/2014/main" id="{174D99E3-C7AA-BE89-712A-DC4BD3F9D43B}"/>
                </a:ext>
              </a:extLst>
            </p:cNvPr>
            <p:cNvSpPr/>
            <p:nvPr/>
          </p:nvSpPr>
          <p:spPr>
            <a:xfrm>
              <a:off x="5376671" y="139107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69">
              <a:extLst>
                <a:ext uri="{FF2B5EF4-FFF2-40B4-BE49-F238E27FC236}">
                  <a16:creationId xmlns:a16="http://schemas.microsoft.com/office/drawing/2014/main" id="{A96646C7-1A10-3116-9F92-D271569B37C8}"/>
                </a:ext>
              </a:extLst>
            </p:cNvPr>
            <p:cNvSpPr/>
            <p:nvPr/>
          </p:nvSpPr>
          <p:spPr>
            <a:xfrm>
              <a:off x="5376671" y="1391076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70">
              <a:extLst>
                <a:ext uri="{FF2B5EF4-FFF2-40B4-BE49-F238E27FC236}">
                  <a16:creationId xmlns:a16="http://schemas.microsoft.com/office/drawing/2014/main" id="{6E80CAE7-D4A2-2948-5519-E4CF150C00EE}"/>
                </a:ext>
              </a:extLst>
            </p:cNvPr>
            <p:cNvSpPr/>
            <p:nvPr/>
          </p:nvSpPr>
          <p:spPr>
            <a:xfrm>
              <a:off x="5376671" y="1519219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71">
              <a:extLst>
                <a:ext uri="{FF2B5EF4-FFF2-40B4-BE49-F238E27FC236}">
                  <a16:creationId xmlns:a16="http://schemas.microsoft.com/office/drawing/2014/main" id="{AC0F69DD-64BD-2BD8-C98B-360EA10AEE2B}"/>
                </a:ext>
              </a:extLst>
            </p:cNvPr>
            <p:cNvSpPr/>
            <p:nvPr/>
          </p:nvSpPr>
          <p:spPr>
            <a:xfrm>
              <a:off x="5376671" y="1519219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72">
            <a:extLst>
              <a:ext uri="{FF2B5EF4-FFF2-40B4-BE49-F238E27FC236}">
                <a16:creationId xmlns:a16="http://schemas.microsoft.com/office/drawing/2014/main" id="{92F85A97-2DAF-9F48-BEC0-6CB8A21D37D4}"/>
              </a:ext>
            </a:extLst>
          </p:cNvPr>
          <p:cNvSpPr txBox="1"/>
          <p:nvPr/>
        </p:nvSpPr>
        <p:spPr>
          <a:xfrm>
            <a:off x="6420598" y="2745426"/>
            <a:ext cx="1365242" cy="12311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512,</a:t>
            </a: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/2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02" name="object 73">
            <a:extLst>
              <a:ext uri="{FF2B5EF4-FFF2-40B4-BE49-F238E27FC236}">
                <a16:creationId xmlns:a16="http://schemas.microsoft.com/office/drawing/2014/main" id="{F56C7FA0-0A44-94EC-2448-4B35957FA1B2}"/>
              </a:ext>
            </a:extLst>
          </p:cNvPr>
          <p:cNvGrpSpPr/>
          <p:nvPr/>
        </p:nvGrpSpPr>
        <p:grpSpPr>
          <a:xfrm>
            <a:off x="6401222" y="2292273"/>
            <a:ext cx="2015261" cy="1238900"/>
            <a:chOff x="5366829" y="1042652"/>
            <a:chExt cx="1256030" cy="660400"/>
          </a:xfrm>
        </p:grpSpPr>
        <p:sp>
          <p:nvSpPr>
            <p:cNvPr id="103" name="object 74">
              <a:extLst>
                <a:ext uri="{FF2B5EF4-FFF2-40B4-BE49-F238E27FC236}">
                  <a16:creationId xmlns:a16="http://schemas.microsoft.com/office/drawing/2014/main" id="{2ED886B9-1CF5-61AF-D7CD-899584EEE73F}"/>
                </a:ext>
              </a:extLst>
            </p:cNvPr>
            <p:cNvSpPr/>
            <p:nvPr/>
          </p:nvSpPr>
          <p:spPr>
            <a:xfrm>
              <a:off x="5820155" y="1487169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4">
                  <a:moveTo>
                    <a:pt x="0" y="38226"/>
                  </a:moveTo>
                  <a:lnTo>
                    <a:pt x="0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75">
              <a:extLst>
                <a:ext uri="{FF2B5EF4-FFF2-40B4-BE49-F238E27FC236}">
                  <a16:creationId xmlns:a16="http://schemas.microsoft.com/office/drawing/2014/main" id="{B7B0AD0C-6DFD-07E3-81B9-FCCEFEFD6971}"/>
                </a:ext>
              </a:extLst>
            </p:cNvPr>
            <p:cNvSpPr/>
            <p:nvPr/>
          </p:nvSpPr>
          <p:spPr>
            <a:xfrm>
              <a:off x="5792723" y="1661159"/>
              <a:ext cx="45720" cy="36830"/>
            </a:xfrm>
            <a:custGeom>
              <a:avLst/>
              <a:gdLst/>
              <a:ahLst/>
              <a:cxnLst/>
              <a:rect l="l" t="t" r="r" b="b"/>
              <a:pathLst>
                <a:path w="45720" h="36830">
                  <a:moveTo>
                    <a:pt x="22860" y="0"/>
                  </a:moveTo>
                  <a:lnTo>
                    <a:pt x="13983" y="1428"/>
                  </a:lnTo>
                  <a:lnTo>
                    <a:pt x="6715" y="5334"/>
                  </a:lnTo>
                  <a:lnTo>
                    <a:pt x="1803" y="11144"/>
                  </a:lnTo>
                  <a:lnTo>
                    <a:pt x="0" y="18287"/>
                  </a:lnTo>
                  <a:lnTo>
                    <a:pt x="1803" y="25378"/>
                  </a:lnTo>
                  <a:lnTo>
                    <a:pt x="6715" y="31194"/>
                  </a:lnTo>
                  <a:lnTo>
                    <a:pt x="13983" y="35129"/>
                  </a:lnTo>
                  <a:lnTo>
                    <a:pt x="22860" y="36575"/>
                  </a:lnTo>
                  <a:lnTo>
                    <a:pt x="31736" y="35129"/>
                  </a:lnTo>
                  <a:lnTo>
                    <a:pt x="39004" y="31194"/>
                  </a:lnTo>
                  <a:lnTo>
                    <a:pt x="43916" y="25378"/>
                  </a:lnTo>
                  <a:lnTo>
                    <a:pt x="45720" y="18287"/>
                  </a:lnTo>
                  <a:lnTo>
                    <a:pt x="43916" y="11144"/>
                  </a:lnTo>
                  <a:lnTo>
                    <a:pt x="39004" y="5334"/>
                  </a:lnTo>
                  <a:lnTo>
                    <a:pt x="31736" y="1428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76">
              <a:extLst>
                <a:ext uri="{FF2B5EF4-FFF2-40B4-BE49-F238E27FC236}">
                  <a16:creationId xmlns:a16="http://schemas.microsoft.com/office/drawing/2014/main" id="{109BD5C3-1956-D2BD-FB74-7A4A5F1F902F}"/>
                </a:ext>
              </a:extLst>
            </p:cNvPr>
            <p:cNvSpPr/>
            <p:nvPr/>
          </p:nvSpPr>
          <p:spPr>
            <a:xfrm>
              <a:off x="5792723" y="1615312"/>
              <a:ext cx="45720" cy="82550"/>
            </a:xfrm>
            <a:custGeom>
              <a:avLst/>
              <a:gdLst/>
              <a:ahLst/>
              <a:cxnLst/>
              <a:rect l="l" t="t" r="r" b="b"/>
              <a:pathLst>
                <a:path w="45720" h="82550">
                  <a:moveTo>
                    <a:pt x="0" y="64135"/>
                  </a:moveTo>
                  <a:lnTo>
                    <a:pt x="1803" y="56991"/>
                  </a:lnTo>
                  <a:lnTo>
                    <a:pt x="6715" y="51181"/>
                  </a:lnTo>
                  <a:lnTo>
                    <a:pt x="13983" y="47275"/>
                  </a:lnTo>
                  <a:lnTo>
                    <a:pt x="22860" y="45847"/>
                  </a:lnTo>
                  <a:lnTo>
                    <a:pt x="31736" y="47275"/>
                  </a:lnTo>
                  <a:lnTo>
                    <a:pt x="39004" y="51181"/>
                  </a:lnTo>
                  <a:lnTo>
                    <a:pt x="43916" y="56991"/>
                  </a:lnTo>
                  <a:lnTo>
                    <a:pt x="45720" y="64135"/>
                  </a:lnTo>
                  <a:lnTo>
                    <a:pt x="43916" y="71225"/>
                  </a:lnTo>
                  <a:lnTo>
                    <a:pt x="39004" y="77041"/>
                  </a:lnTo>
                  <a:lnTo>
                    <a:pt x="31736" y="80976"/>
                  </a:lnTo>
                  <a:lnTo>
                    <a:pt x="22860" y="82423"/>
                  </a:lnTo>
                  <a:lnTo>
                    <a:pt x="13983" y="80976"/>
                  </a:lnTo>
                  <a:lnTo>
                    <a:pt x="6715" y="77041"/>
                  </a:lnTo>
                  <a:lnTo>
                    <a:pt x="1803" y="71225"/>
                  </a:lnTo>
                  <a:lnTo>
                    <a:pt x="0" y="64135"/>
                  </a:lnTo>
                  <a:close/>
                </a:path>
                <a:path w="45720" h="82550">
                  <a:moveTo>
                    <a:pt x="27431" y="41783"/>
                  </a:moveTo>
                  <a:lnTo>
                    <a:pt x="27686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77">
              <a:extLst>
                <a:ext uri="{FF2B5EF4-FFF2-40B4-BE49-F238E27FC236}">
                  <a16:creationId xmlns:a16="http://schemas.microsoft.com/office/drawing/2014/main" id="{D096C3B3-1EE0-3ADD-F2DB-AF3B3500E3F1}"/>
                </a:ext>
              </a:extLst>
            </p:cNvPr>
            <p:cNvSpPr/>
            <p:nvPr/>
          </p:nvSpPr>
          <p:spPr>
            <a:xfrm>
              <a:off x="5792723" y="1313306"/>
              <a:ext cx="45720" cy="46355"/>
            </a:xfrm>
            <a:custGeom>
              <a:avLst/>
              <a:gdLst/>
              <a:ahLst/>
              <a:cxnLst/>
              <a:rect l="l" t="t" r="r" b="b"/>
              <a:pathLst>
                <a:path w="45720" h="46355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809"/>
                  </a:lnTo>
                  <a:lnTo>
                    <a:pt x="6715" y="39116"/>
                  </a:lnTo>
                  <a:lnTo>
                    <a:pt x="13983" y="44041"/>
                  </a:lnTo>
                  <a:lnTo>
                    <a:pt x="22860" y="45847"/>
                  </a:lnTo>
                  <a:lnTo>
                    <a:pt x="31736" y="44041"/>
                  </a:lnTo>
                  <a:lnTo>
                    <a:pt x="39004" y="39115"/>
                  </a:lnTo>
                  <a:lnTo>
                    <a:pt x="43916" y="31809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78">
              <a:extLst>
                <a:ext uri="{FF2B5EF4-FFF2-40B4-BE49-F238E27FC236}">
                  <a16:creationId xmlns:a16="http://schemas.microsoft.com/office/drawing/2014/main" id="{26BFB5AE-289D-CA61-918B-EBB012EC7362}"/>
                </a:ext>
              </a:extLst>
            </p:cNvPr>
            <p:cNvSpPr/>
            <p:nvPr/>
          </p:nvSpPr>
          <p:spPr>
            <a:xfrm>
              <a:off x="5792723" y="1313306"/>
              <a:ext cx="825500" cy="371475"/>
            </a:xfrm>
            <a:custGeom>
              <a:avLst/>
              <a:gdLst/>
              <a:ahLst/>
              <a:cxnLst/>
              <a:rect l="l" t="t" r="r" b="b"/>
              <a:pathLst>
                <a:path w="825500" h="371475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60"/>
                  </a:lnTo>
                  <a:lnTo>
                    <a:pt x="43916" y="31809"/>
                  </a:lnTo>
                  <a:lnTo>
                    <a:pt x="39004" y="39115"/>
                  </a:lnTo>
                  <a:lnTo>
                    <a:pt x="31736" y="44041"/>
                  </a:lnTo>
                  <a:lnTo>
                    <a:pt x="22860" y="45847"/>
                  </a:lnTo>
                  <a:lnTo>
                    <a:pt x="13983" y="44041"/>
                  </a:lnTo>
                  <a:lnTo>
                    <a:pt x="6715" y="39116"/>
                  </a:lnTo>
                  <a:lnTo>
                    <a:pt x="1803" y="31809"/>
                  </a:lnTo>
                  <a:lnTo>
                    <a:pt x="0" y="22860"/>
                  </a:lnTo>
                  <a:close/>
                </a:path>
                <a:path w="825500" h="371475">
                  <a:moveTo>
                    <a:pt x="27686" y="81534"/>
                  </a:moveTo>
                  <a:lnTo>
                    <a:pt x="27431" y="45847"/>
                  </a:lnTo>
                </a:path>
                <a:path w="825500" h="371475">
                  <a:moveTo>
                    <a:pt x="45720" y="27431"/>
                  </a:moveTo>
                  <a:lnTo>
                    <a:pt x="114399" y="28306"/>
                  </a:lnTo>
                  <a:lnTo>
                    <a:pt x="182604" y="30861"/>
                  </a:lnTo>
                  <a:lnTo>
                    <a:pt x="249856" y="34991"/>
                  </a:lnTo>
                  <a:lnTo>
                    <a:pt x="315681" y="40590"/>
                  </a:lnTo>
                  <a:lnTo>
                    <a:pt x="379603" y="47554"/>
                  </a:lnTo>
                  <a:lnTo>
                    <a:pt x="441145" y="55776"/>
                  </a:lnTo>
                  <a:lnTo>
                    <a:pt x="499832" y="65153"/>
                  </a:lnTo>
                  <a:lnTo>
                    <a:pt x="555189" y="75579"/>
                  </a:lnTo>
                  <a:lnTo>
                    <a:pt x="606738" y="86949"/>
                  </a:lnTo>
                  <a:lnTo>
                    <a:pt x="654005" y="99157"/>
                  </a:lnTo>
                  <a:lnTo>
                    <a:pt x="696514" y="112099"/>
                  </a:lnTo>
                  <a:lnTo>
                    <a:pt x="733788" y="125669"/>
                  </a:lnTo>
                  <a:lnTo>
                    <a:pt x="790731" y="154273"/>
                  </a:lnTo>
                  <a:lnTo>
                    <a:pt x="821026" y="184128"/>
                  </a:lnTo>
                  <a:lnTo>
                    <a:pt x="824992" y="199262"/>
                  </a:lnTo>
                  <a:lnTo>
                    <a:pt x="821029" y="214395"/>
                  </a:lnTo>
                  <a:lnTo>
                    <a:pt x="790754" y="244242"/>
                  </a:lnTo>
                  <a:lnTo>
                    <a:pt x="733851" y="272830"/>
                  </a:lnTo>
                  <a:lnTo>
                    <a:pt x="696603" y="286390"/>
                  </a:lnTo>
                  <a:lnTo>
                    <a:pt x="654126" y="299321"/>
                  </a:lnTo>
                  <a:lnTo>
                    <a:pt x="606894" y="311518"/>
                  </a:lnTo>
                  <a:lnTo>
                    <a:pt x="555383" y="322877"/>
                  </a:lnTo>
                  <a:lnTo>
                    <a:pt x="500070" y="333292"/>
                  </a:lnTo>
                  <a:lnTo>
                    <a:pt x="441430" y="342658"/>
                  </a:lnTo>
                  <a:lnTo>
                    <a:pt x="379938" y="350871"/>
                  </a:lnTo>
                  <a:lnTo>
                    <a:pt x="316070" y="357826"/>
                  </a:lnTo>
                  <a:lnTo>
                    <a:pt x="250302" y="363418"/>
                  </a:lnTo>
                  <a:lnTo>
                    <a:pt x="183110" y="367542"/>
                  </a:lnTo>
                  <a:lnTo>
                    <a:pt x="114969" y="370093"/>
                  </a:lnTo>
                  <a:lnTo>
                    <a:pt x="46354" y="370966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79">
              <a:extLst>
                <a:ext uri="{FF2B5EF4-FFF2-40B4-BE49-F238E27FC236}">
                  <a16:creationId xmlns:a16="http://schemas.microsoft.com/office/drawing/2014/main" id="{530ABB4B-F9D0-B4AF-1904-24B66119DBA0}"/>
                </a:ext>
              </a:extLst>
            </p:cNvPr>
            <p:cNvSpPr/>
            <p:nvPr/>
          </p:nvSpPr>
          <p:spPr>
            <a:xfrm>
              <a:off x="5376671" y="105249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80">
              <a:extLst>
                <a:ext uri="{FF2B5EF4-FFF2-40B4-BE49-F238E27FC236}">
                  <a16:creationId xmlns:a16="http://schemas.microsoft.com/office/drawing/2014/main" id="{7A13EA7B-A8E6-1C0B-0A28-906A746D54F4}"/>
                </a:ext>
              </a:extLst>
            </p:cNvPr>
            <p:cNvSpPr/>
            <p:nvPr/>
          </p:nvSpPr>
          <p:spPr>
            <a:xfrm>
              <a:off x="5376671" y="105249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81">
              <a:extLst>
                <a:ext uri="{FF2B5EF4-FFF2-40B4-BE49-F238E27FC236}">
                  <a16:creationId xmlns:a16="http://schemas.microsoft.com/office/drawing/2014/main" id="{CA78BB6A-2A17-22FB-2B1D-E7C00CDF546A}"/>
                </a:ext>
              </a:extLst>
            </p:cNvPr>
            <p:cNvSpPr/>
            <p:nvPr/>
          </p:nvSpPr>
          <p:spPr>
            <a:xfrm>
              <a:off x="5376671" y="1180637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82">
              <a:extLst>
                <a:ext uri="{FF2B5EF4-FFF2-40B4-BE49-F238E27FC236}">
                  <a16:creationId xmlns:a16="http://schemas.microsoft.com/office/drawing/2014/main" id="{DE14402E-C4AE-B6C3-37A2-AFF33C53C8E4}"/>
                </a:ext>
              </a:extLst>
            </p:cNvPr>
            <p:cNvSpPr/>
            <p:nvPr/>
          </p:nvSpPr>
          <p:spPr>
            <a:xfrm>
              <a:off x="5376671" y="1180637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83">
            <a:extLst>
              <a:ext uri="{FF2B5EF4-FFF2-40B4-BE49-F238E27FC236}">
                <a16:creationId xmlns:a16="http://schemas.microsoft.com/office/drawing/2014/main" id="{1598774B-52F2-A6E9-CC6F-FEC6A4D5D388}"/>
              </a:ext>
            </a:extLst>
          </p:cNvPr>
          <p:cNvSpPr txBox="1"/>
          <p:nvPr/>
        </p:nvSpPr>
        <p:spPr>
          <a:xfrm>
            <a:off x="6420598" y="2251524"/>
            <a:ext cx="1365242" cy="48795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285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512</a:t>
            </a:r>
            <a:endParaRPr sz="70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spcBef>
                <a:spcPts val="195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512</a:t>
            </a:r>
            <a:endParaRPr sz="700">
              <a:latin typeface="Tahoma"/>
              <a:cs typeface="Tahoma"/>
            </a:endParaRPr>
          </a:p>
          <a:p>
            <a:pPr marL="157480">
              <a:lnSpc>
                <a:spcPct val="100000"/>
              </a:lnSpc>
              <a:spcBef>
                <a:spcPts val="815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512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13" name="object 84">
            <a:extLst>
              <a:ext uri="{FF2B5EF4-FFF2-40B4-BE49-F238E27FC236}">
                <a16:creationId xmlns:a16="http://schemas.microsoft.com/office/drawing/2014/main" id="{0A7B611D-3527-70E6-1BE7-4C3B3C430BD2}"/>
              </a:ext>
            </a:extLst>
          </p:cNvPr>
          <p:cNvGrpSpPr/>
          <p:nvPr/>
        </p:nvGrpSpPr>
        <p:grpSpPr>
          <a:xfrm>
            <a:off x="6401223" y="1944546"/>
            <a:ext cx="2018318" cy="1217458"/>
            <a:chOff x="5366829" y="694926"/>
            <a:chExt cx="1257935" cy="648970"/>
          </a:xfrm>
        </p:grpSpPr>
        <p:sp>
          <p:nvSpPr>
            <p:cNvPr id="114" name="object 85">
              <a:extLst>
                <a:ext uri="{FF2B5EF4-FFF2-40B4-BE49-F238E27FC236}">
                  <a16:creationId xmlns:a16="http://schemas.microsoft.com/office/drawing/2014/main" id="{82CBA993-71FB-5849-2281-6715A1080E7B}"/>
                </a:ext>
              </a:extLst>
            </p:cNvPr>
            <p:cNvSpPr/>
            <p:nvPr/>
          </p:nvSpPr>
          <p:spPr>
            <a:xfrm>
              <a:off x="5811011" y="1148587"/>
              <a:ext cx="1905" cy="167005"/>
            </a:xfrm>
            <a:custGeom>
              <a:avLst/>
              <a:gdLst/>
              <a:ahLst/>
              <a:cxnLst/>
              <a:rect l="l" t="t" r="r" b="b"/>
              <a:pathLst>
                <a:path w="1904" h="167005">
                  <a:moveTo>
                    <a:pt x="0" y="38100"/>
                  </a:moveTo>
                  <a:lnTo>
                    <a:pt x="0" y="0"/>
                  </a:lnTo>
                </a:path>
                <a:path w="1904" h="167005">
                  <a:moveTo>
                    <a:pt x="1524" y="166878"/>
                  </a:moveTo>
                  <a:lnTo>
                    <a:pt x="0" y="128143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86">
              <a:extLst>
                <a:ext uri="{FF2B5EF4-FFF2-40B4-BE49-F238E27FC236}">
                  <a16:creationId xmlns:a16="http://schemas.microsoft.com/office/drawing/2014/main" id="{76395870-3CAE-0FAF-C8D1-792529C87E99}"/>
                </a:ext>
              </a:extLst>
            </p:cNvPr>
            <p:cNvSpPr/>
            <p:nvPr/>
          </p:nvSpPr>
          <p:spPr>
            <a:xfrm>
              <a:off x="5792723" y="974724"/>
              <a:ext cx="45720" cy="36830"/>
            </a:xfrm>
            <a:custGeom>
              <a:avLst/>
              <a:gdLst/>
              <a:ahLst/>
              <a:cxnLst/>
              <a:rect l="l" t="t" r="r" b="b"/>
              <a:pathLst>
                <a:path w="45720" h="36830">
                  <a:moveTo>
                    <a:pt x="22860" y="0"/>
                  </a:moveTo>
                  <a:lnTo>
                    <a:pt x="13983" y="1428"/>
                  </a:lnTo>
                  <a:lnTo>
                    <a:pt x="6715" y="5334"/>
                  </a:lnTo>
                  <a:lnTo>
                    <a:pt x="1803" y="11144"/>
                  </a:lnTo>
                  <a:lnTo>
                    <a:pt x="0" y="18287"/>
                  </a:lnTo>
                  <a:lnTo>
                    <a:pt x="1803" y="25431"/>
                  </a:lnTo>
                  <a:lnTo>
                    <a:pt x="6715" y="31241"/>
                  </a:lnTo>
                  <a:lnTo>
                    <a:pt x="13983" y="35147"/>
                  </a:lnTo>
                  <a:lnTo>
                    <a:pt x="22860" y="36575"/>
                  </a:lnTo>
                  <a:lnTo>
                    <a:pt x="31736" y="35147"/>
                  </a:lnTo>
                  <a:lnTo>
                    <a:pt x="39004" y="31241"/>
                  </a:lnTo>
                  <a:lnTo>
                    <a:pt x="43916" y="25431"/>
                  </a:lnTo>
                  <a:lnTo>
                    <a:pt x="45720" y="18287"/>
                  </a:lnTo>
                  <a:lnTo>
                    <a:pt x="43916" y="11144"/>
                  </a:lnTo>
                  <a:lnTo>
                    <a:pt x="39004" y="5334"/>
                  </a:lnTo>
                  <a:lnTo>
                    <a:pt x="31736" y="1428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87">
              <a:extLst>
                <a:ext uri="{FF2B5EF4-FFF2-40B4-BE49-F238E27FC236}">
                  <a16:creationId xmlns:a16="http://schemas.microsoft.com/office/drawing/2014/main" id="{79674303-B61A-7D96-1D75-750CD3F00DB7}"/>
                </a:ext>
              </a:extLst>
            </p:cNvPr>
            <p:cNvSpPr/>
            <p:nvPr/>
          </p:nvSpPr>
          <p:spPr>
            <a:xfrm>
              <a:off x="5792723" y="974724"/>
              <a:ext cx="826769" cy="363855"/>
            </a:xfrm>
            <a:custGeom>
              <a:avLst/>
              <a:gdLst/>
              <a:ahLst/>
              <a:cxnLst/>
              <a:rect l="l" t="t" r="r" b="b"/>
              <a:pathLst>
                <a:path w="826770" h="363855">
                  <a:moveTo>
                    <a:pt x="0" y="18287"/>
                  </a:moveTo>
                  <a:lnTo>
                    <a:pt x="1803" y="11144"/>
                  </a:lnTo>
                  <a:lnTo>
                    <a:pt x="6715" y="5334"/>
                  </a:lnTo>
                  <a:lnTo>
                    <a:pt x="13983" y="1428"/>
                  </a:lnTo>
                  <a:lnTo>
                    <a:pt x="22860" y="0"/>
                  </a:lnTo>
                  <a:lnTo>
                    <a:pt x="31736" y="1428"/>
                  </a:lnTo>
                  <a:lnTo>
                    <a:pt x="39004" y="5334"/>
                  </a:lnTo>
                  <a:lnTo>
                    <a:pt x="43916" y="11144"/>
                  </a:lnTo>
                  <a:lnTo>
                    <a:pt x="45720" y="18287"/>
                  </a:lnTo>
                  <a:lnTo>
                    <a:pt x="43916" y="25431"/>
                  </a:lnTo>
                  <a:lnTo>
                    <a:pt x="39004" y="31241"/>
                  </a:lnTo>
                  <a:lnTo>
                    <a:pt x="31736" y="35147"/>
                  </a:lnTo>
                  <a:lnTo>
                    <a:pt x="22860" y="36575"/>
                  </a:lnTo>
                  <a:lnTo>
                    <a:pt x="13983" y="35147"/>
                  </a:lnTo>
                  <a:lnTo>
                    <a:pt x="6715" y="31241"/>
                  </a:lnTo>
                  <a:lnTo>
                    <a:pt x="1803" y="25431"/>
                  </a:lnTo>
                  <a:lnTo>
                    <a:pt x="0" y="18287"/>
                  </a:lnTo>
                  <a:close/>
                </a:path>
                <a:path w="826770" h="363855">
                  <a:moveTo>
                    <a:pt x="18287" y="77088"/>
                  </a:moveTo>
                  <a:lnTo>
                    <a:pt x="18541" y="36575"/>
                  </a:lnTo>
                </a:path>
                <a:path w="826770" h="363855">
                  <a:moveTo>
                    <a:pt x="47243" y="363600"/>
                  </a:moveTo>
                  <a:lnTo>
                    <a:pt x="115945" y="362722"/>
                  </a:lnTo>
                  <a:lnTo>
                    <a:pt x="184167" y="360155"/>
                  </a:lnTo>
                  <a:lnTo>
                    <a:pt x="251436" y="356007"/>
                  </a:lnTo>
                  <a:lnTo>
                    <a:pt x="317275" y="350382"/>
                  </a:lnTo>
                  <a:lnTo>
                    <a:pt x="381209" y="343386"/>
                  </a:lnTo>
                  <a:lnTo>
                    <a:pt x="442762" y="335124"/>
                  </a:lnTo>
                  <a:lnTo>
                    <a:pt x="501457" y="325703"/>
                  </a:lnTo>
                  <a:lnTo>
                    <a:pt x="556821" y="315226"/>
                  </a:lnTo>
                  <a:lnTo>
                    <a:pt x="608376" y="303801"/>
                  </a:lnTo>
                  <a:lnTo>
                    <a:pt x="655647" y="291531"/>
                  </a:lnTo>
                  <a:lnTo>
                    <a:pt x="698159" y="278524"/>
                  </a:lnTo>
                  <a:lnTo>
                    <a:pt x="735436" y="264883"/>
                  </a:lnTo>
                  <a:lnTo>
                    <a:pt x="792381" y="236126"/>
                  </a:lnTo>
                  <a:lnTo>
                    <a:pt x="822677" y="206103"/>
                  </a:lnTo>
                  <a:lnTo>
                    <a:pt x="826643" y="190881"/>
                  </a:lnTo>
                  <a:lnTo>
                    <a:pt x="822669" y="175679"/>
                  </a:lnTo>
                  <a:lnTo>
                    <a:pt x="792314" y="145691"/>
                  </a:lnTo>
                  <a:lnTo>
                    <a:pt x="735258" y="116960"/>
                  </a:lnTo>
                  <a:lnTo>
                    <a:pt x="697908" y="103330"/>
                  </a:lnTo>
                  <a:lnTo>
                    <a:pt x="655313" y="90331"/>
                  </a:lnTo>
                  <a:lnTo>
                    <a:pt x="607949" y="78069"/>
                  </a:lnTo>
                  <a:lnTo>
                    <a:pt x="556293" y="66649"/>
                  </a:lnTo>
                  <a:lnTo>
                    <a:pt x="500821" y="56176"/>
                  </a:lnTo>
                  <a:lnTo>
                    <a:pt x="442011" y="46758"/>
                  </a:lnTo>
                  <a:lnTo>
                    <a:pt x="380338" y="38499"/>
                  </a:lnTo>
                  <a:lnTo>
                    <a:pt x="316279" y="31504"/>
                  </a:lnTo>
                  <a:lnTo>
                    <a:pt x="250311" y="25880"/>
                  </a:lnTo>
                  <a:lnTo>
                    <a:pt x="182911" y="21733"/>
                  </a:lnTo>
                  <a:lnTo>
                    <a:pt x="114555" y="19166"/>
                  </a:lnTo>
                  <a:lnTo>
                    <a:pt x="45720" y="18287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88">
              <a:extLst>
                <a:ext uri="{FF2B5EF4-FFF2-40B4-BE49-F238E27FC236}">
                  <a16:creationId xmlns:a16="http://schemas.microsoft.com/office/drawing/2014/main" id="{1DA603BC-CEFC-2289-914C-CBDDD4318306}"/>
                </a:ext>
              </a:extLst>
            </p:cNvPr>
            <p:cNvSpPr/>
            <p:nvPr/>
          </p:nvSpPr>
          <p:spPr>
            <a:xfrm>
              <a:off x="5376671" y="704768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89">
              <a:extLst>
                <a:ext uri="{FF2B5EF4-FFF2-40B4-BE49-F238E27FC236}">
                  <a16:creationId xmlns:a16="http://schemas.microsoft.com/office/drawing/2014/main" id="{D4BDF2BB-29D6-7511-013C-F93789598009}"/>
                </a:ext>
              </a:extLst>
            </p:cNvPr>
            <p:cNvSpPr/>
            <p:nvPr/>
          </p:nvSpPr>
          <p:spPr>
            <a:xfrm>
              <a:off x="5376671" y="704768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90">
            <a:extLst>
              <a:ext uri="{FF2B5EF4-FFF2-40B4-BE49-F238E27FC236}">
                <a16:creationId xmlns:a16="http://schemas.microsoft.com/office/drawing/2014/main" id="{67A8EE06-2E5A-9C41-6139-AD3C1AA60218}"/>
              </a:ext>
            </a:extLst>
          </p:cNvPr>
          <p:cNvSpPr txBox="1"/>
          <p:nvPr/>
        </p:nvSpPr>
        <p:spPr>
          <a:xfrm>
            <a:off x="6420598" y="1926468"/>
            <a:ext cx="1365242" cy="12311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512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20" name="object 91">
            <a:extLst>
              <a:ext uri="{FF2B5EF4-FFF2-40B4-BE49-F238E27FC236}">
                <a16:creationId xmlns:a16="http://schemas.microsoft.com/office/drawing/2014/main" id="{76819689-8B7C-40BE-E717-1A8CC4B23CA6}"/>
              </a:ext>
            </a:extLst>
          </p:cNvPr>
          <p:cNvGrpSpPr/>
          <p:nvPr/>
        </p:nvGrpSpPr>
        <p:grpSpPr>
          <a:xfrm>
            <a:off x="6401223" y="2072562"/>
            <a:ext cx="1425354" cy="209661"/>
            <a:chOff x="5366829" y="822942"/>
            <a:chExt cx="888365" cy="111760"/>
          </a:xfrm>
        </p:grpSpPr>
        <p:sp>
          <p:nvSpPr>
            <p:cNvPr id="121" name="object 92">
              <a:extLst>
                <a:ext uri="{FF2B5EF4-FFF2-40B4-BE49-F238E27FC236}">
                  <a16:creationId xmlns:a16="http://schemas.microsoft.com/office/drawing/2014/main" id="{0494C4E2-882E-59F0-87E4-66D5CC4C34FE}"/>
                </a:ext>
              </a:extLst>
            </p:cNvPr>
            <p:cNvSpPr/>
            <p:nvPr/>
          </p:nvSpPr>
          <p:spPr>
            <a:xfrm>
              <a:off x="5376671" y="83278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868679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868679" y="91521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93">
              <a:extLst>
                <a:ext uri="{FF2B5EF4-FFF2-40B4-BE49-F238E27FC236}">
                  <a16:creationId xmlns:a16="http://schemas.microsoft.com/office/drawing/2014/main" id="{3B96E6C7-EEF5-4B4C-E166-07ABFAB7E6A5}"/>
                </a:ext>
              </a:extLst>
            </p:cNvPr>
            <p:cNvSpPr/>
            <p:nvPr/>
          </p:nvSpPr>
          <p:spPr>
            <a:xfrm>
              <a:off x="5376671" y="83278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94">
            <a:extLst>
              <a:ext uri="{FF2B5EF4-FFF2-40B4-BE49-F238E27FC236}">
                <a16:creationId xmlns:a16="http://schemas.microsoft.com/office/drawing/2014/main" id="{A417B401-C7BB-C036-666F-7F15A61C3B4B}"/>
              </a:ext>
            </a:extLst>
          </p:cNvPr>
          <p:cNvSpPr txBox="1"/>
          <p:nvPr/>
        </p:nvSpPr>
        <p:spPr>
          <a:xfrm>
            <a:off x="6420598" y="2057975"/>
            <a:ext cx="1365242" cy="12311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solidFill>
                  <a:srgbClr val="38761D"/>
                </a:solidFill>
                <a:latin typeface="Tahoma"/>
                <a:cs typeface="Tahoma"/>
              </a:rPr>
              <a:t>3x3</a:t>
            </a:r>
            <a:r>
              <a:rPr sz="700" spc="-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38761D"/>
                </a:solidFill>
                <a:latin typeface="Tahoma"/>
                <a:cs typeface="Tahoma"/>
              </a:rPr>
              <a:t>conv,</a:t>
            </a:r>
            <a:r>
              <a:rPr sz="700" spc="-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38761D"/>
                </a:solidFill>
                <a:latin typeface="Tahoma"/>
                <a:cs typeface="Tahoma"/>
              </a:rPr>
              <a:t>512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24" name="object 95">
            <a:extLst>
              <a:ext uri="{FF2B5EF4-FFF2-40B4-BE49-F238E27FC236}">
                <a16:creationId xmlns:a16="http://schemas.microsoft.com/office/drawing/2014/main" id="{B08A6E5E-3661-E2CA-2A2B-6730CA6DF111}"/>
              </a:ext>
            </a:extLst>
          </p:cNvPr>
          <p:cNvGrpSpPr/>
          <p:nvPr/>
        </p:nvGrpSpPr>
        <p:grpSpPr>
          <a:xfrm>
            <a:off x="6401531" y="1716001"/>
            <a:ext cx="2017299" cy="988737"/>
            <a:chOff x="5367138" y="466381"/>
            <a:chExt cx="1257300" cy="527050"/>
          </a:xfrm>
        </p:grpSpPr>
        <p:sp>
          <p:nvSpPr>
            <p:cNvPr id="125" name="object 96">
              <a:extLst>
                <a:ext uri="{FF2B5EF4-FFF2-40B4-BE49-F238E27FC236}">
                  <a16:creationId xmlns:a16="http://schemas.microsoft.com/office/drawing/2014/main" id="{E81ABDC3-9059-CEF3-DB6F-3839E18CA1B5}"/>
                </a:ext>
              </a:extLst>
            </p:cNvPr>
            <p:cNvSpPr/>
            <p:nvPr/>
          </p:nvSpPr>
          <p:spPr>
            <a:xfrm>
              <a:off x="5811011" y="636015"/>
              <a:ext cx="808355" cy="352425"/>
            </a:xfrm>
            <a:custGeom>
              <a:avLst/>
              <a:gdLst/>
              <a:ahLst/>
              <a:cxnLst/>
              <a:rect l="l" t="t" r="r" b="b"/>
              <a:pathLst>
                <a:path w="808354" h="352425">
                  <a:moveTo>
                    <a:pt x="0" y="202945"/>
                  </a:moveTo>
                  <a:lnTo>
                    <a:pt x="0" y="164845"/>
                  </a:lnTo>
                </a:path>
                <a:path w="808354" h="352425">
                  <a:moveTo>
                    <a:pt x="253" y="331596"/>
                  </a:moveTo>
                  <a:lnTo>
                    <a:pt x="0" y="292861"/>
                  </a:lnTo>
                </a:path>
                <a:path w="808354" h="352425">
                  <a:moveTo>
                    <a:pt x="27432" y="352297"/>
                  </a:moveTo>
                  <a:lnTo>
                    <a:pt x="96247" y="351401"/>
                  </a:lnTo>
                  <a:lnTo>
                    <a:pt x="164588" y="348782"/>
                  </a:lnTo>
                  <a:lnTo>
                    <a:pt x="231978" y="344548"/>
                  </a:lnTo>
                  <a:lnTo>
                    <a:pt x="297939" y="338808"/>
                  </a:lnTo>
                  <a:lnTo>
                    <a:pt x="361994" y="331670"/>
                  </a:lnTo>
                  <a:lnTo>
                    <a:pt x="423667" y="323241"/>
                  </a:lnTo>
                  <a:lnTo>
                    <a:pt x="482479" y="313628"/>
                  </a:lnTo>
                  <a:lnTo>
                    <a:pt x="537955" y="302941"/>
                  </a:lnTo>
                  <a:lnTo>
                    <a:pt x="589617" y="291285"/>
                  </a:lnTo>
                  <a:lnTo>
                    <a:pt x="636987" y="278770"/>
                  </a:lnTo>
                  <a:lnTo>
                    <a:pt x="679589" y="265504"/>
                  </a:lnTo>
                  <a:lnTo>
                    <a:pt x="716946" y="251593"/>
                  </a:lnTo>
                  <a:lnTo>
                    <a:pt x="774016" y="222269"/>
                  </a:lnTo>
                  <a:lnTo>
                    <a:pt x="804380" y="191663"/>
                  </a:lnTo>
                  <a:lnTo>
                    <a:pt x="808355" y="176148"/>
                  </a:lnTo>
                  <a:lnTo>
                    <a:pt x="804388" y="160634"/>
                  </a:lnTo>
                  <a:lnTo>
                    <a:pt x="774083" y="130028"/>
                  </a:lnTo>
                  <a:lnTo>
                    <a:pt x="717125" y="100704"/>
                  </a:lnTo>
                  <a:lnTo>
                    <a:pt x="679841" y="86793"/>
                  </a:lnTo>
                  <a:lnTo>
                    <a:pt x="637321" y="73527"/>
                  </a:lnTo>
                  <a:lnTo>
                    <a:pt x="590043" y="61012"/>
                  </a:lnTo>
                  <a:lnTo>
                    <a:pt x="538482" y="49356"/>
                  </a:lnTo>
                  <a:lnTo>
                    <a:pt x="483115" y="38669"/>
                  </a:lnTo>
                  <a:lnTo>
                    <a:pt x="424417" y="29056"/>
                  </a:lnTo>
                  <a:lnTo>
                    <a:pt x="362865" y="20627"/>
                  </a:lnTo>
                  <a:lnTo>
                    <a:pt x="298935" y="13489"/>
                  </a:lnTo>
                  <a:lnTo>
                    <a:pt x="233103" y="7749"/>
                  </a:lnTo>
                  <a:lnTo>
                    <a:pt x="165844" y="3515"/>
                  </a:lnTo>
                  <a:lnTo>
                    <a:pt x="97637" y="896"/>
                  </a:lnTo>
                  <a:lnTo>
                    <a:pt x="28955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97">
              <a:extLst>
                <a:ext uri="{FF2B5EF4-FFF2-40B4-BE49-F238E27FC236}">
                  <a16:creationId xmlns:a16="http://schemas.microsoft.com/office/drawing/2014/main" id="{02A1B8CF-F477-42E2-1783-9B643013DF36}"/>
                </a:ext>
              </a:extLst>
            </p:cNvPr>
            <p:cNvSpPr/>
            <p:nvPr/>
          </p:nvSpPr>
          <p:spPr>
            <a:xfrm>
              <a:off x="5792723" y="617727"/>
              <a:ext cx="45720" cy="46355"/>
            </a:xfrm>
            <a:custGeom>
              <a:avLst/>
              <a:gdLst/>
              <a:ahLst/>
              <a:cxnLst/>
              <a:rect l="l" t="t" r="r" b="b"/>
              <a:pathLst>
                <a:path w="45720" h="46354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809"/>
                  </a:lnTo>
                  <a:lnTo>
                    <a:pt x="6715" y="39116"/>
                  </a:lnTo>
                  <a:lnTo>
                    <a:pt x="13983" y="44041"/>
                  </a:lnTo>
                  <a:lnTo>
                    <a:pt x="22860" y="45847"/>
                  </a:lnTo>
                  <a:lnTo>
                    <a:pt x="31736" y="44041"/>
                  </a:lnTo>
                  <a:lnTo>
                    <a:pt x="39004" y="39115"/>
                  </a:lnTo>
                  <a:lnTo>
                    <a:pt x="43916" y="31809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98">
              <a:extLst>
                <a:ext uri="{FF2B5EF4-FFF2-40B4-BE49-F238E27FC236}">
                  <a16:creationId xmlns:a16="http://schemas.microsoft.com/office/drawing/2014/main" id="{FAF370CB-DE00-CE47-A580-A5781276FC9A}"/>
                </a:ext>
              </a:extLst>
            </p:cNvPr>
            <p:cNvSpPr/>
            <p:nvPr/>
          </p:nvSpPr>
          <p:spPr>
            <a:xfrm>
              <a:off x="5792723" y="572007"/>
              <a:ext cx="45720" cy="139700"/>
            </a:xfrm>
            <a:custGeom>
              <a:avLst/>
              <a:gdLst/>
              <a:ahLst/>
              <a:cxnLst/>
              <a:rect l="l" t="t" r="r" b="b"/>
              <a:pathLst>
                <a:path w="45720" h="139700">
                  <a:moveTo>
                    <a:pt x="0" y="68579"/>
                  </a:moveTo>
                  <a:lnTo>
                    <a:pt x="1803" y="59703"/>
                  </a:lnTo>
                  <a:lnTo>
                    <a:pt x="6715" y="52435"/>
                  </a:lnTo>
                  <a:lnTo>
                    <a:pt x="13983" y="47523"/>
                  </a:lnTo>
                  <a:lnTo>
                    <a:pt x="22860" y="45719"/>
                  </a:lnTo>
                  <a:lnTo>
                    <a:pt x="31736" y="47523"/>
                  </a:lnTo>
                  <a:lnTo>
                    <a:pt x="39004" y="52435"/>
                  </a:lnTo>
                  <a:lnTo>
                    <a:pt x="43916" y="59703"/>
                  </a:lnTo>
                  <a:lnTo>
                    <a:pt x="45720" y="68579"/>
                  </a:lnTo>
                  <a:lnTo>
                    <a:pt x="43916" y="77529"/>
                  </a:lnTo>
                  <a:lnTo>
                    <a:pt x="39004" y="84835"/>
                  </a:lnTo>
                  <a:lnTo>
                    <a:pt x="31736" y="89761"/>
                  </a:lnTo>
                  <a:lnTo>
                    <a:pt x="22860" y="91566"/>
                  </a:lnTo>
                  <a:lnTo>
                    <a:pt x="13983" y="89761"/>
                  </a:lnTo>
                  <a:lnTo>
                    <a:pt x="6715" y="84836"/>
                  </a:lnTo>
                  <a:lnTo>
                    <a:pt x="1803" y="77529"/>
                  </a:lnTo>
                  <a:lnTo>
                    <a:pt x="0" y="68579"/>
                  </a:lnTo>
                  <a:close/>
                </a:path>
                <a:path w="45720" h="139700">
                  <a:moveTo>
                    <a:pt x="18287" y="139318"/>
                  </a:moveTo>
                  <a:lnTo>
                    <a:pt x="19812" y="91566"/>
                  </a:lnTo>
                </a:path>
                <a:path w="45720" h="139700">
                  <a:moveTo>
                    <a:pt x="27431" y="47498"/>
                  </a:moveTo>
                  <a:lnTo>
                    <a:pt x="27686" y="0"/>
                  </a:lnTo>
                </a:path>
              </a:pathLst>
            </a:custGeom>
            <a:ln w="9533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99">
              <a:extLst>
                <a:ext uri="{FF2B5EF4-FFF2-40B4-BE49-F238E27FC236}">
                  <a16:creationId xmlns:a16="http://schemas.microsoft.com/office/drawing/2014/main" id="{714B1B9B-CDBB-2BC7-541C-8F27A80B95AC}"/>
                </a:ext>
              </a:extLst>
            </p:cNvPr>
            <p:cNvSpPr/>
            <p:nvPr/>
          </p:nvSpPr>
          <p:spPr>
            <a:xfrm>
              <a:off x="5376671" y="475914"/>
              <a:ext cx="868680" cy="92075"/>
            </a:xfrm>
            <a:custGeom>
              <a:avLst/>
              <a:gdLst/>
              <a:ahLst/>
              <a:cxnLst/>
              <a:rect l="l" t="t" r="r" b="b"/>
              <a:pathLst>
                <a:path w="868679" h="92075">
                  <a:moveTo>
                    <a:pt x="0" y="91521"/>
                  </a:moveTo>
                  <a:lnTo>
                    <a:pt x="868679" y="91521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91521"/>
                  </a:lnTo>
                  <a:close/>
                </a:path>
              </a:pathLst>
            </a:custGeom>
            <a:ln w="19066">
              <a:solidFill>
                <a:srgbClr val="4985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00">
            <a:extLst>
              <a:ext uri="{FF2B5EF4-FFF2-40B4-BE49-F238E27FC236}">
                <a16:creationId xmlns:a16="http://schemas.microsoft.com/office/drawing/2014/main" id="{EE165D70-35AC-CCCF-713B-9F40936D0CB6}"/>
              </a:ext>
            </a:extLst>
          </p:cNvPr>
          <p:cNvSpPr txBox="1"/>
          <p:nvPr/>
        </p:nvSpPr>
        <p:spPr>
          <a:xfrm>
            <a:off x="6420598" y="1712184"/>
            <a:ext cx="1365242" cy="102592"/>
          </a:xfrm>
          <a:prstGeom prst="rect">
            <a:avLst/>
          </a:prstGeom>
          <a:solidFill>
            <a:srgbClr val="C8DAF8"/>
          </a:solidFill>
        </p:spPr>
        <p:txBody>
          <a:bodyPr vert="horz" wrap="square" lIns="0" tIns="0" rIns="0" bIns="0" rtlCol="0">
            <a:spAutoFit/>
          </a:bodyPr>
          <a:lstStyle/>
          <a:p>
            <a:pPr marL="15875" algn="ctr">
              <a:lnSpc>
                <a:spcPts val="750"/>
              </a:lnSpc>
            </a:pPr>
            <a:r>
              <a:rPr sz="700" spc="-20" dirty="0">
                <a:solidFill>
                  <a:srgbClr val="4985E8"/>
                </a:solidFill>
                <a:latin typeface="Tahoma"/>
                <a:cs typeface="Tahoma"/>
              </a:rPr>
              <a:t>Pool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0" name="object 29">
            <a:extLst>
              <a:ext uri="{FF2B5EF4-FFF2-40B4-BE49-F238E27FC236}">
                <a16:creationId xmlns:a16="http://schemas.microsoft.com/office/drawing/2014/main" id="{1E063325-4CDF-E6EB-3B6C-2699C2A2C6ED}"/>
              </a:ext>
            </a:extLst>
          </p:cNvPr>
          <p:cNvSpPr txBox="1"/>
          <p:nvPr/>
        </p:nvSpPr>
        <p:spPr>
          <a:xfrm>
            <a:off x="6710919" y="6458973"/>
            <a:ext cx="1093915" cy="297172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spcBef>
                <a:spcPts val="160"/>
              </a:spcBef>
            </a:pPr>
            <a:r>
              <a:rPr lang="en-US" sz="1798" spc="-13" dirty="0">
                <a:latin typeface="Arial MT"/>
                <a:cs typeface="Arial MT"/>
              </a:rPr>
              <a:t>Res-Net</a:t>
            </a:r>
            <a:endParaRPr sz="1798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D629-ACF3-EC0B-9A4E-248A18F8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17" y="616839"/>
            <a:ext cx="11155680" cy="1463040"/>
          </a:xfrm>
        </p:spPr>
        <p:txBody>
          <a:bodyPr/>
          <a:lstStyle/>
          <a:p>
            <a:r>
              <a:rPr lang="en-US" dirty="0"/>
              <a:t>Learning Phases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60FDA95D-9C4D-D93C-F4A7-0F853C672994}"/>
              </a:ext>
            </a:extLst>
          </p:cNvPr>
          <p:cNvGrpSpPr/>
          <p:nvPr/>
        </p:nvGrpSpPr>
        <p:grpSpPr>
          <a:xfrm>
            <a:off x="8196198" y="5545582"/>
            <a:ext cx="1765300" cy="927100"/>
            <a:chOff x="7615173" y="5330697"/>
            <a:chExt cx="1765300" cy="92710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E041C045-E3D1-CAB5-6630-AD84FD0D01C4}"/>
                </a:ext>
              </a:extLst>
            </p:cNvPr>
            <p:cNvSpPr/>
            <p:nvPr/>
          </p:nvSpPr>
          <p:spPr>
            <a:xfrm>
              <a:off x="7621523" y="5337047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16002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600200" y="914400"/>
                  </a:lnTo>
                  <a:lnTo>
                    <a:pt x="1648382" y="906630"/>
                  </a:lnTo>
                  <a:lnTo>
                    <a:pt x="1690219" y="884994"/>
                  </a:lnTo>
                  <a:lnTo>
                    <a:pt x="1723205" y="852003"/>
                  </a:lnTo>
                  <a:lnTo>
                    <a:pt x="1744833" y="810168"/>
                  </a:lnTo>
                  <a:lnTo>
                    <a:pt x="1752600" y="761999"/>
                  </a:lnTo>
                  <a:lnTo>
                    <a:pt x="1752600" y="152399"/>
                  </a:lnTo>
                  <a:lnTo>
                    <a:pt x="1744833" y="104217"/>
                  </a:lnTo>
                  <a:lnTo>
                    <a:pt x="1723205" y="62380"/>
                  </a:lnTo>
                  <a:lnTo>
                    <a:pt x="1690219" y="29394"/>
                  </a:lnTo>
                  <a:lnTo>
                    <a:pt x="1648382" y="7766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02D410A-541F-7DCC-02A5-A435D3097C38}"/>
                </a:ext>
              </a:extLst>
            </p:cNvPr>
            <p:cNvSpPr/>
            <p:nvPr/>
          </p:nvSpPr>
          <p:spPr>
            <a:xfrm>
              <a:off x="7621523" y="5337047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152399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600200" y="0"/>
                  </a:lnTo>
                  <a:lnTo>
                    <a:pt x="1648382" y="7766"/>
                  </a:lnTo>
                  <a:lnTo>
                    <a:pt x="1690219" y="29394"/>
                  </a:lnTo>
                  <a:lnTo>
                    <a:pt x="1723205" y="62380"/>
                  </a:lnTo>
                  <a:lnTo>
                    <a:pt x="1744833" y="104217"/>
                  </a:lnTo>
                  <a:lnTo>
                    <a:pt x="1752600" y="152399"/>
                  </a:lnTo>
                  <a:lnTo>
                    <a:pt x="1752600" y="761999"/>
                  </a:lnTo>
                  <a:lnTo>
                    <a:pt x="1744833" y="810168"/>
                  </a:lnTo>
                  <a:lnTo>
                    <a:pt x="1723205" y="852003"/>
                  </a:lnTo>
                  <a:lnTo>
                    <a:pt x="1690219" y="884994"/>
                  </a:lnTo>
                  <a:lnTo>
                    <a:pt x="1648382" y="906630"/>
                  </a:lnTo>
                  <a:lnTo>
                    <a:pt x="1600200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5">
            <a:extLst>
              <a:ext uri="{FF2B5EF4-FFF2-40B4-BE49-F238E27FC236}">
                <a16:creationId xmlns:a16="http://schemas.microsoft.com/office/drawing/2014/main" id="{7261C409-1514-F4CF-3D2D-2B6976FDE166}"/>
              </a:ext>
            </a:extLst>
          </p:cNvPr>
          <p:cNvSpPr txBox="1"/>
          <p:nvPr/>
        </p:nvSpPr>
        <p:spPr>
          <a:xfrm>
            <a:off x="8594597" y="5844337"/>
            <a:ext cx="970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092AC59F-7921-F73C-40B7-98D771C84E02}"/>
              </a:ext>
            </a:extLst>
          </p:cNvPr>
          <p:cNvGrpSpPr/>
          <p:nvPr/>
        </p:nvGrpSpPr>
        <p:grpSpPr>
          <a:xfrm>
            <a:off x="6118986" y="1234187"/>
            <a:ext cx="1612900" cy="850900"/>
            <a:chOff x="5537961" y="1019302"/>
            <a:chExt cx="1612900" cy="85090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1944037-1C0C-959E-2B42-F0E6EBFE35C4}"/>
                </a:ext>
              </a:extLst>
            </p:cNvPr>
            <p:cNvSpPr/>
            <p:nvPr/>
          </p:nvSpPr>
          <p:spPr>
            <a:xfrm>
              <a:off x="5544311" y="1025652"/>
              <a:ext cx="1600200" cy="838200"/>
            </a:xfrm>
            <a:custGeom>
              <a:avLst/>
              <a:gdLst/>
              <a:ahLst/>
              <a:cxnLst/>
              <a:rect l="l" t="t" r="r" b="b"/>
              <a:pathLst>
                <a:path w="1600200" h="838200">
                  <a:moveTo>
                    <a:pt x="1460499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16" y="742679"/>
                  </a:lnTo>
                  <a:lnTo>
                    <a:pt x="26936" y="781031"/>
                  </a:lnTo>
                  <a:lnTo>
                    <a:pt x="57168" y="811263"/>
                  </a:lnTo>
                  <a:lnTo>
                    <a:pt x="95520" y="831083"/>
                  </a:lnTo>
                  <a:lnTo>
                    <a:pt x="139700" y="838200"/>
                  </a:lnTo>
                  <a:lnTo>
                    <a:pt x="1460499" y="838200"/>
                  </a:lnTo>
                  <a:lnTo>
                    <a:pt x="1504679" y="831083"/>
                  </a:lnTo>
                  <a:lnTo>
                    <a:pt x="1543031" y="811263"/>
                  </a:lnTo>
                  <a:lnTo>
                    <a:pt x="1573263" y="781031"/>
                  </a:lnTo>
                  <a:lnTo>
                    <a:pt x="1593083" y="742679"/>
                  </a:lnTo>
                  <a:lnTo>
                    <a:pt x="1600199" y="698500"/>
                  </a:lnTo>
                  <a:lnTo>
                    <a:pt x="1600199" y="139700"/>
                  </a:lnTo>
                  <a:lnTo>
                    <a:pt x="1593083" y="95520"/>
                  </a:lnTo>
                  <a:lnTo>
                    <a:pt x="1573263" y="57168"/>
                  </a:lnTo>
                  <a:lnTo>
                    <a:pt x="1543031" y="26936"/>
                  </a:lnTo>
                  <a:lnTo>
                    <a:pt x="1504679" y="7116"/>
                  </a:lnTo>
                  <a:lnTo>
                    <a:pt x="146049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4BC351DD-7DB2-BCBD-3D65-8E84288E25BF}"/>
                </a:ext>
              </a:extLst>
            </p:cNvPr>
            <p:cNvSpPr/>
            <p:nvPr/>
          </p:nvSpPr>
          <p:spPr>
            <a:xfrm>
              <a:off x="5544311" y="1025652"/>
              <a:ext cx="1600200" cy="838200"/>
            </a:xfrm>
            <a:custGeom>
              <a:avLst/>
              <a:gdLst/>
              <a:ahLst/>
              <a:cxnLst/>
              <a:rect l="l" t="t" r="r" b="b"/>
              <a:pathLst>
                <a:path w="1600200" h="8382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1460499" y="0"/>
                  </a:lnTo>
                  <a:lnTo>
                    <a:pt x="1504679" y="7116"/>
                  </a:lnTo>
                  <a:lnTo>
                    <a:pt x="1543031" y="26936"/>
                  </a:lnTo>
                  <a:lnTo>
                    <a:pt x="1573263" y="57168"/>
                  </a:lnTo>
                  <a:lnTo>
                    <a:pt x="1593083" y="95520"/>
                  </a:lnTo>
                  <a:lnTo>
                    <a:pt x="1600199" y="139700"/>
                  </a:lnTo>
                  <a:lnTo>
                    <a:pt x="1600199" y="698500"/>
                  </a:lnTo>
                  <a:lnTo>
                    <a:pt x="1593083" y="742679"/>
                  </a:lnTo>
                  <a:lnTo>
                    <a:pt x="1573263" y="781031"/>
                  </a:lnTo>
                  <a:lnTo>
                    <a:pt x="1543031" y="811263"/>
                  </a:lnTo>
                  <a:lnTo>
                    <a:pt x="1504679" y="831083"/>
                  </a:lnTo>
                  <a:lnTo>
                    <a:pt x="1460499" y="838200"/>
                  </a:lnTo>
                  <a:lnTo>
                    <a:pt x="139700" y="838200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AEA42295-6361-63AF-1BE1-A2779B5736F3}"/>
              </a:ext>
            </a:extLst>
          </p:cNvPr>
          <p:cNvSpPr txBox="1"/>
          <p:nvPr/>
        </p:nvSpPr>
        <p:spPr>
          <a:xfrm>
            <a:off x="6622541" y="1495171"/>
            <a:ext cx="607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Labels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28150FAD-A0E5-0AC6-5357-90BE7194ADBE}"/>
              </a:ext>
            </a:extLst>
          </p:cNvPr>
          <p:cNvSpPr txBox="1"/>
          <p:nvPr/>
        </p:nvSpPr>
        <p:spPr>
          <a:xfrm>
            <a:off x="1649755" y="2011426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Images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BADCEF96-E8AD-D470-6DB4-346D449A12BA}"/>
              </a:ext>
            </a:extLst>
          </p:cNvPr>
          <p:cNvGrpSpPr/>
          <p:nvPr/>
        </p:nvGrpSpPr>
        <p:grpSpPr>
          <a:xfrm>
            <a:off x="937386" y="1846835"/>
            <a:ext cx="6718300" cy="3058160"/>
            <a:chOff x="356361" y="1631950"/>
            <a:chExt cx="6718300" cy="3058160"/>
          </a:xfrm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64AFEF0-4484-E70E-0E45-45DDD0E23939}"/>
                </a:ext>
              </a:extLst>
            </p:cNvPr>
            <p:cNvSpPr/>
            <p:nvPr/>
          </p:nvSpPr>
          <p:spPr>
            <a:xfrm>
              <a:off x="362711" y="1638300"/>
              <a:ext cx="2438400" cy="3045460"/>
            </a:xfrm>
            <a:custGeom>
              <a:avLst/>
              <a:gdLst/>
              <a:ahLst/>
              <a:cxnLst/>
              <a:rect l="l" t="t" r="r" b="b"/>
              <a:pathLst>
                <a:path w="2438400" h="3045460">
                  <a:moveTo>
                    <a:pt x="0" y="406400"/>
                  </a:moveTo>
                  <a:lnTo>
                    <a:pt x="2734" y="359012"/>
                  </a:lnTo>
                  <a:lnTo>
                    <a:pt x="10733" y="313228"/>
                  </a:lnTo>
                  <a:lnTo>
                    <a:pt x="23692" y="269353"/>
                  </a:lnTo>
                  <a:lnTo>
                    <a:pt x="41307" y="227692"/>
                  </a:lnTo>
                  <a:lnTo>
                    <a:pt x="63272" y="188551"/>
                  </a:lnTo>
                  <a:lnTo>
                    <a:pt x="89282" y="152234"/>
                  </a:lnTo>
                  <a:lnTo>
                    <a:pt x="119033" y="119046"/>
                  </a:lnTo>
                  <a:lnTo>
                    <a:pt x="152220" y="89293"/>
                  </a:lnTo>
                  <a:lnTo>
                    <a:pt x="188537" y="63281"/>
                  </a:lnTo>
                  <a:lnTo>
                    <a:pt x="227680" y="41313"/>
                  </a:lnTo>
                  <a:lnTo>
                    <a:pt x="269344" y="23696"/>
                  </a:lnTo>
                  <a:lnTo>
                    <a:pt x="313224" y="10735"/>
                  </a:lnTo>
                  <a:lnTo>
                    <a:pt x="359015" y="2734"/>
                  </a:lnTo>
                  <a:lnTo>
                    <a:pt x="406412" y="0"/>
                  </a:lnTo>
                  <a:lnTo>
                    <a:pt x="2032000" y="0"/>
                  </a:lnTo>
                  <a:lnTo>
                    <a:pt x="2079387" y="2734"/>
                  </a:lnTo>
                  <a:lnTo>
                    <a:pt x="2125171" y="10735"/>
                  </a:lnTo>
                  <a:lnTo>
                    <a:pt x="2169046" y="23696"/>
                  </a:lnTo>
                  <a:lnTo>
                    <a:pt x="2210707" y="41313"/>
                  </a:lnTo>
                  <a:lnTo>
                    <a:pt x="2249848" y="63281"/>
                  </a:lnTo>
                  <a:lnTo>
                    <a:pt x="2286165" y="89293"/>
                  </a:lnTo>
                  <a:lnTo>
                    <a:pt x="2319353" y="119046"/>
                  </a:lnTo>
                  <a:lnTo>
                    <a:pt x="2349106" y="152234"/>
                  </a:lnTo>
                  <a:lnTo>
                    <a:pt x="2375118" y="188551"/>
                  </a:lnTo>
                  <a:lnTo>
                    <a:pt x="2397086" y="227692"/>
                  </a:lnTo>
                  <a:lnTo>
                    <a:pt x="2414703" y="269353"/>
                  </a:lnTo>
                  <a:lnTo>
                    <a:pt x="2427664" y="313228"/>
                  </a:lnTo>
                  <a:lnTo>
                    <a:pt x="2435665" y="359012"/>
                  </a:lnTo>
                  <a:lnTo>
                    <a:pt x="2438400" y="406400"/>
                  </a:lnTo>
                  <a:lnTo>
                    <a:pt x="2438400" y="2638552"/>
                  </a:lnTo>
                  <a:lnTo>
                    <a:pt x="2435665" y="2685939"/>
                  </a:lnTo>
                  <a:lnTo>
                    <a:pt x="2427664" y="2731723"/>
                  </a:lnTo>
                  <a:lnTo>
                    <a:pt x="2414703" y="2775598"/>
                  </a:lnTo>
                  <a:lnTo>
                    <a:pt x="2397086" y="2817259"/>
                  </a:lnTo>
                  <a:lnTo>
                    <a:pt x="2375118" y="2856400"/>
                  </a:lnTo>
                  <a:lnTo>
                    <a:pt x="2349106" y="2892717"/>
                  </a:lnTo>
                  <a:lnTo>
                    <a:pt x="2319353" y="2925905"/>
                  </a:lnTo>
                  <a:lnTo>
                    <a:pt x="2286165" y="2955658"/>
                  </a:lnTo>
                  <a:lnTo>
                    <a:pt x="2249848" y="2981670"/>
                  </a:lnTo>
                  <a:lnTo>
                    <a:pt x="2210707" y="3003638"/>
                  </a:lnTo>
                  <a:lnTo>
                    <a:pt x="2169046" y="3021255"/>
                  </a:lnTo>
                  <a:lnTo>
                    <a:pt x="2125171" y="3034216"/>
                  </a:lnTo>
                  <a:lnTo>
                    <a:pt x="2079387" y="3042217"/>
                  </a:lnTo>
                  <a:lnTo>
                    <a:pt x="2032000" y="3044952"/>
                  </a:lnTo>
                  <a:lnTo>
                    <a:pt x="406412" y="3044952"/>
                  </a:lnTo>
                  <a:lnTo>
                    <a:pt x="359015" y="3042217"/>
                  </a:lnTo>
                  <a:lnTo>
                    <a:pt x="313224" y="3034216"/>
                  </a:lnTo>
                  <a:lnTo>
                    <a:pt x="269344" y="3021255"/>
                  </a:lnTo>
                  <a:lnTo>
                    <a:pt x="227680" y="3003638"/>
                  </a:lnTo>
                  <a:lnTo>
                    <a:pt x="188537" y="2981670"/>
                  </a:lnTo>
                  <a:lnTo>
                    <a:pt x="152220" y="2955658"/>
                  </a:lnTo>
                  <a:lnTo>
                    <a:pt x="119033" y="2925905"/>
                  </a:lnTo>
                  <a:lnTo>
                    <a:pt x="89282" y="2892717"/>
                  </a:lnTo>
                  <a:lnTo>
                    <a:pt x="63272" y="2856400"/>
                  </a:lnTo>
                  <a:lnTo>
                    <a:pt x="41307" y="2817259"/>
                  </a:lnTo>
                  <a:lnTo>
                    <a:pt x="23692" y="2775598"/>
                  </a:lnTo>
                  <a:lnTo>
                    <a:pt x="10733" y="2731723"/>
                  </a:lnTo>
                  <a:lnTo>
                    <a:pt x="2734" y="2685939"/>
                  </a:lnTo>
                  <a:lnTo>
                    <a:pt x="0" y="2638552"/>
                  </a:lnTo>
                  <a:lnTo>
                    <a:pt x="0" y="406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731BDA32-5790-5B44-B612-2B014261C4C3}"/>
                </a:ext>
              </a:extLst>
            </p:cNvPr>
            <p:cNvSpPr/>
            <p:nvPr/>
          </p:nvSpPr>
          <p:spPr>
            <a:xfrm>
              <a:off x="5696711" y="2473452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219199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219199" y="914400"/>
                  </a:lnTo>
                  <a:lnTo>
                    <a:pt x="1267382" y="906633"/>
                  </a:lnTo>
                  <a:lnTo>
                    <a:pt x="1309219" y="885005"/>
                  </a:lnTo>
                  <a:lnTo>
                    <a:pt x="1342205" y="852019"/>
                  </a:lnTo>
                  <a:lnTo>
                    <a:pt x="1363833" y="810182"/>
                  </a:lnTo>
                  <a:lnTo>
                    <a:pt x="1371599" y="762000"/>
                  </a:lnTo>
                  <a:lnTo>
                    <a:pt x="1371599" y="152400"/>
                  </a:lnTo>
                  <a:lnTo>
                    <a:pt x="1363833" y="104217"/>
                  </a:lnTo>
                  <a:lnTo>
                    <a:pt x="1342205" y="62380"/>
                  </a:lnTo>
                  <a:lnTo>
                    <a:pt x="1309219" y="29394"/>
                  </a:lnTo>
                  <a:lnTo>
                    <a:pt x="1267382" y="7766"/>
                  </a:lnTo>
                  <a:lnTo>
                    <a:pt x="121919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F27C7EC9-ADE8-6A8B-DE14-FC6FEF7C6F62}"/>
                </a:ext>
              </a:extLst>
            </p:cNvPr>
            <p:cNvSpPr/>
            <p:nvPr/>
          </p:nvSpPr>
          <p:spPr>
            <a:xfrm>
              <a:off x="5696711" y="2473452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219199" y="0"/>
                  </a:lnTo>
                  <a:lnTo>
                    <a:pt x="1267382" y="7766"/>
                  </a:lnTo>
                  <a:lnTo>
                    <a:pt x="1309219" y="29394"/>
                  </a:lnTo>
                  <a:lnTo>
                    <a:pt x="1342205" y="62380"/>
                  </a:lnTo>
                  <a:lnTo>
                    <a:pt x="1363833" y="104217"/>
                  </a:lnTo>
                  <a:lnTo>
                    <a:pt x="1371599" y="152400"/>
                  </a:lnTo>
                  <a:lnTo>
                    <a:pt x="1371599" y="762000"/>
                  </a:lnTo>
                  <a:lnTo>
                    <a:pt x="1363833" y="810182"/>
                  </a:lnTo>
                  <a:lnTo>
                    <a:pt x="1342205" y="852019"/>
                  </a:lnTo>
                  <a:lnTo>
                    <a:pt x="1309219" y="885005"/>
                  </a:lnTo>
                  <a:lnTo>
                    <a:pt x="1267382" y="906633"/>
                  </a:lnTo>
                  <a:lnTo>
                    <a:pt x="1219199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5">
            <a:extLst>
              <a:ext uri="{FF2B5EF4-FFF2-40B4-BE49-F238E27FC236}">
                <a16:creationId xmlns:a16="http://schemas.microsoft.com/office/drawing/2014/main" id="{1E0C735D-085A-2308-E044-0180595760CD}"/>
              </a:ext>
            </a:extLst>
          </p:cNvPr>
          <p:cNvSpPr txBox="1"/>
          <p:nvPr/>
        </p:nvSpPr>
        <p:spPr>
          <a:xfrm>
            <a:off x="6583807" y="2980767"/>
            <a:ext cx="760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4AA9EBA-E090-730B-8E1E-7D14061DB3EF}"/>
              </a:ext>
            </a:extLst>
          </p:cNvPr>
          <p:cNvSpPr txBox="1"/>
          <p:nvPr/>
        </p:nvSpPr>
        <p:spPr>
          <a:xfrm>
            <a:off x="8422767" y="1422273"/>
            <a:ext cx="1296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Arial"/>
                <a:cs typeface="Arial"/>
              </a:rPr>
              <a:t>Training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7">
            <a:extLst>
              <a:ext uri="{FF2B5EF4-FFF2-40B4-BE49-F238E27FC236}">
                <a16:creationId xmlns:a16="http://schemas.microsoft.com/office/drawing/2014/main" id="{C85B2AAF-FFBB-1252-879B-C29BAABDB010}"/>
              </a:ext>
            </a:extLst>
          </p:cNvPr>
          <p:cNvGrpSpPr/>
          <p:nvPr/>
        </p:nvGrpSpPr>
        <p:grpSpPr>
          <a:xfrm>
            <a:off x="4061586" y="2681986"/>
            <a:ext cx="1536700" cy="927100"/>
            <a:chOff x="3480561" y="2467101"/>
            <a:chExt cx="1536700" cy="927100"/>
          </a:xfrm>
        </p:grpSpPr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3B6322AE-2AC4-2ADE-763C-EB823697287A}"/>
                </a:ext>
              </a:extLst>
            </p:cNvPr>
            <p:cNvSpPr/>
            <p:nvPr/>
          </p:nvSpPr>
          <p:spPr>
            <a:xfrm>
              <a:off x="3486911" y="247345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3716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371600" y="914400"/>
                  </a:lnTo>
                  <a:lnTo>
                    <a:pt x="1419782" y="906633"/>
                  </a:lnTo>
                  <a:lnTo>
                    <a:pt x="1461619" y="885005"/>
                  </a:lnTo>
                  <a:lnTo>
                    <a:pt x="1494605" y="852019"/>
                  </a:lnTo>
                  <a:lnTo>
                    <a:pt x="1516233" y="810182"/>
                  </a:lnTo>
                  <a:lnTo>
                    <a:pt x="1524000" y="762000"/>
                  </a:lnTo>
                  <a:lnTo>
                    <a:pt x="1524000" y="152400"/>
                  </a:lnTo>
                  <a:lnTo>
                    <a:pt x="1516233" y="104217"/>
                  </a:lnTo>
                  <a:lnTo>
                    <a:pt x="1494605" y="62380"/>
                  </a:lnTo>
                  <a:lnTo>
                    <a:pt x="1461619" y="29394"/>
                  </a:lnTo>
                  <a:lnTo>
                    <a:pt x="1419782" y="7766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31D99BF2-1AE6-AEE1-4E17-30418FA1737E}"/>
                </a:ext>
              </a:extLst>
            </p:cNvPr>
            <p:cNvSpPr/>
            <p:nvPr/>
          </p:nvSpPr>
          <p:spPr>
            <a:xfrm>
              <a:off x="3486911" y="247345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371600" y="0"/>
                  </a:lnTo>
                  <a:lnTo>
                    <a:pt x="1419782" y="7766"/>
                  </a:lnTo>
                  <a:lnTo>
                    <a:pt x="1461619" y="29394"/>
                  </a:lnTo>
                  <a:lnTo>
                    <a:pt x="1494605" y="62380"/>
                  </a:lnTo>
                  <a:lnTo>
                    <a:pt x="1516233" y="104217"/>
                  </a:lnTo>
                  <a:lnTo>
                    <a:pt x="1524000" y="152400"/>
                  </a:lnTo>
                  <a:lnTo>
                    <a:pt x="1524000" y="762000"/>
                  </a:lnTo>
                  <a:lnTo>
                    <a:pt x="1516233" y="810182"/>
                  </a:lnTo>
                  <a:lnTo>
                    <a:pt x="1494605" y="852019"/>
                  </a:lnTo>
                  <a:lnTo>
                    <a:pt x="1461619" y="885005"/>
                  </a:lnTo>
                  <a:lnTo>
                    <a:pt x="1419782" y="906633"/>
                  </a:lnTo>
                  <a:lnTo>
                    <a:pt x="13716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FD6597A2-DA22-3454-35CC-B0BE362449FE}"/>
              </a:ext>
            </a:extLst>
          </p:cNvPr>
          <p:cNvSpPr txBox="1"/>
          <p:nvPr/>
        </p:nvSpPr>
        <p:spPr>
          <a:xfrm>
            <a:off x="4416425" y="2843607"/>
            <a:ext cx="826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1">
            <a:extLst>
              <a:ext uri="{FF2B5EF4-FFF2-40B4-BE49-F238E27FC236}">
                <a16:creationId xmlns:a16="http://schemas.microsoft.com/office/drawing/2014/main" id="{CD8A6392-29FB-A307-AC99-9439370067C0}"/>
              </a:ext>
            </a:extLst>
          </p:cNvPr>
          <p:cNvGrpSpPr/>
          <p:nvPr/>
        </p:nvGrpSpPr>
        <p:grpSpPr>
          <a:xfrm>
            <a:off x="1019937" y="2148586"/>
            <a:ext cx="7245350" cy="2444750"/>
            <a:chOff x="438912" y="1933701"/>
            <a:chExt cx="7245350" cy="2444750"/>
          </a:xfrm>
        </p:grpSpPr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38808FE3-CF12-3B48-83A3-27410ADDF4E7}"/>
                </a:ext>
              </a:extLst>
            </p:cNvPr>
            <p:cNvSpPr/>
            <p:nvPr/>
          </p:nvSpPr>
          <p:spPr>
            <a:xfrm>
              <a:off x="28773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861D61C1-6BBA-2C5A-0D5A-5556A39AD174}"/>
                </a:ext>
              </a:extLst>
            </p:cNvPr>
            <p:cNvSpPr/>
            <p:nvPr/>
          </p:nvSpPr>
          <p:spPr>
            <a:xfrm>
              <a:off x="28773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400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CC2C79CC-37A6-83F8-BFEB-A7A5FF894B98}"/>
                </a:ext>
              </a:extLst>
            </p:cNvPr>
            <p:cNvSpPr/>
            <p:nvPr/>
          </p:nvSpPr>
          <p:spPr>
            <a:xfrm>
              <a:off x="50871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4D08309D-B8D3-D1C6-52B4-A1742B18717F}"/>
                </a:ext>
              </a:extLst>
            </p:cNvPr>
            <p:cNvSpPr/>
            <p:nvPr/>
          </p:nvSpPr>
          <p:spPr>
            <a:xfrm>
              <a:off x="50871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400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F7877CA5-3F1F-A645-E3FF-B5AD208AD5EF}"/>
                </a:ext>
              </a:extLst>
            </p:cNvPr>
            <p:cNvSpPr/>
            <p:nvPr/>
          </p:nvSpPr>
          <p:spPr>
            <a:xfrm>
              <a:off x="6184391" y="194005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228600" y="0"/>
                  </a:moveTo>
                  <a:lnTo>
                    <a:pt x="76200" y="0"/>
                  </a:lnTo>
                  <a:lnTo>
                    <a:pt x="76200" y="304800"/>
                  </a:lnTo>
                  <a:lnTo>
                    <a:pt x="0" y="304800"/>
                  </a:lnTo>
                  <a:lnTo>
                    <a:pt x="152400" y="457200"/>
                  </a:lnTo>
                  <a:lnTo>
                    <a:pt x="304800" y="304800"/>
                  </a:lnTo>
                  <a:lnTo>
                    <a:pt x="228600" y="304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000AD2DE-9CA8-27B0-84BE-EB9461A0E113}"/>
                </a:ext>
              </a:extLst>
            </p:cNvPr>
            <p:cNvSpPr/>
            <p:nvPr/>
          </p:nvSpPr>
          <p:spPr>
            <a:xfrm>
              <a:off x="6184391" y="194005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228600" y="0"/>
                  </a:moveTo>
                  <a:lnTo>
                    <a:pt x="228600" y="304800"/>
                  </a:lnTo>
                  <a:lnTo>
                    <a:pt x="304800" y="304800"/>
                  </a:lnTo>
                  <a:lnTo>
                    <a:pt x="152400" y="457200"/>
                  </a:lnTo>
                  <a:lnTo>
                    <a:pt x="0" y="304800"/>
                  </a:lnTo>
                  <a:lnTo>
                    <a:pt x="76200" y="304800"/>
                  </a:lnTo>
                  <a:lnTo>
                    <a:pt x="76200" y="0"/>
                  </a:lnTo>
                  <a:lnTo>
                    <a:pt x="22860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B7C838F8-6FB4-4E80-0750-0D7DF1BBB561}"/>
                </a:ext>
              </a:extLst>
            </p:cNvPr>
            <p:cNvSpPr/>
            <p:nvPr/>
          </p:nvSpPr>
          <p:spPr>
            <a:xfrm>
              <a:off x="71445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BDF83E4B-A723-157F-E642-0CC4D7EFDD45}"/>
                </a:ext>
              </a:extLst>
            </p:cNvPr>
            <p:cNvSpPr/>
            <p:nvPr/>
          </p:nvSpPr>
          <p:spPr>
            <a:xfrm>
              <a:off x="7144512" y="277825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400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0">
              <a:extLst>
                <a:ext uri="{FF2B5EF4-FFF2-40B4-BE49-F238E27FC236}">
                  <a16:creationId xmlns:a16="http://schemas.microsoft.com/office/drawing/2014/main" id="{D3FE9E7F-FEBF-10AF-2BE1-7C693543DE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912" y="2473451"/>
              <a:ext cx="2238756" cy="1905000"/>
            </a:xfrm>
            <a:prstGeom prst="rect">
              <a:avLst/>
            </a:prstGeom>
          </p:spPr>
        </p:pic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1D4C52CB-502F-67B3-4642-FF318EE26100}"/>
                </a:ext>
              </a:extLst>
            </p:cNvPr>
            <p:cNvSpPr/>
            <p:nvPr/>
          </p:nvSpPr>
          <p:spPr>
            <a:xfrm>
              <a:off x="2877312" y="2107691"/>
              <a:ext cx="4572000" cy="1743710"/>
            </a:xfrm>
            <a:custGeom>
              <a:avLst/>
              <a:gdLst/>
              <a:ahLst/>
              <a:cxnLst/>
              <a:rect l="l" t="t" r="r" b="b"/>
              <a:pathLst>
                <a:path w="4572000" h="1743710">
                  <a:moveTo>
                    <a:pt x="0" y="871728"/>
                  </a:moveTo>
                  <a:lnTo>
                    <a:pt x="3880" y="820505"/>
                  </a:lnTo>
                  <a:lnTo>
                    <a:pt x="15379" y="770063"/>
                  </a:lnTo>
                  <a:lnTo>
                    <a:pt x="34282" y="720482"/>
                  </a:lnTo>
                  <a:lnTo>
                    <a:pt x="60375" y="671844"/>
                  </a:lnTo>
                  <a:lnTo>
                    <a:pt x="93443" y="624230"/>
                  </a:lnTo>
                  <a:lnTo>
                    <a:pt x="133272" y="577724"/>
                  </a:lnTo>
                  <a:lnTo>
                    <a:pt x="179647" y="532405"/>
                  </a:lnTo>
                  <a:lnTo>
                    <a:pt x="232354" y="488357"/>
                  </a:lnTo>
                  <a:lnTo>
                    <a:pt x="291178" y="445661"/>
                  </a:lnTo>
                  <a:lnTo>
                    <a:pt x="355906" y="404398"/>
                  </a:lnTo>
                  <a:lnTo>
                    <a:pt x="390417" y="384330"/>
                  </a:lnTo>
                  <a:lnTo>
                    <a:pt x="426322" y="364650"/>
                  </a:lnTo>
                  <a:lnTo>
                    <a:pt x="463597" y="345370"/>
                  </a:lnTo>
                  <a:lnTo>
                    <a:pt x="502213" y="326500"/>
                  </a:lnTo>
                  <a:lnTo>
                    <a:pt x="542144" y="308049"/>
                  </a:lnTo>
                  <a:lnTo>
                    <a:pt x="583363" y="290028"/>
                  </a:lnTo>
                  <a:lnTo>
                    <a:pt x="625844" y="272447"/>
                  </a:lnTo>
                  <a:lnTo>
                    <a:pt x="669559" y="255317"/>
                  </a:lnTo>
                  <a:lnTo>
                    <a:pt x="714482" y="238647"/>
                  </a:lnTo>
                  <a:lnTo>
                    <a:pt x="760586" y="222448"/>
                  </a:lnTo>
                  <a:lnTo>
                    <a:pt x="807844" y="206730"/>
                  </a:lnTo>
                  <a:lnTo>
                    <a:pt x="856230" y="191504"/>
                  </a:lnTo>
                  <a:lnTo>
                    <a:pt x="905716" y="176778"/>
                  </a:lnTo>
                  <a:lnTo>
                    <a:pt x="956275" y="162565"/>
                  </a:lnTo>
                  <a:lnTo>
                    <a:pt x="1007882" y="148873"/>
                  </a:lnTo>
                  <a:lnTo>
                    <a:pt x="1060509" y="135713"/>
                  </a:lnTo>
                  <a:lnTo>
                    <a:pt x="1114129" y="123096"/>
                  </a:lnTo>
                  <a:lnTo>
                    <a:pt x="1168716" y="111031"/>
                  </a:lnTo>
                  <a:lnTo>
                    <a:pt x="1224242" y="99529"/>
                  </a:lnTo>
                  <a:lnTo>
                    <a:pt x="1280682" y="88600"/>
                  </a:lnTo>
                  <a:lnTo>
                    <a:pt x="1338007" y="78255"/>
                  </a:lnTo>
                  <a:lnTo>
                    <a:pt x="1396192" y="68502"/>
                  </a:lnTo>
                  <a:lnTo>
                    <a:pt x="1455209" y="59353"/>
                  </a:lnTo>
                  <a:lnTo>
                    <a:pt x="1515032" y="50818"/>
                  </a:lnTo>
                  <a:lnTo>
                    <a:pt x="1575634" y="42908"/>
                  </a:lnTo>
                  <a:lnTo>
                    <a:pt x="1636988" y="35631"/>
                  </a:lnTo>
                  <a:lnTo>
                    <a:pt x="1699068" y="28999"/>
                  </a:lnTo>
                  <a:lnTo>
                    <a:pt x="1761846" y="23022"/>
                  </a:lnTo>
                  <a:lnTo>
                    <a:pt x="1825295" y="17709"/>
                  </a:lnTo>
                  <a:lnTo>
                    <a:pt x="1889390" y="13072"/>
                  </a:lnTo>
                  <a:lnTo>
                    <a:pt x="1954103" y="9120"/>
                  </a:lnTo>
                  <a:lnTo>
                    <a:pt x="2019407" y="5864"/>
                  </a:lnTo>
                  <a:lnTo>
                    <a:pt x="2085275" y="3314"/>
                  </a:lnTo>
                  <a:lnTo>
                    <a:pt x="2151681" y="1479"/>
                  </a:lnTo>
                  <a:lnTo>
                    <a:pt x="2218598" y="371"/>
                  </a:lnTo>
                  <a:lnTo>
                    <a:pt x="2286000" y="0"/>
                  </a:lnTo>
                  <a:lnTo>
                    <a:pt x="2353401" y="371"/>
                  </a:lnTo>
                  <a:lnTo>
                    <a:pt x="2420318" y="1479"/>
                  </a:lnTo>
                  <a:lnTo>
                    <a:pt x="2486724" y="3314"/>
                  </a:lnTo>
                  <a:lnTo>
                    <a:pt x="2552592" y="5864"/>
                  </a:lnTo>
                  <a:lnTo>
                    <a:pt x="2617896" y="9120"/>
                  </a:lnTo>
                  <a:lnTo>
                    <a:pt x="2682609" y="13072"/>
                  </a:lnTo>
                  <a:lnTo>
                    <a:pt x="2746704" y="17709"/>
                  </a:lnTo>
                  <a:lnTo>
                    <a:pt x="2810153" y="23022"/>
                  </a:lnTo>
                  <a:lnTo>
                    <a:pt x="2872931" y="28999"/>
                  </a:lnTo>
                  <a:lnTo>
                    <a:pt x="2935011" y="35631"/>
                  </a:lnTo>
                  <a:lnTo>
                    <a:pt x="2996365" y="42908"/>
                  </a:lnTo>
                  <a:lnTo>
                    <a:pt x="3056967" y="50818"/>
                  </a:lnTo>
                  <a:lnTo>
                    <a:pt x="3116790" y="59353"/>
                  </a:lnTo>
                  <a:lnTo>
                    <a:pt x="3175807" y="68502"/>
                  </a:lnTo>
                  <a:lnTo>
                    <a:pt x="3233992" y="78255"/>
                  </a:lnTo>
                  <a:lnTo>
                    <a:pt x="3291317" y="88600"/>
                  </a:lnTo>
                  <a:lnTo>
                    <a:pt x="3347757" y="99529"/>
                  </a:lnTo>
                  <a:lnTo>
                    <a:pt x="3403283" y="111031"/>
                  </a:lnTo>
                  <a:lnTo>
                    <a:pt x="3457870" y="123096"/>
                  </a:lnTo>
                  <a:lnTo>
                    <a:pt x="3511490" y="135713"/>
                  </a:lnTo>
                  <a:lnTo>
                    <a:pt x="3564117" y="148873"/>
                  </a:lnTo>
                  <a:lnTo>
                    <a:pt x="3615724" y="162565"/>
                  </a:lnTo>
                  <a:lnTo>
                    <a:pt x="3666283" y="176778"/>
                  </a:lnTo>
                  <a:lnTo>
                    <a:pt x="3715769" y="191504"/>
                  </a:lnTo>
                  <a:lnTo>
                    <a:pt x="3764155" y="206730"/>
                  </a:lnTo>
                  <a:lnTo>
                    <a:pt x="3811413" y="222448"/>
                  </a:lnTo>
                  <a:lnTo>
                    <a:pt x="3857517" y="238647"/>
                  </a:lnTo>
                  <a:lnTo>
                    <a:pt x="3902440" y="255317"/>
                  </a:lnTo>
                  <a:lnTo>
                    <a:pt x="3946155" y="272447"/>
                  </a:lnTo>
                  <a:lnTo>
                    <a:pt x="3988636" y="290028"/>
                  </a:lnTo>
                  <a:lnTo>
                    <a:pt x="4029855" y="308049"/>
                  </a:lnTo>
                  <a:lnTo>
                    <a:pt x="4069786" y="326500"/>
                  </a:lnTo>
                  <a:lnTo>
                    <a:pt x="4108402" y="345370"/>
                  </a:lnTo>
                  <a:lnTo>
                    <a:pt x="4145677" y="364650"/>
                  </a:lnTo>
                  <a:lnTo>
                    <a:pt x="4181582" y="384330"/>
                  </a:lnTo>
                  <a:lnTo>
                    <a:pt x="4216093" y="404398"/>
                  </a:lnTo>
                  <a:lnTo>
                    <a:pt x="4249181" y="424845"/>
                  </a:lnTo>
                  <a:lnTo>
                    <a:pt x="4310984" y="466835"/>
                  </a:lnTo>
                  <a:lnTo>
                    <a:pt x="4366777" y="510217"/>
                  </a:lnTo>
                  <a:lnTo>
                    <a:pt x="4416344" y="554911"/>
                  </a:lnTo>
                  <a:lnTo>
                    <a:pt x="4459473" y="600834"/>
                  </a:lnTo>
                  <a:lnTo>
                    <a:pt x="4495948" y="647904"/>
                  </a:lnTo>
                  <a:lnTo>
                    <a:pt x="4525555" y="696040"/>
                  </a:lnTo>
                  <a:lnTo>
                    <a:pt x="4548080" y="745159"/>
                  </a:lnTo>
                  <a:lnTo>
                    <a:pt x="4563308" y="795182"/>
                  </a:lnTo>
                  <a:lnTo>
                    <a:pt x="4571025" y="846024"/>
                  </a:lnTo>
                  <a:lnTo>
                    <a:pt x="4571999" y="871728"/>
                  </a:lnTo>
                  <a:lnTo>
                    <a:pt x="4571025" y="897431"/>
                  </a:lnTo>
                  <a:lnTo>
                    <a:pt x="4563308" y="948273"/>
                  </a:lnTo>
                  <a:lnTo>
                    <a:pt x="4548080" y="998296"/>
                  </a:lnTo>
                  <a:lnTo>
                    <a:pt x="4525555" y="1047415"/>
                  </a:lnTo>
                  <a:lnTo>
                    <a:pt x="4495948" y="1095551"/>
                  </a:lnTo>
                  <a:lnTo>
                    <a:pt x="4459473" y="1142621"/>
                  </a:lnTo>
                  <a:lnTo>
                    <a:pt x="4416344" y="1188544"/>
                  </a:lnTo>
                  <a:lnTo>
                    <a:pt x="4366777" y="1233238"/>
                  </a:lnTo>
                  <a:lnTo>
                    <a:pt x="4310984" y="1276620"/>
                  </a:lnTo>
                  <a:lnTo>
                    <a:pt x="4249181" y="1318610"/>
                  </a:lnTo>
                  <a:lnTo>
                    <a:pt x="4216093" y="1339057"/>
                  </a:lnTo>
                  <a:lnTo>
                    <a:pt x="4181582" y="1359125"/>
                  </a:lnTo>
                  <a:lnTo>
                    <a:pt x="4145677" y="1378805"/>
                  </a:lnTo>
                  <a:lnTo>
                    <a:pt x="4108402" y="1398085"/>
                  </a:lnTo>
                  <a:lnTo>
                    <a:pt x="4069786" y="1416955"/>
                  </a:lnTo>
                  <a:lnTo>
                    <a:pt x="4029855" y="1435406"/>
                  </a:lnTo>
                  <a:lnTo>
                    <a:pt x="3988636" y="1453427"/>
                  </a:lnTo>
                  <a:lnTo>
                    <a:pt x="3946155" y="1471008"/>
                  </a:lnTo>
                  <a:lnTo>
                    <a:pt x="3902440" y="1488138"/>
                  </a:lnTo>
                  <a:lnTo>
                    <a:pt x="3857517" y="1504808"/>
                  </a:lnTo>
                  <a:lnTo>
                    <a:pt x="3811413" y="1521007"/>
                  </a:lnTo>
                  <a:lnTo>
                    <a:pt x="3764155" y="1536725"/>
                  </a:lnTo>
                  <a:lnTo>
                    <a:pt x="3715769" y="1551951"/>
                  </a:lnTo>
                  <a:lnTo>
                    <a:pt x="3666283" y="1566677"/>
                  </a:lnTo>
                  <a:lnTo>
                    <a:pt x="3615724" y="1580890"/>
                  </a:lnTo>
                  <a:lnTo>
                    <a:pt x="3564117" y="1594582"/>
                  </a:lnTo>
                  <a:lnTo>
                    <a:pt x="3511490" y="1607742"/>
                  </a:lnTo>
                  <a:lnTo>
                    <a:pt x="3457870" y="1620359"/>
                  </a:lnTo>
                  <a:lnTo>
                    <a:pt x="3403283" y="1632424"/>
                  </a:lnTo>
                  <a:lnTo>
                    <a:pt x="3347757" y="1643926"/>
                  </a:lnTo>
                  <a:lnTo>
                    <a:pt x="3291317" y="1654855"/>
                  </a:lnTo>
                  <a:lnTo>
                    <a:pt x="3233992" y="1665200"/>
                  </a:lnTo>
                  <a:lnTo>
                    <a:pt x="3175807" y="1674953"/>
                  </a:lnTo>
                  <a:lnTo>
                    <a:pt x="3116790" y="1684102"/>
                  </a:lnTo>
                  <a:lnTo>
                    <a:pt x="3056967" y="1692637"/>
                  </a:lnTo>
                  <a:lnTo>
                    <a:pt x="2996365" y="1700547"/>
                  </a:lnTo>
                  <a:lnTo>
                    <a:pt x="2935011" y="1707824"/>
                  </a:lnTo>
                  <a:lnTo>
                    <a:pt x="2872931" y="1714456"/>
                  </a:lnTo>
                  <a:lnTo>
                    <a:pt x="2810153" y="1720433"/>
                  </a:lnTo>
                  <a:lnTo>
                    <a:pt x="2746704" y="1725746"/>
                  </a:lnTo>
                  <a:lnTo>
                    <a:pt x="2682609" y="1730383"/>
                  </a:lnTo>
                  <a:lnTo>
                    <a:pt x="2617896" y="1734335"/>
                  </a:lnTo>
                  <a:lnTo>
                    <a:pt x="2552592" y="1737591"/>
                  </a:lnTo>
                  <a:lnTo>
                    <a:pt x="2486724" y="1740141"/>
                  </a:lnTo>
                  <a:lnTo>
                    <a:pt x="2420318" y="1741976"/>
                  </a:lnTo>
                  <a:lnTo>
                    <a:pt x="2353401" y="1743084"/>
                  </a:lnTo>
                  <a:lnTo>
                    <a:pt x="2286000" y="1743456"/>
                  </a:lnTo>
                  <a:lnTo>
                    <a:pt x="2218598" y="1743084"/>
                  </a:lnTo>
                  <a:lnTo>
                    <a:pt x="2151681" y="1741976"/>
                  </a:lnTo>
                  <a:lnTo>
                    <a:pt x="2085275" y="1740141"/>
                  </a:lnTo>
                  <a:lnTo>
                    <a:pt x="2019407" y="1737591"/>
                  </a:lnTo>
                  <a:lnTo>
                    <a:pt x="1954103" y="1734335"/>
                  </a:lnTo>
                  <a:lnTo>
                    <a:pt x="1889390" y="1730383"/>
                  </a:lnTo>
                  <a:lnTo>
                    <a:pt x="1825295" y="1725746"/>
                  </a:lnTo>
                  <a:lnTo>
                    <a:pt x="1761846" y="1720433"/>
                  </a:lnTo>
                  <a:lnTo>
                    <a:pt x="1699068" y="1714456"/>
                  </a:lnTo>
                  <a:lnTo>
                    <a:pt x="1636988" y="1707824"/>
                  </a:lnTo>
                  <a:lnTo>
                    <a:pt x="1575634" y="1700547"/>
                  </a:lnTo>
                  <a:lnTo>
                    <a:pt x="1515032" y="1692637"/>
                  </a:lnTo>
                  <a:lnTo>
                    <a:pt x="1455209" y="1684102"/>
                  </a:lnTo>
                  <a:lnTo>
                    <a:pt x="1396192" y="1674953"/>
                  </a:lnTo>
                  <a:lnTo>
                    <a:pt x="1338007" y="1665200"/>
                  </a:lnTo>
                  <a:lnTo>
                    <a:pt x="1280682" y="1654855"/>
                  </a:lnTo>
                  <a:lnTo>
                    <a:pt x="1224242" y="1643926"/>
                  </a:lnTo>
                  <a:lnTo>
                    <a:pt x="1168716" y="1632424"/>
                  </a:lnTo>
                  <a:lnTo>
                    <a:pt x="1114129" y="1620359"/>
                  </a:lnTo>
                  <a:lnTo>
                    <a:pt x="1060509" y="1607742"/>
                  </a:lnTo>
                  <a:lnTo>
                    <a:pt x="1007882" y="1594582"/>
                  </a:lnTo>
                  <a:lnTo>
                    <a:pt x="956275" y="1580890"/>
                  </a:lnTo>
                  <a:lnTo>
                    <a:pt x="905716" y="1566677"/>
                  </a:lnTo>
                  <a:lnTo>
                    <a:pt x="856230" y="1551951"/>
                  </a:lnTo>
                  <a:lnTo>
                    <a:pt x="807844" y="1536725"/>
                  </a:lnTo>
                  <a:lnTo>
                    <a:pt x="760586" y="1521007"/>
                  </a:lnTo>
                  <a:lnTo>
                    <a:pt x="714482" y="1504808"/>
                  </a:lnTo>
                  <a:lnTo>
                    <a:pt x="669559" y="1488138"/>
                  </a:lnTo>
                  <a:lnTo>
                    <a:pt x="625844" y="1471008"/>
                  </a:lnTo>
                  <a:lnTo>
                    <a:pt x="583363" y="1453427"/>
                  </a:lnTo>
                  <a:lnTo>
                    <a:pt x="542144" y="1435406"/>
                  </a:lnTo>
                  <a:lnTo>
                    <a:pt x="502213" y="1416955"/>
                  </a:lnTo>
                  <a:lnTo>
                    <a:pt x="463597" y="1398085"/>
                  </a:lnTo>
                  <a:lnTo>
                    <a:pt x="426322" y="1378805"/>
                  </a:lnTo>
                  <a:lnTo>
                    <a:pt x="390417" y="1359125"/>
                  </a:lnTo>
                  <a:lnTo>
                    <a:pt x="355906" y="1339057"/>
                  </a:lnTo>
                  <a:lnTo>
                    <a:pt x="322818" y="1318610"/>
                  </a:lnTo>
                  <a:lnTo>
                    <a:pt x="261015" y="1276620"/>
                  </a:lnTo>
                  <a:lnTo>
                    <a:pt x="205222" y="1233238"/>
                  </a:lnTo>
                  <a:lnTo>
                    <a:pt x="155655" y="1188544"/>
                  </a:lnTo>
                  <a:lnTo>
                    <a:pt x="112526" y="1142621"/>
                  </a:lnTo>
                  <a:lnTo>
                    <a:pt x="76051" y="1095551"/>
                  </a:lnTo>
                  <a:lnTo>
                    <a:pt x="46444" y="1047415"/>
                  </a:lnTo>
                  <a:lnTo>
                    <a:pt x="23919" y="998296"/>
                  </a:lnTo>
                  <a:lnTo>
                    <a:pt x="8691" y="948273"/>
                  </a:lnTo>
                  <a:lnTo>
                    <a:pt x="974" y="897431"/>
                  </a:lnTo>
                  <a:lnTo>
                    <a:pt x="0" y="871728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2">
            <a:extLst>
              <a:ext uri="{FF2B5EF4-FFF2-40B4-BE49-F238E27FC236}">
                <a16:creationId xmlns:a16="http://schemas.microsoft.com/office/drawing/2014/main" id="{60DE897C-CC40-ADF6-25CD-9088B583680E}"/>
              </a:ext>
            </a:extLst>
          </p:cNvPr>
          <p:cNvGrpSpPr/>
          <p:nvPr/>
        </p:nvGrpSpPr>
        <p:grpSpPr>
          <a:xfrm>
            <a:off x="3624198" y="5545582"/>
            <a:ext cx="1765300" cy="927100"/>
            <a:chOff x="3043173" y="5330697"/>
            <a:chExt cx="1765300" cy="927100"/>
          </a:xfrm>
        </p:grpSpPr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B152EAF3-3FF6-37E7-7220-BC6EA9B17DD6}"/>
                </a:ext>
              </a:extLst>
            </p:cNvPr>
            <p:cNvSpPr/>
            <p:nvPr/>
          </p:nvSpPr>
          <p:spPr>
            <a:xfrm>
              <a:off x="3049523" y="5337047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16002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600200" y="914400"/>
                  </a:lnTo>
                  <a:lnTo>
                    <a:pt x="1648382" y="906630"/>
                  </a:lnTo>
                  <a:lnTo>
                    <a:pt x="1690219" y="884994"/>
                  </a:lnTo>
                  <a:lnTo>
                    <a:pt x="1723205" y="852003"/>
                  </a:lnTo>
                  <a:lnTo>
                    <a:pt x="1744833" y="810168"/>
                  </a:lnTo>
                  <a:lnTo>
                    <a:pt x="1752600" y="761999"/>
                  </a:lnTo>
                  <a:lnTo>
                    <a:pt x="1752600" y="152399"/>
                  </a:lnTo>
                  <a:lnTo>
                    <a:pt x="1744833" y="104217"/>
                  </a:lnTo>
                  <a:lnTo>
                    <a:pt x="1723205" y="62380"/>
                  </a:lnTo>
                  <a:lnTo>
                    <a:pt x="1690219" y="29394"/>
                  </a:lnTo>
                  <a:lnTo>
                    <a:pt x="1648382" y="7766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4AE81E54-BDA5-AB2C-BDC6-5B8BEDBA7759}"/>
                </a:ext>
              </a:extLst>
            </p:cNvPr>
            <p:cNvSpPr/>
            <p:nvPr/>
          </p:nvSpPr>
          <p:spPr>
            <a:xfrm>
              <a:off x="3049523" y="5337047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152399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600200" y="0"/>
                  </a:lnTo>
                  <a:lnTo>
                    <a:pt x="1648382" y="7766"/>
                  </a:lnTo>
                  <a:lnTo>
                    <a:pt x="1690219" y="29394"/>
                  </a:lnTo>
                  <a:lnTo>
                    <a:pt x="1723205" y="62380"/>
                  </a:lnTo>
                  <a:lnTo>
                    <a:pt x="1744833" y="104217"/>
                  </a:lnTo>
                  <a:lnTo>
                    <a:pt x="1752600" y="152399"/>
                  </a:lnTo>
                  <a:lnTo>
                    <a:pt x="1752600" y="761999"/>
                  </a:lnTo>
                  <a:lnTo>
                    <a:pt x="1744833" y="810168"/>
                  </a:lnTo>
                  <a:lnTo>
                    <a:pt x="1723205" y="852003"/>
                  </a:lnTo>
                  <a:lnTo>
                    <a:pt x="1690219" y="884994"/>
                  </a:lnTo>
                  <a:lnTo>
                    <a:pt x="1648382" y="906630"/>
                  </a:lnTo>
                  <a:lnTo>
                    <a:pt x="1600200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5">
            <a:extLst>
              <a:ext uri="{FF2B5EF4-FFF2-40B4-BE49-F238E27FC236}">
                <a16:creationId xmlns:a16="http://schemas.microsoft.com/office/drawing/2014/main" id="{532B88DB-6163-38B6-2B4D-8F427E301FD1}"/>
              </a:ext>
            </a:extLst>
          </p:cNvPr>
          <p:cNvSpPr txBox="1"/>
          <p:nvPr/>
        </p:nvSpPr>
        <p:spPr>
          <a:xfrm>
            <a:off x="3782695" y="5844337"/>
            <a:ext cx="1451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6">
            <a:extLst>
              <a:ext uri="{FF2B5EF4-FFF2-40B4-BE49-F238E27FC236}">
                <a16:creationId xmlns:a16="http://schemas.microsoft.com/office/drawing/2014/main" id="{43E326A3-2E3E-CEAD-6173-65831EF1B3E6}"/>
              </a:ext>
            </a:extLst>
          </p:cNvPr>
          <p:cNvGrpSpPr/>
          <p:nvPr/>
        </p:nvGrpSpPr>
        <p:grpSpPr>
          <a:xfrm>
            <a:off x="3014598" y="5850382"/>
            <a:ext cx="546100" cy="317500"/>
            <a:chOff x="2433573" y="5635497"/>
            <a:chExt cx="546100" cy="317500"/>
          </a:xfrm>
        </p:grpSpPr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D78E4859-7D49-1E3D-6464-A2A7378F0389}"/>
                </a:ext>
              </a:extLst>
            </p:cNvPr>
            <p:cNvSpPr/>
            <p:nvPr/>
          </p:nvSpPr>
          <p:spPr>
            <a:xfrm>
              <a:off x="2439923" y="564184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199"/>
                  </a:lnTo>
                  <a:lnTo>
                    <a:pt x="0" y="76199"/>
                  </a:lnTo>
                  <a:lnTo>
                    <a:pt x="0" y="228599"/>
                  </a:lnTo>
                  <a:lnTo>
                    <a:pt x="381000" y="228599"/>
                  </a:lnTo>
                  <a:lnTo>
                    <a:pt x="381000" y="304799"/>
                  </a:lnTo>
                  <a:lnTo>
                    <a:pt x="533400" y="152399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6762C6BC-CD96-BC6F-B587-0D96881C6346}"/>
                </a:ext>
              </a:extLst>
            </p:cNvPr>
            <p:cNvSpPr/>
            <p:nvPr/>
          </p:nvSpPr>
          <p:spPr>
            <a:xfrm>
              <a:off x="2439923" y="564184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199"/>
                  </a:moveTo>
                  <a:lnTo>
                    <a:pt x="381000" y="76199"/>
                  </a:lnTo>
                  <a:lnTo>
                    <a:pt x="381000" y="0"/>
                  </a:lnTo>
                  <a:lnTo>
                    <a:pt x="533400" y="152399"/>
                  </a:lnTo>
                  <a:lnTo>
                    <a:pt x="381000" y="304799"/>
                  </a:lnTo>
                  <a:lnTo>
                    <a:pt x="381000" y="228599"/>
                  </a:lnTo>
                  <a:lnTo>
                    <a:pt x="0" y="228599"/>
                  </a:lnTo>
                  <a:lnTo>
                    <a:pt x="0" y="761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9">
            <a:extLst>
              <a:ext uri="{FF2B5EF4-FFF2-40B4-BE49-F238E27FC236}">
                <a16:creationId xmlns:a16="http://schemas.microsoft.com/office/drawing/2014/main" id="{541048B7-17AE-B9C8-5461-71BC548131A4}"/>
              </a:ext>
            </a:extLst>
          </p:cNvPr>
          <p:cNvSpPr txBox="1"/>
          <p:nvPr/>
        </p:nvSpPr>
        <p:spPr>
          <a:xfrm>
            <a:off x="1961708" y="6225859"/>
            <a:ext cx="19113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i="1" spc="-25" dirty="0">
                <a:latin typeface="Arial"/>
                <a:cs typeface="Arial"/>
              </a:rPr>
              <a:t>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709A76AB-F3D3-460D-FD54-859BDEAB2940}"/>
              </a:ext>
            </a:extLst>
          </p:cNvPr>
          <p:cNvSpPr txBox="1"/>
          <p:nvPr/>
        </p:nvSpPr>
        <p:spPr>
          <a:xfrm>
            <a:off x="861237" y="5176053"/>
            <a:ext cx="1151890" cy="13157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800" spc="-40" dirty="0">
                <a:latin typeface="Arial"/>
                <a:cs typeface="Arial"/>
              </a:rPr>
              <a:t>Testing</a:t>
            </a:r>
            <a:endParaRPr sz="2800">
              <a:latin typeface="Arial"/>
              <a:cs typeface="Arial"/>
            </a:endParaRPr>
          </a:p>
          <a:p>
            <a:pPr marL="173990" marR="43180">
              <a:lnSpc>
                <a:spcPct val="100000"/>
              </a:lnSpc>
              <a:spcBef>
                <a:spcPts val="125"/>
              </a:spcBef>
            </a:pPr>
            <a:r>
              <a:rPr sz="1800" spc="-10" dirty="0">
                <a:latin typeface="Arial"/>
                <a:cs typeface="Arial"/>
              </a:rPr>
              <a:t>Image </a:t>
            </a:r>
            <a:r>
              <a:rPr sz="1800" i="1" dirty="0">
                <a:latin typeface="Arial"/>
                <a:cs typeface="Arial"/>
              </a:rPr>
              <a:t>not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in </a:t>
            </a:r>
            <a:r>
              <a:rPr sz="1800" i="1" dirty="0">
                <a:latin typeface="Arial"/>
                <a:cs typeface="Arial"/>
              </a:rPr>
              <a:t>training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3" name="object 41">
            <a:extLst>
              <a:ext uri="{FF2B5EF4-FFF2-40B4-BE49-F238E27FC236}">
                <a16:creationId xmlns:a16="http://schemas.microsoft.com/office/drawing/2014/main" id="{70849355-C6DB-1E82-A859-C56F045076CB}"/>
              </a:ext>
            </a:extLst>
          </p:cNvPr>
          <p:cNvGrpSpPr/>
          <p:nvPr/>
        </p:nvGrpSpPr>
        <p:grpSpPr>
          <a:xfrm>
            <a:off x="8404986" y="2681986"/>
            <a:ext cx="1536700" cy="927100"/>
            <a:chOff x="7823961" y="2467101"/>
            <a:chExt cx="1536700" cy="927100"/>
          </a:xfrm>
        </p:grpSpPr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D74A1975-A6DD-205D-88C6-1CB8EF03382F}"/>
                </a:ext>
              </a:extLst>
            </p:cNvPr>
            <p:cNvSpPr/>
            <p:nvPr/>
          </p:nvSpPr>
          <p:spPr>
            <a:xfrm>
              <a:off x="7830311" y="247345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3716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371600" y="914400"/>
                  </a:lnTo>
                  <a:lnTo>
                    <a:pt x="1419782" y="906633"/>
                  </a:lnTo>
                  <a:lnTo>
                    <a:pt x="1461619" y="885005"/>
                  </a:lnTo>
                  <a:lnTo>
                    <a:pt x="1494605" y="852019"/>
                  </a:lnTo>
                  <a:lnTo>
                    <a:pt x="1516233" y="810182"/>
                  </a:lnTo>
                  <a:lnTo>
                    <a:pt x="1524000" y="762000"/>
                  </a:lnTo>
                  <a:lnTo>
                    <a:pt x="1524000" y="152400"/>
                  </a:lnTo>
                  <a:lnTo>
                    <a:pt x="1516233" y="104217"/>
                  </a:lnTo>
                  <a:lnTo>
                    <a:pt x="1494605" y="62380"/>
                  </a:lnTo>
                  <a:lnTo>
                    <a:pt x="1461619" y="29394"/>
                  </a:lnTo>
                  <a:lnTo>
                    <a:pt x="1419782" y="7766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52E87753-AEC8-91D1-A9C7-261BE906DE77}"/>
                </a:ext>
              </a:extLst>
            </p:cNvPr>
            <p:cNvSpPr/>
            <p:nvPr/>
          </p:nvSpPr>
          <p:spPr>
            <a:xfrm>
              <a:off x="7830311" y="247345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371600" y="0"/>
                  </a:lnTo>
                  <a:lnTo>
                    <a:pt x="1419782" y="7766"/>
                  </a:lnTo>
                  <a:lnTo>
                    <a:pt x="1461619" y="29394"/>
                  </a:lnTo>
                  <a:lnTo>
                    <a:pt x="1494605" y="62380"/>
                  </a:lnTo>
                  <a:lnTo>
                    <a:pt x="1516233" y="104217"/>
                  </a:lnTo>
                  <a:lnTo>
                    <a:pt x="1524000" y="152400"/>
                  </a:lnTo>
                  <a:lnTo>
                    <a:pt x="1524000" y="762000"/>
                  </a:lnTo>
                  <a:lnTo>
                    <a:pt x="1516233" y="810182"/>
                  </a:lnTo>
                  <a:lnTo>
                    <a:pt x="1494605" y="852019"/>
                  </a:lnTo>
                  <a:lnTo>
                    <a:pt x="1461619" y="885005"/>
                  </a:lnTo>
                  <a:lnTo>
                    <a:pt x="1419782" y="906633"/>
                  </a:lnTo>
                  <a:lnTo>
                    <a:pt x="13716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4">
            <a:extLst>
              <a:ext uri="{FF2B5EF4-FFF2-40B4-BE49-F238E27FC236}">
                <a16:creationId xmlns:a16="http://schemas.microsoft.com/office/drawing/2014/main" id="{F87BC092-5AE2-8DE0-61B5-82FAEBEB9334}"/>
              </a:ext>
            </a:extLst>
          </p:cNvPr>
          <p:cNvSpPr txBox="1"/>
          <p:nvPr/>
        </p:nvSpPr>
        <p:spPr>
          <a:xfrm>
            <a:off x="8758935" y="2843607"/>
            <a:ext cx="8312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Trained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classifier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5">
            <a:extLst>
              <a:ext uri="{FF2B5EF4-FFF2-40B4-BE49-F238E27FC236}">
                <a16:creationId xmlns:a16="http://schemas.microsoft.com/office/drawing/2014/main" id="{6DAAFFDE-6E2F-7A1E-7718-39BA73DEE95C}"/>
              </a:ext>
            </a:extLst>
          </p:cNvPr>
          <p:cNvGrpSpPr/>
          <p:nvPr/>
        </p:nvGrpSpPr>
        <p:grpSpPr>
          <a:xfrm>
            <a:off x="6012307" y="5554726"/>
            <a:ext cx="1765300" cy="927100"/>
            <a:chOff x="5431282" y="5339841"/>
            <a:chExt cx="1765300" cy="927100"/>
          </a:xfrm>
        </p:grpSpPr>
        <p:sp>
          <p:nvSpPr>
            <p:cNvPr id="48" name="object 46">
              <a:extLst>
                <a:ext uri="{FF2B5EF4-FFF2-40B4-BE49-F238E27FC236}">
                  <a16:creationId xmlns:a16="http://schemas.microsoft.com/office/drawing/2014/main" id="{525EC32D-01B3-BD68-7BE5-7F8B9F92E62E}"/>
                </a:ext>
              </a:extLst>
            </p:cNvPr>
            <p:cNvSpPr/>
            <p:nvPr/>
          </p:nvSpPr>
          <p:spPr>
            <a:xfrm>
              <a:off x="5437632" y="5346191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1600199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600199" y="914400"/>
                  </a:lnTo>
                  <a:lnTo>
                    <a:pt x="1648382" y="906630"/>
                  </a:lnTo>
                  <a:lnTo>
                    <a:pt x="1690219" y="884994"/>
                  </a:lnTo>
                  <a:lnTo>
                    <a:pt x="1723205" y="852003"/>
                  </a:lnTo>
                  <a:lnTo>
                    <a:pt x="1744833" y="810168"/>
                  </a:lnTo>
                  <a:lnTo>
                    <a:pt x="1752599" y="762000"/>
                  </a:lnTo>
                  <a:lnTo>
                    <a:pt x="1752599" y="152400"/>
                  </a:lnTo>
                  <a:lnTo>
                    <a:pt x="1744833" y="104217"/>
                  </a:lnTo>
                  <a:lnTo>
                    <a:pt x="1723205" y="62380"/>
                  </a:lnTo>
                  <a:lnTo>
                    <a:pt x="1690219" y="29394"/>
                  </a:lnTo>
                  <a:lnTo>
                    <a:pt x="1648382" y="7766"/>
                  </a:lnTo>
                  <a:lnTo>
                    <a:pt x="160019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ED696F55-13DA-9574-9623-F57D2162CAE8}"/>
                </a:ext>
              </a:extLst>
            </p:cNvPr>
            <p:cNvSpPr/>
            <p:nvPr/>
          </p:nvSpPr>
          <p:spPr>
            <a:xfrm>
              <a:off x="5437632" y="5346191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600199" y="0"/>
                  </a:lnTo>
                  <a:lnTo>
                    <a:pt x="1648382" y="7766"/>
                  </a:lnTo>
                  <a:lnTo>
                    <a:pt x="1690219" y="29394"/>
                  </a:lnTo>
                  <a:lnTo>
                    <a:pt x="1723205" y="62380"/>
                  </a:lnTo>
                  <a:lnTo>
                    <a:pt x="1744833" y="104217"/>
                  </a:lnTo>
                  <a:lnTo>
                    <a:pt x="1752599" y="152400"/>
                  </a:lnTo>
                  <a:lnTo>
                    <a:pt x="1752599" y="762000"/>
                  </a:lnTo>
                  <a:lnTo>
                    <a:pt x="1744833" y="810168"/>
                  </a:lnTo>
                  <a:lnTo>
                    <a:pt x="1723205" y="852003"/>
                  </a:lnTo>
                  <a:lnTo>
                    <a:pt x="1690219" y="884994"/>
                  </a:lnTo>
                  <a:lnTo>
                    <a:pt x="1648382" y="906630"/>
                  </a:lnTo>
                  <a:lnTo>
                    <a:pt x="1600199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48">
            <a:extLst>
              <a:ext uri="{FF2B5EF4-FFF2-40B4-BE49-F238E27FC236}">
                <a16:creationId xmlns:a16="http://schemas.microsoft.com/office/drawing/2014/main" id="{886B4908-9FC6-59F6-04F8-1D176E341928}"/>
              </a:ext>
            </a:extLst>
          </p:cNvPr>
          <p:cNvSpPr txBox="1"/>
          <p:nvPr/>
        </p:nvSpPr>
        <p:spPr>
          <a:xfrm>
            <a:off x="6190615" y="5854701"/>
            <a:ext cx="141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49">
            <a:extLst>
              <a:ext uri="{FF2B5EF4-FFF2-40B4-BE49-F238E27FC236}">
                <a16:creationId xmlns:a16="http://schemas.microsoft.com/office/drawing/2014/main" id="{AE35D9F5-3C18-B319-5FB3-C31BE8A0EF75}"/>
              </a:ext>
            </a:extLst>
          </p:cNvPr>
          <p:cNvGrpSpPr/>
          <p:nvPr/>
        </p:nvGrpSpPr>
        <p:grpSpPr>
          <a:xfrm>
            <a:off x="5452998" y="5850382"/>
            <a:ext cx="2832100" cy="317500"/>
            <a:chOff x="4871973" y="5635497"/>
            <a:chExt cx="2832100" cy="317500"/>
          </a:xfrm>
        </p:grpSpPr>
        <p:sp>
          <p:nvSpPr>
            <p:cNvPr id="52" name="object 50">
              <a:extLst>
                <a:ext uri="{FF2B5EF4-FFF2-40B4-BE49-F238E27FC236}">
                  <a16:creationId xmlns:a16="http://schemas.microsoft.com/office/drawing/2014/main" id="{9AC2CF0A-EC7B-E387-456E-FC62C30ACCA1}"/>
                </a:ext>
              </a:extLst>
            </p:cNvPr>
            <p:cNvSpPr/>
            <p:nvPr/>
          </p:nvSpPr>
          <p:spPr>
            <a:xfrm>
              <a:off x="4878323" y="564184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199"/>
                  </a:lnTo>
                  <a:lnTo>
                    <a:pt x="0" y="76199"/>
                  </a:lnTo>
                  <a:lnTo>
                    <a:pt x="0" y="228599"/>
                  </a:lnTo>
                  <a:lnTo>
                    <a:pt x="381000" y="228599"/>
                  </a:lnTo>
                  <a:lnTo>
                    <a:pt x="381000" y="304799"/>
                  </a:lnTo>
                  <a:lnTo>
                    <a:pt x="533400" y="152399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1">
              <a:extLst>
                <a:ext uri="{FF2B5EF4-FFF2-40B4-BE49-F238E27FC236}">
                  <a16:creationId xmlns:a16="http://schemas.microsoft.com/office/drawing/2014/main" id="{D79AAA97-9330-7556-87BA-4487F83DB641}"/>
                </a:ext>
              </a:extLst>
            </p:cNvPr>
            <p:cNvSpPr/>
            <p:nvPr/>
          </p:nvSpPr>
          <p:spPr>
            <a:xfrm>
              <a:off x="4878323" y="564184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199"/>
                  </a:moveTo>
                  <a:lnTo>
                    <a:pt x="381000" y="76199"/>
                  </a:lnTo>
                  <a:lnTo>
                    <a:pt x="381000" y="0"/>
                  </a:lnTo>
                  <a:lnTo>
                    <a:pt x="533400" y="152399"/>
                  </a:lnTo>
                  <a:lnTo>
                    <a:pt x="381000" y="304799"/>
                  </a:lnTo>
                  <a:lnTo>
                    <a:pt x="381000" y="228599"/>
                  </a:lnTo>
                  <a:lnTo>
                    <a:pt x="0" y="228599"/>
                  </a:lnTo>
                  <a:lnTo>
                    <a:pt x="0" y="761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2">
              <a:extLst>
                <a:ext uri="{FF2B5EF4-FFF2-40B4-BE49-F238E27FC236}">
                  <a16:creationId xmlns:a16="http://schemas.microsoft.com/office/drawing/2014/main" id="{AF3A723A-A58F-2828-A58F-7C473D2369E0}"/>
                </a:ext>
              </a:extLst>
            </p:cNvPr>
            <p:cNvSpPr/>
            <p:nvPr/>
          </p:nvSpPr>
          <p:spPr>
            <a:xfrm>
              <a:off x="7240523" y="564184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304800" y="0"/>
                  </a:moveTo>
                  <a:lnTo>
                    <a:pt x="304800" y="76199"/>
                  </a:lnTo>
                  <a:lnTo>
                    <a:pt x="0" y="76199"/>
                  </a:lnTo>
                  <a:lnTo>
                    <a:pt x="0" y="228599"/>
                  </a:lnTo>
                  <a:lnTo>
                    <a:pt x="304800" y="228599"/>
                  </a:lnTo>
                  <a:lnTo>
                    <a:pt x="304800" y="304799"/>
                  </a:lnTo>
                  <a:lnTo>
                    <a:pt x="457200" y="1523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3">
              <a:extLst>
                <a:ext uri="{FF2B5EF4-FFF2-40B4-BE49-F238E27FC236}">
                  <a16:creationId xmlns:a16="http://schemas.microsoft.com/office/drawing/2014/main" id="{C915AFE1-A900-9B49-3E7E-16D2F9546C83}"/>
                </a:ext>
              </a:extLst>
            </p:cNvPr>
            <p:cNvSpPr/>
            <p:nvPr/>
          </p:nvSpPr>
          <p:spPr>
            <a:xfrm>
              <a:off x="7240523" y="5641847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76199"/>
                  </a:moveTo>
                  <a:lnTo>
                    <a:pt x="304800" y="76199"/>
                  </a:lnTo>
                  <a:lnTo>
                    <a:pt x="304800" y="0"/>
                  </a:lnTo>
                  <a:lnTo>
                    <a:pt x="457200" y="152399"/>
                  </a:lnTo>
                  <a:lnTo>
                    <a:pt x="304800" y="304799"/>
                  </a:lnTo>
                  <a:lnTo>
                    <a:pt x="304800" y="228599"/>
                  </a:lnTo>
                  <a:lnTo>
                    <a:pt x="0" y="228599"/>
                  </a:lnTo>
                  <a:lnTo>
                    <a:pt x="0" y="761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5">
            <a:extLst>
              <a:ext uri="{FF2B5EF4-FFF2-40B4-BE49-F238E27FC236}">
                <a16:creationId xmlns:a16="http://schemas.microsoft.com/office/drawing/2014/main" id="{3A0FE55D-1F33-3CB7-A42D-EABB043FC6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6549" y="5608320"/>
            <a:ext cx="800100" cy="800099"/>
          </a:xfrm>
          <a:prstGeom prst="rect">
            <a:avLst/>
          </a:prstGeom>
        </p:spPr>
      </p:pic>
      <p:sp>
        <p:nvSpPr>
          <p:cNvPr id="58" name="object 56">
            <a:extLst>
              <a:ext uri="{FF2B5EF4-FFF2-40B4-BE49-F238E27FC236}">
                <a16:creationId xmlns:a16="http://schemas.microsoft.com/office/drawing/2014/main" id="{A4081FAD-5540-7A6C-AB6C-C628E4DB2887}"/>
              </a:ext>
            </a:extLst>
          </p:cNvPr>
          <p:cNvSpPr/>
          <p:nvPr/>
        </p:nvSpPr>
        <p:spPr>
          <a:xfrm>
            <a:off x="897254" y="5157979"/>
            <a:ext cx="9060180" cy="0"/>
          </a:xfrm>
          <a:custGeom>
            <a:avLst/>
            <a:gdLst/>
            <a:ahLst/>
            <a:cxnLst/>
            <a:rect l="l" t="t" r="r" b="b"/>
            <a:pathLst>
              <a:path w="9060180">
                <a:moveTo>
                  <a:pt x="0" y="0"/>
                </a:moveTo>
                <a:lnTo>
                  <a:pt x="9059799" y="0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34406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C63C-E821-E681-7ADD-3B10C262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53F4-DDE3-8081-2491-740968494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885" y="2035594"/>
            <a:ext cx="11155680" cy="4548085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000000"/>
                </a:solidFill>
                <a:effectLst/>
                <a:latin typeface="Helvetica" pitchFamily="2" charset="0"/>
              </a:rPr>
              <a:t>Define network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200" dirty="0">
                <a:solidFill>
                  <a:srgbClr val="000000"/>
                </a:solidFill>
                <a:effectLst/>
                <a:latin typeface="Helvetica" pitchFamily="2" charset="0"/>
              </a:rPr>
              <a:t>Loss function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200" dirty="0">
                <a:solidFill>
                  <a:srgbClr val="000000"/>
                </a:solidFill>
                <a:effectLst/>
                <a:latin typeface="Helvetica" pitchFamily="2" charset="0"/>
              </a:rPr>
              <a:t>Initialize network parameters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200" dirty="0">
                <a:solidFill>
                  <a:srgbClr val="000000"/>
                </a:solidFill>
                <a:effectLst/>
                <a:latin typeface="Helvetica" pitchFamily="2" charset="0"/>
              </a:rPr>
              <a:t>Get training data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Prepare batches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200" dirty="0">
                <a:solidFill>
                  <a:srgbClr val="000000"/>
                </a:solidFill>
                <a:effectLst/>
                <a:latin typeface="Helvetica" pitchFamily="2" charset="0"/>
              </a:rPr>
              <a:t>Feedforward one batch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Compute loss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Backpropagate gradients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Update network parameters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Repeat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476825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0588" y="807432"/>
            <a:ext cx="8962901" cy="696746"/>
          </a:xfrm>
          <a:prstGeom prst="rect">
            <a:avLst/>
          </a:prstGeom>
        </p:spPr>
        <p:txBody>
          <a:bodyPr vert="horz" wrap="square" lIns="0" tIns="19448" rIns="0" bIns="0" rtlCol="0" anchor="t">
            <a:spAutoFit/>
          </a:bodyPr>
          <a:lstStyle/>
          <a:p>
            <a:pPr marL="16913">
              <a:spcBef>
                <a:spcPts val="152"/>
              </a:spcBef>
            </a:pPr>
            <a:r>
              <a:rPr lang="en-US" spc="-193" dirty="0"/>
              <a:t>Hands on Experience: </a:t>
            </a:r>
            <a:r>
              <a:rPr spc="-193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2086" y="2403427"/>
            <a:ext cx="3031557" cy="1496478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>
              <a:spcBef>
                <a:spcPts val="140"/>
              </a:spcBef>
            </a:pPr>
            <a:r>
              <a:rPr sz="2397" spc="-146" dirty="0">
                <a:latin typeface="Tahoma"/>
                <a:cs typeface="Tahoma"/>
              </a:rPr>
              <a:t>50,000</a:t>
            </a:r>
            <a:r>
              <a:rPr sz="2397" spc="-152" dirty="0">
                <a:latin typeface="Tahoma"/>
                <a:cs typeface="Tahoma"/>
              </a:rPr>
              <a:t> </a:t>
            </a:r>
            <a:r>
              <a:rPr sz="2397" spc="-47" dirty="0">
                <a:latin typeface="Tahoma"/>
                <a:cs typeface="Tahoma"/>
              </a:rPr>
              <a:t>training</a:t>
            </a:r>
            <a:r>
              <a:rPr sz="2397" spc="-166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images</a:t>
            </a:r>
            <a:endParaRPr sz="2397">
              <a:latin typeface="Tahoma"/>
              <a:cs typeface="Tahoma"/>
            </a:endParaRPr>
          </a:p>
          <a:p>
            <a:pPr marL="200414">
              <a:spcBef>
                <a:spcPts val="7"/>
              </a:spcBef>
            </a:pPr>
            <a:r>
              <a:rPr sz="2397" spc="-67" dirty="0">
                <a:latin typeface="Tahoma"/>
                <a:cs typeface="Tahoma"/>
              </a:rPr>
              <a:t>each</a:t>
            </a:r>
            <a:r>
              <a:rPr sz="2397" spc="-186" dirty="0">
                <a:latin typeface="Tahoma"/>
                <a:cs typeface="Tahoma"/>
              </a:rPr>
              <a:t> </a:t>
            </a:r>
            <a:r>
              <a:rPr sz="2397" spc="-67" dirty="0">
                <a:latin typeface="Tahoma"/>
                <a:cs typeface="Tahoma"/>
              </a:rPr>
              <a:t>image</a:t>
            </a:r>
            <a:r>
              <a:rPr sz="2397" spc="-260" dirty="0">
                <a:latin typeface="Tahoma"/>
                <a:cs typeface="Tahoma"/>
              </a:rPr>
              <a:t> </a:t>
            </a:r>
            <a:r>
              <a:rPr sz="2397" dirty="0">
                <a:latin typeface="Tahoma"/>
                <a:cs typeface="Tahoma"/>
              </a:rPr>
              <a:t>is</a:t>
            </a:r>
            <a:r>
              <a:rPr sz="2397" spc="-272" dirty="0">
                <a:latin typeface="Tahoma"/>
                <a:cs typeface="Tahoma"/>
              </a:rPr>
              <a:t> </a:t>
            </a:r>
            <a:r>
              <a:rPr sz="2397" spc="-100" dirty="0">
                <a:latin typeface="Tahoma"/>
                <a:cs typeface="Tahoma"/>
              </a:rPr>
              <a:t>32x32x3</a:t>
            </a:r>
            <a:endParaRPr sz="2397">
              <a:latin typeface="Tahoma"/>
              <a:cs typeface="Tahoma"/>
            </a:endParaRPr>
          </a:p>
          <a:p>
            <a:pPr marL="16913">
              <a:spcBef>
                <a:spcPts val="2890"/>
              </a:spcBef>
            </a:pPr>
            <a:r>
              <a:rPr sz="2397" spc="-146" dirty="0">
                <a:latin typeface="Tahoma"/>
                <a:cs typeface="Tahoma"/>
              </a:rPr>
              <a:t>10,000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53" dirty="0">
                <a:latin typeface="Tahoma"/>
                <a:cs typeface="Tahoma"/>
              </a:rPr>
              <a:t>test</a:t>
            </a:r>
            <a:r>
              <a:rPr sz="2397" spc="-180" dirty="0">
                <a:latin typeface="Tahoma"/>
                <a:cs typeface="Tahoma"/>
              </a:rPr>
              <a:t> </a:t>
            </a:r>
            <a:r>
              <a:rPr sz="2397" spc="-13" dirty="0">
                <a:latin typeface="Tahoma"/>
                <a:cs typeface="Tahoma"/>
              </a:rPr>
              <a:t>images.</a:t>
            </a:r>
            <a:endParaRPr sz="2397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941" y="1690689"/>
            <a:ext cx="6368554" cy="47246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8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397" spc="-2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283" y="687030"/>
            <a:ext cx="9947881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06" dirty="0"/>
              <a:t>2021</a:t>
            </a:r>
            <a:r>
              <a:rPr sz="3995" spc="-406" dirty="0"/>
              <a:t> </a:t>
            </a:r>
            <a:r>
              <a:rPr sz="3995" spc="-213" dirty="0"/>
              <a:t>-</a:t>
            </a:r>
            <a:r>
              <a:rPr sz="3995" spc="-393" dirty="0"/>
              <a:t> </a:t>
            </a:r>
            <a:r>
              <a:rPr sz="3995" spc="-113" dirty="0"/>
              <a:t>Present:</a:t>
            </a:r>
            <a:r>
              <a:rPr sz="3995" spc="-466" dirty="0"/>
              <a:t> </a:t>
            </a:r>
            <a:r>
              <a:rPr sz="3995" spc="-100" dirty="0"/>
              <a:t>Transformers</a:t>
            </a:r>
            <a:r>
              <a:rPr sz="3995" spc="-386" dirty="0"/>
              <a:t> </a:t>
            </a:r>
            <a:r>
              <a:rPr sz="3995" spc="-120" dirty="0"/>
              <a:t>have</a:t>
            </a:r>
            <a:r>
              <a:rPr sz="3995" spc="-406" dirty="0"/>
              <a:t> </a:t>
            </a:r>
            <a:r>
              <a:rPr sz="3995" spc="-53" dirty="0"/>
              <a:t>taken</a:t>
            </a:r>
            <a:r>
              <a:rPr sz="3995" spc="-419" dirty="0"/>
              <a:t> </a:t>
            </a:r>
            <a:r>
              <a:rPr sz="3995" spc="-27" dirty="0"/>
              <a:t>over</a:t>
            </a:r>
            <a:endParaRPr sz="39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427" y="2581382"/>
            <a:ext cx="2319919" cy="3402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7254" y="1514477"/>
            <a:ext cx="2769414" cy="808786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lnSpc>
                <a:spcPts val="3183"/>
              </a:lnSpc>
              <a:spcBef>
                <a:spcPts val="160"/>
              </a:spcBef>
            </a:pPr>
            <a:r>
              <a:rPr sz="2663" spc="-160" dirty="0">
                <a:latin typeface="Tahoma"/>
                <a:cs typeface="Tahoma"/>
              </a:rPr>
              <a:t>2017:</a:t>
            </a:r>
            <a:r>
              <a:rPr sz="2663" spc="-293" dirty="0">
                <a:latin typeface="Tahoma"/>
                <a:cs typeface="Tahoma"/>
              </a:rPr>
              <a:t> </a:t>
            </a:r>
            <a:r>
              <a:rPr sz="2663" spc="-53" dirty="0">
                <a:latin typeface="Tahoma"/>
                <a:cs typeface="Tahoma"/>
              </a:rPr>
              <a:t>Transformers</a:t>
            </a:r>
            <a:endParaRPr sz="2663" dirty="0">
              <a:latin typeface="Tahoma"/>
              <a:cs typeface="Tahoma"/>
            </a:endParaRPr>
          </a:p>
          <a:p>
            <a:pPr marL="94711">
              <a:lnSpc>
                <a:spcPts val="3183"/>
              </a:lnSpc>
            </a:pPr>
            <a:r>
              <a:rPr sz="2663" spc="-60" dirty="0">
                <a:latin typeface="Tahoma"/>
                <a:cs typeface="Tahoma"/>
              </a:rPr>
              <a:t>for</a:t>
            </a:r>
            <a:r>
              <a:rPr sz="2663" spc="-186" dirty="0">
                <a:latin typeface="Tahoma"/>
                <a:cs typeface="Tahoma"/>
              </a:rPr>
              <a:t> </a:t>
            </a:r>
            <a:r>
              <a:rPr sz="2663" spc="-67" dirty="0">
                <a:latin typeface="Tahoma"/>
                <a:cs typeface="Tahoma"/>
              </a:rPr>
              <a:t>language</a:t>
            </a:r>
            <a:r>
              <a:rPr sz="2663" spc="-272" dirty="0">
                <a:latin typeface="Tahoma"/>
                <a:cs typeface="Tahoma"/>
              </a:rPr>
              <a:t> </a:t>
            </a:r>
            <a:r>
              <a:rPr sz="2663" spc="-27" dirty="0">
                <a:latin typeface="Tahoma"/>
                <a:cs typeface="Tahoma"/>
              </a:rPr>
              <a:t>tasks</a:t>
            </a:r>
            <a:endParaRPr sz="2663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3982" y="6395150"/>
            <a:ext cx="1367371" cy="381691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6913">
              <a:spcBef>
                <a:spcPts val="100"/>
              </a:spcBef>
            </a:pPr>
            <a:r>
              <a:rPr sz="2397" spc="-47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2397" spc="-27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14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397" spc="-2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97" spc="-67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239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7954" y="6120686"/>
            <a:ext cx="2373663" cy="513149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 marR="6765" indent="41436">
              <a:spcBef>
                <a:spcPts val="166"/>
              </a:spcBef>
            </a:pPr>
            <a:r>
              <a:rPr sz="1598" spc="-60" dirty="0">
                <a:latin typeface="Tahoma"/>
                <a:cs typeface="Tahoma"/>
              </a:rPr>
              <a:t>Vaswani</a:t>
            </a:r>
            <a:r>
              <a:rPr sz="1598" spc="-80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et</a:t>
            </a:r>
            <a:r>
              <a:rPr sz="1598" spc="-146" dirty="0">
                <a:latin typeface="Tahoma"/>
                <a:cs typeface="Tahoma"/>
              </a:rPr>
              <a:t> </a:t>
            </a:r>
            <a:r>
              <a:rPr sz="1598" spc="-53" dirty="0">
                <a:latin typeface="Tahoma"/>
                <a:cs typeface="Tahoma"/>
              </a:rPr>
              <a:t>al,</a:t>
            </a:r>
            <a:r>
              <a:rPr sz="1598" spc="-87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“Attention</a:t>
            </a:r>
            <a:r>
              <a:rPr sz="1598" spc="-93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is </a:t>
            </a:r>
            <a:r>
              <a:rPr sz="1598" spc="-13" dirty="0">
                <a:latin typeface="Tahoma"/>
                <a:cs typeface="Tahoma"/>
              </a:rPr>
              <a:t>all</a:t>
            </a:r>
            <a:r>
              <a:rPr sz="1598" spc="-87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you</a:t>
            </a:r>
            <a:r>
              <a:rPr sz="1598" spc="-193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need”,</a:t>
            </a:r>
            <a:r>
              <a:rPr sz="1598" spc="-127" dirty="0">
                <a:latin typeface="Tahoma"/>
                <a:cs typeface="Tahoma"/>
              </a:rPr>
              <a:t> </a:t>
            </a:r>
            <a:r>
              <a:rPr sz="1598" spc="-60" dirty="0">
                <a:latin typeface="Tahoma"/>
                <a:cs typeface="Tahoma"/>
              </a:rPr>
              <a:t>NeurIPS</a:t>
            </a:r>
            <a:r>
              <a:rPr sz="1598" spc="-186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2017</a:t>
            </a:r>
            <a:endParaRPr sz="1598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737" y="657835"/>
            <a:ext cx="9580059" cy="636984"/>
          </a:xfrm>
          <a:prstGeom prst="rect">
            <a:avLst/>
          </a:prstGeom>
        </p:spPr>
        <p:txBody>
          <a:bodyPr vert="horz" wrap="square" lIns="0" tIns="21986" rIns="0" bIns="0" rtlCol="0" anchor="t">
            <a:spAutoFit/>
          </a:bodyPr>
          <a:lstStyle/>
          <a:p>
            <a:pPr marL="16913">
              <a:spcBef>
                <a:spcPts val="173"/>
              </a:spcBef>
            </a:pPr>
            <a:r>
              <a:rPr sz="3995" spc="-206" dirty="0"/>
              <a:t>2021</a:t>
            </a:r>
            <a:r>
              <a:rPr sz="3995" spc="-406" dirty="0"/>
              <a:t> </a:t>
            </a:r>
            <a:r>
              <a:rPr sz="3995" spc="-213" dirty="0"/>
              <a:t>-</a:t>
            </a:r>
            <a:r>
              <a:rPr sz="3995" spc="-393" dirty="0"/>
              <a:t> </a:t>
            </a:r>
            <a:r>
              <a:rPr sz="3995" spc="-113" dirty="0"/>
              <a:t>Present:</a:t>
            </a:r>
            <a:r>
              <a:rPr sz="3995" spc="-466" dirty="0"/>
              <a:t> </a:t>
            </a:r>
            <a:r>
              <a:rPr sz="3995" spc="-100" dirty="0"/>
              <a:t>Transformers</a:t>
            </a:r>
            <a:r>
              <a:rPr sz="3995" spc="-386" dirty="0"/>
              <a:t> </a:t>
            </a:r>
            <a:r>
              <a:rPr sz="3995" spc="-120" dirty="0"/>
              <a:t>have</a:t>
            </a:r>
            <a:r>
              <a:rPr sz="3995" spc="-406" dirty="0"/>
              <a:t> </a:t>
            </a:r>
            <a:r>
              <a:rPr sz="3995" spc="-53" dirty="0"/>
              <a:t>taken</a:t>
            </a:r>
            <a:r>
              <a:rPr sz="3995" spc="-419" dirty="0"/>
              <a:t> </a:t>
            </a:r>
            <a:r>
              <a:rPr sz="3995" spc="-27" dirty="0"/>
              <a:t>over</a:t>
            </a:r>
            <a:endParaRPr sz="39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495" y="2463581"/>
            <a:ext cx="2319919" cy="3402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01322" y="1396676"/>
            <a:ext cx="2769414" cy="808786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marL="16913">
              <a:lnSpc>
                <a:spcPts val="3183"/>
              </a:lnSpc>
              <a:spcBef>
                <a:spcPts val="160"/>
              </a:spcBef>
            </a:pPr>
            <a:r>
              <a:rPr sz="2663" spc="-160" dirty="0">
                <a:latin typeface="Tahoma"/>
                <a:cs typeface="Tahoma"/>
              </a:rPr>
              <a:t>2017:</a:t>
            </a:r>
            <a:r>
              <a:rPr sz="2663" spc="-293" dirty="0">
                <a:latin typeface="Tahoma"/>
                <a:cs typeface="Tahoma"/>
              </a:rPr>
              <a:t> </a:t>
            </a:r>
            <a:r>
              <a:rPr sz="2663" spc="-53" dirty="0">
                <a:latin typeface="Tahoma"/>
                <a:cs typeface="Tahoma"/>
              </a:rPr>
              <a:t>Transformers</a:t>
            </a:r>
            <a:endParaRPr sz="2663" dirty="0">
              <a:latin typeface="Tahoma"/>
              <a:cs typeface="Tahoma"/>
            </a:endParaRPr>
          </a:p>
          <a:p>
            <a:pPr marL="94711">
              <a:lnSpc>
                <a:spcPts val="3183"/>
              </a:lnSpc>
            </a:pPr>
            <a:r>
              <a:rPr sz="2663" spc="-60" dirty="0">
                <a:latin typeface="Tahoma"/>
                <a:cs typeface="Tahoma"/>
              </a:rPr>
              <a:t>for</a:t>
            </a:r>
            <a:r>
              <a:rPr sz="2663" spc="-186" dirty="0">
                <a:latin typeface="Tahoma"/>
                <a:cs typeface="Tahoma"/>
              </a:rPr>
              <a:t> </a:t>
            </a:r>
            <a:r>
              <a:rPr sz="2663" spc="-67" dirty="0">
                <a:latin typeface="Tahoma"/>
                <a:cs typeface="Tahoma"/>
              </a:rPr>
              <a:t>language</a:t>
            </a:r>
            <a:r>
              <a:rPr sz="2663" spc="-272" dirty="0">
                <a:latin typeface="Tahoma"/>
                <a:cs typeface="Tahoma"/>
              </a:rPr>
              <a:t> </a:t>
            </a:r>
            <a:r>
              <a:rPr sz="2663" spc="-27" dirty="0">
                <a:latin typeface="Tahoma"/>
                <a:cs typeface="Tahoma"/>
              </a:rPr>
              <a:t>tasks</a:t>
            </a:r>
            <a:endParaRPr sz="2663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7830" y="2641995"/>
            <a:ext cx="5848245" cy="30126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67497" y="1332346"/>
            <a:ext cx="2775334" cy="808786"/>
          </a:xfrm>
          <a:prstGeom prst="rect">
            <a:avLst/>
          </a:prstGeom>
        </p:spPr>
        <p:txBody>
          <a:bodyPr vert="horz" wrap="square" lIns="0" tIns="20295" rIns="0" bIns="0" rtlCol="0">
            <a:spAutoFit/>
          </a:bodyPr>
          <a:lstStyle/>
          <a:p>
            <a:pPr algn="ctr">
              <a:lnSpc>
                <a:spcPts val="3183"/>
              </a:lnSpc>
              <a:spcBef>
                <a:spcPts val="160"/>
              </a:spcBef>
            </a:pPr>
            <a:r>
              <a:rPr sz="2663" spc="-152" dirty="0">
                <a:latin typeface="Tahoma"/>
                <a:cs typeface="Tahoma"/>
              </a:rPr>
              <a:t>2021:</a:t>
            </a:r>
            <a:r>
              <a:rPr sz="2663" spc="-313" dirty="0">
                <a:latin typeface="Tahoma"/>
                <a:cs typeface="Tahoma"/>
              </a:rPr>
              <a:t> </a:t>
            </a:r>
            <a:r>
              <a:rPr sz="2663" spc="-40" dirty="0">
                <a:latin typeface="Tahoma"/>
                <a:cs typeface="Tahoma"/>
              </a:rPr>
              <a:t>Transformers</a:t>
            </a:r>
            <a:endParaRPr sz="2663">
              <a:latin typeface="Tahoma"/>
              <a:cs typeface="Tahoma"/>
            </a:endParaRPr>
          </a:p>
          <a:p>
            <a:pPr algn="ctr">
              <a:lnSpc>
                <a:spcPts val="3183"/>
              </a:lnSpc>
            </a:pPr>
            <a:r>
              <a:rPr sz="2663" spc="-60" dirty="0">
                <a:latin typeface="Tahoma"/>
                <a:cs typeface="Tahoma"/>
              </a:rPr>
              <a:t>for</a:t>
            </a:r>
            <a:r>
              <a:rPr sz="2663" spc="-193" dirty="0">
                <a:latin typeface="Tahoma"/>
                <a:cs typeface="Tahoma"/>
              </a:rPr>
              <a:t> </a:t>
            </a:r>
            <a:r>
              <a:rPr sz="2663" spc="-40" dirty="0">
                <a:latin typeface="Tahoma"/>
                <a:cs typeface="Tahoma"/>
              </a:rPr>
              <a:t>vision</a:t>
            </a:r>
            <a:r>
              <a:rPr sz="2663" spc="-253" dirty="0">
                <a:latin typeface="Tahoma"/>
                <a:cs typeface="Tahoma"/>
              </a:rPr>
              <a:t> </a:t>
            </a:r>
            <a:r>
              <a:rPr sz="2663" spc="-27" dirty="0">
                <a:latin typeface="Tahoma"/>
                <a:cs typeface="Tahoma"/>
              </a:rPr>
              <a:t>tasks</a:t>
            </a:r>
            <a:endParaRPr sz="2663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151" y="5858395"/>
            <a:ext cx="3179541" cy="75648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067" marR="6765" indent="10148" algn="ctr">
              <a:spcBef>
                <a:spcPts val="146"/>
              </a:spcBef>
            </a:pPr>
            <a:r>
              <a:rPr sz="1598" spc="-40" dirty="0">
                <a:latin typeface="Tahoma"/>
                <a:cs typeface="Tahoma"/>
              </a:rPr>
              <a:t>Dosovitskiy</a:t>
            </a:r>
            <a:r>
              <a:rPr sz="1598" spc="-140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et</a:t>
            </a:r>
            <a:r>
              <a:rPr sz="1598" spc="-152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al,</a:t>
            </a:r>
            <a:r>
              <a:rPr sz="1598" spc="-200" dirty="0">
                <a:latin typeface="Tahoma"/>
                <a:cs typeface="Tahoma"/>
              </a:rPr>
              <a:t> </a:t>
            </a:r>
            <a:r>
              <a:rPr sz="1598" spc="-40" dirty="0">
                <a:latin typeface="Tahoma"/>
                <a:cs typeface="Tahoma"/>
              </a:rPr>
              <a:t>“An</a:t>
            </a:r>
            <a:r>
              <a:rPr sz="1598" spc="-93" dirty="0">
                <a:latin typeface="Tahoma"/>
                <a:cs typeface="Tahoma"/>
              </a:rPr>
              <a:t> </a:t>
            </a:r>
            <a:r>
              <a:rPr sz="1598" spc="-87" dirty="0">
                <a:latin typeface="Tahoma"/>
                <a:cs typeface="Tahoma"/>
              </a:rPr>
              <a:t>Image</a:t>
            </a:r>
            <a:r>
              <a:rPr sz="1598" spc="-213" dirty="0">
                <a:latin typeface="Tahoma"/>
                <a:cs typeface="Tahoma"/>
              </a:rPr>
              <a:t> </a:t>
            </a:r>
            <a:r>
              <a:rPr sz="1598" spc="-13" dirty="0">
                <a:latin typeface="Tahoma"/>
                <a:cs typeface="Tahoma"/>
              </a:rPr>
              <a:t>is</a:t>
            </a:r>
            <a:r>
              <a:rPr sz="1598" spc="-80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Worth </a:t>
            </a:r>
            <a:r>
              <a:rPr sz="1598" spc="-93" dirty="0">
                <a:latin typeface="Tahoma"/>
                <a:cs typeface="Tahoma"/>
              </a:rPr>
              <a:t>16x16</a:t>
            </a:r>
            <a:r>
              <a:rPr sz="1598" spc="-80" dirty="0">
                <a:latin typeface="Tahoma"/>
                <a:cs typeface="Tahoma"/>
              </a:rPr>
              <a:t> </a:t>
            </a:r>
            <a:r>
              <a:rPr sz="1598" spc="-93" dirty="0">
                <a:latin typeface="Tahoma"/>
                <a:cs typeface="Tahoma"/>
              </a:rPr>
              <a:t>Words:</a:t>
            </a:r>
            <a:r>
              <a:rPr sz="1598" spc="-173" dirty="0">
                <a:latin typeface="Tahoma"/>
                <a:cs typeface="Tahoma"/>
              </a:rPr>
              <a:t> </a:t>
            </a:r>
            <a:r>
              <a:rPr sz="1598" spc="-53" dirty="0">
                <a:latin typeface="Tahoma"/>
                <a:cs typeface="Tahoma"/>
              </a:rPr>
              <a:t>Transformers</a:t>
            </a:r>
            <a:r>
              <a:rPr sz="1598" spc="-152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for</a:t>
            </a:r>
            <a:r>
              <a:rPr sz="1598" spc="-127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Image </a:t>
            </a:r>
            <a:r>
              <a:rPr sz="1598" spc="-33" dirty="0">
                <a:latin typeface="Tahoma"/>
                <a:cs typeface="Tahoma"/>
              </a:rPr>
              <a:t>Recognition</a:t>
            </a:r>
            <a:r>
              <a:rPr sz="1598" spc="-87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at</a:t>
            </a:r>
            <a:r>
              <a:rPr sz="1598" spc="-133" dirty="0">
                <a:latin typeface="Tahoma"/>
                <a:cs typeface="Tahoma"/>
              </a:rPr>
              <a:t> </a:t>
            </a:r>
            <a:r>
              <a:rPr sz="1598" spc="-40" dirty="0">
                <a:latin typeface="Tahoma"/>
                <a:cs typeface="Tahoma"/>
              </a:rPr>
              <a:t>Scale”,</a:t>
            </a:r>
            <a:r>
              <a:rPr sz="1598" spc="-73" dirty="0">
                <a:latin typeface="Tahoma"/>
                <a:cs typeface="Tahoma"/>
              </a:rPr>
              <a:t> </a:t>
            </a:r>
            <a:r>
              <a:rPr sz="1598" spc="-100" dirty="0">
                <a:latin typeface="Tahoma"/>
                <a:cs typeface="Tahoma"/>
              </a:rPr>
              <a:t>ICLR</a:t>
            </a:r>
            <a:r>
              <a:rPr sz="1598" spc="-246" dirty="0">
                <a:latin typeface="Tahoma"/>
                <a:cs typeface="Tahoma"/>
              </a:rPr>
              <a:t> </a:t>
            </a:r>
            <a:r>
              <a:rPr sz="1598" spc="-27" dirty="0">
                <a:latin typeface="Tahoma"/>
                <a:cs typeface="Tahoma"/>
              </a:rPr>
              <a:t>2021</a:t>
            </a:r>
            <a:endParaRPr sz="1598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2022" y="6006203"/>
            <a:ext cx="2373663" cy="509733"/>
          </a:xfrm>
          <a:prstGeom prst="rect">
            <a:avLst/>
          </a:prstGeom>
        </p:spPr>
        <p:txBody>
          <a:bodyPr vert="horz" wrap="square" lIns="0" tIns="17758" rIns="0" bIns="0" rtlCol="0">
            <a:spAutoFit/>
          </a:bodyPr>
          <a:lstStyle/>
          <a:p>
            <a:pPr marL="16913" marR="6765" indent="41436">
              <a:spcBef>
                <a:spcPts val="140"/>
              </a:spcBef>
            </a:pPr>
            <a:r>
              <a:rPr sz="1598" spc="-60" dirty="0">
                <a:latin typeface="Tahoma"/>
                <a:cs typeface="Tahoma"/>
              </a:rPr>
              <a:t>Vaswani</a:t>
            </a:r>
            <a:r>
              <a:rPr sz="1598" spc="-80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et</a:t>
            </a:r>
            <a:r>
              <a:rPr sz="1598" spc="-146" dirty="0">
                <a:latin typeface="Tahoma"/>
                <a:cs typeface="Tahoma"/>
              </a:rPr>
              <a:t> </a:t>
            </a:r>
            <a:r>
              <a:rPr sz="1598" spc="-53" dirty="0">
                <a:latin typeface="Tahoma"/>
                <a:cs typeface="Tahoma"/>
              </a:rPr>
              <a:t>al,</a:t>
            </a:r>
            <a:r>
              <a:rPr sz="1598" spc="-87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“Attention</a:t>
            </a:r>
            <a:r>
              <a:rPr sz="1598" spc="-93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is </a:t>
            </a:r>
            <a:r>
              <a:rPr sz="1598" spc="-13" dirty="0">
                <a:latin typeface="Tahoma"/>
                <a:cs typeface="Tahoma"/>
              </a:rPr>
              <a:t>all</a:t>
            </a:r>
            <a:r>
              <a:rPr sz="1598" spc="-87" dirty="0">
                <a:latin typeface="Tahoma"/>
                <a:cs typeface="Tahoma"/>
              </a:rPr>
              <a:t> </a:t>
            </a:r>
            <a:r>
              <a:rPr sz="1598" spc="-33" dirty="0">
                <a:latin typeface="Tahoma"/>
                <a:cs typeface="Tahoma"/>
              </a:rPr>
              <a:t>you</a:t>
            </a:r>
            <a:r>
              <a:rPr sz="1598" spc="-193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need”,</a:t>
            </a:r>
            <a:r>
              <a:rPr sz="1598" spc="-127" dirty="0">
                <a:latin typeface="Tahoma"/>
                <a:cs typeface="Tahoma"/>
              </a:rPr>
              <a:t> </a:t>
            </a:r>
            <a:r>
              <a:rPr sz="1598" spc="-60" dirty="0">
                <a:latin typeface="Tahoma"/>
                <a:cs typeface="Tahoma"/>
              </a:rPr>
              <a:t>NeurIPS</a:t>
            </a:r>
            <a:r>
              <a:rPr sz="1598" spc="-186" dirty="0">
                <a:latin typeface="Tahoma"/>
                <a:cs typeface="Tahoma"/>
              </a:rPr>
              <a:t> </a:t>
            </a:r>
            <a:r>
              <a:rPr sz="1598" spc="-47" dirty="0">
                <a:latin typeface="Tahoma"/>
                <a:cs typeface="Tahoma"/>
              </a:rPr>
              <a:t>2017</a:t>
            </a:r>
            <a:endParaRPr sz="1598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6441" y="2180390"/>
            <a:ext cx="8999117" cy="2497220"/>
          </a:xfrm>
          <a:prstGeom prst="rect">
            <a:avLst/>
          </a:prstGeom>
        </p:spPr>
        <p:txBody>
          <a:bodyPr vert="horz" wrap="square" lIns="0" tIns="34669" rIns="0" bIns="0" rtlCol="0" anchor="t">
            <a:spAutoFit/>
          </a:bodyPr>
          <a:lstStyle/>
          <a:p>
            <a:pPr marL="297662" marR="6765" indent="-281593" algn="ctr">
              <a:lnSpc>
                <a:spcPts val="6445"/>
              </a:lnSpc>
              <a:spcBef>
                <a:spcPts val="272"/>
              </a:spcBef>
            </a:pPr>
            <a:r>
              <a:rPr sz="5393" spc="-33" dirty="0">
                <a:solidFill>
                  <a:srgbClr val="C00000"/>
                </a:solidFill>
                <a:latin typeface="Calibri"/>
                <a:cs typeface="Calibri"/>
              </a:rPr>
              <a:t>Despite</a:t>
            </a:r>
            <a:r>
              <a:rPr sz="5393" spc="-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5393" spc="-2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spc="-27" dirty="0">
                <a:solidFill>
                  <a:srgbClr val="C00000"/>
                </a:solidFill>
                <a:latin typeface="Calibri"/>
                <a:cs typeface="Calibri"/>
              </a:rPr>
              <a:t>successes,</a:t>
            </a:r>
            <a:r>
              <a:rPr sz="5393" spc="-1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spc="-13" dirty="0">
                <a:solidFill>
                  <a:srgbClr val="C00000"/>
                </a:solidFill>
                <a:latin typeface="Calibri"/>
                <a:cs typeface="Calibri"/>
              </a:rPr>
              <a:t>computer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vision</a:t>
            </a:r>
            <a:r>
              <a:rPr sz="5393" spc="-2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still</a:t>
            </a:r>
            <a:r>
              <a:rPr sz="5393" spc="-2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has</a:t>
            </a:r>
            <a:r>
              <a:rPr sz="5393" spc="-20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5393" spc="-2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long</a:t>
            </a:r>
            <a:r>
              <a:rPr sz="5393" spc="-24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5393" spc="-16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5393" spc="-18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93" spc="-33" dirty="0">
                <a:solidFill>
                  <a:srgbClr val="C00000"/>
                </a:solidFill>
                <a:latin typeface="Calibri"/>
                <a:cs typeface="Calibri"/>
              </a:rPr>
              <a:t>go</a:t>
            </a:r>
            <a:endParaRPr sz="5393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0047" y="4062302"/>
            <a:ext cx="7910800" cy="1278791"/>
          </a:xfrm>
          <a:prstGeom prst="rect">
            <a:avLst/>
          </a:prstGeom>
        </p:spPr>
        <p:txBody>
          <a:bodyPr vert="horz" wrap="square" lIns="0" tIns="119233" rIns="0" bIns="0" rtlCol="0">
            <a:spAutoFit/>
          </a:bodyPr>
          <a:lstStyle/>
          <a:p>
            <a:pPr marL="16913" marR="6765" indent="1187264">
              <a:lnSpc>
                <a:spcPts val="4514"/>
              </a:lnSpc>
              <a:spcBef>
                <a:spcPts val="939"/>
              </a:spcBef>
            </a:pPr>
            <a:r>
              <a:rPr sz="4395" dirty="0">
                <a:latin typeface="Arial Black"/>
                <a:cs typeface="Arial Black"/>
              </a:rPr>
              <a:t>Data</a:t>
            </a:r>
            <a:r>
              <a:rPr sz="4395" spc="-173" dirty="0">
                <a:latin typeface="Arial Black"/>
                <a:cs typeface="Arial Black"/>
              </a:rPr>
              <a:t> </a:t>
            </a:r>
            <a:r>
              <a:rPr sz="4395" dirty="0">
                <a:solidFill>
                  <a:srgbClr val="93CECE"/>
                </a:solidFill>
                <a:latin typeface="Arial Black"/>
                <a:cs typeface="Arial Black"/>
              </a:rPr>
              <a:t>is</a:t>
            </a:r>
            <a:r>
              <a:rPr sz="4395" spc="-73" dirty="0">
                <a:solidFill>
                  <a:srgbClr val="93CECE"/>
                </a:solidFill>
                <a:latin typeface="Arial Black"/>
                <a:cs typeface="Arial Black"/>
              </a:rPr>
              <a:t> </a:t>
            </a:r>
            <a:r>
              <a:rPr sz="4395" dirty="0">
                <a:solidFill>
                  <a:srgbClr val="93CECE"/>
                </a:solidFill>
                <a:latin typeface="Arial Black"/>
                <a:cs typeface="Arial Black"/>
              </a:rPr>
              <a:t>critical</a:t>
            </a:r>
            <a:r>
              <a:rPr sz="4395" spc="-87" dirty="0">
                <a:solidFill>
                  <a:srgbClr val="93CECE"/>
                </a:solidFill>
                <a:latin typeface="Arial Black"/>
                <a:cs typeface="Arial Black"/>
              </a:rPr>
              <a:t> </a:t>
            </a:r>
            <a:r>
              <a:rPr sz="4395" spc="-33" dirty="0">
                <a:solidFill>
                  <a:srgbClr val="93CECE"/>
                </a:solidFill>
                <a:latin typeface="Arial Black"/>
                <a:cs typeface="Arial Black"/>
              </a:rPr>
              <a:t>for </a:t>
            </a:r>
            <a:r>
              <a:rPr sz="4395" dirty="0">
                <a:solidFill>
                  <a:srgbClr val="93CECE"/>
                </a:solidFill>
                <a:latin typeface="Arial Black"/>
                <a:cs typeface="Arial Black"/>
              </a:rPr>
              <a:t>Deep</a:t>
            </a:r>
            <a:r>
              <a:rPr sz="4395" spc="-7" dirty="0">
                <a:solidFill>
                  <a:srgbClr val="93CECE"/>
                </a:solidFill>
                <a:latin typeface="Arial Black"/>
                <a:cs typeface="Arial Black"/>
              </a:rPr>
              <a:t> </a:t>
            </a:r>
            <a:r>
              <a:rPr sz="4395" dirty="0">
                <a:solidFill>
                  <a:srgbClr val="93CECE"/>
                </a:solidFill>
                <a:latin typeface="Arial Black"/>
                <a:cs typeface="Arial Black"/>
              </a:rPr>
              <a:t>Learning</a:t>
            </a:r>
            <a:r>
              <a:rPr sz="4395" spc="-20" dirty="0">
                <a:solidFill>
                  <a:srgbClr val="93CECE"/>
                </a:solidFill>
                <a:latin typeface="Arial Black"/>
                <a:cs typeface="Arial Black"/>
              </a:rPr>
              <a:t> </a:t>
            </a:r>
            <a:r>
              <a:rPr sz="4395" spc="-13" dirty="0">
                <a:latin typeface="Arial Black"/>
                <a:cs typeface="Arial Black"/>
              </a:rPr>
              <a:t>algorithms</a:t>
            </a:r>
            <a:endParaRPr sz="4395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063" y="2474122"/>
            <a:ext cx="3531320" cy="828710"/>
          </a:xfrm>
          <a:custGeom>
            <a:avLst/>
            <a:gdLst/>
            <a:ahLst/>
            <a:cxnLst/>
            <a:rect l="l" t="t" r="r" b="b"/>
            <a:pathLst>
              <a:path w="2651760" h="622300">
                <a:moveTo>
                  <a:pt x="2548128" y="0"/>
                </a:moveTo>
                <a:lnTo>
                  <a:pt x="103631" y="0"/>
                </a:lnTo>
                <a:lnTo>
                  <a:pt x="63291" y="8157"/>
                </a:lnTo>
                <a:lnTo>
                  <a:pt x="30351" y="30400"/>
                </a:lnTo>
                <a:lnTo>
                  <a:pt x="8143" y="63382"/>
                </a:lnTo>
                <a:lnTo>
                  <a:pt x="0" y="103758"/>
                </a:lnTo>
                <a:lnTo>
                  <a:pt x="0" y="518668"/>
                </a:lnTo>
                <a:lnTo>
                  <a:pt x="8143" y="559024"/>
                </a:lnTo>
                <a:lnTo>
                  <a:pt x="30351" y="591962"/>
                </a:lnTo>
                <a:lnTo>
                  <a:pt x="63291" y="614162"/>
                </a:lnTo>
                <a:lnTo>
                  <a:pt x="103631" y="622300"/>
                </a:lnTo>
                <a:lnTo>
                  <a:pt x="2548128" y="622300"/>
                </a:lnTo>
                <a:lnTo>
                  <a:pt x="2588484" y="614162"/>
                </a:lnTo>
                <a:lnTo>
                  <a:pt x="2621422" y="591962"/>
                </a:lnTo>
                <a:lnTo>
                  <a:pt x="2643622" y="559024"/>
                </a:lnTo>
                <a:lnTo>
                  <a:pt x="2651760" y="518668"/>
                </a:lnTo>
                <a:lnTo>
                  <a:pt x="2651760" y="103758"/>
                </a:lnTo>
                <a:lnTo>
                  <a:pt x="2643622" y="63382"/>
                </a:lnTo>
                <a:lnTo>
                  <a:pt x="2621422" y="30400"/>
                </a:lnTo>
                <a:lnTo>
                  <a:pt x="2588484" y="8157"/>
                </a:lnTo>
                <a:lnTo>
                  <a:pt x="2548128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4" name="object 4"/>
          <p:cNvSpPr txBox="1"/>
          <p:nvPr/>
        </p:nvSpPr>
        <p:spPr>
          <a:xfrm>
            <a:off x="776643" y="2619569"/>
            <a:ext cx="2900486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b="1" spc="-13" dirty="0">
                <a:latin typeface="Arial"/>
                <a:cs typeface="Arial"/>
              </a:rPr>
              <a:t>Understanding</a:t>
            </a:r>
            <a:endParaRPr sz="3129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39147" y="2486299"/>
            <a:ext cx="3544005" cy="828710"/>
          </a:xfrm>
          <a:custGeom>
            <a:avLst/>
            <a:gdLst/>
            <a:ahLst/>
            <a:cxnLst/>
            <a:rect l="l" t="t" r="r" b="b"/>
            <a:pathLst>
              <a:path w="2661284" h="622300">
                <a:moveTo>
                  <a:pt x="2557272" y="0"/>
                </a:moveTo>
                <a:lnTo>
                  <a:pt x="103631" y="0"/>
                </a:lnTo>
                <a:lnTo>
                  <a:pt x="63275" y="8157"/>
                </a:lnTo>
                <a:lnTo>
                  <a:pt x="30337" y="30400"/>
                </a:lnTo>
                <a:lnTo>
                  <a:pt x="8137" y="63382"/>
                </a:lnTo>
                <a:lnTo>
                  <a:pt x="0" y="103759"/>
                </a:lnTo>
                <a:lnTo>
                  <a:pt x="0" y="518668"/>
                </a:lnTo>
                <a:lnTo>
                  <a:pt x="8137" y="559024"/>
                </a:lnTo>
                <a:lnTo>
                  <a:pt x="30337" y="591962"/>
                </a:lnTo>
                <a:lnTo>
                  <a:pt x="63275" y="614162"/>
                </a:lnTo>
                <a:lnTo>
                  <a:pt x="103631" y="622300"/>
                </a:lnTo>
                <a:lnTo>
                  <a:pt x="2557272" y="622300"/>
                </a:lnTo>
                <a:lnTo>
                  <a:pt x="2597628" y="614162"/>
                </a:lnTo>
                <a:lnTo>
                  <a:pt x="2630566" y="591962"/>
                </a:lnTo>
                <a:lnTo>
                  <a:pt x="2652766" y="559024"/>
                </a:lnTo>
                <a:lnTo>
                  <a:pt x="2660904" y="518668"/>
                </a:lnTo>
                <a:lnTo>
                  <a:pt x="2660904" y="103759"/>
                </a:lnTo>
                <a:lnTo>
                  <a:pt x="2652766" y="63382"/>
                </a:lnTo>
                <a:lnTo>
                  <a:pt x="2630566" y="30400"/>
                </a:lnTo>
                <a:lnTo>
                  <a:pt x="2597628" y="8157"/>
                </a:lnTo>
                <a:lnTo>
                  <a:pt x="2557272" y="0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" name="object 6"/>
          <p:cNvSpPr txBox="1"/>
          <p:nvPr/>
        </p:nvSpPr>
        <p:spPr>
          <a:xfrm>
            <a:off x="8930190" y="2636820"/>
            <a:ext cx="2179170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b="1" spc="-13" dirty="0">
                <a:latin typeface="Arial"/>
                <a:cs typeface="Arial"/>
              </a:rPr>
              <a:t>Generation</a:t>
            </a:r>
            <a:endParaRPr sz="3129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42517" y="2486299"/>
            <a:ext cx="3544005" cy="828710"/>
          </a:xfrm>
          <a:custGeom>
            <a:avLst/>
            <a:gdLst/>
            <a:ahLst/>
            <a:cxnLst/>
            <a:rect l="l" t="t" r="r" b="b"/>
            <a:pathLst>
              <a:path w="2661285" h="622300">
                <a:moveTo>
                  <a:pt x="2557272" y="0"/>
                </a:moveTo>
                <a:lnTo>
                  <a:pt x="103632" y="0"/>
                </a:lnTo>
                <a:lnTo>
                  <a:pt x="63275" y="8157"/>
                </a:lnTo>
                <a:lnTo>
                  <a:pt x="30337" y="30400"/>
                </a:lnTo>
                <a:lnTo>
                  <a:pt x="8137" y="63382"/>
                </a:lnTo>
                <a:lnTo>
                  <a:pt x="0" y="103759"/>
                </a:lnTo>
                <a:lnTo>
                  <a:pt x="0" y="518668"/>
                </a:lnTo>
                <a:lnTo>
                  <a:pt x="8137" y="559024"/>
                </a:lnTo>
                <a:lnTo>
                  <a:pt x="30337" y="591962"/>
                </a:lnTo>
                <a:lnTo>
                  <a:pt x="63275" y="614162"/>
                </a:lnTo>
                <a:lnTo>
                  <a:pt x="103632" y="622300"/>
                </a:lnTo>
                <a:lnTo>
                  <a:pt x="2557272" y="622300"/>
                </a:lnTo>
                <a:lnTo>
                  <a:pt x="2597628" y="614162"/>
                </a:lnTo>
                <a:lnTo>
                  <a:pt x="2630566" y="591962"/>
                </a:lnTo>
                <a:lnTo>
                  <a:pt x="2652766" y="559024"/>
                </a:lnTo>
                <a:lnTo>
                  <a:pt x="2660904" y="518668"/>
                </a:lnTo>
                <a:lnTo>
                  <a:pt x="2660904" y="103759"/>
                </a:lnTo>
                <a:lnTo>
                  <a:pt x="2652766" y="63382"/>
                </a:lnTo>
                <a:lnTo>
                  <a:pt x="2630566" y="30400"/>
                </a:lnTo>
                <a:lnTo>
                  <a:pt x="2597628" y="8157"/>
                </a:lnTo>
                <a:lnTo>
                  <a:pt x="2557272" y="0"/>
                </a:lnTo>
                <a:close/>
              </a:path>
            </a:pathLst>
          </a:custGeom>
          <a:solidFill>
            <a:srgbClr val="EBF0DE"/>
          </a:solidFill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8" name="object 8"/>
          <p:cNvSpPr txBox="1"/>
          <p:nvPr/>
        </p:nvSpPr>
        <p:spPr>
          <a:xfrm>
            <a:off x="5067554" y="2634283"/>
            <a:ext cx="2108983" cy="503743"/>
          </a:xfrm>
          <a:prstGeom prst="rect">
            <a:avLst/>
          </a:prstGeom>
        </p:spPr>
        <p:txBody>
          <a:bodyPr vert="horz" wrap="square" lIns="0" tIns="21986" rIns="0" bIns="0" rtlCol="0">
            <a:spAutoFit/>
          </a:bodyPr>
          <a:lstStyle/>
          <a:p>
            <a:pPr marL="16913">
              <a:spcBef>
                <a:spcPts val="173"/>
              </a:spcBef>
            </a:pPr>
            <a:r>
              <a:rPr sz="3129" b="1" spc="-13" dirty="0">
                <a:latin typeface="Arial"/>
                <a:cs typeface="Arial"/>
              </a:rPr>
              <a:t>Reasoning</a:t>
            </a:r>
            <a:endParaRPr sz="3129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76643" y="1059185"/>
            <a:ext cx="14855899" cy="1180649"/>
          </a:xfrm>
          <a:prstGeom prst="rect">
            <a:avLst/>
          </a:prstGeom>
        </p:spPr>
        <p:txBody>
          <a:bodyPr vert="horz" wrap="square" lIns="0" tIns="560393" rIns="0" bIns="0" rtlCol="0" anchor="t">
            <a:spAutoFit/>
          </a:bodyPr>
          <a:lstStyle/>
          <a:p>
            <a:pPr marL="3043421">
              <a:spcBef>
                <a:spcPts val="173"/>
              </a:spcBef>
            </a:pPr>
            <a:r>
              <a:rPr sz="3995" dirty="0">
                <a:latin typeface="Calibri"/>
                <a:cs typeface="Calibri"/>
              </a:rPr>
              <a:t>Visual</a:t>
            </a:r>
            <a:r>
              <a:rPr sz="3995" spc="-133" dirty="0">
                <a:latin typeface="Calibri"/>
                <a:cs typeface="Calibri"/>
              </a:rPr>
              <a:t> </a:t>
            </a:r>
            <a:r>
              <a:rPr sz="3995" dirty="0">
                <a:latin typeface="Calibri"/>
                <a:cs typeface="Calibri"/>
              </a:rPr>
              <a:t>Intelligence</a:t>
            </a:r>
            <a:r>
              <a:rPr sz="3995" spc="-146" dirty="0">
                <a:latin typeface="Calibri"/>
                <a:cs typeface="Calibri"/>
              </a:rPr>
              <a:t> </a:t>
            </a:r>
            <a:r>
              <a:rPr sz="3995" spc="-13" dirty="0">
                <a:latin typeface="Calibri"/>
                <a:cs typeface="Calibri"/>
              </a:rPr>
              <a:t>entails</a:t>
            </a:r>
            <a:endParaRPr sz="399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7543" y="572507"/>
            <a:ext cx="7872733" cy="697602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16913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Computer</a:t>
            </a:r>
            <a:r>
              <a:rPr spc="-9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Vision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1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Cause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27" dirty="0">
                <a:latin typeface="Calibri"/>
                <a:cs typeface="Calibri"/>
              </a:rPr>
              <a:t>Harm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4647" y="1500554"/>
            <a:ext cx="9199529" cy="446663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  <a:tabLst>
                <a:tab pos="6327000" algn="l"/>
              </a:tabLst>
            </a:pPr>
            <a:r>
              <a:rPr sz="2797" dirty="0">
                <a:latin typeface="Calibri"/>
                <a:cs typeface="Calibri"/>
              </a:rPr>
              <a:t>Harmful</a:t>
            </a:r>
            <a:r>
              <a:rPr sz="2797" spc="-73" dirty="0">
                <a:latin typeface="Calibri"/>
                <a:cs typeface="Calibri"/>
              </a:rPr>
              <a:t> </a:t>
            </a:r>
            <a:r>
              <a:rPr sz="2797" spc="-13" dirty="0">
                <a:latin typeface="Calibri"/>
                <a:cs typeface="Calibri"/>
              </a:rPr>
              <a:t>Stereotypes</a:t>
            </a:r>
            <a:r>
              <a:rPr sz="2797" dirty="0">
                <a:latin typeface="Calibri"/>
                <a:cs typeface="Calibri"/>
              </a:rPr>
              <a:t>	Affect</a:t>
            </a:r>
            <a:r>
              <a:rPr sz="2797" spc="-60" dirty="0">
                <a:latin typeface="Calibri"/>
                <a:cs typeface="Calibri"/>
              </a:rPr>
              <a:t> </a:t>
            </a:r>
            <a:r>
              <a:rPr sz="2797" spc="-27" dirty="0">
                <a:latin typeface="Calibri"/>
                <a:cs typeface="Calibri"/>
              </a:rPr>
              <a:t>people’s</a:t>
            </a:r>
            <a:r>
              <a:rPr sz="2797" spc="-107" dirty="0">
                <a:latin typeface="Calibri"/>
                <a:cs typeface="Calibri"/>
              </a:rPr>
              <a:t> </a:t>
            </a:r>
            <a:r>
              <a:rPr sz="2797" spc="-13" dirty="0">
                <a:latin typeface="Calibri"/>
                <a:cs typeface="Calibri"/>
              </a:rPr>
              <a:t>lives</a:t>
            </a:r>
            <a:endParaRPr sz="2797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98247" y="2148538"/>
            <a:ext cx="6393753" cy="4219657"/>
            <a:chOff x="4343212" y="1288669"/>
            <a:chExt cx="4801235" cy="31686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212" y="1288669"/>
              <a:ext cx="4594813" cy="1055210"/>
            </a:xfrm>
            <a:prstGeom prst="rect">
              <a:avLst/>
            </a:prstGeom>
          </p:spPr>
        </p:pic>
        <p:pic>
          <p:nvPicPr>
            <p:cNvPr id="6" name="object 6" descr="man interview candida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544" y="2315489"/>
              <a:ext cx="3648455" cy="214160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917561" y="6451099"/>
            <a:ext cx="6217864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R="6765" algn="r">
              <a:spcBef>
                <a:spcPts val="166"/>
              </a:spcBef>
            </a:pPr>
            <a:r>
              <a:rPr sz="732" dirty="0">
                <a:latin typeface="Calibri"/>
                <a:cs typeface="Calibri"/>
              </a:rPr>
              <a:t>Source:</a:t>
            </a:r>
            <a:r>
              <a:rPr sz="732" spc="393" dirty="0">
                <a:latin typeface="Calibri"/>
                <a:cs typeface="Calibri"/>
              </a:rPr>
              <a:t>   </a:t>
            </a:r>
            <a:r>
              <a:rPr sz="732" u="sng" spc="93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732" u="sng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https://www.washingtonpost.com/technology/2019/10/22/ai-hiring-face-scanning-algorithm-increasingly-de</a:t>
            </a:r>
            <a:r>
              <a:rPr sz="732" u="sng" spc="320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  </a:t>
            </a:r>
            <a:r>
              <a:rPr sz="732" u="sng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cides-whether-you-de</a:t>
            </a:r>
            <a:r>
              <a:rPr sz="732" u="sng" spc="286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  </a:t>
            </a:r>
            <a:r>
              <a:rPr sz="732" u="sng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serve-</a:t>
            </a:r>
            <a:r>
              <a:rPr sz="732" u="sng" spc="-27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job</a:t>
            </a:r>
            <a:r>
              <a:rPr sz="732" spc="-27" dirty="0">
                <a:solidFill>
                  <a:srgbClr val="A4A4A4"/>
                </a:solidFill>
                <a:latin typeface="Calibri"/>
                <a:cs typeface="Calibri"/>
                <a:hlinkClick r:id="rId4"/>
              </a:rPr>
              <a:t>/</a:t>
            </a:r>
            <a:endParaRPr sz="732">
              <a:latin typeface="Calibri"/>
              <a:cs typeface="Calibri"/>
            </a:endParaRPr>
          </a:p>
          <a:p>
            <a:pPr marR="9302" algn="r">
              <a:spcBef>
                <a:spcPts val="80"/>
              </a:spcBef>
            </a:pPr>
            <a:r>
              <a:rPr sz="732" u="sng" spc="160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732" u="sng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https://www.hire</a:t>
            </a:r>
            <a:r>
              <a:rPr sz="732" u="sng" spc="453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 </a:t>
            </a:r>
            <a:r>
              <a:rPr sz="732" u="sng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vue.com/platform/online-video-interviewing-</a:t>
            </a:r>
            <a:r>
              <a:rPr sz="732" u="sng" spc="-13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software</a:t>
            </a:r>
            <a:endParaRPr sz="732">
              <a:latin typeface="Calibri"/>
              <a:cs typeface="Calibri"/>
            </a:endParaRPr>
          </a:p>
          <a:p>
            <a:pPr marR="6765" algn="r">
              <a:spcBef>
                <a:spcPts val="80"/>
              </a:spcBef>
            </a:pPr>
            <a:r>
              <a:rPr sz="732" dirty="0">
                <a:latin typeface="Calibri"/>
                <a:cs typeface="Calibri"/>
              </a:rPr>
              <a:t>Example</a:t>
            </a:r>
            <a:r>
              <a:rPr sz="732" spc="240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Cred</a:t>
            </a:r>
            <a:r>
              <a:rPr sz="732" spc="-60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it:</a:t>
            </a:r>
            <a:r>
              <a:rPr sz="732" spc="146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Timnit</a:t>
            </a:r>
            <a:r>
              <a:rPr sz="732" spc="87" dirty="0">
                <a:latin typeface="Calibri"/>
                <a:cs typeface="Calibri"/>
              </a:rPr>
              <a:t> </a:t>
            </a:r>
            <a:r>
              <a:rPr sz="732" dirty="0">
                <a:latin typeface="Calibri"/>
                <a:cs typeface="Calibri"/>
              </a:rPr>
              <a:t>Geb</a:t>
            </a:r>
            <a:r>
              <a:rPr sz="732" spc="-67" dirty="0">
                <a:latin typeface="Calibri"/>
                <a:cs typeface="Calibri"/>
              </a:rPr>
              <a:t> </a:t>
            </a:r>
            <a:r>
              <a:rPr sz="732" spc="-33" dirty="0">
                <a:latin typeface="Calibri"/>
                <a:cs typeface="Calibri"/>
              </a:rPr>
              <a:t>ru</a:t>
            </a:r>
            <a:endParaRPr sz="732">
              <a:latin typeface="Calibri"/>
              <a:cs typeface="Calibri"/>
            </a:endParaRPr>
          </a:p>
        </p:txBody>
      </p:sp>
      <p:pic>
        <p:nvPicPr>
          <p:cNvPr id="8" name="object 8" descr="Studies show facial recognition software almost works perfectly – if you're  a white male - National | Globalnews.ca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7544" y="2329612"/>
            <a:ext cx="4946427" cy="3904674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138" y="6185424"/>
            <a:ext cx="12183732" cy="1169496"/>
            <a:chOff x="-194" y="4275062"/>
            <a:chExt cx="9149080" cy="878205"/>
          </a:xfrm>
        </p:grpSpPr>
        <p:sp>
          <p:nvSpPr>
            <p:cNvPr id="3" name="object 3"/>
            <p:cNvSpPr/>
            <p:nvPr/>
          </p:nvSpPr>
          <p:spPr>
            <a:xfrm>
              <a:off x="2409444" y="4287773"/>
              <a:ext cx="4178935" cy="503555"/>
            </a:xfrm>
            <a:custGeom>
              <a:avLst/>
              <a:gdLst/>
              <a:ahLst/>
              <a:cxnLst/>
              <a:rect l="l" t="t" r="r" b="b"/>
              <a:pathLst>
                <a:path w="4178934" h="503554">
                  <a:moveTo>
                    <a:pt x="4094987" y="0"/>
                  </a:moveTo>
                  <a:lnTo>
                    <a:pt x="83819" y="0"/>
                  </a:lnTo>
                  <a:lnTo>
                    <a:pt x="51220" y="6591"/>
                  </a:lnTo>
                  <a:lnTo>
                    <a:pt x="24574" y="24569"/>
                  </a:lnTo>
                  <a:lnTo>
                    <a:pt x="6596" y="51236"/>
                  </a:lnTo>
                  <a:lnTo>
                    <a:pt x="0" y="83896"/>
                  </a:lnTo>
                  <a:lnTo>
                    <a:pt x="0" y="419468"/>
                  </a:lnTo>
                  <a:lnTo>
                    <a:pt x="6596" y="452122"/>
                  </a:lnTo>
                  <a:lnTo>
                    <a:pt x="24574" y="478790"/>
                  </a:lnTo>
                  <a:lnTo>
                    <a:pt x="51220" y="496770"/>
                  </a:lnTo>
                  <a:lnTo>
                    <a:pt x="83819" y="503364"/>
                  </a:lnTo>
                  <a:lnTo>
                    <a:pt x="4094987" y="503364"/>
                  </a:lnTo>
                  <a:lnTo>
                    <a:pt x="4127587" y="496770"/>
                  </a:lnTo>
                  <a:lnTo>
                    <a:pt x="4154233" y="478790"/>
                  </a:lnTo>
                  <a:lnTo>
                    <a:pt x="4172211" y="452122"/>
                  </a:lnTo>
                  <a:lnTo>
                    <a:pt x="4178807" y="419468"/>
                  </a:lnTo>
                  <a:lnTo>
                    <a:pt x="4178807" y="83896"/>
                  </a:lnTo>
                  <a:lnTo>
                    <a:pt x="4172211" y="51236"/>
                  </a:lnTo>
                  <a:lnTo>
                    <a:pt x="4154233" y="24569"/>
                  </a:lnTo>
                  <a:lnTo>
                    <a:pt x="4127587" y="6591"/>
                  </a:lnTo>
                  <a:lnTo>
                    <a:pt x="4094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" name="object 4"/>
            <p:cNvSpPr/>
            <p:nvPr/>
          </p:nvSpPr>
          <p:spPr>
            <a:xfrm>
              <a:off x="2409444" y="4287773"/>
              <a:ext cx="4178935" cy="503555"/>
            </a:xfrm>
            <a:custGeom>
              <a:avLst/>
              <a:gdLst/>
              <a:ahLst/>
              <a:cxnLst/>
              <a:rect l="l" t="t" r="r" b="b"/>
              <a:pathLst>
                <a:path w="4178934" h="503554">
                  <a:moveTo>
                    <a:pt x="0" y="83896"/>
                  </a:moveTo>
                  <a:lnTo>
                    <a:pt x="6596" y="51236"/>
                  </a:lnTo>
                  <a:lnTo>
                    <a:pt x="24574" y="24569"/>
                  </a:lnTo>
                  <a:lnTo>
                    <a:pt x="51220" y="6591"/>
                  </a:lnTo>
                  <a:lnTo>
                    <a:pt x="83819" y="0"/>
                  </a:lnTo>
                  <a:lnTo>
                    <a:pt x="4094987" y="0"/>
                  </a:lnTo>
                  <a:lnTo>
                    <a:pt x="4127587" y="6591"/>
                  </a:lnTo>
                  <a:lnTo>
                    <a:pt x="4154233" y="24569"/>
                  </a:lnTo>
                  <a:lnTo>
                    <a:pt x="4172211" y="51236"/>
                  </a:lnTo>
                  <a:lnTo>
                    <a:pt x="4178807" y="83896"/>
                  </a:lnTo>
                  <a:lnTo>
                    <a:pt x="4178807" y="419468"/>
                  </a:lnTo>
                  <a:lnTo>
                    <a:pt x="4172211" y="452122"/>
                  </a:lnTo>
                  <a:lnTo>
                    <a:pt x="4154233" y="478790"/>
                  </a:lnTo>
                  <a:lnTo>
                    <a:pt x="4127587" y="496770"/>
                  </a:lnTo>
                  <a:lnTo>
                    <a:pt x="4094987" y="503364"/>
                  </a:lnTo>
                  <a:lnTo>
                    <a:pt x="83819" y="503364"/>
                  </a:lnTo>
                  <a:lnTo>
                    <a:pt x="51220" y="496770"/>
                  </a:lnTo>
                  <a:lnTo>
                    <a:pt x="24574" y="478790"/>
                  </a:lnTo>
                  <a:lnTo>
                    <a:pt x="6596" y="452122"/>
                  </a:lnTo>
                  <a:lnTo>
                    <a:pt x="0" y="419468"/>
                  </a:lnTo>
                  <a:lnTo>
                    <a:pt x="0" y="83896"/>
                  </a:lnTo>
                  <a:close/>
                </a:path>
              </a:pathLst>
            </a:custGeom>
            <a:ln w="2542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2397"/>
            </a:p>
          </p:txBody>
        </p:sp>
      </p:grpSp>
      <p:sp>
        <p:nvSpPr>
          <p:cNvPr id="5" name="object 5"/>
          <p:cNvSpPr/>
          <p:nvPr/>
        </p:nvSpPr>
        <p:spPr>
          <a:xfrm>
            <a:off x="587161" y="4407263"/>
            <a:ext cx="4845418" cy="494689"/>
          </a:xfrm>
          <a:custGeom>
            <a:avLst/>
            <a:gdLst/>
            <a:ahLst/>
            <a:cxnLst/>
            <a:rect l="l" t="t" r="r" b="b"/>
            <a:pathLst>
              <a:path w="3638550" h="371475">
                <a:moveTo>
                  <a:pt x="1910333" y="84962"/>
                </a:moveTo>
                <a:lnTo>
                  <a:pt x="1910333" y="185038"/>
                </a:lnTo>
                <a:lnTo>
                  <a:pt x="3638550" y="185038"/>
                </a:lnTo>
                <a:lnTo>
                  <a:pt x="3638550" y="285114"/>
                </a:lnTo>
              </a:path>
              <a:path w="3638550" h="371475">
                <a:moveTo>
                  <a:pt x="1910333" y="84962"/>
                </a:moveTo>
                <a:lnTo>
                  <a:pt x="1910333" y="185038"/>
                </a:lnTo>
                <a:lnTo>
                  <a:pt x="2486406" y="185038"/>
                </a:lnTo>
                <a:lnTo>
                  <a:pt x="2486406" y="285114"/>
                </a:lnTo>
              </a:path>
              <a:path w="3638550" h="371475">
                <a:moveTo>
                  <a:pt x="1910333" y="84962"/>
                </a:moveTo>
                <a:lnTo>
                  <a:pt x="1910333" y="185038"/>
                </a:lnTo>
                <a:lnTo>
                  <a:pt x="1334262" y="185038"/>
                </a:lnTo>
                <a:lnTo>
                  <a:pt x="1334262" y="285114"/>
                </a:lnTo>
              </a:path>
              <a:path w="3638550" h="371475">
                <a:moveTo>
                  <a:pt x="1910333" y="84962"/>
                </a:moveTo>
                <a:lnTo>
                  <a:pt x="1910333" y="185038"/>
                </a:lnTo>
                <a:lnTo>
                  <a:pt x="182117" y="185038"/>
                </a:lnTo>
                <a:lnTo>
                  <a:pt x="182117" y="285114"/>
                </a:lnTo>
              </a:path>
              <a:path w="3638550" h="371475">
                <a:moveTo>
                  <a:pt x="2092452" y="0"/>
                </a:moveTo>
                <a:lnTo>
                  <a:pt x="2057939" y="33639"/>
                </a:lnTo>
                <a:lnTo>
                  <a:pt x="2018639" y="58947"/>
                </a:lnTo>
                <a:lnTo>
                  <a:pt x="1975895" y="75808"/>
                </a:lnTo>
                <a:lnTo>
                  <a:pt x="1931050" y="84105"/>
                </a:lnTo>
                <a:lnTo>
                  <a:pt x="1885450" y="83723"/>
                </a:lnTo>
                <a:lnTo>
                  <a:pt x="1840438" y="74545"/>
                </a:lnTo>
                <a:lnTo>
                  <a:pt x="1797357" y="56454"/>
                </a:lnTo>
                <a:lnTo>
                  <a:pt x="1757552" y="29337"/>
                </a:lnTo>
                <a:lnTo>
                  <a:pt x="1735050" y="7780"/>
                </a:lnTo>
                <a:lnTo>
                  <a:pt x="1728215" y="0"/>
                </a:lnTo>
              </a:path>
              <a:path w="3638550" h="371475">
                <a:moveTo>
                  <a:pt x="0" y="371348"/>
                </a:moveTo>
                <a:lnTo>
                  <a:pt x="34495" y="337708"/>
                </a:lnTo>
                <a:lnTo>
                  <a:pt x="73791" y="312400"/>
                </a:lnTo>
                <a:lnTo>
                  <a:pt x="116541" y="295539"/>
                </a:lnTo>
                <a:lnTo>
                  <a:pt x="161396" y="287242"/>
                </a:lnTo>
                <a:lnTo>
                  <a:pt x="207010" y="287624"/>
                </a:lnTo>
                <a:lnTo>
                  <a:pt x="252036" y="296802"/>
                </a:lnTo>
                <a:lnTo>
                  <a:pt x="295128" y="314893"/>
                </a:lnTo>
                <a:lnTo>
                  <a:pt x="334937" y="342011"/>
                </a:lnTo>
                <a:lnTo>
                  <a:pt x="357398" y="363513"/>
                </a:lnTo>
                <a:lnTo>
                  <a:pt x="364236" y="371348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6" name="object 6"/>
          <p:cNvSpPr/>
          <p:nvPr/>
        </p:nvSpPr>
        <p:spPr>
          <a:xfrm>
            <a:off x="2888608" y="3887840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89" h="84455">
                <a:moveTo>
                  <a:pt x="0" y="84105"/>
                </a:moveTo>
                <a:lnTo>
                  <a:pt x="34512" y="50466"/>
                </a:lnTo>
                <a:lnTo>
                  <a:pt x="73812" y="25157"/>
                </a:lnTo>
                <a:lnTo>
                  <a:pt x="116556" y="8297"/>
                </a:lnTo>
                <a:lnTo>
                  <a:pt x="161401" y="0"/>
                </a:lnTo>
                <a:lnTo>
                  <a:pt x="207001" y="382"/>
                </a:lnTo>
                <a:lnTo>
                  <a:pt x="252013" y="9560"/>
                </a:lnTo>
                <a:lnTo>
                  <a:pt x="295094" y="27650"/>
                </a:lnTo>
                <a:lnTo>
                  <a:pt x="334899" y="54768"/>
                </a:lnTo>
                <a:lnTo>
                  <a:pt x="357401" y="76325"/>
                </a:lnTo>
                <a:lnTo>
                  <a:pt x="364236" y="84105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7" name="object 7"/>
          <p:cNvSpPr txBox="1"/>
          <p:nvPr/>
        </p:nvSpPr>
        <p:spPr>
          <a:xfrm>
            <a:off x="2832292" y="4074003"/>
            <a:ext cx="596164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spc="-13" dirty="0">
                <a:latin typeface="Calibri"/>
                <a:cs typeface="Calibri"/>
              </a:rPr>
              <a:t>Hospital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162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90" h="84454">
                <a:moveTo>
                  <a:pt x="364236" y="0"/>
                </a:moveTo>
                <a:lnTo>
                  <a:pt x="329740" y="33603"/>
                </a:lnTo>
                <a:lnTo>
                  <a:pt x="290444" y="58894"/>
                </a:lnTo>
                <a:lnTo>
                  <a:pt x="247694" y="75752"/>
                </a:lnTo>
                <a:lnTo>
                  <a:pt x="202839" y="84058"/>
                </a:lnTo>
                <a:lnTo>
                  <a:pt x="157225" y="83689"/>
                </a:lnTo>
                <a:lnTo>
                  <a:pt x="112199" y="74527"/>
                </a:lnTo>
                <a:lnTo>
                  <a:pt x="69107" y="56449"/>
                </a:lnTo>
                <a:lnTo>
                  <a:pt x="29298" y="29337"/>
                </a:lnTo>
                <a:lnTo>
                  <a:pt x="6837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9" name="object 9"/>
          <p:cNvSpPr txBox="1"/>
          <p:nvPr/>
        </p:nvSpPr>
        <p:spPr>
          <a:xfrm>
            <a:off x="321288" y="4884280"/>
            <a:ext cx="1007137" cy="401106"/>
          </a:xfrm>
          <a:prstGeom prst="rect">
            <a:avLst/>
          </a:prstGeom>
        </p:spPr>
        <p:txBody>
          <a:bodyPr vert="horz" wrap="square" lIns="0" tIns="41436" rIns="0" bIns="0" rtlCol="0">
            <a:spAutoFit/>
          </a:bodyPr>
          <a:lstStyle/>
          <a:p>
            <a:pPr marL="360238" marR="6765" indent="-344171">
              <a:lnSpc>
                <a:spcPts val="1438"/>
              </a:lnSpc>
              <a:spcBef>
                <a:spcPts val="326"/>
              </a:spcBef>
            </a:pPr>
            <a:r>
              <a:rPr sz="1332" dirty="0">
                <a:latin typeface="Calibri"/>
                <a:cs typeface="Calibri"/>
              </a:rPr>
              <a:t>Intensive</a:t>
            </a:r>
            <a:r>
              <a:rPr sz="1332" spc="-27" dirty="0">
                <a:latin typeface="Calibri"/>
                <a:cs typeface="Calibri"/>
              </a:rPr>
              <a:t> Care Unit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1461" y="4789781"/>
            <a:ext cx="3554152" cy="112468"/>
          </a:xfrm>
          <a:custGeom>
            <a:avLst/>
            <a:gdLst/>
            <a:ahLst/>
            <a:cxnLst/>
            <a:rect l="l" t="t" r="r" b="b"/>
            <a:pathLst>
              <a:path w="2668904" h="84454">
                <a:moveTo>
                  <a:pt x="0" y="84105"/>
                </a:moveTo>
                <a:lnTo>
                  <a:pt x="34512" y="50466"/>
                </a:lnTo>
                <a:lnTo>
                  <a:pt x="73812" y="25157"/>
                </a:lnTo>
                <a:lnTo>
                  <a:pt x="116556" y="8297"/>
                </a:lnTo>
                <a:lnTo>
                  <a:pt x="161401" y="0"/>
                </a:lnTo>
                <a:lnTo>
                  <a:pt x="207001" y="382"/>
                </a:lnTo>
                <a:lnTo>
                  <a:pt x="252013" y="9560"/>
                </a:lnTo>
                <a:lnTo>
                  <a:pt x="295094" y="27650"/>
                </a:lnTo>
                <a:lnTo>
                  <a:pt x="334899" y="54768"/>
                </a:lnTo>
                <a:lnTo>
                  <a:pt x="357401" y="76271"/>
                </a:lnTo>
                <a:lnTo>
                  <a:pt x="364236" y="84105"/>
                </a:lnTo>
              </a:path>
              <a:path w="2668904" h="84454">
                <a:moveTo>
                  <a:pt x="1152144" y="84105"/>
                </a:moveTo>
                <a:lnTo>
                  <a:pt x="1186656" y="50466"/>
                </a:lnTo>
                <a:lnTo>
                  <a:pt x="1225956" y="25157"/>
                </a:lnTo>
                <a:lnTo>
                  <a:pt x="1268700" y="8297"/>
                </a:lnTo>
                <a:lnTo>
                  <a:pt x="1313545" y="0"/>
                </a:lnTo>
                <a:lnTo>
                  <a:pt x="1359145" y="382"/>
                </a:lnTo>
                <a:lnTo>
                  <a:pt x="1404157" y="9560"/>
                </a:lnTo>
                <a:lnTo>
                  <a:pt x="1447238" y="27650"/>
                </a:lnTo>
                <a:lnTo>
                  <a:pt x="1487043" y="54768"/>
                </a:lnTo>
                <a:lnTo>
                  <a:pt x="1509545" y="76271"/>
                </a:lnTo>
                <a:lnTo>
                  <a:pt x="1516380" y="84105"/>
                </a:lnTo>
              </a:path>
              <a:path w="2668904" h="84454">
                <a:moveTo>
                  <a:pt x="2304288" y="84105"/>
                </a:moveTo>
                <a:lnTo>
                  <a:pt x="2338800" y="50466"/>
                </a:lnTo>
                <a:lnTo>
                  <a:pt x="2378100" y="25157"/>
                </a:lnTo>
                <a:lnTo>
                  <a:pt x="2420844" y="8297"/>
                </a:lnTo>
                <a:lnTo>
                  <a:pt x="2465689" y="0"/>
                </a:lnTo>
                <a:lnTo>
                  <a:pt x="2511289" y="382"/>
                </a:lnTo>
                <a:lnTo>
                  <a:pt x="2556301" y="9560"/>
                </a:lnTo>
                <a:lnTo>
                  <a:pt x="2599382" y="27650"/>
                </a:lnTo>
                <a:lnTo>
                  <a:pt x="2639187" y="54768"/>
                </a:lnTo>
                <a:lnTo>
                  <a:pt x="2661689" y="76271"/>
                </a:lnTo>
                <a:lnTo>
                  <a:pt x="2668524" y="84105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1" name="object 11"/>
          <p:cNvSpPr/>
          <p:nvPr/>
        </p:nvSpPr>
        <p:spPr>
          <a:xfrm>
            <a:off x="2121461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89" h="84454">
                <a:moveTo>
                  <a:pt x="364236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6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2" name="object 12"/>
          <p:cNvSpPr txBox="1"/>
          <p:nvPr/>
        </p:nvSpPr>
        <p:spPr>
          <a:xfrm>
            <a:off x="1747255" y="4977636"/>
            <a:ext cx="1232918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dirty="0">
                <a:latin typeface="Calibri"/>
                <a:cs typeface="Calibri"/>
              </a:rPr>
              <a:t>Operating</a:t>
            </a:r>
            <a:r>
              <a:rPr sz="1332" spc="-40" dirty="0">
                <a:latin typeface="Calibri"/>
                <a:cs typeface="Calibri"/>
              </a:rPr>
              <a:t> </a:t>
            </a:r>
            <a:r>
              <a:rPr sz="1332" spc="-13" dirty="0">
                <a:latin typeface="Calibri"/>
                <a:cs typeface="Calibri"/>
              </a:rPr>
              <a:t>Rooms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55757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89" h="84454">
                <a:moveTo>
                  <a:pt x="364236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7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4" name="object 14"/>
          <p:cNvSpPr txBox="1"/>
          <p:nvPr/>
        </p:nvSpPr>
        <p:spPr>
          <a:xfrm>
            <a:off x="3380593" y="4977636"/>
            <a:ext cx="1041807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dirty="0">
                <a:latin typeface="Calibri"/>
                <a:cs typeface="Calibri"/>
              </a:rPr>
              <a:t>Patient</a:t>
            </a:r>
            <a:r>
              <a:rPr sz="1332" spc="13" dirty="0">
                <a:latin typeface="Calibri"/>
                <a:cs typeface="Calibri"/>
              </a:rPr>
              <a:t> </a:t>
            </a:r>
            <a:r>
              <a:rPr sz="1332" spc="-13" dirty="0">
                <a:latin typeface="Calibri"/>
                <a:cs typeface="Calibri"/>
              </a:rPr>
              <a:t>Rooms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90055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89" h="84454">
                <a:moveTo>
                  <a:pt x="364236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7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6" name="object 16"/>
          <p:cNvSpPr txBox="1"/>
          <p:nvPr/>
        </p:nvSpPr>
        <p:spPr>
          <a:xfrm>
            <a:off x="4914891" y="4884280"/>
            <a:ext cx="1044344" cy="401106"/>
          </a:xfrm>
          <a:prstGeom prst="rect">
            <a:avLst/>
          </a:prstGeom>
        </p:spPr>
        <p:txBody>
          <a:bodyPr vert="horz" wrap="square" lIns="0" tIns="41436" rIns="0" bIns="0" rtlCol="0">
            <a:spAutoFit/>
          </a:bodyPr>
          <a:lstStyle/>
          <a:p>
            <a:pPr marL="317957" marR="6765" indent="-301890">
              <a:lnSpc>
                <a:spcPts val="1438"/>
              </a:lnSpc>
              <a:spcBef>
                <a:spcPts val="326"/>
              </a:spcBef>
            </a:pPr>
            <a:r>
              <a:rPr sz="1332" spc="-13" dirty="0">
                <a:latin typeface="Calibri"/>
                <a:cs typeface="Calibri"/>
              </a:rPr>
              <a:t>Administrative Space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11040" y="3887840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90" h="84455">
                <a:moveTo>
                  <a:pt x="0" y="84105"/>
                </a:moveTo>
                <a:lnTo>
                  <a:pt x="34512" y="50466"/>
                </a:lnTo>
                <a:lnTo>
                  <a:pt x="73812" y="25157"/>
                </a:lnTo>
                <a:lnTo>
                  <a:pt x="116556" y="8297"/>
                </a:lnTo>
                <a:lnTo>
                  <a:pt x="161401" y="0"/>
                </a:lnTo>
                <a:lnTo>
                  <a:pt x="207001" y="382"/>
                </a:lnTo>
                <a:lnTo>
                  <a:pt x="252013" y="9560"/>
                </a:lnTo>
                <a:lnTo>
                  <a:pt x="295094" y="27650"/>
                </a:lnTo>
                <a:lnTo>
                  <a:pt x="334899" y="54768"/>
                </a:lnTo>
                <a:lnTo>
                  <a:pt x="357401" y="76325"/>
                </a:lnTo>
                <a:lnTo>
                  <a:pt x="364235" y="84105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8" name="object 18"/>
          <p:cNvSpPr/>
          <p:nvPr/>
        </p:nvSpPr>
        <p:spPr>
          <a:xfrm>
            <a:off x="7052117" y="4407263"/>
            <a:ext cx="4602723" cy="379685"/>
          </a:xfrm>
          <a:custGeom>
            <a:avLst/>
            <a:gdLst/>
            <a:ahLst/>
            <a:cxnLst/>
            <a:rect l="l" t="t" r="r" b="b"/>
            <a:pathLst>
              <a:path w="3456304" h="285114">
                <a:moveTo>
                  <a:pt x="1728215" y="84962"/>
                </a:moveTo>
                <a:lnTo>
                  <a:pt x="1728215" y="185038"/>
                </a:lnTo>
                <a:lnTo>
                  <a:pt x="3456304" y="185038"/>
                </a:lnTo>
                <a:lnTo>
                  <a:pt x="3456304" y="285114"/>
                </a:lnTo>
              </a:path>
              <a:path w="3456304" h="285114">
                <a:moveTo>
                  <a:pt x="1728215" y="84962"/>
                </a:moveTo>
                <a:lnTo>
                  <a:pt x="1728215" y="185038"/>
                </a:lnTo>
                <a:lnTo>
                  <a:pt x="2304287" y="185038"/>
                </a:lnTo>
                <a:lnTo>
                  <a:pt x="2304287" y="285114"/>
                </a:lnTo>
              </a:path>
              <a:path w="3456304" h="285114">
                <a:moveTo>
                  <a:pt x="1728215" y="84962"/>
                </a:moveTo>
                <a:lnTo>
                  <a:pt x="1728215" y="185038"/>
                </a:lnTo>
                <a:lnTo>
                  <a:pt x="1152143" y="185038"/>
                </a:lnTo>
                <a:lnTo>
                  <a:pt x="1152143" y="285114"/>
                </a:lnTo>
              </a:path>
              <a:path w="3456304" h="285114">
                <a:moveTo>
                  <a:pt x="1728088" y="84962"/>
                </a:moveTo>
                <a:lnTo>
                  <a:pt x="1728088" y="185038"/>
                </a:lnTo>
                <a:lnTo>
                  <a:pt x="0" y="185038"/>
                </a:lnTo>
                <a:lnTo>
                  <a:pt x="0" y="285114"/>
                </a:lnTo>
              </a:path>
              <a:path w="3456304" h="285114">
                <a:moveTo>
                  <a:pt x="1910333" y="0"/>
                </a:moveTo>
                <a:lnTo>
                  <a:pt x="1875821" y="33639"/>
                </a:lnTo>
                <a:lnTo>
                  <a:pt x="1836521" y="58947"/>
                </a:lnTo>
                <a:lnTo>
                  <a:pt x="1793777" y="75808"/>
                </a:lnTo>
                <a:lnTo>
                  <a:pt x="1748932" y="84105"/>
                </a:lnTo>
                <a:lnTo>
                  <a:pt x="1703332" y="83723"/>
                </a:lnTo>
                <a:lnTo>
                  <a:pt x="1658320" y="74545"/>
                </a:lnTo>
                <a:lnTo>
                  <a:pt x="1615239" y="56454"/>
                </a:lnTo>
                <a:lnTo>
                  <a:pt x="1575434" y="29337"/>
                </a:lnTo>
                <a:lnTo>
                  <a:pt x="1552932" y="7780"/>
                </a:lnTo>
                <a:lnTo>
                  <a:pt x="1546098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19" name="object 19"/>
          <p:cNvSpPr txBox="1"/>
          <p:nvPr/>
        </p:nvSpPr>
        <p:spPr>
          <a:xfrm>
            <a:off x="8959334" y="3981155"/>
            <a:ext cx="810952" cy="401106"/>
          </a:xfrm>
          <a:prstGeom prst="rect">
            <a:avLst/>
          </a:prstGeom>
        </p:spPr>
        <p:txBody>
          <a:bodyPr vert="horz" wrap="square" lIns="0" tIns="41436" rIns="0" bIns="0" rtlCol="0">
            <a:spAutoFit/>
          </a:bodyPr>
          <a:lstStyle/>
          <a:p>
            <a:pPr marL="167435" marR="6765" indent="-151366">
              <a:lnSpc>
                <a:spcPts val="1438"/>
              </a:lnSpc>
              <a:spcBef>
                <a:spcPts val="326"/>
              </a:spcBef>
            </a:pPr>
            <a:r>
              <a:rPr sz="1332" dirty="0">
                <a:latin typeface="Calibri"/>
                <a:cs typeface="Calibri"/>
              </a:rPr>
              <a:t>Daily </a:t>
            </a:r>
            <a:r>
              <a:rPr sz="1332" spc="-13" dirty="0">
                <a:latin typeface="Calibri"/>
                <a:cs typeface="Calibri"/>
              </a:rPr>
              <a:t>Living Spaces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12974" y="4789527"/>
            <a:ext cx="2015964" cy="112468"/>
          </a:xfrm>
          <a:custGeom>
            <a:avLst/>
            <a:gdLst/>
            <a:ahLst/>
            <a:cxnLst/>
            <a:rect l="l" t="t" r="r" b="b"/>
            <a:pathLst>
              <a:path w="1513839" h="84454">
                <a:moveTo>
                  <a:pt x="0" y="82518"/>
                </a:moveTo>
                <a:lnTo>
                  <a:pt x="35484" y="49233"/>
                </a:lnTo>
                <a:lnTo>
                  <a:pt x="75775" y="24316"/>
                </a:lnTo>
                <a:lnTo>
                  <a:pt x="119501" y="7870"/>
                </a:lnTo>
                <a:lnTo>
                  <a:pt x="165290" y="0"/>
                </a:lnTo>
                <a:lnTo>
                  <a:pt x="211770" y="809"/>
                </a:lnTo>
                <a:lnTo>
                  <a:pt x="257567" y="10402"/>
                </a:lnTo>
                <a:lnTo>
                  <a:pt x="301311" y="28883"/>
                </a:lnTo>
                <a:lnTo>
                  <a:pt x="341630" y="56356"/>
                </a:lnTo>
                <a:lnTo>
                  <a:pt x="362043" y="75608"/>
                </a:lnTo>
                <a:lnTo>
                  <a:pt x="368300" y="82518"/>
                </a:lnTo>
              </a:path>
              <a:path w="1513839" h="84454">
                <a:moveTo>
                  <a:pt x="1149604" y="84296"/>
                </a:moveTo>
                <a:lnTo>
                  <a:pt x="1184116" y="50656"/>
                </a:lnTo>
                <a:lnTo>
                  <a:pt x="1223416" y="25348"/>
                </a:lnTo>
                <a:lnTo>
                  <a:pt x="1266160" y="8487"/>
                </a:lnTo>
                <a:lnTo>
                  <a:pt x="1311005" y="190"/>
                </a:lnTo>
                <a:lnTo>
                  <a:pt x="1356605" y="572"/>
                </a:lnTo>
                <a:lnTo>
                  <a:pt x="1401617" y="9751"/>
                </a:lnTo>
                <a:lnTo>
                  <a:pt x="1444698" y="27841"/>
                </a:lnTo>
                <a:lnTo>
                  <a:pt x="1484503" y="54959"/>
                </a:lnTo>
                <a:lnTo>
                  <a:pt x="1507005" y="76461"/>
                </a:lnTo>
                <a:lnTo>
                  <a:pt x="1513839" y="84296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1" name="object 21"/>
          <p:cNvSpPr/>
          <p:nvPr/>
        </p:nvSpPr>
        <p:spPr>
          <a:xfrm>
            <a:off x="6812974" y="5311403"/>
            <a:ext cx="490461" cy="110777"/>
          </a:xfrm>
          <a:custGeom>
            <a:avLst/>
            <a:gdLst/>
            <a:ahLst/>
            <a:cxnLst/>
            <a:rect l="l" t="t" r="r" b="b"/>
            <a:pathLst>
              <a:path w="368300" h="83185">
                <a:moveTo>
                  <a:pt x="368300" y="0"/>
                </a:moveTo>
                <a:lnTo>
                  <a:pt x="332815" y="33289"/>
                </a:lnTo>
                <a:lnTo>
                  <a:pt x="292524" y="58219"/>
                </a:lnTo>
                <a:lnTo>
                  <a:pt x="248798" y="74681"/>
                </a:lnTo>
                <a:lnTo>
                  <a:pt x="203009" y="82565"/>
                </a:lnTo>
                <a:lnTo>
                  <a:pt x="156529" y="81764"/>
                </a:lnTo>
                <a:lnTo>
                  <a:pt x="110732" y="72169"/>
                </a:lnTo>
                <a:lnTo>
                  <a:pt x="66988" y="53671"/>
                </a:lnTo>
                <a:lnTo>
                  <a:pt x="26670" y="26162"/>
                </a:lnTo>
                <a:lnTo>
                  <a:pt x="6256" y="6927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2" name="object 22"/>
          <p:cNvSpPr txBox="1"/>
          <p:nvPr/>
        </p:nvSpPr>
        <p:spPr>
          <a:xfrm>
            <a:off x="6646219" y="4977974"/>
            <a:ext cx="828710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dirty="0">
                <a:latin typeface="Calibri"/>
                <a:cs typeface="Calibri"/>
              </a:rPr>
              <a:t>Senior</a:t>
            </a:r>
            <a:r>
              <a:rPr sz="1332" spc="-20" dirty="0">
                <a:latin typeface="Calibri"/>
                <a:cs typeface="Calibri"/>
              </a:rPr>
              <a:t> </a:t>
            </a:r>
            <a:r>
              <a:rPr sz="1332" spc="-27" dirty="0">
                <a:latin typeface="Calibri"/>
                <a:cs typeface="Calibri"/>
              </a:rPr>
              <a:t>Care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43891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89" h="84454">
                <a:moveTo>
                  <a:pt x="364235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7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4" name="object 24"/>
          <p:cNvSpPr txBox="1"/>
          <p:nvPr/>
        </p:nvSpPr>
        <p:spPr>
          <a:xfrm>
            <a:off x="8032702" y="4884787"/>
            <a:ext cx="1128906" cy="401106"/>
          </a:xfrm>
          <a:prstGeom prst="rect">
            <a:avLst/>
          </a:prstGeom>
        </p:spPr>
        <p:txBody>
          <a:bodyPr vert="horz" wrap="square" lIns="0" tIns="41436" rIns="0" bIns="0" rtlCol="0">
            <a:spAutoFit/>
          </a:bodyPr>
          <a:lstStyle/>
          <a:p>
            <a:pPr marL="98939" marR="6765" indent="-82872">
              <a:lnSpc>
                <a:spcPts val="1438"/>
              </a:lnSpc>
              <a:spcBef>
                <a:spcPts val="326"/>
              </a:spcBef>
            </a:pPr>
            <a:r>
              <a:rPr sz="1332" spc="-13" dirty="0">
                <a:latin typeface="Calibri"/>
                <a:cs typeface="Calibri"/>
              </a:rPr>
              <a:t>Chronic</a:t>
            </a:r>
            <a:r>
              <a:rPr sz="1332" spc="13" dirty="0">
                <a:latin typeface="Calibri"/>
                <a:cs typeface="Calibri"/>
              </a:rPr>
              <a:t> </a:t>
            </a:r>
            <a:r>
              <a:rPr sz="1332" spc="-13" dirty="0">
                <a:latin typeface="Calibri"/>
                <a:cs typeface="Calibri"/>
              </a:rPr>
              <a:t>Disease Management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78188" y="4789781"/>
            <a:ext cx="2019347" cy="112468"/>
          </a:xfrm>
          <a:custGeom>
            <a:avLst/>
            <a:gdLst/>
            <a:ahLst/>
            <a:cxnLst/>
            <a:rect l="l" t="t" r="r" b="b"/>
            <a:pathLst>
              <a:path w="1516379" h="84454">
                <a:moveTo>
                  <a:pt x="0" y="84105"/>
                </a:moveTo>
                <a:lnTo>
                  <a:pt x="34512" y="50466"/>
                </a:lnTo>
                <a:lnTo>
                  <a:pt x="73812" y="25157"/>
                </a:lnTo>
                <a:lnTo>
                  <a:pt x="116556" y="8297"/>
                </a:lnTo>
                <a:lnTo>
                  <a:pt x="161401" y="0"/>
                </a:lnTo>
                <a:lnTo>
                  <a:pt x="207001" y="382"/>
                </a:lnTo>
                <a:lnTo>
                  <a:pt x="252013" y="9560"/>
                </a:lnTo>
                <a:lnTo>
                  <a:pt x="295094" y="27650"/>
                </a:lnTo>
                <a:lnTo>
                  <a:pt x="334899" y="54768"/>
                </a:lnTo>
                <a:lnTo>
                  <a:pt x="357401" y="76271"/>
                </a:lnTo>
                <a:lnTo>
                  <a:pt x="364235" y="84105"/>
                </a:lnTo>
              </a:path>
              <a:path w="1516379" h="84454">
                <a:moveTo>
                  <a:pt x="1152143" y="84105"/>
                </a:moveTo>
                <a:lnTo>
                  <a:pt x="1186656" y="50466"/>
                </a:lnTo>
                <a:lnTo>
                  <a:pt x="1225956" y="25157"/>
                </a:lnTo>
                <a:lnTo>
                  <a:pt x="1268700" y="8297"/>
                </a:lnTo>
                <a:lnTo>
                  <a:pt x="1313545" y="0"/>
                </a:lnTo>
                <a:lnTo>
                  <a:pt x="1359145" y="382"/>
                </a:lnTo>
                <a:lnTo>
                  <a:pt x="1404157" y="9560"/>
                </a:lnTo>
                <a:lnTo>
                  <a:pt x="1447238" y="27650"/>
                </a:lnTo>
                <a:lnTo>
                  <a:pt x="1487042" y="54768"/>
                </a:lnTo>
                <a:lnTo>
                  <a:pt x="1509545" y="76271"/>
                </a:lnTo>
                <a:lnTo>
                  <a:pt x="1516379" y="84105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6" name="object 26"/>
          <p:cNvSpPr/>
          <p:nvPr/>
        </p:nvSpPr>
        <p:spPr>
          <a:xfrm>
            <a:off x="9878189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90" h="84454">
                <a:moveTo>
                  <a:pt x="364235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6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7" name="object 27"/>
          <p:cNvSpPr txBox="1"/>
          <p:nvPr/>
        </p:nvSpPr>
        <p:spPr>
          <a:xfrm>
            <a:off x="9619090" y="4977974"/>
            <a:ext cx="1028277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dirty="0">
                <a:latin typeface="Calibri"/>
                <a:cs typeface="Calibri"/>
              </a:rPr>
              <a:t>Mental</a:t>
            </a:r>
            <a:r>
              <a:rPr sz="1332" spc="33" dirty="0">
                <a:latin typeface="Calibri"/>
                <a:cs typeface="Calibri"/>
              </a:rPr>
              <a:t> </a:t>
            </a:r>
            <a:r>
              <a:rPr sz="1332" spc="-13" dirty="0">
                <a:latin typeface="Calibri"/>
                <a:cs typeface="Calibri"/>
              </a:rPr>
              <a:t>Health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412485" y="5309204"/>
            <a:ext cx="485387" cy="112468"/>
          </a:xfrm>
          <a:custGeom>
            <a:avLst/>
            <a:gdLst/>
            <a:ahLst/>
            <a:cxnLst/>
            <a:rect l="l" t="t" r="r" b="b"/>
            <a:pathLst>
              <a:path w="364490" h="84454">
                <a:moveTo>
                  <a:pt x="364236" y="0"/>
                </a:moveTo>
                <a:lnTo>
                  <a:pt x="329723" y="33603"/>
                </a:lnTo>
                <a:lnTo>
                  <a:pt x="290423" y="58894"/>
                </a:lnTo>
                <a:lnTo>
                  <a:pt x="247679" y="75752"/>
                </a:lnTo>
                <a:lnTo>
                  <a:pt x="202834" y="84058"/>
                </a:lnTo>
                <a:lnTo>
                  <a:pt x="157234" y="83689"/>
                </a:lnTo>
                <a:lnTo>
                  <a:pt x="112222" y="74527"/>
                </a:lnTo>
                <a:lnTo>
                  <a:pt x="69141" y="56449"/>
                </a:lnTo>
                <a:lnTo>
                  <a:pt x="29337" y="29337"/>
                </a:lnTo>
                <a:lnTo>
                  <a:pt x="6834" y="7762"/>
                </a:lnTo>
                <a:lnTo>
                  <a:pt x="0" y="0"/>
                </a:lnTo>
              </a:path>
            </a:pathLst>
          </a:custGeom>
          <a:ln w="25422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sp>
        <p:nvSpPr>
          <p:cNvPr id="29" name="object 29"/>
          <p:cNvSpPr txBox="1"/>
          <p:nvPr/>
        </p:nvSpPr>
        <p:spPr>
          <a:xfrm>
            <a:off x="11408596" y="4977974"/>
            <a:ext cx="516675" cy="223778"/>
          </a:xfrm>
          <a:prstGeom prst="rect">
            <a:avLst/>
          </a:prstGeom>
        </p:spPr>
        <p:txBody>
          <a:bodyPr vert="horz" wrap="square" lIns="0" tIns="18604" rIns="0" bIns="0" rtlCol="0">
            <a:spAutoFit/>
          </a:bodyPr>
          <a:lstStyle/>
          <a:p>
            <a:pPr marL="16913">
              <a:spcBef>
                <a:spcPts val="146"/>
              </a:spcBef>
            </a:pPr>
            <a:r>
              <a:rPr sz="1332" spc="-13" dirty="0">
                <a:latin typeface="Calibri"/>
                <a:cs typeface="Calibri"/>
              </a:rPr>
              <a:t>Homes</a:t>
            </a:r>
            <a:endParaRPr sz="1332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99028" y="6281771"/>
            <a:ext cx="5565043" cy="560543"/>
          </a:xfrm>
          <a:prstGeom prst="rect">
            <a:avLst/>
          </a:prstGeom>
        </p:spPr>
        <p:txBody>
          <a:bodyPr vert="horz" wrap="square" lIns="0" tIns="13530" rIns="0" bIns="0" rtlCol="0">
            <a:spAutoFit/>
          </a:bodyPr>
          <a:lstStyle/>
          <a:p>
            <a:pPr marL="372077" marR="136146" indent="-213944">
              <a:lnSpc>
                <a:spcPct val="102499"/>
              </a:lnSpc>
              <a:spcBef>
                <a:spcPts val="107"/>
              </a:spcBef>
            </a:pPr>
            <a:r>
              <a:rPr sz="1798" spc="-13" dirty="0">
                <a:latin typeface="Franklin Gothic Medium"/>
                <a:cs typeface="Franklin Gothic Medium"/>
              </a:rPr>
              <a:t>Recognizing</a:t>
            </a:r>
            <a:r>
              <a:rPr sz="1798" spc="-40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Activities</a:t>
            </a:r>
            <a:r>
              <a:rPr sz="1798" spc="-13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from</a:t>
            </a:r>
            <a:r>
              <a:rPr sz="1798" spc="-13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Contactless</a:t>
            </a:r>
            <a:r>
              <a:rPr sz="1798" spc="-13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Sensors</a:t>
            </a:r>
            <a:r>
              <a:rPr sz="1798" spc="-13" dirty="0">
                <a:latin typeface="Franklin Gothic Medium"/>
                <a:cs typeface="Franklin Gothic Medium"/>
              </a:rPr>
              <a:t> using </a:t>
            </a:r>
            <a:r>
              <a:rPr sz="1798" dirty="0">
                <a:latin typeface="Franklin Gothic Medium"/>
                <a:cs typeface="Franklin Gothic Medium"/>
              </a:rPr>
              <a:t>Ambient</a:t>
            </a:r>
            <a:r>
              <a:rPr sz="1798" spc="27" dirty="0">
                <a:latin typeface="Franklin Gothic Medium"/>
                <a:cs typeface="Franklin Gothic Medium"/>
              </a:rPr>
              <a:t> </a:t>
            </a:r>
            <a:r>
              <a:rPr sz="1798" spc="-13" dirty="0">
                <a:latin typeface="Franklin Gothic Medium"/>
                <a:cs typeface="Franklin Gothic Medium"/>
              </a:rPr>
              <a:t>Intelligence</a:t>
            </a:r>
            <a:r>
              <a:rPr sz="1798" spc="-53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Computer</a:t>
            </a:r>
            <a:r>
              <a:rPr sz="1798" spc="13" dirty="0">
                <a:latin typeface="Franklin Gothic Medium"/>
                <a:cs typeface="Franklin Gothic Medium"/>
              </a:rPr>
              <a:t> </a:t>
            </a:r>
            <a:r>
              <a:rPr sz="1798" dirty="0">
                <a:latin typeface="Franklin Gothic Medium"/>
                <a:cs typeface="Franklin Gothic Medium"/>
              </a:rPr>
              <a:t>Vision</a:t>
            </a:r>
            <a:r>
              <a:rPr sz="1798" spc="-87" dirty="0">
                <a:latin typeface="Franklin Gothic Medium"/>
                <a:cs typeface="Franklin Gothic Medium"/>
              </a:rPr>
              <a:t> </a:t>
            </a:r>
            <a:r>
              <a:rPr sz="1798" spc="-13" dirty="0">
                <a:latin typeface="Franklin Gothic Medium"/>
                <a:cs typeface="Franklin Gothic Medium"/>
              </a:rPr>
              <a:t>Technology</a:t>
            </a:r>
            <a:endParaRPr sz="1798">
              <a:latin typeface="Franklin Gothic Medium"/>
              <a:cs typeface="Franklin Gothic Medium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7404" y="5696550"/>
            <a:ext cx="11576575" cy="415201"/>
          </a:xfrm>
          <a:custGeom>
            <a:avLst/>
            <a:gdLst/>
            <a:ahLst/>
            <a:cxnLst/>
            <a:rect l="l" t="t" r="r" b="b"/>
            <a:pathLst>
              <a:path w="8693150" h="311785">
                <a:moveTo>
                  <a:pt x="8686800" y="0"/>
                </a:moveTo>
                <a:lnTo>
                  <a:pt x="8692972" y="24172"/>
                </a:lnTo>
                <a:lnTo>
                  <a:pt x="8688652" y="47305"/>
                </a:lnTo>
                <a:lnTo>
                  <a:pt x="8674602" y="69077"/>
                </a:lnTo>
                <a:lnTo>
                  <a:pt x="8620354" y="107248"/>
                </a:lnTo>
                <a:lnTo>
                  <a:pt x="8581680" y="123002"/>
                </a:lnTo>
                <a:lnTo>
                  <a:pt x="8536320" y="136107"/>
                </a:lnTo>
                <a:lnTo>
                  <a:pt x="8485037" y="146240"/>
                </a:lnTo>
                <a:lnTo>
                  <a:pt x="8428591" y="153079"/>
                </a:lnTo>
                <a:lnTo>
                  <a:pt x="8367745" y="156302"/>
                </a:lnTo>
                <a:lnTo>
                  <a:pt x="8303259" y="155587"/>
                </a:lnTo>
                <a:lnTo>
                  <a:pt x="8257758" y="152489"/>
                </a:lnTo>
                <a:lnTo>
                  <a:pt x="8211454" y="150874"/>
                </a:lnTo>
                <a:lnTo>
                  <a:pt x="8164427" y="150478"/>
                </a:lnTo>
                <a:lnTo>
                  <a:pt x="8116753" y="151037"/>
                </a:lnTo>
                <a:lnTo>
                  <a:pt x="8068512" y="152289"/>
                </a:lnTo>
                <a:lnTo>
                  <a:pt x="8019779" y="153969"/>
                </a:lnTo>
                <a:lnTo>
                  <a:pt x="7970633" y="155814"/>
                </a:lnTo>
                <a:lnTo>
                  <a:pt x="7921152" y="157560"/>
                </a:lnTo>
                <a:lnTo>
                  <a:pt x="7871413" y="158944"/>
                </a:lnTo>
                <a:lnTo>
                  <a:pt x="7821494" y="159702"/>
                </a:lnTo>
                <a:lnTo>
                  <a:pt x="7771473" y="159571"/>
                </a:lnTo>
                <a:lnTo>
                  <a:pt x="7721427" y="158288"/>
                </a:lnTo>
                <a:lnTo>
                  <a:pt x="7671434" y="155587"/>
                </a:lnTo>
                <a:lnTo>
                  <a:pt x="7617482" y="152035"/>
                </a:lnTo>
                <a:lnTo>
                  <a:pt x="7563909" y="148976"/>
                </a:lnTo>
                <a:lnTo>
                  <a:pt x="7510835" y="146457"/>
                </a:lnTo>
                <a:lnTo>
                  <a:pt x="7458380" y="144524"/>
                </a:lnTo>
                <a:lnTo>
                  <a:pt x="7406664" y="143221"/>
                </a:lnTo>
                <a:lnTo>
                  <a:pt x="7355808" y="142595"/>
                </a:lnTo>
                <a:lnTo>
                  <a:pt x="7305930" y="142691"/>
                </a:lnTo>
                <a:lnTo>
                  <a:pt x="7257151" y="143553"/>
                </a:lnTo>
                <a:lnTo>
                  <a:pt x="7209591" y="145229"/>
                </a:lnTo>
                <a:lnTo>
                  <a:pt x="7163370" y="147763"/>
                </a:lnTo>
                <a:lnTo>
                  <a:pt x="7118607" y="151200"/>
                </a:lnTo>
                <a:lnTo>
                  <a:pt x="7075424" y="155587"/>
                </a:lnTo>
                <a:lnTo>
                  <a:pt x="7033560" y="159100"/>
                </a:lnTo>
                <a:lnTo>
                  <a:pt x="6986818" y="160848"/>
                </a:lnTo>
                <a:lnTo>
                  <a:pt x="6936099" y="161153"/>
                </a:lnTo>
                <a:lnTo>
                  <a:pt x="6882299" y="160337"/>
                </a:lnTo>
                <a:lnTo>
                  <a:pt x="6826318" y="158721"/>
                </a:lnTo>
                <a:lnTo>
                  <a:pt x="6769055" y="156627"/>
                </a:lnTo>
                <a:lnTo>
                  <a:pt x="6711407" y="154377"/>
                </a:lnTo>
                <a:lnTo>
                  <a:pt x="6654275" y="152291"/>
                </a:lnTo>
                <a:lnTo>
                  <a:pt x="6598555" y="150691"/>
                </a:lnTo>
                <a:lnTo>
                  <a:pt x="6545148" y="149900"/>
                </a:lnTo>
                <a:lnTo>
                  <a:pt x="6494951" y="150238"/>
                </a:lnTo>
                <a:lnTo>
                  <a:pt x="6448864" y="152026"/>
                </a:lnTo>
                <a:lnTo>
                  <a:pt x="6407784" y="155587"/>
                </a:lnTo>
                <a:lnTo>
                  <a:pt x="6361269" y="160429"/>
                </a:lnTo>
                <a:lnTo>
                  <a:pt x="6312496" y="164209"/>
                </a:lnTo>
                <a:lnTo>
                  <a:pt x="6261924" y="166960"/>
                </a:lnTo>
                <a:lnTo>
                  <a:pt x="6210010" y="168711"/>
                </a:lnTo>
                <a:lnTo>
                  <a:pt x="6157211" y="169494"/>
                </a:lnTo>
                <a:lnTo>
                  <a:pt x="6103985" y="169339"/>
                </a:lnTo>
                <a:lnTo>
                  <a:pt x="6050790" y="168278"/>
                </a:lnTo>
                <a:lnTo>
                  <a:pt x="5998082" y="166342"/>
                </a:lnTo>
                <a:lnTo>
                  <a:pt x="5946320" y="163560"/>
                </a:lnTo>
                <a:lnTo>
                  <a:pt x="5895960" y="159965"/>
                </a:lnTo>
                <a:lnTo>
                  <a:pt x="5847461" y="155587"/>
                </a:lnTo>
                <a:lnTo>
                  <a:pt x="5794277" y="151698"/>
                </a:lnTo>
                <a:lnTo>
                  <a:pt x="5739425" y="150135"/>
                </a:lnTo>
                <a:lnTo>
                  <a:pt x="5683592" y="150350"/>
                </a:lnTo>
                <a:lnTo>
                  <a:pt x="5627464" y="151794"/>
                </a:lnTo>
                <a:lnTo>
                  <a:pt x="5571728" y="153920"/>
                </a:lnTo>
                <a:lnTo>
                  <a:pt x="5517069" y="156180"/>
                </a:lnTo>
                <a:lnTo>
                  <a:pt x="5464176" y="158024"/>
                </a:lnTo>
                <a:lnTo>
                  <a:pt x="5413734" y="158906"/>
                </a:lnTo>
                <a:lnTo>
                  <a:pt x="5366430" y="158276"/>
                </a:lnTo>
                <a:lnTo>
                  <a:pt x="5322951" y="155587"/>
                </a:lnTo>
                <a:lnTo>
                  <a:pt x="5285879" y="152811"/>
                </a:lnTo>
                <a:lnTo>
                  <a:pt x="5244000" y="150912"/>
                </a:lnTo>
                <a:lnTo>
                  <a:pt x="5198070" y="149778"/>
                </a:lnTo>
                <a:lnTo>
                  <a:pt x="5148843" y="149296"/>
                </a:lnTo>
                <a:lnTo>
                  <a:pt x="5097074" y="149357"/>
                </a:lnTo>
                <a:lnTo>
                  <a:pt x="5043519" y="149848"/>
                </a:lnTo>
                <a:lnTo>
                  <a:pt x="4988931" y="150658"/>
                </a:lnTo>
                <a:lnTo>
                  <a:pt x="4934067" y="151676"/>
                </a:lnTo>
                <a:lnTo>
                  <a:pt x="4879681" y="152789"/>
                </a:lnTo>
                <a:lnTo>
                  <a:pt x="4826527" y="153886"/>
                </a:lnTo>
                <a:lnTo>
                  <a:pt x="4775362" y="154856"/>
                </a:lnTo>
                <a:lnTo>
                  <a:pt x="4726940" y="155587"/>
                </a:lnTo>
                <a:lnTo>
                  <a:pt x="4657095" y="154201"/>
                </a:lnTo>
                <a:lnTo>
                  <a:pt x="4592659" y="159343"/>
                </a:lnTo>
                <a:lnTo>
                  <a:pt x="4534229" y="170214"/>
                </a:lnTo>
                <a:lnTo>
                  <a:pt x="4482406" y="186020"/>
                </a:lnTo>
                <a:lnTo>
                  <a:pt x="4437791" y="205963"/>
                </a:lnTo>
                <a:lnTo>
                  <a:pt x="4400982" y="229246"/>
                </a:lnTo>
                <a:lnTo>
                  <a:pt x="4372581" y="255074"/>
                </a:lnTo>
                <a:lnTo>
                  <a:pt x="4343400" y="311175"/>
                </a:lnTo>
                <a:lnTo>
                  <a:pt x="4334001" y="276350"/>
                </a:lnTo>
                <a:lnTo>
                  <a:pt x="4288342" y="221991"/>
                </a:lnTo>
                <a:lnTo>
                  <a:pt x="4254241" y="201758"/>
                </a:lnTo>
                <a:lnTo>
                  <a:pt x="4214066" y="185689"/>
                </a:lnTo>
                <a:lnTo>
                  <a:pt x="4168895" y="173436"/>
                </a:lnTo>
                <a:lnTo>
                  <a:pt x="4119810" y="164649"/>
                </a:lnTo>
                <a:lnTo>
                  <a:pt x="4067889" y="158978"/>
                </a:lnTo>
                <a:lnTo>
                  <a:pt x="4014212" y="156074"/>
                </a:lnTo>
                <a:lnTo>
                  <a:pt x="3959860" y="155587"/>
                </a:lnTo>
                <a:lnTo>
                  <a:pt x="3922870" y="159712"/>
                </a:lnTo>
                <a:lnTo>
                  <a:pt x="3883431" y="162021"/>
                </a:lnTo>
                <a:lnTo>
                  <a:pt x="3841587" y="162833"/>
                </a:lnTo>
                <a:lnTo>
                  <a:pt x="3797379" y="162468"/>
                </a:lnTo>
                <a:lnTo>
                  <a:pt x="3750853" y="161246"/>
                </a:lnTo>
                <a:lnTo>
                  <a:pt x="3702049" y="159488"/>
                </a:lnTo>
                <a:lnTo>
                  <a:pt x="3651013" y="157513"/>
                </a:lnTo>
                <a:lnTo>
                  <a:pt x="3597787" y="155641"/>
                </a:lnTo>
                <a:lnTo>
                  <a:pt x="3542414" y="154192"/>
                </a:lnTo>
                <a:lnTo>
                  <a:pt x="3484938" y="153487"/>
                </a:lnTo>
                <a:lnTo>
                  <a:pt x="3425402" y="153846"/>
                </a:lnTo>
                <a:lnTo>
                  <a:pt x="3363849" y="155587"/>
                </a:lnTo>
                <a:lnTo>
                  <a:pt x="3292204" y="157672"/>
                </a:lnTo>
                <a:lnTo>
                  <a:pt x="3227033" y="158124"/>
                </a:lnTo>
                <a:lnTo>
                  <a:pt x="3167803" y="157382"/>
                </a:lnTo>
                <a:lnTo>
                  <a:pt x="3113986" y="155883"/>
                </a:lnTo>
                <a:lnTo>
                  <a:pt x="3065049" y="154068"/>
                </a:lnTo>
                <a:lnTo>
                  <a:pt x="3020464" y="152374"/>
                </a:lnTo>
                <a:lnTo>
                  <a:pt x="2979699" y="151240"/>
                </a:lnTo>
                <a:lnTo>
                  <a:pt x="2942225" y="151105"/>
                </a:lnTo>
                <a:lnTo>
                  <a:pt x="2907510" y="152408"/>
                </a:lnTo>
                <a:lnTo>
                  <a:pt x="2875026" y="155587"/>
                </a:lnTo>
                <a:lnTo>
                  <a:pt x="2846338" y="158145"/>
                </a:lnTo>
                <a:lnTo>
                  <a:pt x="2813017" y="158968"/>
                </a:lnTo>
                <a:lnTo>
                  <a:pt x="2775309" y="158436"/>
                </a:lnTo>
                <a:lnTo>
                  <a:pt x="2733458" y="156931"/>
                </a:lnTo>
                <a:lnTo>
                  <a:pt x="2687711" y="154833"/>
                </a:lnTo>
                <a:lnTo>
                  <a:pt x="2638313" y="152525"/>
                </a:lnTo>
                <a:lnTo>
                  <a:pt x="2585510" y="150387"/>
                </a:lnTo>
                <a:lnTo>
                  <a:pt x="2529548" y="148800"/>
                </a:lnTo>
                <a:lnTo>
                  <a:pt x="2470671" y="148145"/>
                </a:lnTo>
                <a:lnTo>
                  <a:pt x="2409127" y="148804"/>
                </a:lnTo>
                <a:lnTo>
                  <a:pt x="2345159" y="151158"/>
                </a:lnTo>
                <a:lnTo>
                  <a:pt x="2279015" y="155587"/>
                </a:lnTo>
                <a:lnTo>
                  <a:pt x="2220203" y="159683"/>
                </a:lnTo>
                <a:lnTo>
                  <a:pt x="2166954" y="161867"/>
                </a:lnTo>
                <a:lnTo>
                  <a:pt x="2118089" y="162474"/>
                </a:lnTo>
                <a:lnTo>
                  <a:pt x="2072430" y="161839"/>
                </a:lnTo>
                <a:lnTo>
                  <a:pt x="2028799" y="160298"/>
                </a:lnTo>
                <a:lnTo>
                  <a:pt x="1986018" y="158186"/>
                </a:lnTo>
                <a:lnTo>
                  <a:pt x="1942909" y="155838"/>
                </a:lnTo>
                <a:lnTo>
                  <a:pt x="1898293" y="153591"/>
                </a:lnTo>
                <a:lnTo>
                  <a:pt x="1850992" y="151778"/>
                </a:lnTo>
                <a:lnTo>
                  <a:pt x="1799828" y="150736"/>
                </a:lnTo>
                <a:lnTo>
                  <a:pt x="1743623" y="150800"/>
                </a:lnTo>
                <a:lnTo>
                  <a:pt x="1681198" y="152305"/>
                </a:lnTo>
                <a:lnTo>
                  <a:pt x="1611376" y="155587"/>
                </a:lnTo>
                <a:lnTo>
                  <a:pt x="1541661" y="159530"/>
                </a:lnTo>
                <a:lnTo>
                  <a:pt x="1479525" y="162798"/>
                </a:lnTo>
                <a:lnTo>
                  <a:pt x="1423735" y="165395"/>
                </a:lnTo>
                <a:lnTo>
                  <a:pt x="1373059" y="167327"/>
                </a:lnTo>
                <a:lnTo>
                  <a:pt x="1326265" y="168599"/>
                </a:lnTo>
                <a:lnTo>
                  <a:pt x="1282121" y="169215"/>
                </a:lnTo>
                <a:lnTo>
                  <a:pt x="1239394" y="169181"/>
                </a:lnTo>
                <a:lnTo>
                  <a:pt x="1196852" y="168501"/>
                </a:lnTo>
                <a:lnTo>
                  <a:pt x="1153264" y="167181"/>
                </a:lnTo>
                <a:lnTo>
                  <a:pt x="1107396" y="165224"/>
                </a:lnTo>
                <a:lnTo>
                  <a:pt x="1058018" y="162636"/>
                </a:lnTo>
                <a:lnTo>
                  <a:pt x="1003897" y="159422"/>
                </a:lnTo>
                <a:lnTo>
                  <a:pt x="943800" y="155587"/>
                </a:lnTo>
                <a:lnTo>
                  <a:pt x="873339" y="151706"/>
                </a:lnTo>
                <a:lnTo>
                  <a:pt x="811064" y="149628"/>
                </a:lnTo>
                <a:lnTo>
                  <a:pt x="755547" y="149011"/>
                </a:lnTo>
                <a:lnTo>
                  <a:pt x="705363" y="149513"/>
                </a:lnTo>
                <a:lnTo>
                  <a:pt x="659083" y="150792"/>
                </a:lnTo>
                <a:lnTo>
                  <a:pt x="615281" y="152504"/>
                </a:lnTo>
                <a:lnTo>
                  <a:pt x="572531" y="154308"/>
                </a:lnTo>
                <a:lnTo>
                  <a:pt x="529404" y="155861"/>
                </a:lnTo>
                <a:lnTo>
                  <a:pt x="484475" y="156820"/>
                </a:lnTo>
                <a:lnTo>
                  <a:pt x="436317" y="156843"/>
                </a:lnTo>
                <a:lnTo>
                  <a:pt x="383501" y="155587"/>
                </a:lnTo>
                <a:lnTo>
                  <a:pt x="315722" y="148501"/>
                </a:lnTo>
                <a:lnTo>
                  <a:pt x="252159" y="138814"/>
                </a:lnTo>
                <a:lnTo>
                  <a:pt x="193702" y="126547"/>
                </a:lnTo>
                <a:lnTo>
                  <a:pt x="141241" y="111723"/>
                </a:lnTo>
                <a:lnTo>
                  <a:pt x="95665" y="94363"/>
                </a:lnTo>
                <a:lnTo>
                  <a:pt x="57863" y="74489"/>
                </a:lnTo>
                <a:lnTo>
                  <a:pt x="9141" y="27285"/>
                </a:lnTo>
                <a:lnTo>
                  <a:pt x="0" y="0"/>
                </a:lnTo>
              </a:path>
            </a:pathLst>
          </a:custGeom>
          <a:ln w="1906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 sz="2397"/>
          </a:p>
        </p:txBody>
      </p:sp>
      <p:grpSp>
        <p:nvGrpSpPr>
          <p:cNvPr id="32" name="object 32"/>
          <p:cNvGrpSpPr/>
          <p:nvPr/>
        </p:nvGrpSpPr>
        <p:grpSpPr>
          <a:xfrm>
            <a:off x="190397" y="760261"/>
            <a:ext cx="12176967" cy="3494959"/>
            <a:chOff x="0" y="201167"/>
            <a:chExt cx="9144000" cy="262445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167"/>
              <a:ext cx="4617720" cy="262432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447" y="402716"/>
              <a:ext cx="4069079" cy="20299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5967" y="201167"/>
              <a:ext cx="4828032" cy="26243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7135" y="402716"/>
              <a:ext cx="4462271" cy="2029967"/>
            </a:xfrm>
            <a:prstGeom prst="rect">
              <a:avLst/>
            </a:prstGeom>
          </p:spPr>
        </p:pic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-1611797" y="601915"/>
            <a:ext cx="14855899" cy="697602"/>
          </a:xfrm>
          <a:prstGeom prst="rect">
            <a:avLst/>
          </a:prstGeom>
        </p:spPr>
        <p:txBody>
          <a:bodyPr vert="horz" wrap="square" lIns="0" tIns="20295" rIns="0" bIns="0" rtlCol="0" anchor="t">
            <a:spAutoFit/>
          </a:bodyPr>
          <a:lstStyle/>
          <a:p>
            <a:pPr marL="2048960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Computer</a:t>
            </a:r>
            <a:r>
              <a:rPr spc="-1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Vision</a:t>
            </a:r>
            <a:r>
              <a:rPr spc="-14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14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Save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Lives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0368988" y="6984674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1604" y="1302935"/>
            <a:ext cx="14855899" cy="874440"/>
          </a:xfrm>
          <a:prstGeom prst="rect">
            <a:avLst/>
          </a:prstGeom>
        </p:spPr>
        <p:txBody>
          <a:bodyPr vert="horz" wrap="square" lIns="0" tIns="195423" rIns="0" bIns="0" rtlCol="0" anchor="t">
            <a:spAutoFit/>
          </a:bodyPr>
          <a:lstStyle/>
          <a:p>
            <a:pPr marL="2048960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Computer</a:t>
            </a:r>
            <a:r>
              <a:rPr spc="-1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Vision</a:t>
            </a:r>
            <a:r>
              <a:rPr spc="-14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14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Save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Lives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638" y="792196"/>
            <a:ext cx="9778103" cy="55088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58" y="575040"/>
            <a:ext cx="12183732" cy="6287205"/>
            <a:chOff x="-194" y="431812"/>
            <a:chExt cx="9149080" cy="4721225"/>
          </a:xfrm>
        </p:grpSpPr>
        <p:pic>
          <p:nvPicPr>
            <p:cNvPr id="3" name="object 3" descr="A group of people in lab coats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1727" y="431812"/>
              <a:ext cx="4023359" cy="4299839"/>
            </a:xfrm>
            <a:prstGeom prst="rect">
              <a:avLst/>
            </a:prstGeom>
          </p:spPr>
        </p:pic>
        <p:pic>
          <p:nvPicPr>
            <p:cNvPr id="4" name="object 4" descr="A person holding a folded towel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2" y="448436"/>
              <a:ext cx="4096512" cy="2159888"/>
            </a:xfrm>
            <a:prstGeom prst="rect">
              <a:avLst/>
            </a:prstGeom>
          </p:spPr>
        </p:pic>
        <p:pic>
          <p:nvPicPr>
            <p:cNvPr id="5" name="object 5" descr="A person lying on a bed with a robot on his back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912" y="2754769"/>
              <a:ext cx="4096512" cy="19768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59119" y="804405"/>
            <a:ext cx="6660970" cy="4960423"/>
            <a:chOff x="3493008" y="604049"/>
            <a:chExt cx="5001895" cy="3724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3008" y="604049"/>
              <a:ext cx="5001768" cy="372491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3008" y="604100"/>
              <a:ext cx="1408176" cy="1189774"/>
            </a:xfrm>
            <a:prstGeom prst="rect">
              <a:avLst/>
            </a:prstGeom>
          </p:spPr>
        </p:pic>
      </p:grpSp>
      <p:pic>
        <p:nvPicPr>
          <p:cNvPr id="5" name="object 5" descr="A person in a wheelchair in a kitchen with a person in the background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2080" y="804405"/>
            <a:ext cx="3628736" cy="49604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78181" y="6007746"/>
            <a:ext cx="7649503" cy="180115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1065" dirty="0">
                <a:latin typeface="Calibri"/>
                <a:cs typeface="Calibri"/>
              </a:rPr>
              <a:t>R.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Zhang,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S.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Lee,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M.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Hwang,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A.</a:t>
            </a:r>
            <a:r>
              <a:rPr sz="1065" spc="53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Hiranaka, </a:t>
            </a:r>
            <a:r>
              <a:rPr sz="1065" dirty="0">
                <a:latin typeface="Calibri"/>
                <a:cs typeface="Calibri"/>
              </a:rPr>
              <a:t>C.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Wang,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Ai,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80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Tan,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S.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Gupta,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Y.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Hao,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G.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Levine, </a:t>
            </a:r>
            <a:r>
              <a:rPr sz="1065" dirty="0">
                <a:latin typeface="Calibri"/>
                <a:cs typeface="Calibri"/>
              </a:rPr>
              <a:t>R.</a:t>
            </a:r>
            <a:r>
              <a:rPr sz="1065" spc="-13" dirty="0">
                <a:latin typeface="Calibri"/>
                <a:cs typeface="Calibri"/>
              </a:rPr>
              <a:t> Gao, </a:t>
            </a:r>
            <a:r>
              <a:rPr sz="1065" dirty="0">
                <a:latin typeface="Calibri"/>
                <a:cs typeface="Calibri"/>
              </a:rPr>
              <a:t>A.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Norcia,</a:t>
            </a:r>
            <a:r>
              <a:rPr sz="1065" spc="87" dirty="0">
                <a:latin typeface="Calibri"/>
                <a:cs typeface="Calibri"/>
              </a:rPr>
              <a:t> </a:t>
            </a:r>
            <a:r>
              <a:rPr sz="1065" spc="-47" dirty="0">
                <a:latin typeface="Calibri"/>
                <a:cs typeface="Calibri"/>
              </a:rPr>
              <a:t>L.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Fei-</a:t>
            </a:r>
            <a:r>
              <a:rPr sz="1065" spc="-13" dirty="0">
                <a:latin typeface="Calibri"/>
                <a:cs typeface="Calibri"/>
              </a:rPr>
              <a:t>Fei,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-2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Wu,</a:t>
            </a:r>
            <a:r>
              <a:rPr sz="1065" spc="7" dirty="0">
                <a:latin typeface="Calibri"/>
                <a:cs typeface="Calibri"/>
              </a:rPr>
              <a:t> </a:t>
            </a:r>
            <a:r>
              <a:rPr sz="1065" i="1" dirty="0">
                <a:latin typeface="Calibri"/>
                <a:cs typeface="Calibri"/>
              </a:rPr>
              <a:t>CoRL</a:t>
            </a:r>
            <a:r>
              <a:rPr sz="1065" dirty="0">
                <a:latin typeface="Calibri"/>
                <a:cs typeface="Calibri"/>
              </a:rPr>
              <a:t>,</a:t>
            </a:r>
            <a:r>
              <a:rPr sz="1065" spc="-7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2023</a:t>
            </a:r>
            <a:endParaRPr sz="106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11651" y="933652"/>
            <a:ext cx="298503" cy="340706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16913">
              <a:spcBef>
                <a:spcPts val="180"/>
              </a:spcBef>
            </a:pPr>
            <a:r>
              <a:rPr sz="2064" spc="-33" dirty="0">
                <a:solidFill>
                  <a:srgbClr val="FFFFFF"/>
                </a:solidFill>
                <a:latin typeface="Calibri"/>
                <a:cs typeface="Calibri"/>
              </a:rPr>
              <a:t>x8</a:t>
            </a:r>
            <a:endParaRPr sz="2064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0753" y="769862"/>
            <a:ext cx="11324579" cy="5850863"/>
            <a:chOff x="640080" y="292887"/>
            <a:chExt cx="8503920" cy="4393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1103" y="942631"/>
              <a:ext cx="4279392" cy="32490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86584" y="292886"/>
              <a:ext cx="6757670" cy="4393565"/>
            </a:xfrm>
            <a:custGeom>
              <a:avLst/>
              <a:gdLst/>
              <a:ahLst/>
              <a:cxnLst/>
              <a:rect l="l" t="t" r="r" b="b"/>
              <a:pathLst>
                <a:path w="6757670" h="4393565">
                  <a:moveTo>
                    <a:pt x="3602736" y="3779812"/>
                  </a:moveTo>
                  <a:lnTo>
                    <a:pt x="3328416" y="3779812"/>
                  </a:lnTo>
                  <a:lnTo>
                    <a:pt x="3328416" y="3688296"/>
                  </a:lnTo>
                  <a:lnTo>
                    <a:pt x="3026664" y="3688296"/>
                  </a:lnTo>
                  <a:lnTo>
                    <a:pt x="3026664" y="3560165"/>
                  </a:lnTo>
                  <a:lnTo>
                    <a:pt x="2834640" y="3560165"/>
                  </a:lnTo>
                  <a:lnTo>
                    <a:pt x="2834640" y="3477793"/>
                  </a:lnTo>
                  <a:lnTo>
                    <a:pt x="2688336" y="3477793"/>
                  </a:lnTo>
                  <a:lnTo>
                    <a:pt x="2688336" y="3367963"/>
                  </a:lnTo>
                  <a:lnTo>
                    <a:pt x="2596896" y="3367963"/>
                  </a:lnTo>
                  <a:lnTo>
                    <a:pt x="2596896" y="3285591"/>
                  </a:lnTo>
                  <a:lnTo>
                    <a:pt x="2496312" y="3285591"/>
                  </a:lnTo>
                  <a:lnTo>
                    <a:pt x="2496312" y="3221532"/>
                  </a:lnTo>
                  <a:lnTo>
                    <a:pt x="2386584" y="3221532"/>
                  </a:lnTo>
                  <a:lnTo>
                    <a:pt x="2386584" y="3102559"/>
                  </a:lnTo>
                  <a:lnTo>
                    <a:pt x="2240280" y="3102559"/>
                  </a:lnTo>
                  <a:lnTo>
                    <a:pt x="2240280" y="2928670"/>
                  </a:lnTo>
                  <a:lnTo>
                    <a:pt x="2112264" y="2928670"/>
                  </a:lnTo>
                  <a:lnTo>
                    <a:pt x="2112264" y="2791383"/>
                  </a:lnTo>
                  <a:lnTo>
                    <a:pt x="0" y="2791383"/>
                  </a:lnTo>
                  <a:lnTo>
                    <a:pt x="0" y="3624224"/>
                  </a:lnTo>
                  <a:lnTo>
                    <a:pt x="137160" y="3624224"/>
                  </a:lnTo>
                  <a:lnTo>
                    <a:pt x="137160" y="3761511"/>
                  </a:lnTo>
                  <a:lnTo>
                    <a:pt x="283464" y="3761511"/>
                  </a:lnTo>
                  <a:lnTo>
                    <a:pt x="283464" y="3935399"/>
                  </a:lnTo>
                  <a:lnTo>
                    <a:pt x="393192" y="3935399"/>
                  </a:lnTo>
                  <a:lnTo>
                    <a:pt x="393192" y="4054373"/>
                  </a:lnTo>
                  <a:lnTo>
                    <a:pt x="493776" y="4054373"/>
                  </a:lnTo>
                  <a:lnTo>
                    <a:pt x="493776" y="4118432"/>
                  </a:lnTo>
                  <a:lnTo>
                    <a:pt x="585216" y="4118432"/>
                  </a:lnTo>
                  <a:lnTo>
                    <a:pt x="585216" y="4200804"/>
                  </a:lnTo>
                  <a:lnTo>
                    <a:pt x="731520" y="4200804"/>
                  </a:lnTo>
                  <a:lnTo>
                    <a:pt x="731520" y="4310634"/>
                  </a:lnTo>
                  <a:lnTo>
                    <a:pt x="914400" y="4310634"/>
                  </a:lnTo>
                  <a:lnTo>
                    <a:pt x="914400" y="4393006"/>
                  </a:lnTo>
                  <a:lnTo>
                    <a:pt x="3026664" y="4393006"/>
                  </a:lnTo>
                  <a:lnTo>
                    <a:pt x="3026664" y="4319790"/>
                  </a:lnTo>
                  <a:lnTo>
                    <a:pt x="3328416" y="4319790"/>
                  </a:lnTo>
                  <a:lnTo>
                    <a:pt x="3328416" y="4264876"/>
                  </a:lnTo>
                  <a:lnTo>
                    <a:pt x="3602736" y="4264876"/>
                  </a:lnTo>
                  <a:lnTo>
                    <a:pt x="3602736" y="3779812"/>
                  </a:lnTo>
                  <a:close/>
                </a:path>
                <a:path w="6757670" h="4393565">
                  <a:moveTo>
                    <a:pt x="6757416" y="201295"/>
                  </a:moveTo>
                  <a:lnTo>
                    <a:pt x="6565392" y="201295"/>
                  </a:lnTo>
                  <a:lnTo>
                    <a:pt x="6565392" y="73152"/>
                  </a:lnTo>
                  <a:lnTo>
                    <a:pt x="6364224" y="73152"/>
                  </a:lnTo>
                  <a:lnTo>
                    <a:pt x="6364224" y="0"/>
                  </a:lnTo>
                  <a:lnTo>
                    <a:pt x="4553712" y="0"/>
                  </a:lnTo>
                  <a:lnTo>
                    <a:pt x="4553712" y="832840"/>
                  </a:lnTo>
                  <a:lnTo>
                    <a:pt x="4754880" y="832840"/>
                  </a:lnTo>
                  <a:lnTo>
                    <a:pt x="4754880" y="905992"/>
                  </a:lnTo>
                  <a:lnTo>
                    <a:pt x="4946904" y="905992"/>
                  </a:lnTo>
                  <a:lnTo>
                    <a:pt x="4946904" y="1034135"/>
                  </a:lnTo>
                  <a:lnTo>
                    <a:pt x="5029200" y="1034135"/>
                  </a:lnTo>
                  <a:lnTo>
                    <a:pt x="5029200" y="1116558"/>
                  </a:lnTo>
                  <a:lnTo>
                    <a:pt x="5193792" y="1116558"/>
                  </a:lnTo>
                  <a:lnTo>
                    <a:pt x="5193792" y="1162278"/>
                  </a:lnTo>
                  <a:lnTo>
                    <a:pt x="5349240" y="1162278"/>
                  </a:lnTo>
                  <a:lnTo>
                    <a:pt x="5349240" y="1262989"/>
                  </a:lnTo>
                  <a:lnTo>
                    <a:pt x="5468112" y="1262989"/>
                  </a:lnTo>
                  <a:lnTo>
                    <a:pt x="5468112" y="1381988"/>
                  </a:lnTo>
                  <a:lnTo>
                    <a:pt x="5669280" y="1381988"/>
                  </a:lnTo>
                  <a:lnTo>
                    <a:pt x="5669280" y="1610715"/>
                  </a:lnTo>
                  <a:lnTo>
                    <a:pt x="5824728" y="1610715"/>
                  </a:lnTo>
                  <a:lnTo>
                    <a:pt x="5824728" y="1720570"/>
                  </a:lnTo>
                  <a:lnTo>
                    <a:pt x="6035040" y="1720570"/>
                  </a:lnTo>
                  <a:lnTo>
                    <a:pt x="6035040" y="2031720"/>
                  </a:lnTo>
                  <a:lnTo>
                    <a:pt x="6757416" y="2031720"/>
                  </a:lnTo>
                  <a:lnTo>
                    <a:pt x="6757416" y="1720570"/>
                  </a:lnTo>
                  <a:lnTo>
                    <a:pt x="6757416" y="1610715"/>
                  </a:lnTo>
                  <a:lnTo>
                    <a:pt x="6757416" y="274561"/>
                  </a:lnTo>
                  <a:lnTo>
                    <a:pt x="6757416" y="201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pic>
          <p:nvPicPr>
            <p:cNvPr id="5" name="object 5" descr="A screen shot of a room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1491843"/>
              <a:ext cx="1618488" cy="1171473"/>
            </a:xfrm>
            <a:prstGeom prst="rect">
              <a:avLst/>
            </a:prstGeom>
          </p:spPr>
        </p:pic>
        <p:pic>
          <p:nvPicPr>
            <p:cNvPr id="6" name="object 6" descr="A living room with a table and chairs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" y="1702345"/>
              <a:ext cx="1618488" cy="1244688"/>
            </a:xfrm>
            <a:prstGeom prst="rect">
              <a:avLst/>
            </a:prstGeom>
          </p:spPr>
        </p:pic>
        <p:pic>
          <p:nvPicPr>
            <p:cNvPr id="7" name="object 7" descr="A screenshot of a room with a table and chairs  Description automatically generate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8720" y="2013508"/>
              <a:ext cx="1618488" cy="1235532"/>
            </a:xfrm>
            <a:prstGeom prst="rect">
              <a:avLst/>
            </a:prstGeom>
          </p:spPr>
        </p:pic>
        <p:pic>
          <p:nvPicPr>
            <p:cNvPr id="8" name="object 8" descr="diagram_machin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2928" y="2205697"/>
              <a:ext cx="1316736" cy="7588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78069" y="6488354"/>
            <a:ext cx="9531859" cy="395302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807956">
              <a:spcBef>
                <a:spcPts val="127"/>
              </a:spcBef>
            </a:pPr>
            <a:r>
              <a:rPr sz="1065" dirty="0">
                <a:latin typeface="Calibri"/>
                <a:cs typeface="Calibri"/>
              </a:rPr>
              <a:t>R</a:t>
            </a:r>
            <a:r>
              <a:rPr sz="1065" spc="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Wu,</a:t>
            </a:r>
            <a:r>
              <a:rPr sz="1065" spc="6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B.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Mildenhall,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P.</a:t>
            </a:r>
            <a:r>
              <a:rPr sz="1065" spc="4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Henzler,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K.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Park,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R.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Gao,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D.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Watson,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P.</a:t>
            </a:r>
            <a:r>
              <a:rPr sz="1065" spc="-4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Srinivasan,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D.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Verbin,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J.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spc="-27" dirty="0">
                <a:latin typeface="Calibri"/>
                <a:cs typeface="Calibri"/>
              </a:rPr>
              <a:t>T.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Barron,</a:t>
            </a:r>
            <a:r>
              <a:rPr sz="1065" spc="60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B.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spc="-13" dirty="0">
                <a:latin typeface="Calibri"/>
                <a:cs typeface="Calibri"/>
              </a:rPr>
              <a:t>Pool,</a:t>
            </a:r>
            <a:r>
              <a:rPr sz="1065" spc="-27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A.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Holynski.</a:t>
            </a:r>
            <a:r>
              <a:rPr sz="1065" spc="-13" dirty="0">
                <a:latin typeface="Calibri"/>
                <a:cs typeface="Calibri"/>
              </a:rPr>
              <a:t> </a:t>
            </a:r>
            <a:r>
              <a:rPr sz="1065" i="1" dirty="0">
                <a:latin typeface="Calibri"/>
                <a:cs typeface="Calibri"/>
              </a:rPr>
              <a:t>arXiv</a:t>
            </a:r>
            <a:r>
              <a:rPr sz="1065" dirty="0">
                <a:latin typeface="Calibri"/>
                <a:cs typeface="Calibri"/>
              </a:rPr>
              <a:t>,</a:t>
            </a:r>
            <a:r>
              <a:rPr sz="1065" spc="-33" dirty="0">
                <a:latin typeface="Calibri"/>
                <a:cs typeface="Calibri"/>
              </a:rPr>
              <a:t> </a:t>
            </a:r>
            <a:r>
              <a:rPr sz="1065" dirty="0">
                <a:latin typeface="Calibri"/>
                <a:cs typeface="Calibri"/>
              </a:rPr>
              <a:t>2023;</a:t>
            </a:r>
            <a:r>
              <a:rPr sz="1065" spc="33" dirty="0">
                <a:latin typeface="Calibri"/>
                <a:cs typeface="Calibri"/>
              </a:rPr>
              <a:t> </a:t>
            </a:r>
            <a:r>
              <a:rPr sz="1065" i="1" dirty="0">
                <a:latin typeface="Calibri"/>
                <a:cs typeface="Calibri"/>
              </a:rPr>
              <a:t>CVPR</a:t>
            </a:r>
            <a:r>
              <a:rPr sz="1065" dirty="0">
                <a:latin typeface="Calibri"/>
                <a:cs typeface="Calibri"/>
              </a:rPr>
              <a:t>,</a:t>
            </a:r>
            <a:r>
              <a:rPr sz="1065" spc="-27" dirty="0">
                <a:latin typeface="Calibri"/>
                <a:cs typeface="Calibri"/>
              </a:rPr>
              <a:t> 2024</a:t>
            </a:r>
            <a:endParaRPr sz="1065" dirty="0">
              <a:latin typeface="Calibri"/>
              <a:cs typeface="Calibri"/>
            </a:endParaRPr>
          </a:p>
          <a:p>
            <a:pPr>
              <a:spcBef>
                <a:spcPts val="413"/>
              </a:spcBef>
            </a:pPr>
            <a:endParaRPr sz="1065" dirty="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-3236893" y="98842"/>
            <a:ext cx="8180891" cy="1211124"/>
          </a:xfrm>
          <a:prstGeom prst="rect">
            <a:avLst/>
          </a:prstGeom>
        </p:spPr>
        <p:txBody>
          <a:bodyPr vert="horz" wrap="square" lIns="0" tIns="528851" rIns="0" bIns="0" rtlCol="0" anchor="t">
            <a:spAutoFit/>
          </a:bodyPr>
          <a:lstStyle/>
          <a:p>
            <a:pPr marL="3799413">
              <a:spcBef>
                <a:spcPts val="160"/>
              </a:spcBef>
            </a:pPr>
            <a:r>
              <a:rPr spc="-13" dirty="0">
                <a:latin typeface="Calibri"/>
                <a:cs typeface="Calibri"/>
              </a:rPr>
              <a:t>World</a:t>
            </a:r>
            <a:r>
              <a:rPr spc="-19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Modeling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424" y="1803780"/>
            <a:ext cx="5406573" cy="36075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04595" y="5497159"/>
            <a:ext cx="930185" cy="510456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R="8456" algn="ctr">
              <a:spcBef>
                <a:spcPts val="166"/>
              </a:spcBef>
            </a:pPr>
            <a:r>
              <a:rPr sz="732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732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This</a:t>
            </a:r>
            <a:r>
              <a:rPr sz="732" u="sng" spc="9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732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image</a:t>
            </a:r>
            <a:r>
              <a:rPr sz="732" spc="13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spc="-33" dirty="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endParaRPr sz="732">
              <a:latin typeface="Calibri"/>
              <a:cs typeface="Calibri"/>
            </a:endParaRPr>
          </a:p>
          <a:p>
            <a:pPr algn="ctr">
              <a:spcBef>
                <a:spcPts val="87"/>
              </a:spcBef>
            </a:pPr>
            <a:r>
              <a:rPr sz="732" dirty="0">
                <a:solidFill>
                  <a:srgbClr val="BEBEBE"/>
                </a:solidFill>
                <a:latin typeface="Calibri"/>
                <a:cs typeface="Calibri"/>
              </a:rPr>
              <a:t>copyright-free</a:t>
            </a:r>
            <a:r>
              <a:rPr sz="732" spc="213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732" u="sng" spc="-20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732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United</a:t>
            </a:r>
            <a:endParaRPr sz="732">
              <a:latin typeface="Calibri"/>
              <a:cs typeface="Calibri"/>
            </a:endParaRPr>
          </a:p>
          <a:p>
            <a:pPr marR="9302" algn="ctr">
              <a:spcBef>
                <a:spcPts val="80"/>
              </a:spcBef>
            </a:pPr>
            <a:r>
              <a:rPr sz="732" u="sng" spc="-9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732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State</a:t>
            </a:r>
            <a:r>
              <a:rPr sz="732" u="sng" spc="-5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732" u="sng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s</a:t>
            </a:r>
            <a:r>
              <a:rPr sz="732" u="sng" spc="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732" u="sng" spc="-13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governmen</a:t>
            </a:r>
            <a:r>
              <a:rPr sz="732" spc="-13" dirty="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t</a:t>
            </a:r>
            <a:endParaRPr sz="732">
              <a:latin typeface="Calibri"/>
              <a:cs typeface="Calibri"/>
            </a:endParaRPr>
          </a:p>
          <a:p>
            <a:pPr marR="13530" algn="ctr">
              <a:spcBef>
                <a:spcPts val="87"/>
              </a:spcBef>
            </a:pPr>
            <a:r>
              <a:rPr sz="732" u="sng" spc="-4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732" u="sng" spc="-27" dirty="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wor</a:t>
            </a:r>
            <a:r>
              <a:rPr sz="732" spc="-27" dirty="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k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0" y="444650"/>
            <a:ext cx="14855899" cy="874440"/>
          </a:xfrm>
          <a:prstGeom prst="rect">
            <a:avLst/>
          </a:prstGeom>
        </p:spPr>
        <p:txBody>
          <a:bodyPr vert="horz" wrap="square" lIns="0" tIns="195423" rIns="0" bIns="0" rtlCol="0" anchor="t">
            <a:spAutoFit/>
          </a:bodyPr>
          <a:lstStyle/>
          <a:p>
            <a:pPr marL="736543">
              <a:spcBef>
                <a:spcPts val="160"/>
              </a:spcBef>
            </a:pPr>
            <a:r>
              <a:rPr dirty="0">
                <a:latin typeface="Calibri"/>
                <a:cs typeface="Calibri"/>
              </a:rPr>
              <a:t>And</a:t>
            </a:r>
            <a:r>
              <a:rPr spc="-9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there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don’t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know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how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33" dirty="0">
                <a:latin typeface="Calibri"/>
                <a:cs typeface="Calibri"/>
              </a:rPr>
              <a:t>do</a:t>
            </a:r>
          </a:p>
        </p:txBody>
      </p:sp>
      <p:pic>
        <p:nvPicPr>
          <p:cNvPr id="5" name="object 5" descr="20+ Cheap or Free Summer Activities for Kids - Fed &amp; Fit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187" y="1803780"/>
            <a:ext cx="5406573" cy="36075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3677" y="5497159"/>
            <a:ext cx="1911107" cy="384973"/>
          </a:xfrm>
          <a:prstGeom prst="rect">
            <a:avLst/>
          </a:prstGeom>
        </p:spPr>
        <p:txBody>
          <a:bodyPr vert="horz" wrap="square" lIns="0" tIns="21141" rIns="0" bIns="0" rtlCol="0">
            <a:spAutoFit/>
          </a:bodyPr>
          <a:lstStyle/>
          <a:p>
            <a:pPr marL="16913">
              <a:spcBef>
                <a:spcPts val="166"/>
              </a:spcBef>
            </a:pPr>
            <a:r>
              <a:rPr sz="732" dirty="0">
                <a:solidFill>
                  <a:srgbClr val="A6A6A6"/>
                </a:solidFill>
                <a:latin typeface="Calibri"/>
                <a:cs typeface="Calibri"/>
                <a:hlinkClick r:id="rId6"/>
              </a:rPr>
              <a:t>https://fedand</a:t>
            </a:r>
            <a:r>
              <a:rPr sz="732" spc="193" dirty="0">
                <a:solidFill>
                  <a:srgbClr val="A6A6A6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732" spc="-13" dirty="0">
                <a:solidFill>
                  <a:srgbClr val="A6A6A6"/>
                </a:solidFill>
                <a:latin typeface="Calibri"/>
                <a:cs typeface="Calibri"/>
                <a:hlinkClick r:id="rId6"/>
              </a:rPr>
              <a:t>fit.com/wp-</a:t>
            </a:r>
            <a:endParaRPr sz="732">
              <a:latin typeface="Calibri"/>
              <a:cs typeface="Calibri"/>
            </a:endParaRPr>
          </a:p>
          <a:p>
            <a:pPr marL="16913">
              <a:spcBef>
                <a:spcPts val="87"/>
              </a:spcBef>
            </a:pP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content/</a:t>
            </a:r>
            <a:r>
              <a:rPr sz="732" spc="266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uploads/2020/06/summer-</a:t>
            </a:r>
            <a:r>
              <a:rPr sz="732" spc="-13" dirty="0">
                <a:solidFill>
                  <a:srgbClr val="A6A6A6"/>
                </a:solidFill>
                <a:latin typeface="Calibri"/>
                <a:cs typeface="Calibri"/>
              </a:rPr>
              <a:t>activities-</a:t>
            </a:r>
            <a:endParaRPr sz="732">
              <a:latin typeface="Calibri"/>
              <a:cs typeface="Calibri"/>
            </a:endParaRPr>
          </a:p>
          <a:p>
            <a:pPr marL="16913">
              <a:spcBef>
                <a:spcPts val="80"/>
              </a:spcBef>
            </a:pP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for-kids_</a:t>
            </a:r>
            <a:r>
              <a:rPr sz="732" spc="-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dirty="0">
                <a:solidFill>
                  <a:srgbClr val="A6A6A6"/>
                </a:solidFill>
                <a:latin typeface="Calibri"/>
                <a:cs typeface="Calibri"/>
              </a:rPr>
              <a:t>optimiz</a:t>
            </a:r>
            <a:r>
              <a:rPr sz="732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13" dirty="0">
                <a:solidFill>
                  <a:srgbClr val="A6A6A6"/>
                </a:solidFill>
                <a:latin typeface="Calibri"/>
                <a:cs typeface="Calibri"/>
              </a:rPr>
              <a:t>ed-scaled.jp</a:t>
            </a:r>
            <a:r>
              <a:rPr sz="732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732" spc="-33" dirty="0">
                <a:solidFill>
                  <a:srgbClr val="A6A6A6"/>
                </a:solidFill>
                <a:latin typeface="Calibri"/>
                <a:cs typeface="Calibri"/>
              </a:rPr>
              <a:t>eg</a:t>
            </a:r>
            <a:endParaRPr sz="732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86108" y="6492305"/>
            <a:ext cx="122107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13">
              <a:lnSpc>
                <a:spcPts val="1492"/>
              </a:lnSpc>
            </a:pP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398" spc="1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31,</a:t>
            </a:r>
            <a:r>
              <a:rPr sz="1398" spc="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7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39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13499" y="4223252"/>
            <a:ext cx="166712" cy="21165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13">
              <a:lnSpc>
                <a:spcPts val="1305"/>
              </a:lnSpc>
            </a:pPr>
            <a:r>
              <a:rPr sz="1199" dirty="0">
                <a:latin typeface="Calibri"/>
                <a:cs typeface="Calibri"/>
              </a:rPr>
              <a:t>Slide</a:t>
            </a:r>
            <a:r>
              <a:rPr sz="1199" spc="-53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inspiration:</a:t>
            </a:r>
            <a:r>
              <a:rPr sz="1199" spc="-47" dirty="0">
                <a:latin typeface="Calibri"/>
                <a:cs typeface="Calibri"/>
              </a:rPr>
              <a:t> </a:t>
            </a:r>
            <a:r>
              <a:rPr sz="1199" dirty="0">
                <a:latin typeface="Calibri"/>
                <a:cs typeface="Calibri"/>
              </a:rPr>
              <a:t>Andrej</a:t>
            </a:r>
            <a:r>
              <a:rPr sz="1199" spc="-7" dirty="0">
                <a:latin typeface="Calibri"/>
                <a:cs typeface="Calibri"/>
              </a:rPr>
              <a:t> </a:t>
            </a:r>
            <a:r>
              <a:rPr sz="1199" spc="-13" dirty="0">
                <a:latin typeface="Calibri"/>
                <a:cs typeface="Calibri"/>
              </a:rPr>
              <a:t>Karpathy</a:t>
            </a:r>
            <a:endParaRPr sz="119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04F0-F51D-12F9-898E-8BAE0FC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172968"/>
            <a:ext cx="11155680" cy="146304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168160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</TotalTime>
  <Words>4704</Words>
  <Application>Microsoft Macintosh PowerPoint</Application>
  <PresentationFormat>Widescreen</PresentationFormat>
  <Paragraphs>1177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1" baseType="lpstr">
      <vt:lpstr>Aptos</vt:lpstr>
      <vt:lpstr>Arial</vt:lpstr>
      <vt:lpstr>Arial Black</vt:lpstr>
      <vt:lpstr>Arial MT</vt:lpstr>
      <vt:lpstr>Bierstadt</vt:lpstr>
      <vt:lpstr>Calibri</vt:lpstr>
      <vt:lpstr>Franklin Gothic Medium</vt:lpstr>
      <vt:lpstr>Helvetica</vt:lpstr>
      <vt:lpstr>Tahoma</vt:lpstr>
      <vt:lpstr>Times New Roman</vt:lpstr>
      <vt:lpstr>Verdana</vt:lpstr>
      <vt:lpstr>GestaltVTI</vt:lpstr>
      <vt:lpstr>Workshop on Computer Vision Fundamentals</vt:lpstr>
      <vt:lpstr>What is Computer Vision</vt:lpstr>
      <vt:lpstr>Visual Perception</vt:lpstr>
      <vt:lpstr>What can you see in this picture?</vt:lpstr>
      <vt:lpstr>Now what can you see in this picture?</vt:lpstr>
      <vt:lpstr>Goal of Computer Vision</vt:lpstr>
      <vt:lpstr>Motivation</vt:lpstr>
      <vt:lpstr>Because</vt:lpstr>
      <vt:lpstr>Recent advancement</vt:lpstr>
      <vt:lpstr>What changed?</vt:lpstr>
      <vt:lpstr>What is a digital image?</vt:lpstr>
      <vt:lpstr>Image Types: (Gray)Scalar and Binary</vt:lpstr>
      <vt:lpstr>Image Type: RGB (red, green, blue)</vt:lpstr>
      <vt:lpstr>Evolution of Computer Vision</vt:lpstr>
      <vt:lpstr>2012 to Present: Deep Learning Explosion</vt:lpstr>
      <vt:lpstr>2012 to Present: Deep Learning is Everywhere</vt:lpstr>
      <vt:lpstr>2012 to Present: Deep Learning is Everywhere  </vt:lpstr>
      <vt:lpstr>2012 to Present: Deep Learning is Everywhere</vt:lpstr>
      <vt:lpstr>2012 to Present: Deep Learning is Everywhere</vt:lpstr>
      <vt:lpstr>2012 to Present: Deep Learning is Everywhere</vt:lpstr>
      <vt:lpstr>2012 to Present: Deep Learning is Everywhere</vt:lpstr>
      <vt:lpstr>2012 to Present: Deep Learning is Everywhere</vt:lpstr>
      <vt:lpstr>2012 to Present: Deep Learning is Everywhere Medical Imaging</vt:lpstr>
      <vt:lpstr>AI’s Explosive Growth &amp; Impact</vt:lpstr>
      <vt:lpstr>Convolutional Neural Networks</vt:lpstr>
      <vt:lpstr>PowerPoint Presentation</vt:lpstr>
      <vt:lpstr>PowerPoint Presentation</vt:lpstr>
      <vt:lpstr>AlexNet, 2012</vt:lpstr>
      <vt:lpstr>A bit of history: ImageNet Classification with Deep Convolutional Neural Networks [Krizhevsky, Sutskever, Hinton, 2012]</vt:lpstr>
      <vt:lpstr>~2012 – 2020: ConvNets dominate all vision tasks Detection Segmentation</vt:lpstr>
      <vt:lpstr>~2012 – 2020: ConvNets dominate all vision tasks Image Captioning</vt:lpstr>
      <vt:lpstr>~2012 – 2020: ConvNets dominate all vision tasks</vt:lpstr>
      <vt:lpstr>Our Computer Vision Task for Today:  Image Classification</vt:lpstr>
      <vt:lpstr>Image Classification: A core task in Computer Vision</vt:lpstr>
      <vt:lpstr>The Problem: Semantic Gap</vt:lpstr>
      <vt:lpstr>Challenges: Viewpoint variation</vt:lpstr>
      <vt:lpstr>Challenges: Illumination</vt:lpstr>
      <vt:lpstr>Challenges: Background Clutter</vt:lpstr>
      <vt:lpstr>Challenges: Occlusion</vt:lpstr>
      <vt:lpstr>Challenges: Deformation</vt:lpstr>
      <vt:lpstr>Challenges: Intraclass variation</vt:lpstr>
      <vt:lpstr>Challenges: Context</vt:lpstr>
      <vt:lpstr>An image classifier</vt:lpstr>
      <vt:lpstr>Attempts have been made</vt:lpstr>
      <vt:lpstr>Machine Learning: Data-Driven Approach</vt:lpstr>
      <vt:lpstr>Linear Classifier</vt:lpstr>
      <vt:lpstr>PowerPoint Presentation</vt:lpstr>
      <vt:lpstr>f(x,W) = W x</vt:lpstr>
      <vt:lpstr>PowerPoint Presentation</vt:lpstr>
      <vt:lpstr>PowerPoint Presentation</vt:lpstr>
      <vt:lpstr>Example with an image with 4 pixels, and 3 classes (cat/dog/ship)</vt:lpstr>
      <vt:lpstr>PowerPoint Presentation</vt:lpstr>
      <vt:lpstr>Interpreting a Linear Classifier</vt:lpstr>
      <vt:lpstr>Interpreting a Linear Classifier: Visual Viewpoint</vt:lpstr>
      <vt:lpstr>Interpreting a Linear Classifier:  Geometric Viewpoint</vt:lpstr>
      <vt:lpstr>PowerPoint Presentation</vt:lpstr>
      <vt:lpstr>Recap: Fully Connected Layer</vt:lpstr>
      <vt:lpstr>Fully Connected Layer</vt:lpstr>
      <vt:lpstr>Convolution</vt:lpstr>
      <vt:lpstr>Image Filtering</vt:lpstr>
      <vt:lpstr>Image Filtering</vt:lpstr>
      <vt:lpstr>Image Filtering</vt:lpstr>
      <vt:lpstr>Convolution: Spatial Dimensions</vt:lpstr>
      <vt:lpstr>Convolution: Spatial Dimensions</vt:lpstr>
      <vt:lpstr>Convolution: Spatial Dimensions</vt:lpstr>
      <vt:lpstr>Convolution: Spatial Dimensions</vt:lpstr>
      <vt:lpstr>Convolution: Spatial Dimensions</vt:lpstr>
      <vt:lpstr>Convolution: Spatial Dimensions</vt:lpstr>
      <vt:lpstr>Convolution: Spatial Dimensions</vt:lpstr>
      <vt:lpstr>Convolution: Spatial Dimensions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consider a second, green filter</vt:lpstr>
      <vt:lpstr>Convolution Layer</vt:lpstr>
      <vt:lpstr>A ConvNet is a neural network with Conv layers</vt:lpstr>
      <vt:lpstr>A ConvNet is a neural network with Conv layers</vt:lpstr>
      <vt:lpstr>A ConvNet is a neural network with Conv layers with activation functions!</vt:lpstr>
      <vt:lpstr>Components of CNNs</vt:lpstr>
      <vt:lpstr>Pooling Layers: Another way to downsample</vt:lpstr>
      <vt:lpstr>Recap: Pooling Layer</vt:lpstr>
      <vt:lpstr>Convolution and Pooling: Translation Equivariance</vt:lpstr>
      <vt:lpstr>Summary: Convolutional Networks</vt:lpstr>
      <vt:lpstr>What do Conv filters learn?</vt:lpstr>
      <vt:lpstr>What do Conv filters learn?</vt:lpstr>
      <vt:lpstr>What do Conv filters learn?</vt:lpstr>
      <vt:lpstr>General CNN Architecture</vt:lpstr>
      <vt:lpstr>Visualizing CNN</vt:lpstr>
      <vt:lpstr>CNN Architectures</vt:lpstr>
      <vt:lpstr>Learning Phases</vt:lpstr>
      <vt:lpstr>Training Steps</vt:lpstr>
      <vt:lpstr>Hands on Experience: CIFAR10</vt:lpstr>
      <vt:lpstr>2021 - Present: Transformers have taken over</vt:lpstr>
      <vt:lpstr>2021 - Present: Transformers have taken over</vt:lpstr>
      <vt:lpstr>Despite the successes, computer vision still has a long way to go</vt:lpstr>
      <vt:lpstr>Visual Intelligence entails</vt:lpstr>
      <vt:lpstr>Computer Vision Can Cause Harm</vt:lpstr>
      <vt:lpstr>Computer Vision Can Save Lives</vt:lpstr>
      <vt:lpstr>Computer Vision Can Save Lives</vt:lpstr>
      <vt:lpstr>PowerPoint Presentation</vt:lpstr>
      <vt:lpstr>PowerPoint Presentation</vt:lpstr>
      <vt:lpstr>World Modeling</vt:lpstr>
      <vt:lpstr>And there is a lot we don’t know how to do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Reeshoon Sayera</dc:creator>
  <cp:lastModifiedBy>Reeshoon Sayera</cp:lastModifiedBy>
  <cp:revision>2</cp:revision>
  <dcterms:created xsi:type="dcterms:W3CDTF">2026-06-26T13:48:06Z</dcterms:created>
  <dcterms:modified xsi:type="dcterms:W3CDTF">2026-06-27T06:53:23Z</dcterms:modified>
</cp:coreProperties>
</file>